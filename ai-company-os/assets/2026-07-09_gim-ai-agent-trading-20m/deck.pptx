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AIが、自分で株を売買する時代へ。創業からわずか1年で、3度目の資金調達を成功させた投資テック企業があります。GIM、Grace Investment Machineが、シリーズAで2,000万ドルを調達しました。今日はこの話題をお届けします。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GIMとはどんな会社か、資金調達の内訳と参加投資家、中核製品とAIエージェント技術、学術的な評価、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何が起きたのか整理します。GIMが2026年7月9日、シリーズAで2,000万ドルの資金調達を発表しました。米国大手VCとHony Capitalが共同主導し、IDG Capitalと既存投資家Monolith Capitalも参加しています。創業から1年以内で、これが3回目の資金調達ラウンドです。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調達額はこちら、2,000万ドルです。米国大手VCとHony Capitalが共同で主導するシリーズAとして発表されました。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調達概要を表にまとめました。企業名はGIM、拠点は香港・北京・上海です。今回はシリーズAで2,000万ドル、創業から1年以内で3回目の調達となり、累計は3,000万ドルを超えました。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GIMとはどんな会社か紹介します。香港・北京・上海を拠点とする、AIネイティブな投資テクノロジー企業です。2025年7月、CEOのJiahao Xu氏が創業しました。資本市場向けのエージェント型AIシステムを開発しています。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創業からの歩みを概要で紹介します。2025年7月にJiahao Xu氏がGIMを設立し、1年以内に3回の資金調達を実施しました。今回のシリーズAで2,000万ドルを調達し、累計は3,000万ドルを超えました。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創業者について見ていきます。CEOのJiahao Xu氏が2025年7月にGIMを創業し、1年以内に3回の資金調達を実施しています。ただし、詳細な経歴は本調査の範囲では確認できていません。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資金調達の推移を概要で示します。2025年7月の創業後まもなく1回目、その後1年以内に2回目、そして今回のシリーズAが3回目の調達です。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累計調達額を確認します。2025年7月の創業以来、3回のラウンドを合計すると3,000万ドルを超えています。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投資家陣容を紹介します。米国大手VCとHony Capitalが共同主導し、IDG Capitalが参加、既存投資家のMonolith Capitalも継続参加しています。なお、共同主導した米国大手VCの社名は出典では明記されていません。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投資家一覧です。米国大手VCとHony Capitalが共同主導し、IDG Capitalが参加、Monolith Capitalが既存投資家として参加しています。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共同主導と参加投資家を比較します。米国大手VCとHony Capitalが共同主導、IDG CapitalとMonolith Capitalが参加という構図です。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中核製品「Visionary Machine」を紹介します。市場データを投資シグナルに変換するエージェント型AIシステムで、7層のエージェントアーキテクチャを採用しています。リサーチ支援にとどまらず、自律的な仮説生成・検証まで扱う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層のエージェントアーキテクチャを概要で示します。市場データを取り込み、7層構成のエージェントアーキテクチャを経て、実行可能な投資シグナルに変換します。各層の詳細な内訳までは出典で明記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初心者向けにエージェント型AI投資を説明します。従来のAIツールは人間の意思決定を支援するリサーチ支援が中心でしたが、エージェント型AIは仮説生成・検証まで自律的に行う点が特徴です。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学術的評価を確認します。GIMの研究論文「CogAlpha」が、ACL 2026でOral推薦を受けたと報じられています。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学術的評価について詳しく見ます。論文名は「CogAlpha」、ACL 2026でOral推薦を受けました。自然言語処理分野の主要国際会議での学術的な評価です。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たこと・できなかったことを正直に整理します。調達額や投資家名、創業時期は複数媒体で一致していますが、運用資産額や取引実績、バリュエーション、顧客数は確認できていません。共同主導した米国大手VCの社名も出典では明記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未確認事項を一覧にしました。運用資産額、取引実績、バリュエーション、顧客数、共同主導VCの社名、いずれも本調査の範囲では確認できていません。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正直に開示します。本発表は着手日の26日前であり、鮮度基準を満たしていません。round77の評価では、他により新しい・高スコアのAI/エージェント系候補が見つからなかったため、やむを得ず採用したという経緯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round77の評価表からの開示です。評価スコアは68/100で、通常の採用基準70点をわずかに下回っています。急成長性と学術的裏付けを踏まえ、他候補が見つからずやむを得ず採用したことを正直にお伝えします。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資金の使い道を報道から整理します。資本市場向けに調整した基盤モデルの開発、投資シグナルを生成・検証・進化させるマルチエージェントシステムの改良が挙げられています。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従来のリサーチ支援ツールとGIMのアプローチを概要で比較します。従来は人間のアナリストを支援する位置づけでしたが、GIMは自律的な仮説生成・検証まで扱うと報じられています。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公平性・中立性について開示します。GIMは香港・北京・上海を拠点とする企業ですが、本テーマでは資金調達・製品に関する事実を淡々と報告し、地政学的な論評は行っていません。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出典一覧です。PR Newswire、FF News、FinTech Futures、citybiz、Morningstar・Yahoo Financeへの転載という、独立した複数の媒体です。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既存テーマとの関係を確認しました。GIMを主題として扱った既存テーマはなく、重複ではありません。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ここからは推測です。エージェント型AIによる資本市場向け自動化は今後さらに広がる可能性があります。創業1年で3回の調達という成長速度は、この分野全体の資金需要の高さを示唆するかもしれません。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皆さんは、AIが自分で株を売買する時代をどう見ますか。GIMの今後の展開を、確認できたこと・できなかったことを区別しながら注目していきましょう。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まとめです。GIMが2026年7月9日、シリーズAで2,000万ドルの資金調達を発表しました。創業1年以内で3回目の調達、累計は3,000万ドルを超えています。今回もご視聴ありがとうございました。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AIが自分で株を売買する時代へ。創業1年で3度目の資金調達をした投資テック企業</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GIM(Grace Investment Machine)、シリーズAで2,000万ドル調達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PR Newswire ほか(2026-07-09)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GIMとはどんな会社か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資金調達の内訳と参加投資家</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中核製品「Visionary Machine」とAIエージェント技術</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学術的な評価(ACL 2026)</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GIMが2026年7月9日、シリーズAで2,000万ドルの資金調達を発表</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米国大手VCとHony Capitalが共同主導</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IDG Capital・既存投資家Monolith Capitalも参加</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創業から1年以内で3回目の資金調達ラウンドとなった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Newswire(2026-07-09)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シリーズA調達額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米国大手VCとHony Capital共同主導のシリーズA(2026年7月9日発表)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PR Newswire(2026-07-09)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調達概要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企業名</a:t>
                      </a:r>
                    </a:p>
                  </a:txBody>
                  <a:tcPr>
                    <a:solidFill>
                      <a:srgbClr val="FFFFFF"/>
                    </a:solidFill>
                  </a:tcPr>
                </a:tc>
                <a:tc>
                  <a:txBody>
                    <a:bodyPr/>
                    <a:lstStyle/>
                    <a:p>
                      <a:pPr>
                        <a:defRPr sz="1200">
                          <a:solidFill>
                            <a:srgbClr val="20261F"/>
                          </a:solidFill>
                          <a:latin typeface="Yu Gothic"/>
                        </a:defRPr>
                      </a:pPr>
                      <a:r>
                        <a:t>GIM(Grace Investment Machine)</a:t>
                      </a:r>
                    </a:p>
                  </a:txBody>
                  <a:tcPr>
                    <a:solidFill>
                      <a:srgbClr val="FFFFFF"/>
                    </a:solidFill>
                  </a:tcPr>
                </a:tc>
              </a:tr>
              <a:tr h="502920">
                <a:tc>
                  <a:txBody>
                    <a:bodyPr/>
                    <a:lstStyle/>
                    <a:p>
                      <a:pPr>
                        <a:defRPr sz="1200">
                          <a:solidFill>
                            <a:srgbClr val="20261F"/>
                          </a:solidFill>
                          <a:latin typeface="Yu Gothic"/>
                        </a:defRPr>
                      </a:pPr>
                      <a:r>
                        <a:t>拠点</a:t>
                      </a:r>
                    </a:p>
                  </a:txBody>
                  <a:tcPr>
                    <a:solidFill>
                      <a:srgbClr val="F4F1E6"/>
                    </a:solidFill>
                  </a:tcPr>
                </a:tc>
                <a:tc>
                  <a:txBody>
                    <a:bodyPr/>
                    <a:lstStyle/>
                    <a:p>
                      <a:pPr>
                        <a:defRPr sz="1200">
                          <a:solidFill>
                            <a:srgbClr val="20261F"/>
                          </a:solidFill>
                          <a:latin typeface="Yu Gothic"/>
                        </a:defRPr>
                      </a:pPr>
                      <a:r>
                        <a:t>香港・北京・上海</a:t>
                      </a:r>
                    </a:p>
                  </a:txBody>
                  <a:tcPr>
                    <a:solidFill>
                      <a:srgbClr val="F4F1E6"/>
                    </a:solidFill>
                  </a:tcPr>
                </a:tc>
              </a:tr>
              <a:tr h="502920">
                <a:tc>
                  <a:txBody>
                    <a:bodyPr/>
                    <a:lstStyle/>
                    <a:p>
                      <a:pPr>
                        <a:defRPr sz="1200">
                          <a:solidFill>
                            <a:srgbClr val="20261F"/>
                          </a:solidFill>
                          <a:latin typeface="Yu Gothic"/>
                        </a:defRPr>
                      </a:pPr>
                      <a:r>
                        <a:t>調達ラウンド</a:t>
                      </a:r>
                    </a:p>
                  </a:txBody>
                  <a:tcPr>
                    <a:solidFill>
                      <a:srgbClr val="FFFFFF"/>
                    </a:solidFill>
                  </a:tcPr>
                </a:tc>
                <a:tc>
                  <a:txBody>
                    <a:bodyPr/>
                    <a:lstStyle/>
                    <a:p>
                      <a:pPr>
                        <a:defRPr sz="1200">
                          <a:solidFill>
                            <a:srgbClr val="20261F"/>
                          </a:solidFill>
                          <a:latin typeface="Yu Gothic"/>
                        </a:defRPr>
                      </a:pPr>
                      <a:r>
                        <a:t>シリーズA</a:t>
                      </a:r>
                    </a:p>
                  </a:txBody>
                  <a:tcPr>
                    <a:solidFill>
                      <a:srgbClr val="FFFFFF"/>
                    </a:solidFill>
                  </a:tcPr>
                </a:tc>
              </a:tr>
              <a:tr h="502920">
                <a:tc>
                  <a:txBody>
                    <a:bodyPr/>
                    <a:lstStyle/>
                    <a:p>
                      <a:pPr>
                        <a:defRPr sz="1200">
                          <a:solidFill>
                            <a:srgbClr val="20261F"/>
                          </a:solidFill>
                          <a:latin typeface="Yu Gothic"/>
                        </a:defRPr>
                      </a:pPr>
                      <a:r>
                        <a:t>調達額</a:t>
                      </a:r>
                    </a:p>
                  </a:txBody>
                  <a:tcPr>
                    <a:solidFill>
                      <a:srgbClr val="F4F1E6"/>
                    </a:solidFill>
                  </a:tcPr>
                </a:tc>
                <a:tc>
                  <a:txBody>
                    <a:bodyPr/>
                    <a:lstStyle/>
                    <a:p>
                      <a:pPr>
                        <a:defRPr sz="1200">
                          <a:solidFill>
                            <a:srgbClr val="20261F"/>
                          </a:solidFill>
                          <a:latin typeface="Yu Gothic"/>
                        </a:defRPr>
                      </a:pPr>
                      <a:r>
                        <a:t>2,000万ドル</a:t>
                      </a:r>
                    </a:p>
                  </a:txBody>
                  <a:tcPr>
                    <a:solidFill>
                      <a:srgbClr val="F4F1E6"/>
                    </a:solidFill>
                  </a:tcPr>
                </a:tc>
              </a:tr>
              <a:tr h="502920">
                <a:tc>
                  <a:txBody>
                    <a:bodyPr/>
                    <a:lstStyle/>
                    <a:p>
                      <a:pPr>
                        <a:defRPr sz="1200">
                          <a:solidFill>
                            <a:srgbClr val="20261F"/>
                          </a:solidFill>
                          <a:latin typeface="Yu Gothic"/>
                        </a:defRPr>
                      </a:pPr>
                      <a:r>
                        <a:t>創業からの調達回数</a:t>
                      </a:r>
                    </a:p>
                  </a:txBody>
                  <a:tcPr>
                    <a:solidFill>
                      <a:srgbClr val="FFFFFF"/>
                    </a:solidFill>
                  </a:tcPr>
                </a:tc>
                <a:tc>
                  <a:txBody>
                    <a:bodyPr/>
                    <a:lstStyle/>
                    <a:p>
                      <a:pPr>
                        <a:defRPr sz="1200">
                          <a:solidFill>
                            <a:srgbClr val="20261F"/>
                          </a:solidFill>
                          <a:latin typeface="Yu Gothic"/>
                        </a:defRPr>
                      </a:pPr>
                      <a:r>
                        <a:t>3回目(1年以内)</a:t>
                      </a:r>
                    </a:p>
                  </a:txBody>
                  <a:tcPr>
                    <a:solidFill>
                      <a:srgbClr val="FFFFFF"/>
                    </a:solidFill>
                  </a:tcPr>
                </a:tc>
              </a:tr>
              <a:tr h="502920">
                <a:tc>
                  <a:txBody>
                    <a:bodyPr/>
                    <a:lstStyle/>
                    <a:p>
                      <a:pPr>
                        <a:defRPr sz="1200">
                          <a:solidFill>
                            <a:srgbClr val="20261F"/>
                          </a:solidFill>
                          <a:latin typeface="Yu Gothic"/>
                        </a:defRPr>
                      </a:pPr>
                      <a:r>
                        <a:t>累計調達額</a:t>
                      </a:r>
                    </a:p>
                  </a:txBody>
                  <a:tcPr>
                    <a:solidFill>
                      <a:srgbClr val="F4F1E6"/>
                    </a:solidFill>
                  </a:tcPr>
                </a:tc>
                <a:tc>
                  <a:txBody>
                    <a:bodyPr/>
                    <a:lstStyle/>
                    <a:p>
                      <a:pPr>
                        <a:defRPr sz="1200">
                          <a:solidFill>
                            <a:srgbClr val="20261F"/>
                          </a:solidFill>
                          <a:latin typeface="Yu Gothic"/>
                        </a:defRPr>
                      </a:pPr>
                      <a:r>
                        <a:t>3,000万ドル超</a:t>
                      </a:r>
                    </a:p>
                  </a:txBody>
                  <a:tcPr>
                    <a:solidFill>
                      <a:srgbClr val="F4F1E6"/>
                    </a:solidFill>
                  </a:tcPr>
                </a:tc>
              </a:tr>
              <a:tr h="502920">
                <a:tc>
                  <a:txBody>
                    <a:bodyPr/>
                    <a:lstStyle/>
                    <a:p>
                      <a:pPr>
                        <a:defRPr sz="1200">
                          <a:solidFill>
                            <a:srgbClr val="20261F"/>
                          </a:solidFill>
                          <a:latin typeface="Yu Gothic"/>
                        </a:defRPr>
                      </a:pPr>
                      <a:r>
                        <a:t>発表日</a:t>
                      </a:r>
                    </a:p>
                  </a:txBody>
                  <a:tcPr>
                    <a:solidFill>
                      <a:srgbClr val="FFFFFF"/>
                    </a:solidFill>
                  </a:tcPr>
                </a:tc>
                <a:tc>
                  <a:txBody>
                    <a:bodyPr/>
                    <a:lstStyle/>
                    <a:p>
                      <a:pPr>
                        <a:defRPr sz="1200">
                          <a:solidFill>
                            <a:srgbClr val="20261F"/>
                          </a:solidFill>
                          <a:latin typeface="Yu Gothic"/>
                        </a:defRPr>
                      </a:pPr>
                      <a:r>
                        <a:t>2026年7月9日</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GIMとは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拠点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香港・北京・上海を拠点とするAIネイティブな投資テクノロジー企業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創業</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2025年7月、CEO Jiahao Xu氏が創業</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事業領域</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資本市場向けのエージェント型AIシステムを開発</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創業からの歩み(概要)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2025年7月 創業</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Jiahao Xu氏がCEOとしてGIMを設立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1年以内に3回の調達</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シリーズAを含め3回の資金調達ラウンドを実施</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2026年7月 シリーズA</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2,000万ドルを調達し、累計3,000万ドル超に</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創業者について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CEO: Jiahao Xu氏</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2025年7月にGIMを創業</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創業から1年以内に3回の資金調達を実施</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詳細な経歴は本調査の範囲では確認できていない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Newswire(2026-07-09)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資金調達の推移(概要)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1回目の調達</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2025年7月の創業後まもなく</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2回目の調達</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創業1年以内</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3回目=シリーズA(今回)</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2,000万ドル、2026年7月9日発表</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3,000万ドル超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2025年7月の創業以来、3回のラウンドの合計(シリーズA込み)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PR Newswire(2026-07-09)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投資家陣容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共同主導</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米国大手VC(社名は出典で明記されていない)とHony Capital</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参加投資家</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IDG Capital</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既存投資家</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Monolith Capital(継続参加)</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投資家一覧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24523F"/>
                    </a:solidFill>
                  </a:tcPr>
                </a:tc>
                <a:tc>
                  <a:txBody>
                    <a:bodyPr/>
                    <a:lstStyle/>
                    <a:p>
                      <a:pPr>
                        <a:defRPr sz="1300" b="1">
                          <a:solidFill>
                            <a:srgbClr val="FFFFFF"/>
                          </a:solidFill>
                          <a:latin typeface="Yu Gothic"/>
                        </a:defRPr>
                      </a:pPr>
                      <a:r>
                        <a:t>役割</a:t>
                      </a:r>
                    </a:p>
                  </a:txBody>
                  <a:tcPr>
                    <a:solidFill>
                      <a:srgbClr val="24523F"/>
                    </a:solidFill>
                  </a:tcPr>
                </a:tc>
              </a:tr>
              <a:tr h="502920">
                <a:tc>
                  <a:txBody>
                    <a:bodyPr/>
                    <a:lstStyle/>
                    <a:p>
                      <a:pPr>
                        <a:defRPr sz="1200">
                          <a:solidFill>
                            <a:srgbClr val="20261F"/>
                          </a:solidFill>
                          <a:latin typeface="Yu Gothic"/>
                        </a:defRPr>
                      </a:pPr>
                      <a:r>
                        <a:t>米国大手VC(社名は出典で非公開)</a:t>
                      </a:r>
                    </a:p>
                  </a:txBody>
                  <a:tcPr>
                    <a:solidFill>
                      <a:srgbClr val="FFFFFF"/>
                    </a:solidFill>
                  </a:tcPr>
                </a:tc>
                <a:tc>
                  <a:txBody>
                    <a:bodyPr/>
                    <a:lstStyle/>
                    <a:p>
                      <a:pPr>
                        <a:defRPr sz="1200">
                          <a:solidFill>
                            <a:srgbClr val="20261F"/>
                          </a:solidFill>
                          <a:latin typeface="Yu Gothic"/>
                        </a:defRPr>
                      </a:pPr>
                      <a:r>
                        <a:t>共同主導</a:t>
                      </a:r>
                    </a:p>
                  </a:txBody>
                  <a:tcPr>
                    <a:solidFill>
                      <a:srgbClr val="FFFFFF"/>
                    </a:solidFill>
                  </a:tcPr>
                </a:tc>
              </a:tr>
              <a:tr h="502920">
                <a:tc>
                  <a:txBody>
                    <a:bodyPr/>
                    <a:lstStyle/>
                    <a:p>
                      <a:pPr>
                        <a:defRPr sz="1200">
                          <a:solidFill>
                            <a:srgbClr val="20261F"/>
                          </a:solidFill>
                          <a:latin typeface="Yu Gothic"/>
                        </a:defRPr>
                      </a:pPr>
                      <a:r>
                        <a:t>Hony Capital</a:t>
                      </a:r>
                    </a:p>
                  </a:txBody>
                  <a:tcPr>
                    <a:solidFill>
                      <a:srgbClr val="F4F1E6"/>
                    </a:solidFill>
                  </a:tcPr>
                </a:tc>
                <a:tc>
                  <a:txBody>
                    <a:bodyPr/>
                    <a:lstStyle/>
                    <a:p>
                      <a:pPr>
                        <a:defRPr sz="1200">
                          <a:solidFill>
                            <a:srgbClr val="20261F"/>
                          </a:solidFill>
                          <a:latin typeface="Yu Gothic"/>
                        </a:defRPr>
                      </a:pPr>
                      <a:r>
                        <a:t>共同主導</a:t>
                      </a:r>
                    </a:p>
                  </a:txBody>
                  <a:tcPr>
                    <a:solidFill>
                      <a:srgbClr val="F4F1E6"/>
                    </a:solidFill>
                  </a:tcPr>
                </a:tc>
              </a:tr>
              <a:tr h="502920">
                <a:tc>
                  <a:txBody>
                    <a:bodyPr/>
                    <a:lstStyle/>
                    <a:p>
                      <a:pPr>
                        <a:defRPr sz="1200">
                          <a:solidFill>
                            <a:srgbClr val="20261F"/>
                          </a:solidFill>
                          <a:latin typeface="Yu Gothic"/>
                        </a:defRPr>
                      </a:pPr>
                      <a:r>
                        <a:t>IDG Capital</a:t>
                      </a:r>
                    </a:p>
                  </a:txBody>
                  <a:tcPr>
                    <a:solidFill>
                      <a:srgbClr val="FFFFFF"/>
                    </a:solidFill>
                  </a:tcPr>
                </a:tc>
                <a:tc>
                  <a:txBody>
                    <a:bodyPr/>
                    <a:lstStyle/>
                    <a:p>
                      <a:pPr>
                        <a:defRPr sz="1200">
                          <a:solidFill>
                            <a:srgbClr val="20261F"/>
                          </a:solidFill>
                          <a:latin typeface="Yu Gothic"/>
                        </a:defRPr>
                      </a:pPr>
                      <a:r>
                        <a:t>参加</a:t>
                      </a:r>
                    </a:p>
                  </a:txBody>
                  <a:tcPr>
                    <a:solidFill>
                      <a:srgbClr val="FFFFFF"/>
                    </a:solidFill>
                  </a:tcPr>
                </a:tc>
              </a:tr>
              <a:tr h="502920">
                <a:tc>
                  <a:txBody>
                    <a:bodyPr/>
                    <a:lstStyle/>
                    <a:p>
                      <a:pPr>
                        <a:defRPr sz="1200">
                          <a:solidFill>
                            <a:srgbClr val="20261F"/>
                          </a:solidFill>
                          <a:latin typeface="Yu Gothic"/>
                        </a:defRPr>
                      </a:pPr>
                      <a:r>
                        <a:t>Monolith Capital</a:t>
                      </a:r>
                    </a:p>
                  </a:txBody>
                  <a:tcPr>
                    <a:solidFill>
                      <a:srgbClr val="F4F1E6"/>
                    </a:solidFill>
                  </a:tcPr>
                </a:tc>
                <a:tc>
                  <a:txBody>
                    <a:bodyPr/>
                    <a:lstStyle/>
                    <a:p>
                      <a:pPr>
                        <a:defRPr sz="1200">
                          <a:solidFill>
                            <a:srgbClr val="20261F"/>
                          </a:solidFill>
                          <a:latin typeface="Yu Gothic"/>
                        </a:defRPr>
                      </a:pPr>
                      <a:r>
                        <a:t>既存投資家として参加</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共同主導 vs 参加投資家</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共同主導(2社)</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米国大手VC(社名は出典で非公開)</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Hony Capital</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参加投資家(2社)</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IDG Capital</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Monolith Capital(既存投資家)</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中核製品「Visionary Machine」とは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概要</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市場データを投資シグナルに変換するエージェント型AIシステム</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アーキテクチャ</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7層のエージェントアーキテクチャを採用</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特徴</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リサーチ支援にとどまらず、自律的な仮説生成・検証まで扱うと報じられている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7層のエージェントアーキテクチャ(概要)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市場データ入力</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様々な市場データを取り込む</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7層のエージェントアーキテクチャ</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各層の詳細な内訳は出典で明記されていない</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投資シグナル出力</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実行可能な投資シグナルに変換</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初心者向け: エージェント型AI投資とは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従来のAIツールは人間の意思決定を支援するリサーチ支援が中心</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エージェント型AIは、仮説生成・検証まで自律的に行う点が特徴</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GIMはこの領域で資本市場向けの基盤モデル開発を進めていると報じられている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学術的評価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Oral推薦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研究論文「CogAlpha」がACL 2026でOral推薦を受けた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PR Newswire(2026-07-09)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学術的評価について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論文名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「CogAlpha」</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評価</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ACL 2026でOral推薦</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意味</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自然言語処理分野の主要国際会議での学術的な評価</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調達額・投資家名(Hony Capital等)・創業時期は複数媒体で一致</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運用資産額(AUM)・取引実績・パフォーマンス数値は確認できていない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バリュエーション(企業価値)・顧客数も確認できていない</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共同主導した米国大手VCの社名は出典では明記されていない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Newswire・FF News・FinTech Futures(2026年7月)</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未確認事項一覧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運用資産額(AUM)</a:t>
                      </a:r>
                    </a:p>
                  </a:txBody>
                  <a:tcPr>
                    <a:solidFill>
                      <a:srgbClr val="FFFFFF"/>
                    </a:solidFill>
                  </a:tcPr>
                </a:tc>
                <a:tc>
                  <a:txBody>
                    <a:bodyPr/>
                    <a:lstStyle/>
                    <a:p>
                      <a:pPr>
                        <a:defRPr sz="1200">
                          <a:solidFill>
                            <a:srgbClr val="20261F"/>
                          </a:solidFill>
                          <a:latin typeface="Yu Gothic"/>
                        </a:defRPr>
                      </a:pPr>
                      <a:r>
                        <a:t>未確認</a:t>
                      </a:r>
                    </a:p>
                  </a:txBody>
                  <a:tcPr>
                    <a:solidFill>
                      <a:srgbClr val="FFFFFF"/>
                    </a:solidFill>
                  </a:tcPr>
                </a:tc>
              </a:tr>
              <a:tr h="502920">
                <a:tc>
                  <a:txBody>
                    <a:bodyPr/>
                    <a:lstStyle/>
                    <a:p>
                      <a:pPr>
                        <a:defRPr sz="1200">
                          <a:solidFill>
                            <a:srgbClr val="20261F"/>
                          </a:solidFill>
                          <a:latin typeface="Yu Gothic"/>
                        </a:defRPr>
                      </a:pPr>
                      <a:r>
                        <a:t>取引実績・パフォーマンス</a:t>
                      </a:r>
                    </a:p>
                  </a:txBody>
                  <a:tcPr>
                    <a:solidFill>
                      <a:srgbClr val="F4F1E6"/>
                    </a:solidFill>
                  </a:tcPr>
                </a:tc>
                <a:tc>
                  <a:txBody>
                    <a:bodyPr/>
                    <a:lstStyle/>
                    <a:p>
                      <a:pPr>
                        <a:defRPr sz="1200">
                          <a:solidFill>
                            <a:srgbClr val="20261F"/>
                          </a:solidFill>
                          <a:latin typeface="Yu Gothic"/>
                        </a:defRPr>
                      </a:pPr>
                      <a:r>
                        <a:t>未確認</a:t>
                      </a:r>
                    </a:p>
                  </a:txBody>
                  <a:tcPr>
                    <a:solidFill>
                      <a:srgbClr val="F4F1E6"/>
                    </a:solidFill>
                  </a:tcPr>
                </a:tc>
              </a:tr>
              <a:tr h="502920">
                <a:tc>
                  <a:txBody>
                    <a:bodyPr/>
                    <a:lstStyle/>
                    <a:p>
                      <a:pPr>
                        <a:defRPr sz="1200">
                          <a:solidFill>
                            <a:srgbClr val="20261F"/>
                          </a:solidFill>
                          <a:latin typeface="Yu Gothic"/>
                        </a:defRPr>
                      </a:pPr>
                      <a:r>
                        <a:t>バリュエーション(企業価値)</a:t>
                      </a:r>
                    </a:p>
                  </a:txBody>
                  <a:tcPr>
                    <a:solidFill>
                      <a:srgbClr val="FFFFFF"/>
                    </a:solidFill>
                  </a:tcPr>
                </a:tc>
                <a:tc>
                  <a:txBody>
                    <a:bodyPr/>
                    <a:lstStyle/>
                    <a:p>
                      <a:pPr>
                        <a:defRPr sz="1200">
                          <a:solidFill>
                            <a:srgbClr val="20261F"/>
                          </a:solidFill>
                          <a:latin typeface="Yu Gothic"/>
                        </a:defRPr>
                      </a:pPr>
                      <a:r>
                        <a:t>未確認</a:t>
                      </a:r>
                    </a:p>
                  </a:txBody>
                  <a:tcPr>
                    <a:solidFill>
                      <a:srgbClr val="FFFFFF"/>
                    </a:solidFill>
                  </a:tcPr>
                </a:tc>
              </a:tr>
              <a:tr h="502920">
                <a:tc>
                  <a:txBody>
                    <a:bodyPr/>
                    <a:lstStyle/>
                    <a:p>
                      <a:pPr>
                        <a:defRPr sz="1200">
                          <a:solidFill>
                            <a:srgbClr val="20261F"/>
                          </a:solidFill>
                          <a:latin typeface="Yu Gothic"/>
                        </a:defRPr>
                      </a:pPr>
                      <a:r>
                        <a:t>顧客数</a:t>
                      </a:r>
                    </a:p>
                  </a:txBody>
                  <a:tcPr>
                    <a:solidFill>
                      <a:srgbClr val="F4F1E6"/>
                    </a:solidFill>
                  </a:tcPr>
                </a:tc>
                <a:tc>
                  <a:txBody>
                    <a:bodyPr/>
                    <a:lstStyle/>
                    <a:p>
                      <a:pPr>
                        <a:defRPr sz="1200">
                          <a:solidFill>
                            <a:srgbClr val="20261F"/>
                          </a:solidFill>
                          <a:latin typeface="Yu Gothic"/>
                        </a:defRPr>
                      </a:pPr>
                      <a:r>
                        <a:t>未確認</a:t>
                      </a:r>
                    </a:p>
                  </a:txBody>
                  <a:tcPr>
                    <a:solidFill>
                      <a:srgbClr val="F4F1E6"/>
                    </a:solidFill>
                  </a:tcPr>
                </a:tc>
              </a:tr>
              <a:tr h="502920">
                <a:tc>
                  <a:txBody>
                    <a:bodyPr/>
                    <a:lstStyle/>
                    <a:p>
                      <a:pPr>
                        <a:defRPr sz="1200">
                          <a:solidFill>
                            <a:srgbClr val="20261F"/>
                          </a:solidFill>
                          <a:latin typeface="Yu Gothic"/>
                        </a:defRPr>
                      </a:pPr>
                      <a:r>
                        <a:t>共同主導VCの社名</a:t>
                      </a:r>
                    </a:p>
                  </a:txBody>
                  <a:tcPr>
                    <a:solidFill>
                      <a:srgbClr val="FFFFFF"/>
                    </a:solidFill>
                  </a:tcPr>
                </a:tc>
                <a:tc>
                  <a:txBody>
                    <a:bodyPr/>
                    <a:lstStyle/>
                    <a:p>
                      <a:pPr>
                        <a:defRPr sz="1200">
                          <a:solidFill>
                            <a:srgbClr val="20261F"/>
                          </a:solidFill>
                          <a:latin typeface="Yu Gothic"/>
                        </a:defRPr>
                      </a:pPr>
                      <a:r>
                        <a:t>出典で非公開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本発表は2026年7月9日、着手日(2026年8月4日)の26日前である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`docs/06_Content_R&amp;D.md`の鮮度基準(着手日の前日以内)を満たしていない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round77の評価では他により新しい・高スコアのAI/エージェント系候補が見つからなかったため、やむを得ず採用した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round77評価表からの開示(スコア68/100)</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評価スコア</a:t>
                      </a:r>
                    </a:p>
                  </a:txBody>
                  <a:tcPr>
                    <a:solidFill>
                      <a:srgbClr val="FFFFFF"/>
                    </a:solidFill>
                  </a:tcPr>
                </a:tc>
                <a:tc>
                  <a:txBody>
                    <a:bodyPr/>
                    <a:lstStyle/>
                    <a:p>
                      <a:pPr>
                        <a:defRPr sz="1200">
                          <a:solidFill>
                            <a:srgbClr val="20261F"/>
                          </a:solidFill>
                          <a:latin typeface="Yu Gothic"/>
                        </a:defRPr>
                      </a:pPr>
                      <a:r>
                        <a:t>68/100(通常の採用基準70点をわずかに下回る)</a:t>
                      </a:r>
                    </a:p>
                  </a:txBody>
                  <a:tcPr>
                    <a:solidFill>
                      <a:srgbClr val="FFFFFF"/>
                    </a:solidFill>
                  </a:tcPr>
                </a:tc>
              </a:tr>
              <a:tr h="502920">
                <a:tc>
                  <a:txBody>
                    <a:bodyPr/>
                    <a:lstStyle/>
                    <a:p>
                      <a:pPr>
                        <a:defRPr sz="1200">
                          <a:solidFill>
                            <a:srgbClr val="20261F"/>
                          </a:solidFill>
                          <a:latin typeface="Yu Gothic"/>
                        </a:defRPr>
                      </a:pPr>
                      <a:r>
                        <a:t>採用理由</a:t>
                      </a:r>
                    </a:p>
                  </a:txBody>
                  <a:tcPr>
                    <a:solidFill>
                      <a:srgbClr val="F4F1E6"/>
                    </a:solidFill>
                  </a:tcPr>
                </a:tc>
                <a:tc>
                  <a:txBody>
                    <a:bodyPr/>
                    <a:lstStyle/>
                    <a:p>
                      <a:pPr>
                        <a:defRPr sz="1200">
                          <a:solidFill>
                            <a:srgbClr val="20261F"/>
                          </a:solidFill>
                          <a:latin typeface="Yu Gothic"/>
                        </a:defRPr>
                      </a:pPr>
                      <a:r>
                        <a:t>急成長性(創業1年で3回目の調達)・学術的裏付け(ACL 2026 Oral)を踏まえ、他候補が見つからずやむを得ず採用</a:t>
                      </a:r>
                    </a:p>
                  </a:txBody>
                  <a:tcPr>
                    <a:solidFill>
                      <a:srgbClr val="F4F1E6"/>
                    </a:solidFill>
                  </a:tcPr>
                </a:tc>
              </a:tr>
              <a:tr h="502920">
                <a:tc>
                  <a:txBody>
                    <a:bodyPr/>
                    <a:lstStyle/>
                    <a:p>
                      <a:pPr>
                        <a:defRPr sz="1200">
                          <a:solidFill>
                            <a:srgbClr val="20261F"/>
                          </a:solidFill>
                          <a:latin typeface="Yu Gothic"/>
                        </a:defRPr>
                      </a:pPr>
                      <a:r>
                        <a:t>鮮度</a:t>
                      </a:r>
                    </a:p>
                  </a:txBody>
                  <a:tcPr>
                    <a:solidFill>
                      <a:srgbClr val="FFFFFF"/>
                    </a:solidFill>
                  </a:tcPr>
                </a:tc>
                <a:tc>
                  <a:txBody>
                    <a:bodyPr/>
                    <a:lstStyle/>
                    <a:p>
                      <a:pPr>
                        <a:defRPr sz="1200">
                          <a:solidFill>
                            <a:srgbClr val="20261F"/>
                          </a:solidFill>
                          <a:latin typeface="Yu Gothic"/>
                        </a:defRPr>
                      </a:pPr>
                      <a:r>
                        <a:t>発表から26日経過、基準未達</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資金の使い道(報道からの整理)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基盤モデルの開発</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資本市場向けに調整した基盤モデルの開発を進める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マルチエージェントシステムの改良</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投資シグナルを生成・検証・進化させる仕組みを磨く</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事業の拡大</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創業1年で3回の調達を重ね、成長を継続する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リサーチ支援ツール vs GIMの自律的アプローチ(概要)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従来のリサーチ支援ツール</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人間のアナリストの意思決定を支援</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仮説の生成・検証は人間が担う</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GIMのアプローチ(報道による)</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自律的な仮説生成・検証まで扱う</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7層のエージェントアーキテクチャで投資シグナルを生成</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GIMは香港・北京・上海を拠点とする企業である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本テーマでは資金調達・製品に関する事実を淡々と報告し、地政学的な論評は行っていない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特定企業・特定製品の利用を強く推奨する結論にはしていない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4523F"/>
                    </a:solidFill>
                  </a:tcPr>
                </a:tc>
                <a:tc>
                  <a:txBody>
                    <a:bodyPr/>
                    <a:lstStyle/>
                    <a:p>
                      <a:pPr>
                        <a:defRPr sz="1300" b="1">
                          <a:solidFill>
                            <a:srgbClr val="FFFFFF"/>
                          </a:solidFill>
                          <a:latin typeface="Yu Gothic"/>
                        </a:defRPr>
                      </a:pPr>
                      <a:r>
                        <a:t>日付</a:t>
                      </a:r>
                    </a:p>
                  </a:txBody>
                  <a:tcPr>
                    <a:solidFill>
                      <a:srgbClr val="24523F"/>
                    </a:solidFill>
                  </a:tcPr>
                </a:tc>
              </a:tr>
              <a:tr h="502920">
                <a:tc>
                  <a:txBody>
                    <a:bodyPr/>
                    <a:lstStyle/>
                    <a:p>
                      <a:pPr>
                        <a:defRPr sz="1200">
                          <a:solidFill>
                            <a:srgbClr val="20261F"/>
                          </a:solidFill>
                          <a:latin typeface="Yu Gothic"/>
                        </a:defRPr>
                      </a:pPr>
                      <a:r>
                        <a:t>PR Newswire</a:t>
                      </a:r>
                    </a:p>
                  </a:txBody>
                  <a:tcPr>
                    <a:solidFill>
                      <a:srgbClr val="FFFFFF"/>
                    </a:solidFill>
                  </a:tcPr>
                </a:tc>
                <a:tc>
                  <a:txBody>
                    <a:bodyPr/>
                    <a:lstStyle/>
                    <a:p>
                      <a:pPr>
                        <a:defRPr sz="1200">
                          <a:solidFill>
                            <a:srgbClr val="20261F"/>
                          </a:solidFill>
                          <a:latin typeface="Yu Gothic"/>
                        </a:defRPr>
                      </a:pPr>
                      <a:r>
                        <a:t>2026-07-09</a:t>
                      </a:r>
                    </a:p>
                  </a:txBody>
                  <a:tcPr>
                    <a:solidFill>
                      <a:srgbClr val="FFFFFF"/>
                    </a:solidFill>
                  </a:tcPr>
                </a:tc>
              </a:tr>
              <a:tr h="502920">
                <a:tc>
                  <a:txBody>
                    <a:bodyPr/>
                    <a:lstStyle/>
                    <a:p>
                      <a:pPr>
                        <a:defRPr sz="1200">
                          <a:solidFill>
                            <a:srgbClr val="20261F"/>
                          </a:solidFill>
                          <a:latin typeface="Yu Gothic"/>
                        </a:defRPr>
                      </a:pPr>
                      <a:r>
                        <a:t>FF News</a:t>
                      </a:r>
                    </a:p>
                  </a:txBody>
                  <a:tcPr>
                    <a:solidFill>
                      <a:srgbClr val="F4F1E6"/>
                    </a:solidFill>
                  </a:tcPr>
                </a:tc>
                <a:tc>
                  <a:txBody>
                    <a:bodyPr/>
                    <a:lstStyle/>
                    <a:p>
                      <a:pPr>
                        <a:defRPr sz="1200">
                          <a:solidFill>
                            <a:srgbClr val="20261F"/>
                          </a:solidFill>
                          <a:latin typeface="Yu Gothic"/>
                        </a:defRPr>
                      </a:pPr>
                      <a:r>
                        <a:t>2026年7月(日付詳細未確認)</a:t>
                      </a:r>
                    </a:p>
                  </a:txBody>
                  <a:tcPr>
                    <a:solidFill>
                      <a:srgbClr val="F4F1E6"/>
                    </a:solidFill>
                  </a:tcPr>
                </a:tc>
              </a:tr>
              <a:tr h="502920">
                <a:tc>
                  <a:txBody>
                    <a:bodyPr/>
                    <a:lstStyle/>
                    <a:p>
                      <a:pPr>
                        <a:defRPr sz="1200">
                          <a:solidFill>
                            <a:srgbClr val="20261F"/>
                          </a:solidFill>
                          <a:latin typeface="Yu Gothic"/>
                        </a:defRPr>
                      </a:pPr>
                      <a:r>
                        <a:t>FinTech Futures</a:t>
                      </a:r>
                    </a:p>
                  </a:txBody>
                  <a:tcPr>
                    <a:solidFill>
                      <a:srgbClr val="FFFFFF"/>
                    </a:solidFill>
                  </a:tcPr>
                </a:tc>
                <a:tc>
                  <a:txBody>
                    <a:bodyPr/>
                    <a:lstStyle/>
                    <a:p>
                      <a:pPr>
                        <a:defRPr sz="1200">
                          <a:solidFill>
                            <a:srgbClr val="20261F"/>
                          </a:solidFill>
                          <a:latin typeface="Yu Gothic"/>
                        </a:defRPr>
                      </a:pPr>
                      <a:r>
                        <a:t>2026年7月(日付詳細未確認)</a:t>
                      </a:r>
                    </a:p>
                  </a:txBody>
                  <a:tcPr>
                    <a:solidFill>
                      <a:srgbClr val="FFFFFF"/>
                    </a:solidFill>
                  </a:tcPr>
                </a:tc>
              </a:tr>
              <a:tr h="502920">
                <a:tc>
                  <a:txBody>
                    <a:bodyPr/>
                    <a:lstStyle/>
                    <a:p>
                      <a:pPr>
                        <a:defRPr sz="1200">
                          <a:solidFill>
                            <a:srgbClr val="20261F"/>
                          </a:solidFill>
                          <a:latin typeface="Yu Gothic"/>
                        </a:defRPr>
                      </a:pPr>
                      <a:r>
                        <a:t>citybiz</a:t>
                      </a:r>
                    </a:p>
                  </a:txBody>
                  <a:tcPr>
                    <a:solidFill>
                      <a:srgbClr val="F4F1E6"/>
                    </a:solidFill>
                  </a:tcPr>
                </a:tc>
                <a:tc>
                  <a:txBody>
                    <a:bodyPr/>
                    <a:lstStyle/>
                    <a:p>
                      <a:pPr>
                        <a:defRPr sz="1200">
                          <a:solidFill>
                            <a:srgbClr val="20261F"/>
                          </a:solidFill>
                          <a:latin typeface="Yu Gothic"/>
                        </a:defRPr>
                      </a:pPr>
                      <a:r>
                        <a:t>2026年7月(日付詳細未確認)</a:t>
                      </a:r>
                    </a:p>
                  </a:txBody>
                  <a:tcPr>
                    <a:solidFill>
                      <a:srgbClr val="F4F1E6"/>
                    </a:solidFill>
                  </a:tcPr>
                </a:tc>
              </a:tr>
              <a:tr h="502920">
                <a:tc>
                  <a:txBody>
                    <a:bodyPr/>
                    <a:lstStyle/>
                    <a:p>
                      <a:pPr>
                        <a:defRPr sz="1200">
                          <a:solidFill>
                            <a:srgbClr val="20261F"/>
                          </a:solidFill>
                          <a:latin typeface="Yu Gothic"/>
                        </a:defRPr>
                      </a:pPr>
                      <a:r>
                        <a:t>Morningstar / Yahoo Finance(PR Newswire配信の転載)</a:t>
                      </a:r>
                    </a:p>
                  </a:txBody>
                  <a:tcPr>
                    <a:solidFill>
                      <a:srgbClr val="FFFFFF"/>
                    </a:solidFill>
                  </a:tcPr>
                </a:tc>
                <a:tc>
                  <a:txBody>
                    <a:bodyPr/>
                    <a:lstStyle/>
                    <a:p>
                      <a:pPr>
                        <a:defRPr sz="1200">
                          <a:solidFill>
                            <a:srgbClr val="20261F"/>
                          </a:solidFill>
                          <a:latin typeface="Yu Gothic"/>
                        </a:defRPr>
                      </a:pPr>
                      <a:r>
                        <a:t>2026年7月(日付詳細未確認)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GIMを主題としたテーマ</a:t>
                      </a:r>
                    </a:p>
                  </a:txBody>
                  <a:tcPr>
                    <a:solidFill>
                      <a:srgbClr val="FFFFFF"/>
                    </a:solidFill>
                  </a:tcPr>
                </a:tc>
                <a:tc>
                  <a:txBody>
                    <a:bodyPr/>
                    <a:lstStyle/>
                    <a:p>
                      <a:pPr>
                        <a:defRPr sz="1200">
                          <a:solidFill>
                            <a:srgbClr val="20261F"/>
                          </a:solidFill>
                          <a:latin typeface="Yu Gothic"/>
                        </a:defRPr>
                      </a:pPr>
                      <a:r>
                        <a:t>既存テーマになし</a:t>
                      </a:r>
                    </a:p>
                  </a:txBody>
                  <a:tcPr>
                    <a:solidFill>
                      <a:srgbClr val="FFFFFF"/>
                    </a:solidFill>
                  </a:tcPr>
                </a:tc>
              </a:tr>
              <a:tr h="502920">
                <a:tc>
                  <a:txBody>
                    <a:bodyPr/>
                    <a:lstStyle/>
                    <a:p>
                      <a:pPr>
                        <a:defRPr sz="1200">
                          <a:solidFill>
                            <a:srgbClr val="20261F"/>
                          </a:solidFill>
                          <a:latin typeface="Yu Gothic"/>
                        </a:defRPr>
                      </a:pPr>
                      <a:r>
                        <a:t>判定</a:t>
                      </a:r>
                    </a:p>
                  </a:txBody>
                  <a:tcPr>
                    <a:solidFill>
                      <a:srgbClr val="F4F1E6"/>
                    </a:solidFill>
                  </a:tcPr>
                </a:tc>
                <a:tc>
                  <a:txBody>
                    <a:bodyPr/>
                    <a:lstStyle/>
                    <a:p>
                      <a:pPr>
                        <a:defRPr sz="1200">
                          <a:solidFill>
                            <a:srgbClr val="20261F"/>
                          </a:solidFill>
                          <a:latin typeface="Yu Gothic"/>
                        </a:defRPr>
                      </a:pPr>
                      <a:r>
                        <a:t>重複ではない</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業界への影響(ここからは推測)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ここからは推測ですが、エージェント型AIによる資本市場向け自動化は今後さらに広がる可能性がある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学術的な評価(ACL 2026 Oral推薦)を得た技術が実運用に近づく事例として注目される可能性がある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創業1年で3回の調達という成長速度は、AI投資テック分野全体の資金需要の高さを示唆するかもしれない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AIが自分で株を売買する時代、あなたはどう見ますか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GIMの今後の展開を、確認できたこと・できなかったことを区別しながら注目していきましょう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GIMが2026年7月9日、シリーズAで2,000万ドルの資金調達を発表</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創業1年以内で3回目の調達、累計3,000万ドル超に到達</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中核製品「Visionary Machine」は7層のエージェントアーキテクチャを採用</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AUM・取引実績・バリュエーション等は確認できていない点を正直に開示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 ほか(2026-07-09)｜定期実行129本目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