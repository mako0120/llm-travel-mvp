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評価額(億ドル)</c:v>
                </c:pt>
              </c:strCache>
            </c:strRef>
          </c:tx>
          <c:spPr>
            <a:solidFill>
              <a:srgbClr val="2E2A72"/>
            </a:solidFill>
          </c:spPr>
          <c:cat>
            <c:strRef>
              <c:f>Sheet1!$A$2:$A$3</c:f>
              <c:strCache>
                <c:ptCount val="2"/>
                <c:pt idx="0">
                  <c:v>シリーズA(2026年1月)</c:v>
                </c:pt>
                <c:pt idx="1">
                  <c:v>シリーズB(2026年8月)</c:v>
                </c:pt>
              </c:strCache>
            </c:strRef>
          </c:cat>
          <c:val>
            <c:numRef>
              <c:f>Sheet1!$B$2:$B$3</c:f>
              <c:numCache>
                <c:formatCode>General</c:formatCode>
                <c:ptCount val="2"/>
                <c:pt idx="0">
                  <c:v>13</c:v>
                </c:pt>
                <c:pt idx="1">
                  <c:v>54</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年換算売上高(百万ドル)</c:v>
                </c:pt>
              </c:strCache>
            </c:strRef>
          </c:tx>
          <c:spPr>
            <a:solidFill>
              <a:srgbClr val="2E2A72"/>
            </a:solidFill>
          </c:spPr>
          <c:cat>
            <c:strRef>
              <c:f>Sheet1!$A$2:$A$3</c:f>
              <c:strCache>
                <c:ptCount val="2"/>
                <c:pt idx="0">
                  <c:v>1年前</c:v>
                </c:pt>
                <c:pt idx="1">
                  <c:v>現在(2026年8月)</c:v>
                </c:pt>
              </c:strCache>
            </c:strRef>
          </c:cat>
          <c:val>
            <c:numRef>
              <c:f>Sheet1!$B$2:$B$3</c:f>
              <c:numCache>
                <c:formatCode>General</c:formatCode>
                <c:ptCount val="2"/>
                <c:pt idx="0">
                  <c:v>20</c:v>
                </c:pt>
                <c:pt idx="1">
                  <c:v>700</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動画生成スタートアップのHiggsfieldが、2026年8月17日にシリーズBラウンドで4億ドル、日本円で約600億円を調達したと発表しました。企業価値は54億ドルに到達。2026年1月のシリーズAでの評価額13億ドルから、わずか8か月で約4倍に拡大しています。今日はこの資金調達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Higgsfieldは今回のシリーズBラウンドで4億ドルを調達し、企業価値は54億ドルに到達しました。2026年1月のシリーズAでの評価額13億ドルから、8か月というスピードで約4倍に拡大しています。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今日は6つの流れでお伝えします。資金調達の数字から投資家一覧、売上高の急成長、創業者の経歴まで、正確に数字を引用しながら整理します。誇張せず、確認できなかったことは正直にお伝えします。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8か月で評価額4倍という際立った変化率、そして日本のNTTドコモ・ベンチャーズも出資しているという接点があります。複数の媒体が金額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Higgsfieldという企業の前提を確認します。テキストや画像から動画を生成するAI動画生成スタートアップで、映画制作者向け・マーケティング担当者向けの製品を展開しています。本編は資金調達・成長の事実紹介であり、製品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シリーズBとは、シード・シリーズAに続く段階の資金調達を指します。評価額は投資家との合意で算定される、その時点での推定企業価値であり、実際の売買で確定した価格ではない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が4倍になるまでの時系列です。2026年1月のシリーズAで評価額13億ドルに到達し、2026年8月17日のシリーズBで4億ドルを調達。企業価値は54億ドルに到達したと発表され、8か月で約4倍という変化率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グラフにしました。2026年1月のシリーズAでは13億ドルだった評価額が、2026年8月のシリーズBでは54億ドルに到達しています。8か月という期間の短さと、上昇幅の大きさが数字から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今回の調達額です。シリーズBラウンドで4億ドル、日本円にして約600億円を調達しました。このラウンドはDST Globalが主導しています。次に、調達の詳細と参加した投資家を確認します。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シリーズBラウンドの概要を一覧にしました。2026年8月17日発表、調達額4億ドル、今回の評価額54億ドル、前回のシリーズAの評価額13億ドル。DST Globalが主導しました。次に、参加した投資家の一覧を確認します。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参加した投資家の一覧です。DST Globalが主導し、Tribe Capital・Goldman Sachs Alternatives傘下のGrowth Equity・Smash Capital・Fifth Wall・Valor Capital・Intel Capital・Liberty Global Tech Ventures・Mirae Asset Capital、そして日本のNTTドコモ・ベンチャーズも参加しました。各投資家の具体的な出資額は非公表です。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との接点を確認します。今回のラウンドには、日本のNTTドコモ・ベンチャーズも参加しています。10社前後の投資家が参加した大型ラウンドの中に、日本の投資家の名前が含まれている点が本テーマのポイント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年換算売上高の推移をグラフにしました。1年前は約2000万ドルだった年換算売上高が、2026年8月時点では7億ドルに到達したと発表されています。次にこの成長倍率を確認します。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の成長倍率です。1年前の約2000万ドルから、7億ドルへと35倍に成長したとHiggsfieldは発表しています。この数字は監査済みの決算ではなく、企業側が発表した年換算(ランレート)の数字である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1年前と現在を並べて確認します。年換算売上高は2000万ドルから7億ドルへ35倍、評価額は13億ドルから54億ドルへ約4倍に拡大しました。投資家層もDST Global主導のもと、NTTドコモ・ベンチャーズを含む幅広い顔ぶれに拡大しています。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ユーザー数です。Higgsfieldは世界200か国で3000万人のユーザーを抱えていると発表しています。この数字が具体的に何を指すのかは、次のスライドで正確に確認します。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万人』という数字を扱う際の注意点です。月間アクティブユーザー数なのか累計登録アカウント数なのか、具体的な算出方法・定義は本調査の範囲では確認できていません。企業側発表の数字としてそのまま紹介し、独自の定義を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創業者アレックス・マシュラボフ氏の経歴を図にしました。2020年、自身の前スタートアップ『AI Factory』がSnapに1億6600万ドルで買収されたことでSnapに加わり、生成AI責任者を務めました。その後、Higgsfieldを創業しています。実在人物のため、写真・肖像は使用していません。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創業者に関する確認済みの事実です。アレックス・マシュラボフ氏は元Snapの生成AI責任者で、2020年にSnapが自身の前スタートアップ『AI Factory』を1億6600万ドルで買収したことで同社に加わった経歴を持ちます。写真・肖像は使用せず、氏名と経歴のみをテキストで紹介しています。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同社が展開している製品ラインナップです。映画制作者向けの『Cinema Studio』、マーケティング担当者向けの『Marketing Studio』を展開しています。本編はこれらの利用を推奨する内容ではなく、あくまで資金調達・成長に関する事実の紹介です。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製品ラインナップを一覧にしました。映画制作者向けのCinema Studio、マーケティング担当者向けのMarketing Studioの2つが報じられています。次に、確認できていない出資額の内訳を確認します。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各投資家の出資額について正直にお伝えします。今回のラウンドにおける各投資家の具体的な出資額の内訳は、本調査の範囲では確認できていません。DST Globalが主導したという事実は確認できていますが、個別の金額は推測で補いません。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このニュースが読者にとって意味することをまとめました。AI業界の動向を追う立場、映像制作・マーケティングの立場、投資・スタートアップを追う立場、それぞれで意識したい視点です。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評価額・調達額は資金調達時点の数字であり、収益性を直接示すものではありません。年換算売上高・ユーザー数は企業側発表の数字である点にも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資金調達時点の評価額・調達額であり、ユーザー数の定義や各投資家の出資額など、非公表・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本テーマの鮮度を数字で確認します。発表は着手日の前日にあたる2026年8月17日でした。当社の鮮度基準(着手日を含めて2日以内)を満たしています。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3つの数字でHiggsfieldの成長をまとめました。評価額は8か月で約4倍の54億ドル、年換算売上高は35倍の7億ドル、ユーザー数は世界200か国で3000万人と発表されています。最後に出典一覧を確認します。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本編で使った主な出典を一覧にしました。複数の独立した媒体が金額・評価額・売上高の数値を一致させて報じていることを確認しています。詳細はresearch.mdをご確認ください。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HiggsfieldがシリーズBで4億ドルを調達し評価額54億ドルに到達した件を、投資家一覧・売上高35倍成長・創業者の経歴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8か月で評価額4倍の54億ドルに。</a:t>
            </a:r>
          </a:p>
          <a:p>
            <a:pPr algn="l">
              <a:lnSpc>
                <a:spcPct val="115000"/>
              </a:lnSpc>
            </a:pPr>
            <a:r>
              <a:rPr sz="4200" b="1">
                <a:solidFill>
                  <a:srgbClr val="FFFFFF"/>
                </a:solidFill>
                <a:latin typeface="Yu Gothic"/>
              </a:rPr>
              <a:t>AI動画スタートアップHiggsfieldが</a:t>
            </a:r>
          </a:p>
          <a:p>
            <a:pPr algn="l">
              <a:lnSpc>
                <a:spcPct val="115000"/>
              </a:lnSpc>
            </a:pPr>
            <a:r>
              <a:rPr sz="4200" b="1">
                <a:solidFill>
                  <a:srgbClr val="FFFFFF"/>
                </a:solidFill>
                <a:latin typeface="Yu Gothic"/>
              </a:rPr>
              <a:t>4億ドル(約600億円)を調達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2026年8月17日発表のシリーズBラウンド――出典付きで数字を正確に整理する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TechCrunch・PR Newswire・SiliconANGLE・Yahoo Finance(複数記事)・citybiz(2026年8月17日)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評価額54億ドル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シリーズBで4億ドル(約600億円)を調達。2026年1月の13億ドルから8か月で約4倍に拡大した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TechCrunch・PR Newswire(2026-08-17)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Higgsfieldとは・基礎知識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資金調達の数字を時系列で確認する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参加した投資家一覧</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売上高35倍成長とユーザー数を深掘りする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創業者の経歴・製品・確認できなかったこと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発表翌日(2026年8月18日着手)という鮮度の高い話題である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8か月で評価額が4倍という際立った変化率が確認できる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日本のNTTドコモ・ベンチャーズも出資しており、日本との接点がある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複数の独立した媒体(TechCrunch・PR Newswire等)が金額を一致させて報じている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TechCrunch・PR Newswire・SiliconANGLE(2026-08-17)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Higgsfieldとは(初心者向け)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Higgsfieldは、テキストや画像から動画を生成するAI動画生成スタートアップである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映画制作者向けの『Cinema Studio』、マーケティング担当者向けの『Marketing Studio』を展開している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本編ではHiggsfieldという特定企業の資金調達・成長の事実を中立的に紹介する(利用を推奨する内容ではない)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用語解説:シリーズB・評価額とは(初心者向け)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『シリーズB』とは、スタートアップが複数回行う資金調達のうち、3回目前後(シードの後、シリーズAに続く段階)を指す一般的な呼び方である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『評価額(企業価値)』とは、資金調達時に投資家との合意で算定される、その時点でのその企業の推定価値である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評価額は実際の売買で確定した価格ではなく、資金調達交渉の結果として算定される数字である点に留意する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評価額が4倍になるまでの時系列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2026年1月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シリーズAで評価額13億ドルに到達</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2026年8月17日</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シリーズBで4億ドル(約600億円)を調達</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調達後</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企業価値が54億ドルに到達したと発表</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変化率</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8か月で評価額が約4倍に拡大した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評価額の推移(シリーズA→B)</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TechCrunch・PR Newswire(2026-08-17)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4億ドル(約600億円)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シリーズBラウンドでの調達額。DST Globalが主導した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TechCrunch・PR Newswire(2026-08-17)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シリーズBラウンドの概要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2026年8月17日</a:t>
                      </a:r>
                    </a:p>
                  </a:txBody>
                  <a:tcPr>
                    <a:solidFill>
                      <a:srgbClr val="FFFFFF"/>
                    </a:solidFill>
                  </a:tcPr>
                </a:tc>
              </a:tr>
              <a:tr h="502920">
                <a:tc>
                  <a:txBody>
                    <a:bodyPr/>
                    <a:lstStyle/>
                    <a:p>
                      <a:pPr>
                        <a:defRPr sz="1200">
                          <a:solidFill>
                            <a:srgbClr val="1C1B33"/>
                          </a:solidFill>
                          <a:latin typeface="Yu Gothic"/>
                        </a:defRPr>
                      </a:pPr>
                      <a:r>
                        <a:t>調達額</a:t>
                      </a:r>
                    </a:p>
                  </a:txBody>
                  <a:tcPr>
                    <a:solidFill>
                      <a:srgbClr val="F4F3FC"/>
                    </a:solidFill>
                  </a:tcPr>
                </a:tc>
                <a:tc>
                  <a:txBody>
                    <a:bodyPr/>
                    <a:lstStyle/>
                    <a:p>
                      <a:pPr>
                        <a:defRPr sz="1200">
                          <a:solidFill>
                            <a:srgbClr val="1C1B33"/>
                          </a:solidFill>
                          <a:latin typeface="Yu Gothic"/>
                        </a:defRPr>
                      </a:pPr>
                      <a:r>
                        <a:t>4億ドル(約600億円)</a:t>
                      </a:r>
                    </a:p>
                  </a:txBody>
                  <a:tcPr>
                    <a:solidFill>
                      <a:srgbClr val="F4F3FC"/>
                    </a:solidFill>
                  </a:tcPr>
                </a:tc>
              </a:tr>
              <a:tr h="502920">
                <a:tc>
                  <a:txBody>
                    <a:bodyPr/>
                    <a:lstStyle/>
                    <a:p>
                      <a:pPr>
                        <a:defRPr sz="1200">
                          <a:solidFill>
                            <a:srgbClr val="1C1B33"/>
                          </a:solidFill>
                          <a:latin typeface="Yu Gothic"/>
                        </a:defRPr>
                      </a:pPr>
                      <a:r>
                        <a:t>今回の評価額</a:t>
                      </a:r>
                    </a:p>
                  </a:txBody>
                  <a:tcPr>
                    <a:solidFill>
                      <a:srgbClr val="FFFFFF"/>
                    </a:solidFill>
                  </a:tcPr>
                </a:tc>
                <a:tc>
                  <a:txBody>
                    <a:bodyPr/>
                    <a:lstStyle/>
                    <a:p>
                      <a:pPr>
                        <a:defRPr sz="1200">
                          <a:solidFill>
                            <a:srgbClr val="1C1B33"/>
                          </a:solidFill>
                          <a:latin typeface="Yu Gothic"/>
                        </a:defRPr>
                      </a:pPr>
                      <a:r>
                        <a:t>54億ドル</a:t>
                      </a:r>
                    </a:p>
                  </a:txBody>
                  <a:tcPr>
                    <a:solidFill>
                      <a:srgbClr val="FFFFFF"/>
                    </a:solidFill>
                  </a:tcPr>
                </a:tc>
              </a:tr>
              <a:tr h="502920">
                <a:tc>
                  <a:txBody>
                    <a:bodyPr/>
                    <a:lstStyle/>
                    <a:p>
                      <a:pPr>
                        <a:defRPr sz="1200">
                          <a:solidFill>
                            <a:srgbClr val="1C1B33"/>
                          </a:solidFill>
                          <a:latin typeface="Yu Gothic"/>
                        </a:defRPr>
                      </a:pPr>
                      <a:r>
                        <a:t>前回(2026年1月シリーズA)の評価額</a:t>
                      </a:r>
                    </a:p>
                  </a:txBody>
                  <a:tcPr>
                    <a:solidFill>
                      <a:srgbClr val="F4F3FC"/>
                    </a:solidFill>
                  </a:tcPr>
                </a:tc>
                <a:tc>
                  <a:txBody>
                    <a:bodyPr/>
                    <a:lstStyle/>
                    <a:p>
                      <a:pPr>
                        <a:defRPr sz="1200">
                          <a:solidFill>
                            <a:srgbClr val="1C1B33"/>
                          </a:solidFill>
                          <a:latin typeface="Yu Gothic"/>
                        </a:defRPr>
                      </a:pPr>
                      <a:r>
                        <a:t>13億ドル</a:t>
                      </a:r>
                    </a:p>
                  </a:txBody>
                  <a:tcPr>
                    <a:solidFill>
                      <a:srgbClr val="F4F3FC"/>
                    </a:solidFill>
                  </a:tcPr>
                </a:tc>
              </a:tr>
              <a:tr h="502920">
                <a:tc>
                  <a:txBody>
                    <a:bodyPr/>
                    <a:lstStyle/>
                    <a:p>
                      <a:pPr>
                        <a:defRPr sz="1200">
                          <a:solidFill>
                            <a:srgbClr val="1C1B33"/>
                          </a:solidFill>
                          <a:latin typeface="Yu Gothic"/>
                        </a:defRPr>
                      </a:pPr>
                      <a:r>
                        <a:t>評価額の変化</a:t>
                      </a:r>
                    </a:p>
                  </a:txBody>
                  <a:tcPr>
                    <a:solidFill>
                      <a:srgbClr val="FFFFFF"/>
                    </a:solidFill>
                  </a:tcPr>
                </a:tc>
                <a:tc>
                  <a:txBody>
                    <a:bodyPr/>
                    <a:lstStyle/>
                    <a:p>
                      <a:pPr>
                        <a:defRPr sz="1200">
                          <a:solidFill>
                            <a:srgbClr val="1C1B33"/>
                          </a:solidFill>
                          <a:latin typeface="Yu Gothic"/>
                        </a:defRPr>
                      </a:pPr>
                      <a:r>
                        <a:t>8か月で約4倍</a:t>
                      </a:r>
                    </a:p>
                  </a:txBody>
                  <a:tcPr>
                    <a:solidFill>
                      <a:srgbClr val="FFFFFF"/>
                    </a:solidFill>
                  </a:tcPr>
                </a:tc>
              </a:tr>
              <a:tr h="502920">
                <a:tc>
                  <a:txBody>
                    <a:bodyPr/>
                    <a:lstStyle/>
                    <a:p>
                      <a:pPr>
                        <a:defRPr sz="1200">
                          <a:solidFill>
                            <a:srgbClr val="1C1B33"/>
                          </a:solidFill>
                          <a:latin typeface="Yu Gothic"/>
                        </a:defRPr>
                      </a:pPr>
                      <a:r>
                        <a:t>主導した投資家</a:t>
                      </a:r>
                    </a:p>
                  </a:txBody>
                  <a:tcPr>
                    <a:solidFill>
                      <a:srgbClr val="F4F3FC"/>
                    </a:solidFill>
                  </a:tcPr>
                </a:tc>
                <a:tc>
                  <a:txBody>
                    <a:bodyPr/>
                    <a:lstStyle/>
                    <a:p>
                      <a:pPr>
                        <a:defRPr sz="1200">
                          <a:solidFill>
                            <a:srgbClr val="1C1B33"/>
                          </a:solidFill>
                          <a:latin typeface="Yu Gothic"/>
                        </a:defRPr>
                      </a:pPr>
                      <a:r>
                        <a:t>DST Global</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TechCrunch・PR Newswire・SiliconANGLE(2026-08-17)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参加した投資家一覧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114800"/>
        </p:xfrm>
        <a:graphic>
          <a:graphicData uri="http://schemas.openxmlformats.org/drawingml/2006/table">
            <a:tbl>
              <a:tblPr firstRow="1" bandRow="1">
                <a:tableStyleId>{5C22544A-7EE6-4342-B048-85BDC9FD1C3A}</a:tableStyleId>
              </a:tblPr>
              <a:tblGrid>
                <a:gridCol w="5638647"/>
                <a:gridCol w="5638648"/>
              </a:tblGrid>
              <a:tr h="374072">
                <a:tc>
                  <a:txBody>
                    <a:bodyPr/>
                    <a:lstStyle/>
                    <a:p>
                      <a:pPr>
                        <a:defRPr sz="1300" b="1">
                          <a:solidFill>
                            <a:srgbClr val="FFFFFF"/>
                          </a:solidFill>
                          <a:latin typeface="Yu Gothic"/>
                        </a:defRPr>
                      </a:pPr>
                      <a:r>
                        <a:t>投資家</a:t>
                      </a:r>
                    </a:p>
                  </a:txBody>
                  <a:tcPr>
                    <a:solidFill>
                      <a:srgbClr val="2E2A72"/>
                    </a:solidFill>
                  </a:tcPr>
                </a:tc>
                <a:tc>
                  <a:txBody>
                    <a:bodyPr/>
                    <a:lstStyle/>
                    <a:p>
                      <a:pPr>
                        <a:defRPr sz="1300" b="1">
                          <a:solidFill>
                            <a:srgbClr val="FFFFFF"/>
                          </a:solidFill>
                          <a:latin typeface="Yu Gothic"/>
                        </a:defRPr>
                      </a:pPr>
                      <a:r>
                        <a:t>役割</a:t>
                      </a:r>
                    </a:p>
                  </a:txBody>
                  <a:tcPr>
                    <a:solidFill>
                      <a:srgbClr val="2E2A72"/>
                    </a:solidFill>
                  </a:tcPr>
                </a:tc>
              </a:tr>
              <a:tr h="374072">
                <a:tc>
                  <a:txBody>
                    <a:bodyPr/>
                    <a:lstStyle/>
                    <a:p>
                      <a:pPr>
                        <a:defRPr sz="1200">
                          <a:solidFill>
                            <a:srgbClr val="1C1B33"/>
                          </a:solidFill>
                          <a:latin typeface="Yu Gothic"/>
                        </a:defRPr>
                      </a:pPr>
                      <a:r>
                        <a:t>DST Global</a:t>
                      </a:r>
                    </a:p>
                  </a:txBody>
                  <a:tcPr>
                    <a:solidFill>
                      <a:srgbClr val="FFFFFF"/>
                    </a:solidFill>
                  </a:tcPr>
                </a:tc>
                <a:tc>
                  <a:txBody>
                    <a:bodyPr/>
                    <a:lstStyle/>
                    <a:p>
                      <a:pPr>
                        <a:defRPr sz="1200">
                          <a:solidFill>
                            <a:srgbClr val="1C1B33"/>
                          </a:solidFill>
                          <a:latin typeface="Yu Gothic"/>
                        </a:defRPr>
                      </a:pPr>
                      <a:r>
                        <a:t>今回のラウンドを主導</a:t>
                      </a:r>
                    </a:p>
                  </a:txBody>
                  <a:tcPr>
                    <a:solidFill>
                      <a:srgbClr val="FFFFFF"/>
                    </a:solidFill>
                  </a:tcPr>
                </a:tc>
              </a:tr>
              <a:tr h="374072">
                <a:tc>
                  <a:txBody>
                    <a:bodyPr/>
                    <a:lstStyle/>
                    <a:p>
                      <a:pPr>
                        <a:defRPr sz="1200">
                          <a:solidFill>
                            <a:srgbClr val="1C1B33"/>
                          </a:solidFill>
                          <a:latin typeface="Yu Gothic"/>
                        </a:defRPr>
                      </a:pPr>
                      <a:r>
                        <a:t>Tribe Capital</a:t>
                      </a:r>
                    </a:p>
                  </a:txBody>
                  <a:tcPr>
                    <a:solidFill>
                      <a:srgbClr val="F4F3FC"/>
                    </a:solidFill>
                  </a:tcPr>
                </a:tc>
                <a:tc>
                  <a:txBody>
                    <a:bodyPr/>
                    <a:lstStyle/>
                    <a:p>
                      <a:pPr>
                        <a:defRPr sz="1200">
                          <a:solidFill>
                            <a:srgbClr val="1C1B33"/>
                          </a:solidFill>
                          <a:latin typeface="Yu Gothic"/>
                        </a:defRPr>
                      </a:pPr>
                      <a:r>
                        <a:t>参加</a:t>
                      </a:r>
                    </a:p>
                  </a:txBody>
                  <a:tcPr>
                    <a:solidFill>
                      <a:srgbClr val="F4F3FC"/>
                    </a:solidFill>
                  </a:tcPr>
                </a:tc>
              </a:tr>
              <a:tr h="374072">
                <a:tc>
                  <a:txBody>
                    <a:bodyPr/>
                    <a:lstStyle/>
                    <a:p>
                      <a:pPr>
                        <a:defRPr sz="1200">
                          <a:solidFill>
                            <a:srgbClr val="1C1B33"/>
                          </a:solidFill>
                          <a:latin typeface="Yu Gothic"/>
                        </a:defRPr>
                      </a:pPr>
                      <a:r>
                        <a:t>Goldman Sachs Alternatives(Growth Equity)</a:t>
                      </a:r>
                    </a:p>
                  </a:txBody>
                  <a:tcPr>
                    <a:solidFill>
                      <a:srgbClr val="FFFFFF"/>
                    </a:solidFill>
                  </a:tcPr>
                </a:tc>
                <a:tc>
                  <a:txBody>
                    <a:bodyPr/>
                    <a:lstStyle/>
                    <a:p>
                      <a:pPr>
                        <a:defRPr sz="1200">
                          <a:solidFill>
                            <a:srgbClr val="1C1B33"/>
                          </a:solidFill>
                          <a:latin typeface="Yu Gothic"/>
                        </a:defRPr>
                      </a:pPr>
                      <a:r>
                        <a:t>参加</a:t>
                      </a:r>
                    </a:p>
                  </a:txBody>
                  <a:tcPr>
                    <a:solidFill>
                      <a:srgbClr val="FFFFFF"/>
                    </a:solidFill>
                  </a:tcPr>
                </a:tc>
              </a:tr>
              <a:tr h="374072">
                <a:tc>
                  <a:txBody>
                    <a:bodyPr/>
                    <a:lstStyle/>
                    <a:p>
                      <a:pPr>
                        <a:defRPr sz="1200">
                          <a:solidFill>
                            <a:srgbClr val="1C1B33"/>
                          </a:solidFill>
                          <a:latin typeface="Yu Gothic"/>
                        </a:defRPr>
                      </a:pPr>
                      <a:r>
                        <a:t>Smash Capital</a:t>
                      </a:r>
                    </a:p>
                  </a:txBody>
                  <a:tcPr>
                    <a:solidFill>
                      <a:srgbClr val="F4F3FC"/>
                    </a:solidFill>
                  </a:tcPr>
                </a:tc>
                <a:tc>
                  <a:txBody>
                    <a:bodyPr/>
                    <a:lstStyle/>
                    <a:p>
                      <a:pPr>
                        <a:defRPr sz="1200">
                          <a:solidFill>
                            <a:srgbClr val="1C1B33"/>
                          </a:solidFill>
                          <a:latin typeface="Yu Gothic"/>
                        </a:defRPr>
                      </a:pPr>
                      <a:r>
                        <a:t>参加</a:t>
                      </a:r>
                    </a:p>
                  </a:txBody>
                  <a:tcPr>
                    <a:solidFill>
                      <a:srgbClr val="F4F3FC"/>
                    </a:solidFill>
                  </a:tcPr>
                </a:tc>
              </a:tr>
              <a:tr h="374072">
                <a:tc>
                  <a:txBody>
                    <a:bodyPr/>
                    <a:lstStyle/>
                    <a:p>
                      <a:pPr>
                        <a:defRPr sz="1200">
                          <a:solidFill>
                            <a:srgbClr val="1C1B33"/>
                          </a:solidFill>
                          <a:latin typeface="Yu Gothic"/>
                        </a:defRPr>
                      </a:pPr>
                      <a:r>
                        <a:t>Fifth Wall</a:t>
                      </a:r>
                    </a:p>
                  </a:txBody>
                  <a:tcPr>
                    <a:solidFill>
                      <a:srgbClr val="FFFFFF"/>
                    </a:solidFill>
                  </a:tcPr>
                </a:tc>
                <a:tc>
                  <a:txBody>
                    <a:bodyPr/>
                    <a:lstStyle/>
                    <a:p>
                      <a:pPr>
                        <a:defRPr sz="1200">
                          <a:solidFill>
                            <a:srgbClr val="1C1B33"/>
                          </a:solidFill>
                          <a:latin typeface="Yu Gothic"/>
                        </a:defRPr>
                      </a:pPr>
                      <a:r>
                        <a:t>参加</a:t>
                      </a:r>
                    </a:p>
                  </a:txBody>
                  <a:tcPr>
                    <a:solidFill>
                      <a:srgbClr val="FFFFFF"/>
                    </a:solidFill>
                  </a:tcPr>
                </a:tc>
              </a:tr>
              <a:tr h="374072">
                <a:tc>
                  <a:txBody>
                    <a:bodyPr/>
                    <a:lstStyle/>
                    <a:p>
                      <a:pPr>
                        <a:defRPr sz="1200">
                          <a:solidFill>
                            <a:srgbClr val="1C1B33"/>
                          </a:solidFill>
                          <a:latin typeface="Yu Gothic"/>
                        </a:defRPr>
                      </a:pPr>
                      <a:r>
                        <a:t>Valor Capital</a:t>
                      </a:r>
                    </a:p>
                  </a:txBody>
                  <a:tcPr>
                    <a:solidFill>
                      <a:srgbClr val="F4F3FC"/>
                    </a:solidFill>
                  </a:tcPr>
                </a:tc>
                <a:tc>
                  <a:txBody>
                    <a:bodyPr/>
                    <a:lstStyle/>
                    <a:p>
                      <a:pPr>
                        <a:defRPr sz="1200">
                          <a:solidFill>
                            <a:srgbClr val="1C1B33"/>
                          </a:solidFill>
                          <a:latin typeface="Yu Gothic"/>
                        </a:defRPr>
                      </a:pPr>
                      <a:r>
                        <a:t>参加</a:t>
                      </a:r>
                    </a:p>
                  </a:txBody>
                  <a:tcPr>
                    <a:solidFill>
                      <a:srgbClr val="F4F3FC"/>
                    </a:solidFill>
                  </a:tcPr>
                </a:tc>
              </a:tr>
              <a:tr h="374072">
                <a:tc>
                  <a:txBody>
                    <a:bodyPr/>
                    <a:lstStyle/>
                    <a:p>
                      <a:pPr>
                        <a:defRPr sz="1200">
                          <a:solidFill>
                            <a:srgbClr val="1C1B33"/>
                          </a:solidFill>
                          <a:latin typeface="Yu Gothic"/>
                        </a:defRPr>
                      </a:pPr>
                      <a:r>
                        <a:t>Intel Capital</a:t>
                      </a:r>
                    </a:p>
                  </a:txBody>
                  <a:tcPr>
                    <a:solidFill>
                      <a:srgbClr val="FFFFFF"/>
                    </a:solidFill>
                  </a:tcPr>
                </a:tc>
                <a:tc>
                  <a:txBody>
                    <a:bodyPr/>
                    <a:lstStyle/>
                    <a:p>
                      <a:pPr>
                        <a:defRPr sz="1200">
                          <a:solidFill>
                            <a:srgbClr val="1C1B33"/>
                          </a:solidFill>
                          <a:latin typeface="Yu Gothic"/>
                        </a:defRPr>
                      </a:pPr>
                      <a:r>
                        <a:t>参加</a:t>
                      </a:r>
                    </a:p>
                  </a:txBody>
                  <a:tcPr>
                    <a:solidFill>
                      <a:srgbClr val="FFFFFF"/>
                    </a:solidFill>
                  </a:tcPr>
                </a:tc>
              </a:tr>
              <a:tr h="374072">
                <a:tc>
                  <a:txBody>
                    <a:bodyPr/>
                    <a:lstStyle/>
                    <a:p>
                      <a:pPr>
                        <a:defRPr sz="1200">
                          <a:solidFill>
                            <a:srgbClr val="1C1B33"/>
                          </a:solidFill>
                          <a:latin typeface="Yu Gothic"/>
                        </a:defRPr>
                      </a:pPr>
                      <a:r>
                        <a:t>Liberty Global Tech Ventures</a:t>
                      </a:r>
                    </a:p>
                  </a:txBody>
                  <a:tcPr>
                    <a:solidFill>
                      <a:srgbClr val="F4F3FC"/>
                    </a:solidFill>
                  </a:tcPr>
                </a:tc>
                <a:tc>
                  <a:txBody>
                    <a:bodyPr/>
                    <a:lstStyle/>
                    <a:p>
                      <a:pPr>
                        <a:defRPr sz="1200">
                          <a:solidFill>
                            <a:srgbClr val="1C1B33"/>
                          </a:solidFill>
                          <a:latin typeface="Yu Gothic"/>
                        </a:defRPr>
                      </a:pPr>
                      <a:r>
                        <a:t>参加</a:t>
                      </a:r>
                    </a:p>
                  </a:txBody>
                  <a:tcPr>
                    <a:solidFill>
                      <a:srgbClr val="F4F3FC"/>
                    </a:solidFill>
                  </a:tcPr>
                </a:tc>
              </a:tr>
              <a:tr h="374072">
                <a:tc>
                  <a:txBody>
                    <a:bodyPr/>
                    <a:lstStyle/>
                    <a:p>
                      <a:pPr>
                        <a:defRPr sz="1200">
                          <a:solidFill>
                            <a:srgbClr val="1C1B33"/>
                          </a:solidFill>
                          <a:latin typeface="Yu Gothic"/>
                        </a:defRPr>
                      </a:pPr>
                      <a:r>
                        <a:t>Mirae Asset Capital</a:t>
                      </a:r>
                    </a:p>
                  </a:txBody>
                  <a:tcPr>
                    <a:solidFill>
                      <a:srgbClr val="FFFFFF"/>
                    </a:solidFill>
                  </a:tcPr>
                </a:tc>
                <a:tc>
                  <a:txBody>
                    <a:bodyPr/>
                    <a:lstStyle/>
                    <a:p>
                      <a:pPr>
                        <a:defRPr sz="1200">
                          <a:solidFill>
                            <a:srgbClr val="1C1B33"/>
                          </a:solidFill>
                          <a:latin typeface="Yu Gothic"/>
                        </a:defRPr>
                      </a:pPr>
                      <a:r>
                        <a:t>参加</a:t>
                      </a:r>
                    </a:p>
                  </a:txBody>
                  <a:tcPr>
                    <a:solidFill>
                      <a:srgbClr val="FFFFFF"/>
                    </a:solidFill>
                  </a:tcPr>
                </a:tc>
              </a:tr>
              <a:tr h="374080">
                <a:tc>
                  <a:txBody>
                    <a:bodyPr/>
                    <a:lstStyle/>
                    <a:p>
                      <a:pPr>
                        <a:defRPr sz="1200">
                          <a:solidFill>
                            <a:srgbClr val="1C1B33"/>
                          </a:solidFill>
                          <a:latin typeface="Yu Gothic"/>
                        </a:defRPr>
                      </a:pPr>
                      <a:r>
                        <a:t>NTTドコモ・ベンチャーズ(日本)</a:t>
                      </a:r>
                    </a:p>
                  </a:txBody>
                  <a:tcPr>
                    <a:solidFill>
                      <a:srgbClr val="F4F3FC"/>
                    </a:solidFill>
                  </a:tcPr>
                </a:tc>
                <a:tc>
                  <a:txBody>
                    <a:bodyPr/>
                    <a:lstStyle/>
                    <a:p>
                      <a:pPr>
                        <a:defRPr sz="1200">
                          <a:solidFill>
                            <a:srgbClr val="1C1B33"/>
                          </a:solidFill>
                          <a:latin typeface="Yu Gothic"/>
                        </a:defRPr>
                      </a:pPr>
                      <a:r>
                        <a:t>参加</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TechCrunch・PR Newswire・SiliconANGLE(2026-08-17)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日本との接点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NTTドコモ・ベンチャーズ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日本の投資家として、今回のシリーズBラウンドに参加した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TechCrunch・PR Newswire(2026-08-17)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年換算売上高の推移</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 Finance(複数記事)・SiliconANGLE(2026年8月)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売上高の成長倍率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35倍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年換算売上高が約2000万ドルから7億ドルへ、1年で35倍に成長したと発表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 Finance(複数記事)・SiliconANGLE(2026年8月)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1年前 / 現在(2026年8月)を比べる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1年前</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年換算売上高 約2000万ドル</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評価額13億ドル(2026年1月時点)</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投資家層はシリーズA参加者が中心</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現在(2026年8月)</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年換算売上高 7億ドル(35倍)</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評価額54億ドル(8か月で約4倍)</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DST Global主導・NTTドコモ・ベンチャーズ含む10社前後が参加</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ユーザー数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3000万人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世界200か国で3000万人のユーザーを抱えているとHiggsfieldは発表している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SiliconANGLE・Yahoo Finance(2026年8月)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『3000万人』の定義は不明(正直な開示)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この数字を扱う際の注意点です。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『3000万人のユーザー』が月間アクティブユーザー数なのか、累計登録アカウント数なのか等、具体的な算出方法・定義は本調査の範囲では確認できていない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本成果物では、企業側が発表した数字としてそのまま紹介し、独自の定義を推測で補わない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同様に年換算売上高も、企業側発表のランレート数字であり監査済み決算ではない点に注意する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創業者アレックス・マシュラボフ氏の経歴</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AI Factory</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マシュラボフ氏が創業した前スタートアップ</a:t>
            </a:r>
          </a:p>
        </p:txBody>
      </p:sp>
      <p:sp>
        <p:nvSpPr>
          <p:cNvPr id="10" name="Right Arrow 9"/>
          <p:cNvSpPr/>
          <p:nvPr/>
        </p:nvSpPr>
        <p:spPr>
          <a:xfrm>
            <a:off x="25571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Snapによる買収</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2020年、Snapが1億6600万ドルでAI Factoryを買収</a:t>
            </a:r>
          </a:p>
        </p:txBody>
      </p:sp>
      <p:sp>
        <p:nvSpPr>
          <p:cNvPr id="15" name="Right Arrow 14"/>
          <p:cNvSpPr/>
          <p:nvPr/>
        </p:nvSpPr>
        <p:spPr>
          <a:xfrm>
            <a:off x="57575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Snap生成AI責任者</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買収後、Snapの生成AI責任者を務めた</a:t>
            </a:r>
          </a:p>
        </p:txBody>
      </p:sp>
      <p:sp>
        <p:nvSpPr>
          <p:cNvPr id="20" name="Right Arrow 19"/>
          <p:cNvSpPr/>
          <p:nvPr/>
        </p:nvSpPr>
        <p:spPr>
          <a:xfrm>
            <a:off x="89579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Higgsfield創業</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AI動画生成スタートアップとして創業</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元Snap生成AI責任者という経歴が、今回の急成長の背景の一つとして報じられている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TechCrunch・SiliconANGLE(2026-08-17)</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創業者の経歴(事実として正確に扱う)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創業者に関する確認済みの事実です。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創業者はアレックス・マシュラボフ氏である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元Snapの生成AI責任者で、2020年にSnapが前スタートアップ『AI Factory』を1億6600万ドルで買収したことで同社に加わった経歴を持つ</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本成果物では実在人物であるマシュラボフ氏の写真・肖像は使用せず、抽象的な図解のみで経歴を紹介する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製品ラインナップ(中立的な事実紹介)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同社が展開している製品です。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映画制作者向けの『Cinema Studio』を展開している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マーケティング担当者向けの『Marketing Studio』を展開している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本編はこれらの製品の利用を推奨する内容ではなく、資金調達・成長に関する事実の紹介にとどめる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製品ラインナップ一覧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対象ユーザー</a:t>
                      </a:r>
                    </a:p>
                  </a:txBody>
                  <a:tcPr>
                    <a:solidFill>
                      <a:srgbClr val="2E2A72"/>
                    </a:solidFill>
                  </a:tcPr>
                </a:tc>
                <a:tc>
                  <a:txBody>
                    <a:bodyPr/>
                    <a:lstStyle/>
                    <a:p>
                      <a:pPr>
                        <a:defRPr sz="1300" b="1">
                          <a:solidFill>
                            <a:srgbClr val="FFFFFF"/>
                          </a:solidFill>
                          <a:latin typeface="Yu Gothic"/>
                        </a:defRPr>
                      </a:pPr>
                      <a:r>
                        <a:t>製品名</a:t>
                      </a:r>
                    </a:p>
                  </a:txBody>
                  <a:tcPr>
                    <a:solidFill>
                      <a:srgbClr val="2E2A72"/>
                    </a:solidFill>
                  </a:tcPr>
                </a:tc>
              </a:tr>
              <a:tr h="502920">
                <a:tc>
                  <a:txBody>
                    <a:bodyPr/>
                    <a:lstStyle/>
                    <a:p>
                      <a:pPr>
                        <a:defRPr sz="1200">
                          <a:solidFill>
                            <a:srgbClr val="1C1B33"/>
                          </a:solidFill>
                          <a:latin typeface="Yu Gothic"/>
                        </a:defRPr>
                      </a:pPr>
                      <a:r>
                        <a:t>映画制作者向け</a:t>
                      </a:r>
                    </a:p>
                  </a:txBody>
                  <a:tcPr>
                    <a:solidFill>
                      <a:srgbClr val="FFFFFF"/>
                    </a:solidFill>
                  </a:tcPr>
                </a:tc>
                <a:tc>
                  <a:txBody>
                    <a:bodyPr/>
                    <a:lstStyle/>
                    <a:p>
                      <a:pPr>
                        <a:defRPr sz="1200">
                          <a:solidFill>
                            <a:srgbClr val="1C1B33"/>
                          </a:solidFill>
                          <a:latin typeface="Yu Gothic"/>
                        </a:defRPr>
                      </a:pPr>
                      <a:r>
                        <a:t>Cinema Studio</a:t>
                      </a:r>
                    </a:p>
                  </a:txBody>
                  <a:tcPr>
                    <a:solidFill>
                      <a:srgbClr val="FFFFFF"/>
                    </a:solidFill>
                  </a:tcPr>
                </a:tc>
              </a:tr>
              <a:tr h="502920">
                <a:tc>
                  <a:txBody>
                    <a:bodyPr/>
                    <a:lstStyle/>
                    <a:p>
                      <a:pPr>
                        <a:defRPr sz="1200">
                          <a:solidFill>
                            <a:srgbClr val="1C1B33"/>
                          </a:solidFill>
                          <a:latin typeface="Yu Gothic"/>
                        </a:defRPr>
                      </a:pPr>
                      <a:r>
                        <a:t>マーケティング担当者向け</a:t>
                      </a:r>
                    </a:p>
                  </a:txBody>
                  <a:tcPr>
                    <a:solidFill>
                      <a:srgbClr val="F4F3FC"/>
                    </a:solidFill>
                  </a:tcPr>
                </a:tc>
                <a:tc>
                  <a:txBody>
                    <a:bodyPr/>
                    <a:lstStyle/>
                    <a:p>
                      <a:pPr>
                        <a:defRPr sz="1200">
                          <a:solidFill>
                            <a:srgbClr val="1C1B33"/>
                          </a:solidFill>
                          <a:latin typeface="Yu Gothic"/>
                        </a:defRPr>
                      </a:pPr>
                      <a:r>
                        <a:t>Marketing Studio</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TechCrunch・SiliconANGLE(2026-08-17)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各投資家の出資額は非公表(正直な開示)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今回のラウンドにおける各投資家の具体的な出資額の内訳は、本調査の範囲では確認できていない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『DST Globalが主導』という事実は複数媒体で確認できているが、主導投資家を含め個別の金額の推測・創作は行わない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合計調達額(4億ドル)と評価額(54億ドル)のみが、複数媒体で確認できている確定した数字である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評価額の拡大ペースと投資家の顔ぶれから、AI動画生成分野への資金流入の勢いを継続して確認する視点が役立つ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映像制作・マーケティングの立場として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Cinema Studio・Marketing Studioという製品の存在は事実として押さえつつ、実際の導入判断は別途自身で確認する必要がある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投資・スタートアップを追う立場として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個別投資家の出資額や利用者数の定義など、非公表・未確認の項目には断定的な情報に注意する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評価額・調達額はあくまで資金調達時点の数字であり、収益性や事業の持続性を直接示すものではない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年換算売上高・ユーザー数はいずれも企業側の発表数字であり、算出方法の詳細が公開されていない項目がある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製品導入を検討する場合は、本成果物の紹介にとどまらず、自身で最新の公式情報を確認することが望ましい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評価額4倍=事業が完全に安定して成功している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3000万人ユーザーは一般的な意味での利用者数のはず</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各投資家がどれだけ出資したかも分かるはず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確認できているのは評価額・調達額という資金調達時点の数字のみ</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『3000万人』の算出方法・定義の詳細は本調査の範囲では確認できていない</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各投資家の具体的な出資額は非公表である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シリーズB調達額・評価額</a:t>
                      </a:r>
                    </a:p>
                  </a:txBody>
                  <a:tcPr>
                    <a:solidFill>
                      <a:srgbClr val="FFFFFF"/>
                    </a:solidFill>
                  </a:tcPr>
                </a:tc>
                <a:tc>
                  <a:txBody>
                    <a:bodyPr/>
                    <a:lstStyle/>
                    <a:p>
                      <a:pPr>
                        <a:defRPr sz="1200">
                          <a:solidFill>
                            <a:srgbClr val="1C1B33"/>
                          </a:solidFill>
                          <a:latin typeface="Yu Gothic"/>
                        </a:defRPr>
                      </a:pPr>
                      <a:r>
                        <a:t>4億ドル・54億ドルとして複数媒体で確認済み</a:t>
                      </a:r>
                    </a:p>
                  </a:txBody>
                  <a:tcPr>
                    <a:solidFill>
                      <a:srgbClr val="FFFFFF"/>
                    </a:solidFill>
                  </a:tcPr>
                </a:tc>
              </a:tr>
              <a:tr h="502920">
                <a:tc>
                  <a:txBody>
                    <a:bodyPr/>
                    <a:lstStyle/>
                    <a:p>
                      <a:pPr>
                        <a:defRPr sz="1200">
                          <a:solidFill>
                            <a:srgbClr val="1C1B33"/>
                          </a:solidFill>
                          <a:latin typeface="Yu Gothic"/>
                        </a:defRPr>
                      </a:pPr>
                      <a:r>
                        <a:t>前回シリーズAの評価額</a:t>
                      </a:r>
                    </a:p>
                  </a:txBody>
                  <a:tcPr>
                    <a:solidFill>
                      <a:srgbClr val="F4F3FC"/>
                    </a:solidFill>
                  </a:tcPr>
                </a:tc>
                <a:tc>
                  <a:txBody>
                    <a:bodyPr/>
                    <a:lstStyle/>
                    <a:p>
                      <a:pPr>
                        <a:defRPr sz="1200">
                          <a:solidFill>
                            <a:srgbClr val="1C1B33"/>
                          </a:solidFill>
                          <a:latin typeface="Yu Gothic"/>
                        </a:defRPr>
                      </a:pPr>
                      <a:r>
                        <a:t>13億ドルとして確認済み</a:t>
                      </a:r>
                    </a:p>
                  </a:txBody>
                  <a:tcPr>
                    <a:solidFill>
                      <a:srgbClr val="F4F3FC"/>
                    </a:solidFill>
                  </a:tcPr>
                </a:tc>
              </a:tr>
              <a:tr h="502920">
                <a:tc>
                  <a:txBody>
                    <a:bodyPr/>
                    <a:lstStyle/>
                    <a:p>
                      <a:pPr>
                        <a:defRPr sz="1200">
                          <a:solidFill>
                            <a:srgbClr val="1C1B33"/>
                          </a:solidFill>
                          <a:latin typeface="Yu Gothic"/>
                        </a:defRPr>
                      </a:pPr>
                      <a:r>
                        <a:t>各投資家の具体的な出資額</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『3000万人ユーザー』の算出方法・定義</a:t>
                      </a:r>
                    </a:p>
                  </a:txBody>
                  <a:tcPr>
                    <a:solidFill>
                      <a:srgbClr val="F4F3FC"/>
                    </a:solidFill>
                  </a:tcPr>
                </a:tc>
                <a:tc>
                  <a:txBody>
                    <a:bodyPr/>
                    <a:lstStyle/>
                    <a:p>
                      <a:pPr>
                        <a:defRPr sz="1200">
                          <a:solidFill>
                            <a:srgbClr val="1C1B33"/>
                          </a:solidFill>
                          <a:latin typeface="Yu Gothic"/>
                        </a:defRPr>
                      </a:pPr>
                      <a:r>
                        <a:t>本調査の範囲では確認できていない(月間アクティブか登録者数か等は不明)</a:t>
                      </a:r>
                    </a:p>
                  </a:txBody>
                  <a:tcPr>
                    <a:solidFill>
                      <a:srgbClr val="F4F3FC"/>
                    </a:solidFill>
                  </a:tcPr>
                </a:tc>
              </a:tr>
              <a:tr h="502920">
                <a:tc>
                  <a:txBody>
                    <a:bodyPr/>
                    <a:lstStyle/>
                    <a:p>
                      <a:pPr>
                        <a:defRPr sz="1200">
                          <a:solidFill>
                            <a:srgbClr val="1C1B33"/>
                          </a:solidFill>
                          <a:latin typeface="Yu Gothic"/>
                        </a:defRPr>
                      </a:pPr>
                      <a:r>
                        <a:t>年換算売上高7億ドル</a:t>
                      </a:r>
                    </a:p>
                  </a:txBody>
                  <a:tcPr>
                    <a:solidFill>
                      <a:srgbClr val="FFFFFF"/>
                    </a:solidFill>
                  </a:tcPr>
                </a:tc>
                <a:tc>
                  <a:txBody>
                    <a:bodyPr/>
                    <a:lstStyle/>
                    <a:p>
                      <a:pPr>
                        <a:defRPr sz="1200">
                          <a:solidFill>
                            <a:srgbClr val="1C1B33"/>
                          </a:solidFill>
                          <a:latin typeface="Yu Gothic"/>
                        </a:defRPr>
                      </a:pPr>
                      <a:r>
                        <a:t>企業側発表の数字として確認済み(監査済み決算ではない点に留意)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発表(2026年8月17日)は着手日(2026年8月18日)の前日。着手日を含めて2日以内という基準を満たす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3つの数字で見るHiggsfieldの成長</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54億ドル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評価額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2026年1月の13億ドルから、8か月で約4倍に拡大した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7億ドル</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年換算売上高</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1年前の約2000万ドルから、35倍に成長したと発表</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3000万人</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ユーザー数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世界200か国。算出方法・定義の詳細は未確認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TechCrunch</a:t>
                      </a:r>
                    </a:p>
                  </a:txBody>
                  <a:tcPr>
                    <a:solidFill>
                      <a:srgbClr val="FFFFFF"/>
                    </a:solidFill>
                  </a:tcPr>
                </a:tc>
                <a:tc>
                  <a:txBody>
                    <a:bodyPr/>
                    <a:lstStyle/>
                    <a:p>
                      <a:pPr>
                        <a:defRPr sz="1200">
                          <a:solidFill>
                            <a:srgbClr val="1C1B33"/>
                          </a:solidFill>
                          <a:latin typeface="Yu Gothic"/>
                        </a:defRPr>
                      </a:pPr>
                      <a:r>
                        <a:t>資金調達・評価額の一次報道</a:t>
                      </a:r>
                    </a:p>
                  </a:txBody>
                  <a:tcPr>
                    <a:solidFill>
                      <a:srgbClr val="FFFFFF"/>
                    </a:solidFill>
                  </a:tcPr>
                </a:tc>
              </a:tr>
              <a:tr h="502920">
                <a:tc>
                  <a:txBody>
                    <a:bodyPr/>
                    <a:lstStyle/>
                    <a:p>
                      <a:pPr>
                        <a:defRPr sz="1200">
                          <a:solidFill>
                            <a:srgbClr val="1C1B33"/>
                          </a:solidFill>
                          <a:latin typeface="Yu Gothic"/>
                        </a:defRPr>
                      </a:pPr>
                      <a:r>
                        <a:t>PR Newswire</a:t>
                      </a:r>
                    </a:p>
                  </a:txBody>
                  <a:tcPr>
                    <a:solidFill>
                      <a:srgbClr val="F4F3FC"/>
                    </a:solidFill>
                  </a:tcPr>
                </a:tc>
                <a:tc>
                  <a:txBody>
                    <a:bodyPr/>
                    <a:lstStyle/>
                    <a:p>
                      <a:pPr>
                        <a:defRPr sz="1200">
                          <a:solidFill>
                            <a:srgbClr val="1C1B33"/>
                          </a:solidFill>
                          <a:latin typeface="Yu Gothic"/>
                        </a:defRPr>
                      </a:pPr>
                      <a:r>
                        <a:t>公式プレスリリース配信</a:t>
                      </a:r>
                    </a:p>
                  </a:txBody>
                  <a:tcPr>
                    <a:solidFill>
                      <a:srgbClr val="F4F3FC"/>
                    </a:solidFill>
                  </a:tcPr>
                </a:tc>
              </a:tr>
              <a:tr h="502920">
                <a:tc>
                  <a:txBody>
                    <a:bodyPr/>
                    <a:lstStyle/>
                    <a:p>
                      <a:pPr>
                        <a:defRPr sz="1200">
                          <a:solidFill>
                            <a:srgbClr val="1C1B33"/>
                          </a:solidFill>
                          <a:latin typeface="Yu Gothic"/>
                        </a:defRPr>
                      </a:pPr>
                      <a:r>
                        <a:t>SiliconANGLE</a:t>
                      </a:r>
                    </a:p>
                  </a:txBody>
                  <a:tcPr>
                    <a:solidFill>
                      <a:srgbClr val="FFFFFF"/>
                    </a:solidFill>
                  </a:tcPr>
                </a:tc>
                <a:tc>
                  <a:txBody>
                    <a:bodyPr/>
                    <a:lstStyle/>
                    <a:p>
                      <a:pPr>
                        <a:defRPr sz="1200">
                          <a:solidFill>
                            <a:srgbClr val="1C1B33"/>
                          </a:solidFill>
                          <a:latin typeface="Yu Gothic"/>
                        </a:defRPr>
                      </a:pPr>
                      <a:r>
                        <a:t>資金調達・企業概要の報道</a:t>
                      </a:r>
                    </a:p>
                  </a:txBody>
                  <a:tcPr>
                    <a:solidFill>
                      <a:srgbClr val="FFFFFF"/>
                    </a:solidFill>
                  </a:tcPr>
                </a:tc>
              </a:tr>
              <a:tr h="502920">
                <a:tc>
                  <a:txBody>
                    <a:bodyPr/>
                    <a:lstStyle/>
                    <a:p>
                      <a:pPr>
                        <a:defRPr sz="1200">
                          <a:solidFill>
                            <a:srgbClr val="1C1B33"/>
                          </a:solidFill>
                          <a:latin typeface="Yu Gothic"/>
                        </a:defRPr>
                      </a:pPr>
                      <a:r>
                        <a:t>Yahoo Finance(複数記事)</a:t>
                      </a:r>
                    </a:p>
                  </a:txBody>
                  <a:tcPr>
                    <a:solidFill>
                      <a:srgbClr val="F4F3FC"/>
                    </a:solidFill>
                  </a:tcPr>
                </a:tc>
                <a:tc>
                  <a:txBody>
                    <a:bodyPr/>
                    <a:lstStyle/>
                    <a:p>
                      <a:pPr>
                        <a:defRPr sz="1200">
                          <a:solidFill>
                            <a:srgbClr val="1C1B33"/>
                          </a:solidFill>
                          <a:latin typeface="Yu Gothic"/>
                        </a:defRPr>
                      </a:pPr>
                      <a:r>
                        <a:t>評価額・売上高数値の確認</a:t>
                      </a:r>
                    </a:p>
                  </a:txBody>
                  <a:tcPr>
                    <a:solidFill>
                      <a:srgbClr val="F4F3FC"/>
                    </a:solidFill>
                  </a:tcPr>
                </a:tc>
              </a:tr>
              <a:tr h="502920">
                <a:tc>
                  <a:txBody>
                    <a:bodyPr/>
                    <a:lstStyle/>
                    <a:p>
                      <a:pPr>
                        <a:defRPr sz="1200">
                          <a:solidFill>
                            <a:srgbClr val="1C1B33"/>
                          </a:solidFill>
                          <a:latin typeface="Yu Gothic"/>
                        </a:defRPr>
                      </a:pPr>
                      <a:r>
                        <a:t>citybiz</a:t>
                      </a:r>
                    </a:p>
                  </a:txBody>
                  <a:tcPr>
                    <a:solidFill>
                      <a:srgbClr val="FFFFFF"/>
                    </a:solidFill>
                  </a:tcPr>
                </a:tc>
                <a:tc>
                  <a:txBody>
                    <a:bodyPr/>
                    <a:lstStyle/>
                    <a:p>
                      <a:pPr>
                        <a:defRPr sz="1200">
                          <a:solidFill>
                            <a:srgbClr val="1C1B33"/>
                          </a:solidFill>
                          <a:latin typeface="Yu Gothic"/>
                        </a:defRPr>
                      </a:pPr>
                      <a:r>
                        <a:t>資金調達の報道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TechCrunch・PR Newswire・SiliconANGLE・Yahoo Finance(複数記事)・citybiz(2026-08-17)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8か月で評価額4倍。事実だけを、出典付きで。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Higgsfieldが4億ドル(約600億円)を調達し、評価額54億ドルに到達した件を、投資家一覧・売上高成長・創業者の経歴まで出典付きで整理してお届けしました。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