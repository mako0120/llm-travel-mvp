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ル・ゲイツ氏が創業に関わった原子力企業TerraPowerが、AIデータセンター向け原子炉の新プロジェクトを2026年中に発表する見通しであることが報じられました。今日はこの原子炉が持つ『隠れた武器』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結論から確認します。TerraPowerの原子炉は溶融ナトリウムに熱を蓄えることで、電力需要の急な変動に対応できる設計です。2026年中に2つ目のデータセンター向けプロジェクトを発表する見通しです。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新プロジェクトの内容から、溶融ナトリウムの仕組み、AI需要との関係まで、正確に事実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このテーマを扱う理由です。高い鮮度に加え、溶融ナトリウムという技術的に興味深い仕組みに注目しました。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TerraPowerはビル・ゲイツ氏が創業に関わった原子力企業で、Natrium原子炉を開発しています。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新プロジェクトは2026年中に発表され、2027年着工の見通しです。顧客企業名はまだ明らかにされていません。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今回は同社にとって2つ目のプロジェクトです。2026年1月のMeta社との契約との関係は確認できていません。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2つ目のプロジェクトは2027年の着工が見通されています。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この原子炉は、余剰熱を溶融ナトリウムに蓄えることで、電力需要の急増に柔軟に対応できる設計です。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従来方式とTerraPowerの方式を対比しました。溶融ナトリウムへの蓄熱により、需要変動への柔軟な対応が可能になるとされています。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この方式には、設備稼働率の向上や再生可能エネルギーとの親和性など、複数のメリットがあるとされています。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AIアプリケーションの電力需要増加が、小型原子炉開発企業にとって新たな市場を生み出しているとされています。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2026年1月にはMeta社との間で最大8基のNatrium原子炉プラント導入契約が発表されていました。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顧客企業名が非公開である理由は確認できていません。今後の公式発表を待つ必要があります。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今回の報道に至る流れを図にしました。Meta社との契約から、AI需要の拡大、そして今回の新プロジェクトという流れです。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今回の報道を3ステップで総括しました。新プロジェクトの発表予定、溶融ナトリウムの仕組み、そしてAI需要という背景という流れです。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AI需要の拡大を背景に小型原子炉企業への注目が高まっていますが、他社比較や安全性の第三者評価の詳細までは確認していません。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1つ目と2つ目のプロジェクトを対比しました。2つ目の詳細は今回明らかになりましたが、1つ目の進捗詳細は確認できていません。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今回の報道の要点をまとめました。発表予定時期、着工予定、技術的特徴、背景という4点です。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今後の見どころとして、顧客企業名の公表や新プロジェクトの詳細が挙げられますが、いずれも現時点では確認できていません。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Meta社との契約は2026年1月に発表されており、今回の新プロジェクトとの関係は確認できていません。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本テーマは、Bloomberg・TechCrunch・Construction Review Onlineなど、複数の独立したメディアが一致して報じている内容として整理しています。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TerraPowerが開発するのはNatriumと呼ばれるナトリウム冷却型の原子炉です。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AIアプリケーションに加え、半導体工場など自家発電を検討する産業施設の増加も、小型原子炉市場拡大の背景とされています。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AI需要の拡大が小型原子炉業界全体への注目を高めていますが、他社比較や市場全体の見通しの詳細までは確認していません。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確認できなかったことを正直にお伝えします。顧客企業名、立地・規模の詳細、安全性評価の詳細は確認できていません。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このニュースが読者にとって意味することをまとめました。AI・エネルギー業界を追う立場、原子力技術に関心がある立場、投資・企業動向を追う立場、それぞれで意識したい視点です。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まとめです。溶融ナトリウムという技術的な工夫と、AI需要という背景、そして確認できていない点を正直にお伝えしました。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TerraPowerのAIデータセンター向け原子炉について、溶融ナトリウムという技術的な工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溶けたナトリウムが</a:t>
            </a:r>
          </a:p>
          <a:p>
            <a:pPr algn="l">
              <a:lnSpc>
                <a:spcPct val="115000"/>
              </a:lnSpc>
            </a:pPr>
            <a:r>
              <a:rPr sz="4200" b="1">
                <a:solidFill>
                  <a:srgbClr val="FFFFFF"/>
                </a:solidFill>
                <a:latin typeface="Yu Gothic"/>
              </a:rPr>
              <a:t>AIの電力危機を</a:t>
            </a:r>
          </a:p>
          <a:p>
            <a:pPr algn="l">
              <a:lnSpc>
                <a:spcPct val="115000"/>
              </a:lnSpc>
            </a:pPr>
            <a:r>
              <a:rPr sz="4200" b="1">
                <a:solidFill>
                  <a:srgbClr val="FFFFFF"/>
                </a:solidFill>
                <a:latin typeface="Yu Gothic"/>
              </a:rPr>
              <a:t>救うかもしれない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2026年8月19日報道——TerraPower、AIデータセンター向け原子炉の新戦略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TechCrunch・Bloomberg(2026年8月18〜19日)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溶融ナトリウムで電力需要の急変動に対応</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2026年中に2つ目のデータセンター向けプロジェクトを発表予定(2026年8月19日報道)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TechCrunch・Bloomberg(2026-08-18/19)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TerraPowerとは・基礎知識</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新プロジェクトの発表内容を確認する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『隠れた武器』の仕組みを確認する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AI需要と原子力の関係を確認する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着手日当日(2026年8月19日)報道という高い鮮度の話題である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『溶融ナトリウムが電力危機を救う』という技術的に興味深いフックがある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AI需要が原子力産業にどう波及しているかを示す具体的な事例である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複数の独立した情報源(TechCrunch・Bloomberg等)で確認できる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TechCrunch・Bloomberg(2026-08-18/19)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TerraPowerとは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ビル・ゲイツ氏が創業に関わった原子力企業</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Natrium(ナトリウム冷却型)原子炉を開発</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電力需要の増大に対応する小型原子炉の開発企業の一つ</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AI・半導体等、電力多消費産業からの需要拡大を背景に事業を展開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新プロジェクトの概要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発表予定時期</a:t>
                      </a:r>
                    </a:p>
                  </a:txBody>
                  <a:tcPr>
                    <a:solidFill>
                      <a:srgbClr val="FFFFFF"/>
                    </a:solidFill>
                  </a:tcPr>
                </a:tc>
                <a:tc>
                  <a:txBody>
                    <a:bodyPr/>
                    <a:lstStyle/>
                    <a:p>
                      <a:pPr>
                        <a:defRPr sz="1200">
                          <a:solidFill>
                            <a:srgbClr val="2A1712"/>
                          </a:solidFill>
                          <a:latin typeface="Yu Gothic"/>
                        </a:defRPr>
                      </a:pPr>
                      <a:r>
                        <a:t>2026年中</a:t>
                      </a:r>
                    </a:p>
                  </a:txBody>
                  <a:tcPr>
                    <a:solidFill>
                      <a:srgbClr val="FFFFFF"/>
                    </a:solidFill>
                  </a:tcPr>
                </a:tc>
              </a:tr>
              <a:tr h="502920">
                <a:tc>
                  <a:txBody>
                    <a:bodyPr/>
                    <a:lstStyle/>
                    <a:p>
                      <a:pPr>
                        <a:defRPr sz="1200">
                          <a:solidFill>
                            <a:srgbClr val="2A1712"/>
                          </a:solidFill>
                          <a:latin typeface="Yu Gothic"/>
                        </a:defRPr>
                      </a:pPr>
                      <a:r>
                        <a:t>着工予定</a:t>
                      </a:r>
                    </a:p>
                  </a:txBody>
                  <a:tcPr>
                    <a:solidFill>
                      <a:srgbClr val="FBF3E6"/>
                    </a:solidFill>
                  </a:tcPr>
                </a:tc>
                <a:tc>
                  <a:txBody>
                    <a:bodyPr/>
                    <a:lstStyle/>
                    <a:p>
                      <a:pPr>
                        <a:defRPr sz="1200">
                          <a:solidFill>
                            <a:srgbClr val="2A1712"/>
                          </a:solidFill>
                          <a:latin typeface="Yu Gothic"/>
                        </a:defRPr>
                      </a:pPr>
                      <a:r>
                        <a:t>2027年</a:t>
                      </a:r>
                    </a:p>
                  </a:txBody>
                  <a:tcPr>
                    <a:solidFill>
                      <a:srgbClr val="FBF3E6"/>
                    </a:solidFill>
                  </a:tcPr>
                </a:tc>
              </a:tr>
              <a:tr h="502920">
                <a:tc>
                  <a:txBody>
                    <a:bodyPr/>
                    <a:lstStyle/>
                    <a:p>
                      <a:pPr>
                        <a:defRPr sz="1200">
                          <a:solidFill>
                            <a:srgbClr val="2A1712"/>
                          </a:solidFill>
                          <a:latin typeface="Yu Gothic"/>
                        </a:defRPr>
                      </a:pPr>
                      <a:r>
                        <a:t>用途</a:t>
                      </a:r>
                    </a:p>
                  </a:txBody>
                  <a:tcPr>
                    <a:solidFill>
                      <a:srgbClr val="FFFFFF"/>
                    </a:solidFill>
                  </a:tcPr>
                </a:tc>
                <a:tc>
                  <a:txBody>
                    <a:bodyPr/>
                    <a:lstStyle/>
                    <a:p>
                      <a:pPr>
                        <a:defRPr sz="1200">
                          <a:solidFill>
                            <a:srgbClr val="2A1712"/>
                          </a:solidFill>
                          <a:latin typeface="Yu Gothic"/>
                        </a:defRPr>
                      </a:pPr>
                      <a:r>
                        <a:t>データセンター向け</a:t>
                      </a:r>
                    </a:p>
                  </a:txBody>
                  <a:tcPr>
                    <a:solidFill>
                      <a:srgbClr val="FFFFFF"/>
                    </a:solidFill>
                  </a:tcPr>
                </a:tc>
              </a:tr>
              <a:tr h="502920">
                <a:tc>
                  <a:txBody>
                    <a:bodyPr/>
                    <a:lstStyle/>
                    <a:p>
                      <a:pPr>
                        <a:defRPr sz="1200">
                          <a:solidFill>
                            <a:srgbClr val="2A1712"/>
                          </a:solidFill>
                          <a:latin typeface="Yu Gothic"/>
                        </a:defRPr>
                      </a:pPr>
                      <a:r>
                        <a:t>顧客企業名</a:t>
                      </a:r>
                    </a:p>
                  </a:txBody>
                  <a:tcPr>
                    <a:solidFill>
                      <a:srgbClr val="FBF3E6"/>
                    </a:solidFill>
                  </a:tcPr>
                </a:tc>
                <a:tc>
                  <a:txBody>
                    <a:bodyPr/>
                    <a:lstStyle/>
                    <a:p>
                      <a:pPr>
                        <a:defRPr sz="1200">
                          <a:solidFill>
                            <a:srgbClr val="2A1712"/>
                          </a:solidFill>
                          <a:latin typeface="Yu Gothic"/>
                        </a:defRPr>
                      </a:pPr>
                      <a:r>
                        <a:t>CEOは明らかにしていない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TechCrunch・Bloomberg(2026-08-18/19)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2つ目のプロジェクトという位置づけ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これまでの経緯です。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今回発表予定のプロジェクトは、同社にとって2つ目のプロジェクトとなる見通し</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1つ目のプロジェクトの詳細な進捗状況は本調査の範囲では確認できていない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2026年1月にはMeta社との間で最大8基のNatrium原子炉プラント導入契約が発表されていた</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今回の新プロジェクトとMeta社との契約との関係は確認できていない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着工予定年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2027年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2つ目のプロジェクトの着工見通し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TechCrunch・Bloomberg(2026-08-18/19)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『隠れた武器』の仕組み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溶融ナトリウム蓄熱システムについてです。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原子炉自体の出力を上下させる代わりに、稼働を維持し続ける設計</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余剰の熱を大量の溶融ナトリウムに蓄える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電力需要が急増した際は、蓄えた熱を使って追加の蒸気を発生させ対応する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需要が低い時間帯でも高価な設備を稼働させ続けられる利点があるとされる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従来の原子炉 vs TerraPowerの方式</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従来の原子炉</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需要に応じて出力を上下</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急な需要変動への対応が難しい場合がある</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設備稼働率が需要に左右されやすい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TerraPowerの方式</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原子炉は常時稼働を維持</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余剰熱を溶融ナトリウムに蓄積</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需要急増時は蓄熱を活用して対応</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この方式のメリット(報道ベース)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メリット</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設備稼働率の向上</a:t>
                      </a:r>
                    </a:p>
                  </a:txBody>
                  <a:tcPr>
                    <a:solidFill>
                      <a:srgbClr val="FFFFFF"/>
                    </a:solidFill>
                  </a:tcPr>
                </a:tc>
                <a:tc>
                  <a:txBody>
                    <a:bodyPr/>
                    <a:lstStyle/>
                    <a:p>
                      <a:pPr>
                        <a:defRPr sz="1200">
                          <a:solidFill>
                            <a:srgbClr val="2A1712"/>
                          </a:solidFill>
                          <a:latin typeface="Yu Gothic"/>
                        </a:defRPr>
                      </a:pPr>
                      <a:r>
                        <a:t>低需要時も高価な設備を稼働継続できる</a:t>
                      </a:r>
                    </a:p>
                  </a:txBody>
                  <a:tcPr>
                    <a:solidFill>
                      <a:srgbClr val="FFFFFF"/>
                    </a:solidFill>
                  </a:tcPr>
                </a:tc>
              </a:tr>
              <a:tr h="502920">
                <a:tc>
                  <a:txBody>
                    <a:bodyPr/>
                    <a:lstStyle/>
                    <a:p>
                      <a:pPr>
                        <a:defRPr sz="1200">
                          <a:solidFill>
                            <a:srgbClr val="2A1712"/>
                          </a:solidFill>
                          <a:latin typeface="Yu Gothic"/>
                        </a:defRPr>
                      </a:pPr>
                      <a:r>
                        <a:t>再生可能エネルギーとの親和性</a:t>
                      </a:r>
                    </a:p>
                  </a:txBody>
                  <a:tcPr>
                    <a:solidFill>
                      <a:srgbClr val="FBF3E6"/>
                    </a:solidFill>
                  </a:tcPr>
                </a:tc>
                <a:tc>
                  <a:txBody>
                    <a:bodyPr/>
                    <a:lstStyle/>
                    <a:p>
                      <a:pPr>
                        <a:defRPr sz="1200">
                          <a:solidFill>
                            <a:srgbClr val="2A1712"/>
                          </a:solidFill>
                          <a:latin typeface="Yu Gothic"/>
                        </a:defRPr>
                      </a:pPr>
                      <a:r>
                        <a:t>再エネ中心の電力網との接続時に柔軟性を発揮</a:t>
                      </a:r>
                    </a:p>
                  </a:txBody>
                  <a:tcPr>
                    <a:solidFill>
                      <a:srgbClr val="FBF3E6"/>
                    </a:solidFill>
                  </a:tcPr>
                </a:tc>
              </a:tr>
              <a:tr h="502920">
                <a:tc>
                  <a:txBody>
                    <a:bodyPr/>
                    <a:lstStyle/>
                    <a:p>
                      <a:pPr>
                        <a:defRPr sz="1200">
                          <a:solidFill>
                            <a:srgbClr val="2A1712"/>
                          </a:solidFill>
                          <a:latin typeface="Yu Gothic"/>
                        </a:defRPr>
                      </a:pPr>
                      <a:r>
                        <a:t>データセンター需要への対応</a:t>
                      </a:r>
                    </a:p>
                  </a:txBody>
                  <a:tcPr>
                    <a:solidFill>
                      <a:srgbClr val="FFFFFF"/>
                    </a:solidFill>
                  </a:tcPr>
                </a:tc>
                <a:tc>
                  <a:txBody>
                    <a:bodyPr/>
                    <a:lstStyle/>
                    <a:p>
                      <a:pPr>
                        <a:defRPr sz="1200">
                          <a:solidFill>
                            <a:srgbClr val="2A1712"/>
                          </a:solidFill>
                          <a:latin typeface="Yu Gothic"/>
                        </a:defRPr>
                      </a:pPr>
                      <a:r>
                        <a:t>AIデータセンターの急な電力需要変動に対応可能</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AI需要と原子力産業の関係</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背景にあるAI需要の話です。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電力を大量に消費するAIアプリケーションの増加が、小型原子炉開発企業にとって新たな市場を生み出しているとされる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半導体工場など、自家発電を検討する産業施設の増加も背景の一つ</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AI関連需要が全体の需要拡大に占める具体的な比率は本調査の範囲では確認できていない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他の小型原子炉開発企業との具体的な競争状況は本調査では扱っていない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Meta社との契約(2026年1月)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最大8基のNatrium原子炉プラント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今回の新プロジェクトとの関係は未確認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顧客企業が非公開である理由(留保つき)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この点についての正直な扱い方です。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TerraPowerのCEOは、今回の新プロジェクトの顧客企業名を明らかにしていない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非公開である具体的な理由は本調査の範囲では確認できていない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契約の性質上、公表前の段階にある可能性はあるが、これは推測であり断定しない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今後の公式発表を待って確認する必要がある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今回の報道に至る流れ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2026年1月、Meta社との大型契約</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最大8基のNatrium原子炉プラント</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AI需要の拡大で電力需給が逼迫</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小型原子炉への注目が高まる</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2つ目のデータセンター向けプロジェクトへ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2026年中に発表、2027年着工予定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Meta社との契約から今回の新プロジェクトまでの流れ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TechCrunch・Bloomberg(2026-08-18/19)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2つ目のプロジェクトを2026年中に発表予定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2027年着工見通し</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溶融ナトリウムで需要変動に対応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常時稼働+蓄熱という設計</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AI・半導体需要が背景に</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小型原子炉市場の拡大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エネルギー・原子力業界における位置づけ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AI需要の拡大を背景に、小型原子炉開発企業への注目が高まっている事例として位置づけられる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他の小型原子炉開発企業(SMR関連企業等)との具体的な業績比較は本調査では行っていない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溶融ナトリウム蓄熱システムの安全性に関する第三者評価の詳細は確認できていない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原子力政策・規制動向への評価は本テーマでは行わない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1つ目のプロジェクト vs 2つ目のプロジェクト(今回)</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1つ目のプロジェクト</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詳細な進捗は未確認</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先行するプロジェクト</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2つ目のプロジェクト(今回)</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2026年中に発表予定</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2027年着工見通し</a:t>
            </a:r>
          </a:p>
        </p:txBody>
      </p:sp>
      <p:sp>
        <p:nvSpPr>
          <p:cNvPr id="20" name="Oval 19"/>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データセンター向け</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新プロジェクト発表予定</a:t>
                      </a:r>
                    </a:p>
                  </a:txBody>
                  <a:tcPr>
                    <a:solidFill>
                      <a:srgbClr val="FFFFFF"/>
                    </a:solidFill>
                  </a:tcPr>
                </a:tc>
                <a:tc>
                  <a:txBody>
                    <a:bodyPr/>
                    <a:lstStyle/>
                    <a:p>
                      <a:pPr>
                        <a:defRPr sz="1200">
                          <a:solidFill>
                            <a:srgbClr val="2A1712"/>
                          </a:solidFill>
                          <a:latin typeface="Yu Gothic"/>
                        </a:defRPr>
                      </a:pPr>
                      <a:r>
                        <a:t>2026年中</a:t>
                      </a:r>
                    </a:p>
                  </a:txBody>
                  <a:tcPr>
                    <a:solidFill>
                      <a:srgbClr val="FFFFFF"/>
                    </a:solidFill>
                  </a:tcPr>
                </a:tc>
              </a:tr>
              <a:tr h="502920">
                <a:tc>
                  <a:txBody>
                    <a:bodyPr/>
                    <a:lstStyle/>
                    <a:p>
                      <a:pPr>
                        <a:defRPr sz="1200">
                          <a:solidFill>
                            <a:srgbClr val="2A1712"/>
                          </a:solidFill>
                          <a:latin typeface="Yu Gothic"/>
                        </a:defRPr>
                      </a:pPr>
                      <a:r>
                        <a:t>着工予定</a:t>
                      </a:r>
                    </a:p>
                  </a:txBody>
                  <a:tcPr>
                    <a:solidFill>
                      <a:srgbClr val="FBF3E6"/>
                    </a:solidFill>
                  </a:tcPr>
                </a:tc>
                <a:tc>
                  <a:txBody>
                    <a:bodyPr/>
                    <a:lstStyle/>
                    <a:p>
                      <a:pPr>
                        <a:defRPr sz="1200">
                          <a:solidFill>
                            <a:srgbClr val="2A1712"/>
                          </a:solidFill>
                          <a:latin typeface="Yu Gothic"/>
                        </a:defRPr>
                      </a:pPr>
                      <a:r>
                        <a:t>2027年</a:t>
                      </a:r>
                    </a:p>
                  </a:txBody>
                  <a:tcPr>
                    <a:solidFill>
                      <a:srgbClr val="FBF3E6"/>
                    </a:solidFill>
                  </a:tcPr>
                </a:tc>
              </a:tr>
              <a:tr h="502920">
                <a:tc>
                  <a:txBody>
                    <a:bodyPr/>
                    <a:lstStyle/>
                    <a:p>
                      <a:pPr>
                        <a:defRPr sz="1200">
                          <a:solidFill>
                            <a:srgbClr val="2A1712"/>
                          </a:solidFill>
                          <a:latin typeface="Yu Gothic"/>
                        </a:defRPr>
                      </a:pPr>
                      <a:r>
                        <a:t>技術的特徴</a:t>
                      </a:r>
                    </a:p>
                  </a:txBody>
                  <a:tcPr>
                    <a:solidFill>
                      <a:srgbClr val="FFFFFF"/>
                    </a:solidFill>
                  </a:tcPr>
                </a:tc>
                <a:tc>
                  <a:txBody>
                    <a:bodyPr/>
                    <a:lstStyle/>
                    <a:p>
                      <a:pPr>
                        <a:defRPr sz="1200">
                          <a:solidFill>
                            <a:srgbClr val="2A1712"/>
                          </a:solidFill>
                          <a:latin typeface="Yu Gothic"/>
                        </a:defRPr>
                      </a:pPr>
                      <a:r>
                        <a:t>溶融ナトリウムによる蓄熱・需要変動対応</a:t>
                      </a:r>
                    </a:p>
                  </a:txBody>
                  <a:tcPr>
                    <a:solidFill>
                      <a:srgbClr val="FFFFFF"/>
                    </a:solidFill>
                  </a:tcPr>
                </a:tc>
              </a:tr>
              <a:tr h="502920">
                <a:tc>
                  <a:txBody>
                    <a:bodyPr/>
                    <a:lstStyle/>
                    <a:p>
                      <a:pPr>
                        <a:defRPr sz="1200">
                          <a:solidFill>
                            <a:srgbClr val="2A1712"/>
                          </a:solidFill>
                          <a:latin typeface="Yu Gothic"/>
                        </a:defRPr>
                      </a:pPr>
                      <a:r>
                        <a:t>背景</a:t>
                      </a:r>
                    </a:p>
                  </a:txBody>
                  <a:tcPr>
                    <a:solidFill>
                      <a:srgbClr val="FBF3E6"/>
                    </a:solidFill>
                  </a:tcPr>
                </a:tc>
                <a:tc>
                  <a:txBody>
                    <a:bodyPr/>
                    <a:lstStyle/>
                    <a:p>
                      <a:pPr>
                        <a:defRPr sz="1200">
                          <a:solidFill>
                            <a:srgbClr val="2A1712"/>
                          </a:solidFill>
                          <a:latin typeface="Yu Gothic"/>
                        </a:defRPr>
                      </a:pPr>
                      <a:r>
                        <a:t>AI・半導体等の電力需要拡大</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TechCrunch・Bloomberg(2026-08-18/19)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今後の見どころです。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新プロジェクトの具体的な顧客企業名の公表時期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新プロジェクトの立地・規模の詳細</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溶融ナトリウム蓄熱システムの安全性に関する第三者評価</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今後の公式発表を継続して確認する必要がある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Meta契約の発表時期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2026年1月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今回の新プロジェクトとは別件の可能性(未確認)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確認できた内容</a:t>
                      </a:r>
                    </a:p>
                  </a:txBody>
                  <a:tcPr>
                    <a:solidFill>
                      <a:srgbClr val="7A1F2B"/>
                    </a:solidFill>
                  </a:tcPr>
                </a:tc>
              </a:tr>
              <a:tr h="502920">
                <a:tc>
                  <a:txBody>
                    <a:bodyPr/>
                    <a:lstStyle/>
                    <a:p>
                      <a:pPr>
                        <a:defRPr sz="1200">
                          <a:solidFill>
                            <a:srgbClr val="2A1712"/>
                          </a:solidFill>
                          <a:latin typeface="Yu Gothic"/>
                        </a:defRPr>
                      </a:pPr>
                      <a:r>
                        <a:t>Bloomberg</a:t>
                      </a:r>
                    </a:p>
                  </a:txBody>
                  <a:tcPr>
                    <a:solidFill>
                      <a:srgbClr val="FFFFFF"/>
                    </a:solidFill>
                  </a:tcPr>
                </a:tc>
                <a:tc>
                  <a:txBody>
                    <a:bodyPr/>
                    <a:lstStyle/>
                    <a:p>
                      <a:pPr>
                        <a:defRPr sz="1200">
                          <a:solidFill>
                            <a:srgbClr val="2A1712"/>
                          </a:solidFill>
                          <a:latin typeface="Yu Gothic"/>
                        </a:defRPr>
                      </a:pPr>
                      <a:r>
                        <a:t>新プロジェクト発表予定の一次報道</a:t>
                      </a:r>
                    </a:p>
                  </a:txBody>
                  <a:tcPr>
                    <a:solidFill>
                      <a:srgbClr val="FFFFFF"/>
                    </a:solidFill>
                  </a:tcPr>
                </a:tc>
              </a:tr>
              <a:tr h="502920">
                <a:tc>
                  <a:txBody>
                    <a:bodyPr/>
                    <a:lstStyle/>
                    <a:p>
                      <a:pPr>
                        <a:defRPr sz="1200">
                          <a:solidFill>
                            <a:srgbClr val="2A1712"/>
                          </a:solidFill>
                          <a:latin typeface="Yu Gothic"/>
                        </a:defRPr>
                      </a:pPr>
                      <a:r>
                        <a:t>TechCrunch</a:t>
                      </a:r>
                    </a:p>
                  </a:txBody>
                  <a:tcPr>
                    <a:solidFill>
                      <a:srgbClr val="FBF3E6"/>
                    </a:solidFill>
                  </a:tcPr>
                </a:tc>
                <a:tc>
                  <a:txBody>
                    <a:bodyPr/>
                    <a:lstStyle/>
                    <a:p>
                      <a:pPr>
                        <a:defRPr sz="1200">
                          <a:solidFill>
                            <a:srgbClr val="2A1712"/>
                          </a:solidFill>
                          <a:latin typeface="Yu Gothic"/>
                        </a:defRPr>
                      </a:pPr>
                      <a:r>
                        <a:t>溶融ナトリウム技術の詳細解説</a:t>
                      </a:r>
                    </a:p>
                  </a:txBody>
                  <a:tcPr>
                    <a:solidFill>
                      <a:srgbClr val="FBF3E6"/>
                    </a:solidFill>
                  </a:tcPr>
                </a:tc>
              </a:tr>
              <a:tr h="502920">
                <a:tc>
                  <a:txBody>
                    <a:bodyPr/>
                    <a:lstStyle/>
                    <a:p>
                      <a:pPr>
                        <a:defRPr sz="1200">
                          <a:solidFill>
                            <a:srgbClr val="2A1712"/>
                          </a:solidFill>
                          <a:latin typeface="Yu Gothic"/>
                        </a:defRPr>
                      </a:pPr>
                      <a:r>
                        <a:t>Construction Review Online</a:t>
                      </a:r>
                    </a:p>
                  </a:txBody>
                  <a:tcPr>
                    <a:solidFill>
                      <a:srgbClr val="FFFFFF"/>
                    </a:solidFill>
                  </a:tcPr>
                </a:tc>
                <a:tc>
                  <a:txBody>
                    <a:bodyPr/>
                    <a:lstStyle/>
                    <a:p>
                      <a:pPr>
                        <a:defRPr sz="1200">
                          <a:solidFill>
                            <a:srgbClr val="2A1712"/>
                          </a:solidFill>
                          <a:latin typeface="Yu Gothic"/>
                        </a:defRPr>
                      </a:pPr>
                      <a:r>
                        <a:t>着工予定時期の背景情報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原子炉の種類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Natrium(ナトリウム冷却型)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TerraPowerが開発する原子炉方式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電力多消費産業の広がり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AI・半導体工場など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自家発電を検討する産業施設が増加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TechCrunch(2026-08-19)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小型原子炉開発企業への注目の高まり</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業界全体の動きです。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電力を大量消費するAIアプリケーションの増加が新たな市場を生んでいるとされる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TerraPower以外にも複数の小型原子炉開発企業が存在するとされる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他社との具体的な技術比較・市場シェアの検証は本調査の範囲では行っていない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小型原子炉市場全体の成長見通しの具体的な数値は確認できていない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新プロジェクトの具体的な顧客企業名</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新プロジェクトの具体的な立地・規模の詳細</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溶融ナトリウム蓄熱システムの安全性評価の詳細(第三者機関による検証状況)</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本テーマは特定企業(TerraPower)への投資を推奨するものではなく、報じられた事業計画の紹介にとどめる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確認できている事実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2026年中の新プロジェクト発表予定</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溶融ナトリウム蓄熱の仕組み</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AI需要が背景にあること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今後の不確定要素</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顧客企業名</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立地・規模の詳細</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安全性の第三者評価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AI・エネルギー業界の動向に関心がある立場として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AI需要がエネルギー産業にどう波及しているかを把握する視点が役立つ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原子力・エネルギー技術に関心がある立場として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溶融ナトリウム蓄熱という技術的な工夫を理解する視点が参考になる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投資・企業動向を追う立場として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顧客企業名が非公開である点を含め、確認できている事実と憶測を区別する視点が役立つ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TerraPowerは2026年中に、データセンター向けの2つ目のプロジェクトを発表する見通しであることが報じられた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同社の原子炉は溶融ナトリウムに熱を蓄えることで、電力需要の急な変動に対応できる設計である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AI・半導体等の電力需要拡大が、小型原子炉開発企業への注目の背景とされる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顧客企業名や新プロジェクトの詳細など、確認できていない点は正直に開示した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TechCrunch・Bloomberg(2026-08-18/19)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溶けたナトリウムが、AIの電力危機を救うかもしれない。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TerraPowerは2026年中に、データセンター向けの新プロジェクトを発表する見通しです。溶融ナトリウムによる需要変動対応という技術の中身を、出典付きで正直に整理してお届けしました。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