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を世界一売り込んでいるはずの会社が、自社の社員には『AIを使いすぎるな』と言い始めました。Microsoftの幹部が社内メールで通達した『AIトークン予算目標』について、2026年8月4日、複数メディアが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今日わかることは6つです。何が起きたのか、tokenmaxxingとは何か、幹部の発言内容、何が変わったのか、既存テーマとの関係、そして確認できたこと・できなかったことです。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何が起きたのか整理します。Microsoftの幹部副社長Jay Parikh氏が社内メールで通達を出し、2026年7月時点から各事業部門がAIトークン予算目標のもとで運用されるようになりました。背景には、月に数百ドルから数千ドルものAIトークンを消費するエンジニアが多くいた実態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報道された日はこちら、2026年8月4日です。5つの独立したメディアが同じ日に報じており、裏付けの強いニュースです。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今回のニュースの概要を表にまとめました。Jay Parikh氏の社内メールによる通達で、各事業部門がAIトークン予算目標のもとで運用されるようになり、デフォルトモデルもGPT-5.6に切り替わりました。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登場人物・関係者を整理します。Microsoft、通達を出した幹部Jay Parikh氏、対象となった各事業部門、そして切替先のGPT-5.6です。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tokenmaxxingとは、AIの利用量を最大化することがあたかも生産性の高さであるかのように扱われてしまう現象を指す言葉です。今回、この言葉をMicrosoftの幹部自身が使った点が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tokenmaxxingが起きる構図です。AIをたくさん使うほど頑張っているように見え、利用量が指標化されると、本来の目的である成果の大きさとズレてしまうことがあります。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初心者向けに説明します。MicrosoftはAI製品を積極的に売り込む企業ですが、社内のAI利用コストが膨らんでいた実態があり、コストと成果のバランスを取る動きが今回の通達につながったとみられます。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幹部の発言その1です。『トークン最大化を目指しているのではない』。Jay Parikh氏が社内メールでこう述べました。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幹部の発言その2です。『トークン数を減らすことを目指しているのではない。1トークンあたりのインパクトを最大化することを目指している』。単純な使用量の抑制ではないという説明です。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1トークンあたりのインパクトという考え方です。トークン数を減らすことが目的ではなく、同じ利用量でどれだけ意味のある成果を出せるかを重視する、という説明です。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tokenmaxxing的な発想と、Parikh氏が示す発想を比較します。単純に使用量を減らすのではなく、1トークンあたりのインパクトを重視するという立場です。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背景にあるエンジニアのAI利用実態です。月に数百ドルから数千ドル分のAIトークンを消費していたエンジニアが多くいたと報じられていますが、具体的な平均額の内訳までは分かっていません。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切替後の社内デフォルトAIモデルはこちら、OpenAIのGPT-5.6です。より安価とされていますが、実際の削減率や削減額は報道からは確認できていません。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通達から見える一連の変化です。利用実態の把握から始まり、幹部による通達、予算目標の導入、そしてデフォルトモデルの切替へとつながっています。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今回のニュースの3つのポイントです。量より質という発想、個人が利用量を追跡できるようになったこと、そしてモデル自体もコスト意識で選ばれたことです。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AIトークン予算目標制度の概要です。分かっていることと分かっていないことを、あえて並べて整理しました。具体的な金額や評価への影響は、いずれも報道からは確認できていません。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です。tokenmaxxingという言葉自体は過去テーマですでに取り上げていますが、あれはスタートアップWeave社の資金調達ニュースでした。今回はMicrosoft自身が同じ言葉を使った、別の新しい事象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2つのテーマを比較しました。主体も文脈も異なり、tokenmaxxingという同じ言葉を使いながらも、指しているのは別々の出来事です。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未確認事項を一覧にしました。部門別の予算額、削減率、社内の具体的な反応、広報コメントの有無、いずれも本調査の範囲では確認できていません。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確認できたこと・できなかったことを正直に整理します。通達の内容そのものは複数メディアで確認できましたが、具体的な金額や社内の反応の詳細は確認できていません。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鮮度について開示します。報道は着手日と完全に同日で、5つの独立したメディアが同日に報じています。ただし鮮度が高いからといって、未確認事項を水増しして埋めることはしていません。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採用スコアの開示です。82点で採用されました。意外性のあるフックと、複数メディアによる裏付けの強さが評価されています。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公平性・中立性について開示します。通達の内容そのものを中立的に報告し、AI活用全般についての価値判断は行いません。実在人物名はテキストのみで扱っています。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業界文脈です。ここからは推測になります。AIコストの管理は多くの企業の悩みどころになりつつあるとみられますが、他企業への広がりの実態は確認できていません。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今分かっていることと、まだ分からないことを比較します。通達の内容自体は確認できていますが、具体的な数値や社内の反応は、まだ答えの出ていない開かれた問いです。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出典一覧です。404 Media、Slashdot、TechRadar、The Next Web、AI Weeklyという5つの独立した情報源で、いずれも2026年8月4日に報じられています。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AIを売り込む側の企業自身が、AIコストとどう向き合うのか。答えを断定せず、開かれた問いとして注目していきましょう。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まとめです。Microsoftの幹部Jay Parikh氏が、社内メールでAIトークン予算目標の運用を通達しました。トークン数ではなくインパクトを重視するという発言が核心です。今回もご視聴ありがとうございました。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AIを世界一売り込む会社のはずが、自社の社員には「使いすぎるな」と言い始めた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Microsoft幹部、社内メールで「AIトークン予算目標」の運用を通達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404 Media(2026-08-04)ほか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何が起きたのか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初心者向け: 「tokenmaxxing」とは何か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幹部Jay Parikh氏は何と言ったのか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何が変わったのか(GPT-5.6への切替)</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既存テーマ(Weave社)との関係</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何が起きたのか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Microsoftの幹部副社長(EVP)Jay Parikh氏が、社内向けメールで通達を出した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2026年7月時点から、社内の各事業部門が「AIトークン予算目標」のもとで運用されるようになった</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エンジニア個人も、自分のAIトークン利用量を追跡できるようになった</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背景には、多くのエンジニアが月に数百ドル〜数千ドル分のAIトークンを消費していた実態があった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404 Media(2026-08-04)ほか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報道された日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2026年8月4日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404 Media・Slashdot・TechRadar・The Next Web・AI Weeklyなど複数メディアが同日報道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404 Media・Slashdot・TechRadar・The Next Web・AI Weekly(いずれも2026-08-04)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今回のニュースの概要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発表主体</a:t>
                      </a:r>
                    </a:p>
                  </a:txBody>
                  <a:tcPr>
                    <a:solidFill>
                      <a:srgbClr val="FFFFFF"/>
                    </a:solidFill>
                  </a:tcPr>
                </a:tc>
                <a:tc>
                  <a:txBody>
                    <a:bodyPr/>
                    <a:lstStyle/>
                    <a:p>
                      <a:pPr>
                        <a:defRPr sz="1200">
                          <a:solidFill>
                            <a:srgbClr val="121C1F"/>
                          </a:solidFill>
                          <a:latin typeface="Yu Gothic"/>
                        </a:defRPr>
                      </a:pPr>
                      <a:r>
                        <a:t>Microsoft幹部副社長(EVP) Jay Parikh氏(社内メール)</a:t>
                      </a:r>
                    </a:p>
                  </a:txBody>
                  <a:tcPr>
                    <a:solidFill>
                      <a:srgbClr val="FFFFFF"/>
                    </a:solidFill>
                  </a:tcPr>
                </a:tc>
              </a:tr>
              <a:tr h="502920">
                <a:tc>
                  <a:txBody>
                    <a:bodyPr/>
                    <a:lstStyle/>
                    <a:p>
                      <a:pPr>
                        <a:defRPr sz="1200">
                          <a:solidFill>
                            <a:srgbClr val="121C1F"/>
                          </a:solidFill>
                          <a:latin typeface="Yu Gothic"/>
                        </a:defRPr>
                      </a:pPr>
                      <a:r>
                        <a:t>通達内容</a:t>
                      </a:r>
                    </a:p>
                  </a:txBody>
                  <a:tcPr>
                    <a:solidFill>
                      <a:srgbClr val="F0F7F4"/>
                    </a:solidFill>
                  </a:tcPr>
                </a:tc>
                <a:tc>
                  <a:txBody>
                    <a:bodyPr/>
                    <a:lstStyle/>
                    <a:p>
                      <a:pPr>
                        <a:defRPr sz="1200">
                          <a:solidFill>
                            <a:srgbClr val="121C1F"/>
                          </a:solidFill>
                          <a:latin typeface="Yu Gothic"/>
                        </a:defRPr>
                      </a:pPr>
                      <a:r>
                        <a:t>2026年7月時点から、各事業部門がAIトークン予算目標のもとで運用</a:t>
                      </a:r>
                    </a:p>
                  </a:txBody>
                  <a:tcPr>
                    <a:solidFill>
                      <a:srgbClr val="F0F7F4"/>
                    </a:solidFill>
                  </a:tcPr>
                </a:tc>
              </a:tr>
              <a:tr h="502920">
                <a:tc>
                  <a:txBody>
                    <a:bodyPr/>
                    <a:lstStyle/>
                    <a:p>
                      <a:pPr>
                        <a:defRPr sz="1200">
                          <a:solidFill>
                            <a:srgbClr val="121C1F"/>
                          </a:solidFill>
                          <a:latin typeface="Yu Gothic"/>
                        </a:defRPr>
                      </a:pPr>
                      <a:r>
                        <a:t>個人レベルの変化</a:t>
                      </a:r>
                    </a:p>
                  </a:txBody>
                  <a:tcPr>
                    <a:solidFill>
                      <a:srgbClr val="FFFFFF"/>
                    </a:solidFill>
                  </a:tcPr>
                </a:tc>
                <a:tc>
                  <a:txBody>
                    <a:bodyPr/>
                    <a:lstStyle/>
                    <a:p>
                      <a:pPr>
                        <a:defRPr sz="1200">
                          <a:solidFill>
                            <a:srgbClr val="121C1F"/>
                          </a:solidFill>
                          <a:latin typeface="Yu Gothic"/>
                        </a:defRPr>
                      </a:pPr>
                      <a:r>
                        <a:t>エンジニア個人が自分の利用量を追跡できる</a:t>
                      </a:r>
                    </a:p>
                  </a:txBody>
                  <a:tcPr>
                    <a:solidFill>
                      <a:srgbClr val="FFFFFF"/>
                    </a:solidFill>
                  </a:tcPr>
                </a:tc>
              </a:tr>
              <a:tr h="502920">
                <a:tc>
                  <a:txBody>
                    <a:bodyPr/>
                    <a:lstStyle/>
                    <a:p>
                      <a:pPr>
                        <a:defRPr sz="1200">
                          <a:solidFill>
                            <a:srgbClr val="121C1F"/>
                          </a:solidFill>
                          <a:latin typeface="Yu Gothic"/>
                        </a:defRPr>
                      </a:pPr>
                      <a:r>
                        <a:t>背景とされる実態</a:t>
                      </a:r>
                    </a:p>
                  </a:txBody>
                  <a:tcPr>
                    <a:solidFill>
                      <a:srgbClr val="F0F7F4"/>
                    </a:solidFill>
                  </a:tcPr>
                </a:tc>
                <a:tc>
                  <a:txBody>
                    <a:bodyPr/>
                    <a:lstStyle/>
                    <a:p>
                      <a:pPr>
                        <a:defRPr sz="1200">
                          <a:solidFill>
                            <a:srgbClr val="121C1F"/>
                          </a:solidFill>
                          <a:latin typeface="Yu Gothic"/>
                        </a:defRPr>
                      </a:pPr>
                      <a:r>
                        <a:t>月に数百ドル〜数千ドル分のAIトークンを消費するエンジニアが多数</a:t>
                      </a:r>
                    </a:p>
                  </a:txBody>
                  <a:tcPr>
                    <a:solidFill>
                      <a:srgbClr val="F0F7F4"/>
                    </a:solidFill>
                  </a:tcPr>
                </a:tc>
              </a:tr>
              <a:tr h="502920">
                <a:tc>
                  <a:txBody>
                    <a:bodyPr/>
                    <a:lstStyle/>
                    <a:p>
                      <a:pPr>
                        <a:defRPr sz="1200">
                          <a:solidFill>
                            <a:srgbClr val="121C1F"/>
                          </a:solidFill>
                          <a:latin typeface="Yu Gothic"/>
                        </a:defRPr>
                      </a:pPr>
                      <a:r>
                        <a:t>対応策</a:t>
                      </a:r>
                    </a:p>
                  </a:txBody>
                  <a:tcPr>
                    <a:solidFill>
                      <a:srgbClr val="FFFFFF"/>
                    </a:solidFill>
                  </a:tcPr>
                </a:tc>
                <a:tc>
                  <a:txBody>
                    <a:bodyPr/>
                    <a:lstStyle/>
                    <a:p>
                      <a:pPr>
                        <a:defRPr sz="1200">
                          <a:solidFill>
                            <a:srgbClr val="121C1F"/>
                          </a:solidFill>
                          <a:latin typeface="Yu Gothic"/>
                        </a:defRPr>
                      </a:pPr>
                      <a:r>
                        <a:t>社内デフォルトAIモデルを、より安価とされるGPT-5.6に切替</a:t>
                      </a:r>
                    </a:p>
                  </a:txBody>
                  <a:tcPr>
                    <a:solidFill>
                      <a:srgbClr val="FFFFFF"/>
                    </a:solidFill>
                  </a:tcPr>
                </a:tc>
              </a:tr>
              <a:tr h="502920">
                <a:tc>
                  <a:txBody>
                    <a:bodyPr/>
                    <a:lstStyle/>
                    <a:p>
                      <a:pPr>
                        <a:defRPr sz="1200">
                          <a:solidFill>
                            <a:srgbClr val="121C1F"/>
                          </a:solidFill>
                          <a:latin typeface="Yu Gothic"/>
                        </a:defRPr>
                      </a:pPr>
                      <a:r>
                        <a:t>報道日</a:t>
                      </a:r>
                    </a:p>
                  </a:txBody>
                  <a:tcPr>
                    <a:solidFill>
                      <a:srgbClr val="F0F7F4"/>
                    </a:solidFill>
                  </a:tcPr>
                </a:tc>
                <a:tc>
                  <a:txBody>
                    <a:bodyPr/>
                    <a:lstStyle/>
                    <a:p>
                      <a:pPr>
                        <a:defRPr sz="1200">
                          <a:solidFill>
                            <a:srgbClr val="121C1F"/>
                          </a:solidFill>
                          <a:latin typeface="Yu Gothic"/>
                        </a:defRPr>
                      </a:pPr>
                      <a:r>
                        <a:t>2026年8月4日(複数媒体同日報道)</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登場人物・関係者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Microsoft</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AI製品・サービスを積極的に展開する一方、自社のAIコスト管理にも動いた企業</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Jay Parikh氏</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Microsoftの幹部副社長(EVP)。社内メールで今回の通達を出した人物</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各事業部門</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2026年7月からAIトークン予算目標のもとで運用されるようになった組織単位</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1B2A2E"/>
                </a:solidFill>
                <a:latin typeface="Yu Gothic"/>
              </a:rPr>
              <a:t>GPT-5.6(OpenAI)</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切替後の社内デフォルトAIモデル。より安価とされる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初心者向け: 「tokenmaxxing」とは何か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AIコーディングツールなどの利用量(トークン消費量)を最大化することが、あたかも生産性の高さであるかのように扱われてしまう現象を指す言葉</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2026年7月頃から一部のテック業界で使われ始めた比較的新しい言葉</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「たくさんAIを使っている=仕事ができている」という誤解につながりかねない、という問題意識から生まれた表現</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今回、この言葉をMicrosoftの幹部自身が、自社の社内方針を語る中で使った点が話題になっている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「tokenmaxxing」が起きる構図(概念図)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AIをたくさん使う</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トークン消費量が多いほど頑張っているように見える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利用量が指標化される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「どれだけ使ったか」が競争的な指標になりがちになる</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本来の目的とズレる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利用量の多さは、成果の大きさを必ずしも保証しない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初心者向け: なぜMicrosoftがAIコスト管理に動いたのか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MicrosoftはCopilot等、AI製品を積極的に社外へ売り込んでいる企業の一つ</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一方で、社内エンジニアのAI利用コストが、月に数百ドル〜数千ドル規模まで膨らんでいた実態がある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「AIを使うこと」自体は推奨しつつ、コストと成果のバランスをどう取るかが課題になっていたとみられる</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その結果として、部門ごとの予算目標や、個人が使用量を追跡できる仕組みが導入された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“Tokenmaxxing is not what we are optimizing for.”</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FE8DE"/>
                </a:solidFill>
                <a:latin typeface="Yu Gothic"/>
              </a:rPr>
              <a:t>— Jay Parikh氏(Microsoft幹部副社長)、社内メールより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“We are not optimizing for fewer tokens. We are optimizing for more impact per token.”</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FE8DE"/>
                </a:solidFill>
                <a:latin typeface="Yu Gothic"/>
              </a:rPr>
              <a:t>— Jay Parikh氏(Microsoft幹部副社長)、社内メールより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「1トークンあたりのインパクト」という考え方(概念図)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トークン数を減らす</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これが目的ではない、とParikh氏は明言している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1トークンあたりの成果</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同じ利用量でも、どれだけ意味のある成果につながるかを重視する</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予算目標はその手段</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AIトークン予算目標は、量そのものの制限というより質への意識づけとされる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「tokenmaxxing」的な発想 vs Parikh氏が示す発想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tokenmaxxing的な発想</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AIをたくさん使うこと自体が評価されがち</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利用量の多さが頑張りの証明のように扱われる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Parikh氏が示す発想</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トークン数を減らすことも目的ではない</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1トークンあたりのインパクトを最大化することを重視する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背景: エンジニアのAI利用実態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報道によれば、多くのエンジニアが月に数百ドル〜数千ドル分のAIトークンを消費していた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具体的な平均額や部門別の内訳は、報道各社も示していない</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この実態が、部門ごとの予算目標導入の直接のきっかけになったとみられる</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ただし、この実態と通達の因果関係を明言した一次情報は確認できていない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404 Media・The Next Web(2026-08-04)ほか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切替後の社内デフォルトAIモデル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GPT-5.6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OpenAIのGPT-5.6に切替。より安価とされるが、削減率・削減額は不明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AI Weekly(2026-08-04)ほか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通達から見える一連の変化</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1. 実態の把握</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多くのエンジニアの月間AIトークン消費が数百〜数千ドル規模に達していた</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2. 幹部の通達</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Jay Parikh氏が社内メールで方針を通達</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3. 予算目標の導入</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各事業部門がAIトークン予算目標のもとで運用開始</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4. モデルの切替</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社内デフォルトAIモデルをより安価なGPT-5.6に切替</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今回のニュースの3つのポイント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1. 量ではなく質</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「トークンを減らす」ではなく「1トークンあたりのインパクト」を重視する立場</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2. 個人も追跡可能に</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エンジニア個人が自分のAIトークン利用量を追跡できるようになった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3. モデルもコスト意識で選定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社内デフォルトをより安価とされるGPT-5.6に切替</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「AIトークン予算目標」制度の概要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分かっていること</a:t>
                      </a:r>
                    </a:p>
                  </a:txBody>
                  <a:tcPr>
                    <a:solidFill>
                      <a:srgbClr val="1B2A2E"/>
                    </a:solidFill>
                  </a:tcPr>
                </a:tc>
                <a:tc>
                  <a:txBody>
                    <a:bodyPr/>
                    <a:lstStyle/>
                    <a:p>
                      <a:pPr>
                        <a:defRPr sz="1300" b="1">
                          <a:solidFill>
                            <a:srgbClr val="FFFFFF"/>
                          </a:solidFill>
                          <a:latin typeface="Yu Gothic"/>
                        </a:defRPr>
                      </a:pPr>
                      <a:r>
                        <a:t>分かっていないこと</a:t>
                      </a:r>
                    </a:p>
                  </a:txBody>
                  <a:tcPr>
                    <a:solidFill>
                      <a:srgbClr val="1B2A2E"/>
                    </a:solidFill>
                  </a:tcPr>
                </a:tc>
              </a:tr>
              <a:tr h="502920">
                <a:tc>
                  <a:txBody>
                    <a:bodyPr/>
                    <a:lstStyle/>
                    <a:p>
                      <a:pPr>
                        <a:defRPr sz="1200">
                          <a:solidFill>
                            <a:srgbClr val="121C1F"/>
                          </a:solidFill>
                          <a:latin typeface="Yu Gothic"/>
                        </a:defRPr>
                      </a:pPr>
                      <a:r>
                        <a:t>適用開始時期</a:t>
                      </a:r>
                    </a:p>
                  </a:txBody>
                  <a:tcPr>
                    <a:solidFill>
                      <a:srgbClr val="FFFFFF"/>
                    </a:solidFill>
                  </a:tcPr>
                </a:tc>
                <a:tc>
                  <a:txBody>
                    <a:bodyPr/>
                    <a:lstStyle/>
                    <a:p>
                      <a:pPr>
                        <a:defRPr sz="1200">
                          <a:solidFill>
                            <a:srgbClr val="121C1F"/>
                          </a:solidFill>
                          <a:latin typeface="Yu Gothic"/>
                        </a:defRPr>
                      </a:pPr>
                      <a:r>
                        <a:t>2026年7月時点から運用</a:t>
                      </a:r>
                    </a:p>
                  </a:txBody>
                  <a:tcPr>
                    <a:solidFill>
                      <a:srgbClr val="FFFFFF"/>
                    </a:solidFill>
                  </a:tcPr>
                </a:tc>
                <a:tc>
                  <a:txBody>
                    <a:bodyPr/>
                    <a:lstStyle/>
                    <a:p>
                      <a:pPr>
                        <a:defRPr sz="1200">
                          <a:solidFill>
                            <a:srgbClr val="121C1F"/>
                          </a:solidFill>
                          <a:latin typeface="Yu Gothic"/>
                        </a:defRPr>
                      </a:pPr>
                      <a:r>
                        <a:t>具体的な段階的展開の時系列</a:t>
                      </a:r>
                    </a:p>
                  </a:txBody>
                  <a:tcPr>
                    <a:solidFill>
                      <a:srgbClr val="FFFFFF"/>
                    </a:solidFill>
                  </a:tcPr>
                </a:tc>
              </a:tr>
              <a:tr h="502920">
                <a:tc>
                  <a:txBody>
                    <a:bodyPr/>
                    <a:lstStyle/>
                    <a:p>
                      <a:pPr>
                        <a:defRPr sz="1200">
                          <a:solidFill>
                            <a:srgbClr val="121C1F"/>
                          </a:solidFill>
                          <a:latin typeface="Yu Gothic"/>
                        </a:defRPr>
                      </a:pPr>
                      <a:r>
                        <a:t>適用範囲</a:t>
                      </a:r>
                    </a:p>
                  </a:txBody>
                  <a:tcPr>
                    <a:solidFill>
                      <a:srgbClr val="F0F7F4"/>
                    </a:solidFill>
                  </a:tcPr>
                </a:tc>
                <a:tc>
                  <a:txBody>
                    <a:bodyPr/>
                    <a:lstStyle/>
                    <a:p>
                      <a:pPr>
                        <a:defRPr sz="1200">
                          <a:solidFill>
                            <a:srgbClr val="121C1F"/>
                          </a:solidFill>
                          <a:latin typeface="Yu Gothic"/>
                        </a:defRPr>
                      </a:pPr>
                      <a:r>
                        <a:t>社内の各事業部門</a:t>
                      </a:r>
                    </a:p>
                  </a:txBody>
                  <a:tcPr>
                    <a:solidFill>
                      <a:srgbClr val="F0F7F4"/>
                    </a:solidFill>
                  </a:tcPr>
                </a:tc>
                <a:tc>
                  <a:txBody>
                    <a:bodyPr/>
                    <a:lstStyle/>
                    <a:p>
                      <a:pPr>
                        <a:defRPr sz="1200">
                          <a:solidFill>
                            <a:srgbClr val="121C1F"/>
                          </a:solidFill>
                          <a:latin typeface="Yu Gothic"/>
                        </a:defRPr>
                      </a:pPr>
                      <a:r>
                        <a:t>部門別の具体的な予算額</a:t>
                      </a:r>
                    </a:p>
                  </a:txBody>
                  <a:tcPr>
                    <a:solidFill>
                      <a:srgbClr val="F0F7F4"/>
                    </a:solidFill>
                  </a:tcPr>
                </a:tc>
              </a:tr>
              <a:tr h="502920">
                <a:tc>
                  <a:txBody>
                    <a:bodyPr/>
                    <a:lstStyle/>
                    <a:p>
                      <a:pPr>
                        <a:defRPr sz="1200">
                          <a:solidFill>
                            <a:srgbClr val="121C1F"/>
                          </a:solidFill>
                          <a:latin typeface="Yu Gothic"/>
                        </a:defRPr>
                      </a:pPr>
                      <a:r>
                        <a:t>個人への影響</a:t>
                      </a:r>
                    </a:p>
                  </a:txBody>
                  <a:tcPr>
                    <a:solidFill>
                      <a:srgbClr val="FFFFFF"/>
                    </a:solidFill>
                  </a:tcPr>
                </a:tc>
                <a:tc>
                  <a:txBody>
                    <a:bodyPr/>
                    <a:lstStyle/>
                    <a:p>
                      <a:pPr>
                        <a:defRPr sz="1200">
                          <a:solidFill>
                            <a:srgbClr val="121C1F"/>
                          </a:solidFill>
                          <a:latin typeface="Yu Gothic"/>
                        </a:defRPr>
                      </a:pPr>
                      <a:r>
                        <a:t>利用量を個人が追跡可能</a:t>
                      </a:r>
                    </a:p>
                  </a:txBody>
                  <a:tcPr>
                    <a:solidFill>
                      <a:srgbClr val="FFFFFF"/>
                    </a:solidFill>
                  </a:tcPr>
                </a:tc>
                <a:tc>
                  <a:txBody>
                    <a:bodyPr/>
                    <a:lstStyle/>
                    <a:p>
                      <a:pPr>
                        <a:defRPr sz="1200">
                          <a:solidFill>
                            <a:srgbClr val="121C1F"/>
                          </a:solidFill>
                          <a:latin typeface="Yu Gothic"/>
                        </a:defRPr>
                      </a:pPr>
                      <a:r>
                        <a:t>追跡結果が人事評価等に使われるか</a:t>
                      </a:r>
                    </a:p>
                  </a:txBody>
                  <a:tcPr>
                    <a:solidFill>
                      <a:srgbClr val="FFFFFF"/>
                    </a:solidFill>
                  </a:tcPr>
                </a:tc>
              </a:tr>
              <a:tr h="502920">
                <a:tc>
                  <a:txBody>
                    <a:bodyPr/>
                    <a:lstStyle/>
                    <a:p>
                      <a:pPr>
                        <a:defRPr sz="1200">
                          <a:solidFill>
                            <a:srgbClr val="121C1F"/>
                          </a:solidFill>
                          <a:latin typeface="Yu Gothic"/>
                        </a:defRPr>
                      </a:pPr>
                      <a:r>
                        <a:t>モデル切替</a:t>
                      </a:r>
                    </a:p>
                  </a:txBody>
                  <a:tcPr>
                    <a:solidFill>
                      <a:srgbClr val="F0F7F4"/>
                    </a:solidFill>
                  </a:tcPr>
                </a:tc>
                <a:tc>
                  <a:txBody>
                    <a:bodyPr/>
                    <a:lstStyle/>
                    <a:p>
                      <a:pPr>
                        <a:defRPr sz="1200">
                          <a:solidFill>
                            <a:srgbClr val="121C1F"/>
                          </a:solidFill>
                          <a:latin typeface="Yu Gothic"/>
                        </a:defRPr>
                      </a:pPr>
                      <a:r>
                        <a:t>デフォルトがGPT-5.6に</a:t>
                      </a:r>
                    </a:p>
                  </a:txBody>
                  <a:tcPr>
                    <a:solidFill>
                      <a:srgbClr val="F0F7F4"/>
                    </a:solidFill>
                  </a:tcPr>
                </a:tc>
                <a:tc>
                  <a:txBody>
                    <a:bodyPr/>
                    <a:lstStyle/>
                    <a:p>
                      <a:pPr>
                        <a:defRPr sz="1200">
                          <a:solidFill>
                            <a:srgbClr val="121C1F"/>
                          </a:solidFill>
                          <a:latin typeface="Yu Gothic"/>
                        </a:defRPr>
                      </a:pPr>
                      <a:r>
                        <a:t>削減率・削減額の具体的な数値</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既存テーマ(Weave社、2026-07-29)との関係</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本シリーズでは「tokenmaxxing」という言葉自体を、過去テーマですでに一度取り上げている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過去テーマは、エンジニアリング計測プラットフォームのスタートアップWeave社が、tokenmaxxingを解消する立ち位置でシリーズA調達をしたという資金調達ニュース(2026-07-29)</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今回は、Weave社という第三者ではなく、Microsoft自身が自社の社内方針を語る中で同じ言葉を使った、という別の新しい事象</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主体(スタートアップの資金調達 vs 巨大テック企業の社内コスト管理)も文脈も異なり、重複するものではない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2つのテーマの比較(重複でないことの確認)</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過去テーマ(2026-07-29)</a:t>
                      </a:r>
                    </a:p>
                  </a:txBody>
                  <a:tcPr>
                    <a:solidFill>
                      <a:srgbClr val="1B2A2E"/>
                    </a:solidFill>
                  </a:tcPr>
                </a:tc>
                <a:tc>
                  <a:txBody>
                    <a:bodyPr/>
                    <a:lstStyle/>
                    <a:p>
                      <a:pPr>
                        <a:defRPr sz="1300" b="1">
                          <a:solidFill>
                            <a:srgbClr val="FFFFFF"/>
                          </a:solidFill>
                          <a:latin typeface="Yu Gothic"/>
                        </a:defRPr>
                      </a:pPr>
                      <a:r>
                        <a:t>今回のテーマ(2026-08-04)</a:t>
                      </a:r>
                    </a:p>
                  </a:txBody>
                  <a:tcPr>
                    <a:solidFill>
                      <a:srgbClr val="1B2A2E"/>
                    </a:solidFill>
                  </a:tcPr>
                </a:tc>
              </a:tr>
              <a:tr h="502920">
                <a:tc>
                  <a:txBody>
                    <a:bodyPr/>
                    <a:lstStyle/>
                    <a:p>
                      <a:pPr>
                        <a:defRPr sz="1200">
                          <a:solidFill>
                            <a:srgbClr val="121C1F"/>
                          </a:solidFill>
                          <a:latin typeface="Yu Gothic"/>
                        </a:defRPr>
                      </a:pPr>
                      <a:r>
                        <a:t>主体</a:t>
                      </a:r>
                    </a:p>
                  </a:txBody>
                  <a:tcPr>
                    <a:solidFill>
                      <a:srgbClr val="FFFFFF"/>
                    </a:solidFill>
                  </a:tcPr>
                </a:tc>
                <a:tc>
                  <a:txBody>
                    <a:bodyPr/>
                    <a:lstStyle/>
                    <a:p>
                      <a:pPr>
                        <a:defRPr sz="1200">
                          <a:solidFill>
                            <a:srgbClr val="121C1F"/>
                          </a:solidFill>
                          <a:latin typeface="Yu Gothic"/>
                        </a:defRPr>
                      </a:pPr>
                      <a:r>
                        <a:t>スタートアップWeave社</a:t>
                      </a:r>
                    </a:p>
                  </a:txBody>
                  <a:tcPr>
                    <a:solidFill>
                      <a:srgbClr val="FFFFFF"/>
                    </a:solidFill>
                  </a:tcPr>
                </a:tc>
                <a:tc>
                  <a:txBody>
                    <a:bodyPr/>
                    <a:lstStyle/>
                    <a:p>
                      <a:pPr>
                        <a:defRPr sz="1200">
                          <a:solidFill>
                            <a:srgbClr val="121C1F"/>
                          </a:solidFill>
                          <a:latin typeface="Yu Gothic"/>
                        </a:defRPr>
                      </a:pPr>
                      <a:r>
                        <a:t>Microsoft(幹部Jay Parikh氏)</a:t>
                      </a:r>
                    </a:p>
                  </a:txBody>
                  <a:tcPr>
                    <a:solidFill>
                      <a:srgbClr val="FFFFFF"/>
                    </a:solidFill>
                  </a:tcPr>
                </a:tc>
              </a:tr>
              <a:tr h="502920">
                <a:tc>
                  <a:txBody>
                    <a:bodyPr/>
                    <a:lstStyle/>
                    <a:p>
                      <a:pPr>
                        <a:defRPr sz="1200">
                          <a:solidFill>
                            <a:srgbClr val="121C1F"/>
                          </a:solidFill>
                          <a:latin typeface="Yu Gothic"/>
                        </a:defRPr>
                      </a:pPr>
                      <a:r>
                        <a:t>文脈</a:t>
                      </a:r>
                    </a:p>
                  </a:txBody>
                  <a:tcPr>
                    <a:solidFill>
                      <a:srgbClr val="F0F7F4"/>
                    </a:solidFill>
                  </a:tcPr>
                </a:tc>
                <a:tc>
                  <a:txBody>
                    <a:bodyPr/>
                    <a:lstStyle/>
                    <a:p>
                      <a:pPr>
                        <a:defRPr sz="1200">
                          <a:solidFill>
                            <a:srgbClr val="121C1F"/>
                          </a:solidFill>
                          <a:latin typeface="Yu Gothic"/>
                        </a:defRPr>
                      </a:pPr>
                      <a:r>
                        <a:t>製品ポジショニング・資金調達発表</a:t>
                      </a:r>
                    </a:p>
                  </a:txBody>
                  <a:tcPr>
                    <a:solidFill>
                      <a:srgbClr val="F0F7F4"/>
                    </a:solidFill>
                  </a:tcPr>
                </a:tc>
                <a:tc>
                  <a:txBody>
                    <a:bodyPr/>
                    <a:lstStyle/>
                    <a:p>
                      <a:pPr>
                        <a:defRPr sz="1200">
                          <a:solidFill>
                            <a:srgbClr val="121C1F"/>
                          </a:solidFill>
                          <a:latin typeface="Yu Gothic"/>
                        </a:defRPr>
                      </a:pPr>
                      <a:r>
                        <a:t>社内コスト管理の通達</a:t>
                      </a:r>
                    </a:p>
                  </a:txBody>
                  <a:tcPr>
                    <a:solidFill>
                      <a:srgbClr val="F0F7F4"/>
                    </a:solidFill>
                  </a:tcPr>
                </a:tc>
              </a:tr>
              <a:tr h="502920">
                <a:tc>
                  <a:txBody>
                    <a:bodyPr/>
                    <a:lstStyle/>
                    <a:p>
                      <a:pPr>
                        <a:defRPr sz="1200">
                          <a:solidFill>
                            <a:srgbClr val="121C1F"/>
                          </a:solidFill>
                          <a:latin typeface="Yu Gothic"/>
                        </a:defRPr>
                      </a:pPr>
                      <a:r>
                        <a:t>「tokenmaxxing」の使い方</a:t>
                      </a:r>
                    </a:p>
                  </a:txBody>
                  <a:tcPr>
                    <a:solidFill>
                      <a:srgbClr val="FFFFFF"/>
                    </a:solidFill>
                  </a:tcPr>
                </a:tc>
                <a:tc>
                  <a:txBody>
                    <a:bodyPr/>
                    <a:lstStyle/>
                    <a:p>
                      <a:pPr>
                        <a:defRPr sz="1200">
                          <a:solidFill>
                            <a:srgbClr val="121C1F"/>
                          </a:solidFill>
                          <a:latin typeface="Yu Gothic"/>
                        </a:defRPr>
                      </a:pPr>
                      <a:r>
                        <a:t>解消すべき課題として言及</a:t>
                      </a:r>
                    </a:p>
                  </a:txBody>
                  <a:tcPr>
                    <a:solidFill>
                      <a:srgbClr val="FFFFFF"/>
                    </a:solidFill>
                  </a:tcPr>
                </a:tc>
                <a:tc>
                  <a:txBody>
                    <a:bodyPr/>
                    <a:lstStyle/>
                    <a:p>
                      <a:pPr>
                        <a:defRPr sz="1200">
                          <a:solidFill>
                            <a:srgbClr val="121C1F"/>
                          </a:solidFill>
                          <a:latin typeface="Yu Gothic"/>
                        </a:defRPr>
                      </a:pPr>
                      <a:r>
                        <a:t>「それを目指しているのではない」と否定形で言及</a:t>
                      </a:r>
                    </a:p>
                  </a:txBody>
                  <a:tcPr>
                    <a:solidFill>
                      <a:srgbClr val="FFFFFF"/>
                    </a:solidFill>
                  </a:tcPr>
                </a:tc>
              </a:tr>
              <a:tr h="502920">
                <a:tc>
                  <a:txBody>
                    <a:bodyPr/>
                    <a:lstStyle/>
                    <a:p>
                      <a:pPr>
                        <a:defRPr sz="1200">
                          <a:solidFill>
                            <a:srgbClr val="121C1F"/>
                          </a:solidFill>
                          <a:latin typeface="Yu Gothic"/>
                        </a:defRPr>
                      </a:pPr>
                      <a:r>
                        <a:t>判定</a:t>
                      </a:r>
                    </a:p>
                  </a:txBody>
                  <a:tcPr>
                    <a:solidFill>
                      <a:srgbClr val="F0F7F4"/>
                    </a:solidFill>
                  </a:tcPr>
                </a:tc>
                <a:tc>
                  <a:txBody>
                    <a:bodyPr/>
                    <a:lstStyle/>
                    <a:p>
                      <a:pPr>
                        <a:defRPr sz="1200">
                          <a:solidFill>
                            <a:srgbClr val="121C1F"/>
                          </a:solidFill>
                          <a:latin typeface="Yu Gothic"/>
                        </a:defRPr>
                      </a:pPr>
                      <a:r>
                        <a:t>既存テーマとして掲載済み</a:t>
                      </a:r>
                    </a:p>
                  </a:txBody>
                  <a:tcPr>
                    <a:solidFill>
                      <a:srgbClr val="F0F7F4"/>
                    </a:solidFill>
                  </a:tcPr>
                </a:tc>
                <a:tc>
                  <a:txBody>
                    <a:bodyPr/>
                    <a:lstStyle/>
                    <a:p>
                      <a:pPr>
                        <a:defRPr sz="1200">
                          <a:solidFill>
                            <a:srgbClr val="121C1F"/>
                          </a:solidFill>
                          <a:latin typeface="Yu Gothic"/>
                        </a:defRPr>
                      </a:pPr>
                      <a:r>
                        <a:t>別事象として新規採用</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【重要】未確認事項一覧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部門別の具体的なトークン予算額</a:t>
                      </a:r>
                    </a:p>
                  </a:txBody>
                  <a:tcPr>
                    <a:solidFill>
                      <a:srgbClr val="FFFFFF"/>
                    </a:solidFill>
                  </a:tcPr>
                </a:tc>
                <a:tc>
                  <a:txBody>
                    <a:bodyPr/>
                    <a:lstStyle/>
                    <a:p>
                      <a:pPr>
                        <a:defRPr sz="1200">
                          <a:solidFill>
                            <a:srgbClr val="121C1F"/>
                          </a:solidFill>
                          <a:latin typeface="Yu Gothic"/>
                        </a:defRPr>
                      </a:pPr>
                      <a:r>
                        <a:t>未確認(ドル建ての上限数値は報道されていない)</a:t>
                      </a:r>
                    </a:p>
                  </a:txBody>
                  <a:tcPr>
                    <a:solidFill>
                      <a:srgbClr val="FFFFFF"/>
                    </a:solidFill>
                  </a:tcPr>
                </a:tc>
              </a:tr>
              <a:tr h="502920">
                <a:tc>
                  <a:txBody>
                    <a:bodyPr/>
                    <a:lstStyle/>
                    <a:p>
                      <a:pPr>
                        <a:defRPr sz="1200">
                          <a:solidFill>
                            <a:srgbClr val="121C1F"/>
                          </a:solidFill>
                          <a:latin typeface="Yu Gothic"/>
                        </a:defRPr>
                      </a:pPr>
                      <a:r>
                        <a:t>GPT-5.6切替による実際の削減率・削減額</a:t>
                      </a:r>
                    </a:p>
                  </a:txBody>
                  <a:tcPr>
                    <a:solidFill>
                      <a:srgbClr val="F0F7F4"/>
                    </a:solidFill>
                  </a:tcPr>
                </a:tc>
                <a:tc>
                  <a:txBody>
                    <a:bodyPr/>
                    <a:lstStyle/>
                    <a:p>
                      <a:pPr>
                        <a:defRPr sz="1200">
                          <a:solidFill>
                            <a:srgbClr val="121C1F"/>
                          </a:solidFill>
                          <a:latin typeface="Yu Gothic"/>
                        </a:defRPr>
                      </a:pPr>
                      <a:r>
                        <a:t>未確認</a:t>
                      </a:r>
                    </a:p>
                  </a:txBody>
                  <a:tcPr>
                    <a:solidFill>
                      <a:srgbClr val="F0F7F4"/>
                    </a:solidFill>
                  </a:tcPr>
                </a:tc>
              </a:tr>
              <a:tr h="502920">
                <a:tc>
                  <a:txBody>
                    <a:bodyPr/>
                    <a:lstStyle/>
                    <a:p>
                      <a:pPr>
                        <a:defRPr sz="1200">
                          <a:solidFill>
                            <a:srgbClr val="121C1F"/>
                          </a:solidFill>
                          <a:latin typeface="Yu Gothic"/>
                        </a:defRPr>
                      </a:pPr>
                      <a:r>
                        <a:t>社内エンジニアの具体的な反応・不満の声</a:t>
                      </a:r>
                    </a:p>
                  </a:txBody>
                  <a:tcPr>
                    <a:solidFill>
                      <a:srgbClr val="FFFFFF"/>
                    </a:solidFill>
                  </a:tcPr>
                </a:tc>
                <a:tc>
                  <a:txBody>
                    <a:bodyPr/>
                    <a:lstStyle/>
                    <a:p>
                      <a:pPr>
                        <a:defRPr sz="1200">
                          <a:solidFill>
                            <a:srgbClr val="121C1F"/>
                          </a:solidFill>
                          <a:latin typeface="Yu Gothic"/>
                        </a:defRPr>
                      </a:pPr>
                      <a:r>
                        <a:t>個別の匿名証言はメディアの伝聞紹介のみで、一次確認できず</a:t>
                      </a:r>
                    </a:p>
                  </a:txBody>
                  <a:tcPr>
                    <a:solidFill>
                      <a:srgbClr val="FFFFFF"/>
                    </a:solidFill>
                  </a:tcPr>
                </a:tc>
              </a:tr>
              <a:tr h="502920">
                <a:tc>
                  <a:txBody>
                    <a:bodyPr/>
                    <a:lstStyle/>
                    <a:p>
                      <a:pPr>
                        <a:defRPr sz="1200">
                          <a:solidFill>
                            <a:srgbClr val="121C1F"/>
                          </a:solidFill>
                          <a:latin typeface="Yu Gothic"/>
                        </a:defRPr>
                      </a:pPr>
                      <a:r>
                        <a:t>Microsoft広報の公式コメントの有無</a:t>
                      </a:r>
                    </a:p>
                  </a:txBody>
                  <a:tcPr>
                    <a:solidFill>
                      <a:srgbClr val="F0F7F4"/>
                    </a:solidFill>
                  </a:tcPr>
                </a:tc>
                <a:tc>
                  <a:txBody>
                    <a:bodyPr/>
                    <a:lstStyle/>
                    <a:p>
                      <a:pPr>
                        <a:defRPr sz="1200">
                          <a:solidFill>
                            <a:srgbClr val="121C1F"/>
                          </a:solidFill>
                          <a:latin typeface="Yu Gothic"/>
                        </a:defRPr>
                      </a:pPr>
                      <a:r>
                        <a:t>未確認</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通達を出した人物・内容・引用された発言・報道日は、5つの独立したメディアで確認できた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部門別の具体的な予算額や、GPT-5.6切替によるコスト削減効果の数値は確認できていない</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社内エンジニアからの具体的な反応は、メディアの伝聞的な紹介にとどまり、一次確認はできていない</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Microsoft広報からの公式コメントの有無も確認できていない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404 Media・Slashdot・TechRadar・The Next Web・AI Weekly(2026-08-04)</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鮮度についての開示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報道日は2026年8月4日、着手日(2026年8月4日)と完全に同日である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404 Media、Slashdot、TechRadar、The Next Web、AI Weeklyという5つの独立したメディアが同日に報じている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複数の独立した情報源による同日報道であり、鮮度・裏付けの両面で高水準</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ただし鮮度の高さは、確認できていない部門別予算額や社内の反応などを補うものではない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採用スコアの開示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採用スコア</a:t>
                      </a:r>
                    </a:p>
                  </a:txBody>
                  <a:tcPr>
                    <a:solidFill>
                      <a:srgbClr val="FFFFFF"/>
                    </a:solidFill>
                  </a:tcPr>
                </a:tc>
                <a:tc>
                  <a:txBody>
                    <a:bodyPr/>
                    <a:lstStyle/>
                    <a:p>
                      <a:pPr>
                        <a:defRPr sz="1200">
                          <a:solidFill>
                            <a:srgbClr val="121C1F"/>
                          </a:solidFill>
                          <a:latin typeface="Yu Gothic"/>
                        </a:defRPr>
                      </a:pPr>
                      <a:r>
                        <a:t>82/100</a:t>
                      </a:r>
                    </a:p>
                  </a:txBody>
                  <a:tcPr>
                    <a:solidFill>
                      <a:srgbClr val="FFFFFF"/>
                    </a:solidFill>
                  </a:tcPr>
                </a:tc>
              </a:tr>
              <a:tr h="502920">
                <a:tc>
                  <a:txBody>
                    <a:bodyPr/>
                    <a:lstStyle/>
                    <a:p>
                      <a:pPr>
                        <a:defRPr sz="1200">
                          <a:solidFill>
                            <a:srgbClr val="121C1F"/>
                          </a:solidFill>
                          <a:latin typeface="Yu Gothic"/>
                        </a:defRPr>
                      </a:pPr>
                      <a:r>
                        <a:t>採用理由</a:t>
                      </a:r>
                    </a:p>
                  </a:txBody>
                  <a:tcPr>
                    <a:solidFill>
                      <a:srgbClr val="F0F7F4"/>
                    </a:solidFill>
                  </a:tcPr>
                </a:tc>
                <a:tc>
                  <a:txBody>
                    <a:bodyPr/>
                    <a:lstStyle/>
                    <a:p>
                      <a:pPr>
                        <a:defRPr sz="1200">
                          <a:solidFill>
                            <a:srgbClr val="121C1F"/>
                          </a:solidFill>
                          <a:latin typeface="Yu Gothic"/>
                        </a:defRPr>
                      </a:pPr>
                      <a:r>
                        <a:t>「AIを売り込む企業が自社では使いすぎるなと言う」という直感的な意外性のフックと、幹部の引用付き発言による裏付けの強さ</a:t>
                      </a:r>
                    </a:p>
                  </a:txBody>
                  <a:tcPr>
                    <a:solidFill>
                      <a:srgbClr val="F0F7F4"/>
                    </a:solidFill>
                  </a:tcPr>
                </a:tc>
              </a:tr>
              <a:tr h="502920">
                <a:tc>
                  <a:txBody>
                    <a:bodyPr/>
                    <a:lstStyle/>
                    <a:p>
                      <a:pPr>
                        <a:defRPr sz="1200">
                          <a:solidFill>
                            <a:srgbClr val="121C1F"/>
                          </a:solidFill>
                          <a:latin typeface="Yu Gothic"/>
                        </a:defRPr>
                      </a:pPr>
                      <a:r>
                        <a:t>鮮度</a:t>
                      </a:r>
                    </a:p>
                  </a:txBody>
                  <a:tcPr>
                    <a:solidFill>
                      <a:srgbClr val="FFFFFF"/>
                    </a:solidFill>
                  </a:tcPr>
                </a:tc>
                <a:tc>
                  <a:txBody>
                    <a:bodyPr/>
                    <a:lstStyle/>
                    <a:p>
                      <a:pPr>
                        <a:defRPr sz="1200">
                          <a:solidFill>
                            <a:srgbClr val="121C1F"/>
                          </a:solidFill>
                          <a:latin typeface="Yu Gothic"/>
                        </a:defRPr>
                      </a:pPr>
                      <a:r>
                        <a:t>報道日は着手日と完全に同日。5媒体が同日報道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公平性・中立性についての開示</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本テーマは、Microsoft幹部の社内向け通達の内容を、複数メディアの報道に基づいて中立的に報告する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Microsoft・OpenAI(GPT-5.6)いずれについても、製品・サービスの利用を強く推奨する結論にはしていない</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「AIの利用は無駄なのか、必要なのか」というAI活用全般についての価値判断は行わない</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実在人物名(Jay Parikh氏)・実在企業名はテキストとしてのみ使用し、ロゴ・写真は使用しない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業界文脈(ここからは一般的な推測、確定情報ではない)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AIコーディングツールの利用コストをどう管理するかは、多くの企業にとって共通の悩みどころになりつつあるとみられる</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「tokenmaxxing」という言葉が、スタートアップの製品説明だけでなく大手テック企業の社内方針にも登場したことは、この言葉の広がりを示す材料の一つと見ることもできる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ただし、他の大手テック企業が同様の予算管理を導入しているかどうかは、本調査の範囲では確認できていない</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ここからは一般的な業界文脈の推測であり、確定した情報ではない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今、分かっていること vs まだ分からないこと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今、分かっていること</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Jay Parikh氏が2026年7月からの予算目標運用を社内メールで通達したこと</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「トークン数ではなくインパクトを重視する」という発言内容、GPT-5.6への切替</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まだ分からないこと(開かれた問い)</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部門別の具体的な予算額や削減効果の数値</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社内エンジニアの実際の反応、広報の公式コメントの有無</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媒体</a:t>
                      </a:r>
                    </a:p>
                  </a:txBody>
                  <a:tcPr>
                    <a:solidFill>
                      <a:srgbClr val="1B2A2E"/>
                    </a:solidFill>
                  </a:tcPr>
                </a:tc>
                <a:tc>
                  <a:txBody>
                    <a:bodyPr/>
                    <a:lstStyle/>
                    <a:p>
                      <a:pPr>
                        <a:defRPr sz="1300" b="1">
                          <a:solidFill>
                            <a:srgbClr val="FFFFFF"/>
                          </a:solidFill>
                          <a:latin typeface="Yu Gothic"/>
                        </a:defRPr>
                      </a:pPr>
                      <a:r>
                        <a:t>日付</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404 Media</a:t>
                      </a:r>
                    </a:p>
                  </a:txBody>
                  <a:tcPr>
                    <a:solidFill>
                      <a:srgbClr val="FFFFFF"/>
                    </a:solidFill>
                  </a:tcPr>
                </a:tc>
                <a:tc>
                  <a:txBody>
                    <a:bodyPr/>
                    <a:lstStyle/>
                    <a:p>
                      <a:pPr>
                        <a:defRPr sz="1200">
                          <a:solidFill>
                            <a:srgbClr val="121C1F"/>
                          </a:solidFill>
                          <a:latin typeface="Yu Gothic"/>
                        </a:defRPr>
                      </a:pPr>
                      <a:r>
                        <a:t>2026-08-04</a:t>
                      </a:r>
                    </a:p>
                  </a:txBody>
                  <a:tcPr>
                    <a:solidFill>
                      <a:srgbClr val="FFFFFF"/>
                    </a:solidFill>
                  </a:tcPr>
                </a:tc>
                <a:tc>
                  <a:txBody>
                    <a:bodyPr/>
                    <a:lstStyle/>
                    <a:p>
                      <a:pPr>
                        <a:defRPr sz="1200">
                          <a:solidFill>
                            <a:srgbClr val="121C1F"/>
                          </a:solidFill>
                          <a:latin typeface="Yu Gothic"/>
                        </a:defRPr>
                      </a:pPr>
                      <a:r>
                        <a:t>Microsoft tells engineers 'tokenmaxxing is not what we are optimizing for'</a:t>
                      </a:r>
                    </a:p>
                  </a:txBody>
                  <a:tcPr>
                    <a:solidFill>
                      <a:srgbClr val="FFFFFF"/>
                    </a:solidFill>
                  </a:tcPr>
                </a:tc>
              </a:tr>
              <a:tr h="502920">
                <a:tc>
                  <a:txBody>
                    <a:bodyPr/>
                    <a:lstStyle/>
                    <a:p>
                      <a:pPr>
                        <a:defRPr sz="1200">
                          <a:solidFill>
                            <a:srgbClr val="121C1F"/>
                          </a:solidFill>
                          <a:latin typeface="Yu Gothic"/>
                        </a:defRPr>
                      </a:pPr>
                      <a:r>
                        <a:t>Slashdot</a:t>
                      </a:r>
                    </a:p>
                  </a:txBody>
                  <a:tcPr>
                    <a:solidFill>
                      <a:srgbClr val="F0F7F4"/>
                    </a:solidFill>
                  </a:tcPr>
                </a:tc>
                <a:tc>
                  <a:txBody>
                    <a:bodyPr/>
                    <a:lstStyle/>
                    <a:p>
                      <a:pPr>
                        <a:defRPr sz="1200">
                          <a:solidFill>
                            <a:srgbClr val="121C1F"/>
                          </a:solidFill>
                          <a:latin typeface="Yu Gothic"/>
                        </a:defRPr>
                      </a:pPr>
                      <a:r>
                        <a:t>2026-08-04</a:t>
                      </a:r>
                    </a:p>
                  </a:txBody>
                  <a:tcPr>
                    <a:solidFill>
                      <a:srgbClr val="F0F7F4"/>
                    </a:solidFill>
                  </a:tcPr>
                </a:tc>
                <a:tc>
                  <a:txBody>
                    <a:bodyPr/>
                    <a:lstStyle/>
                    <a:p>
                      <a:pPr>
                        <a:defRPr sz="1200">
                          <a:solidFill>
                            <a:srgbClr val="121C1F"/>
                          </a:solidFill>
                          <a:latin typeface="Yu Gothic"/>
                        </a:defRPr>
                      </a:pPr>
                      <a:r>
                        <a:t>同ニュースの掲載・議論のまとめ</a:t>
                      </a:r>
                    </a:p>
                  </a:txBody>
                  <a:tcPr>
                    <a:solidFill>
                      <a:srgbClr val="F0F7F4"/>
                    </a:solidFill>
                  </a:tcPr>
                </a:tc>
              </a:tr>
              <a:tr h="502920">
                <a:tc>
                  <a:txBody>
                    <a:bodyPr/>
                    <a:lstStyle/>
                    <a:p>
                      <a:pPr>
                        <a:defRPr sz="1200">
                          <a:solidFill>
                            <a:srgbClr val="121C1F"/>
                          </a:solidFill>
                          <a:latin typeface="Yu Gothic"/>
                        </a:defRPr>
                      </a:pPr>
                      <a:r>
                        <a:t>TechRadar</a:t>
                      </a:r>
                    </a:p>
                  </a:txBody>
                  <a:tcPr>
                    <a:solidFill>
                      <a:srgbClr val="FFFFFF"/>
                    </a:solidFill>
                  </a:tcPr>
                </a:tc>
                <a:tc>
                  <a:txBody>
                    <a:bodyPr/>
                    <a:lstStyle/>
                    <a:p>
                      <a:pPr>
                        <a:defRPr sz="1200">
                          <a:solidFill>
                            <a:srgbClr val="121C1F"/>
                          </a:solidFill>
                          <a:latin typeface="Yu Gothic"/>
                        </a:defRPr>
                      </a:pPr>
                      <a:r>
                        <a:t>2026-08-04</a:t>
                      </a:r>
                    </a:p>
                  </a:txBody>
                  <a:tcPr>
                    <a:solidFill>
                      <a:srgbClr val="FFFFFF"/>
                    </a:solidFill>
                  </a:tcPr>
                </a:tc>
                <a:tc>
                  <a:txBody>
                    <a:bodyPr/>
                    <a:lstStyle/>
                    <a:p>
                      <a:pPr>
                        <a:defRPr sz="1200">
                          <a:solidFill>
                            <a:srgbClr val="121C1F"/>
                          </a:solidFill>
                          <a:latin typeface="Yu Gothic"/>
                        </a:defRPr>
                      </a:pPr>
                      <a:r>
                        <a:t>'Tokenmaxxing is not what we are optimizing for': Microsoft tells engineer to calm down on AI usage</a:t>
                      </a:r>
                    </a:p>
                  </a:txBody>
                  <a:tcPr>
                    <a:solidFill>
                      <a:srgbClr val="FFFFFF"/>
                    </a:solidFill>
                  </a:tcPr>
                </a:tc>
              </a:tr>
              <a:tr h="502920">
                <a:tc>
                  <a:txBody>
                    <a:bodyPr/>
                    <a:lstStyle/>
                    <a:p>
                      <a:pPr>
                        <a:defRPr sz="1200">
                          <a:solidFill>
                            <a:srgbClr val="121C1F"/>
                          </a:solidFill>
                          <a:latin typeface="Yu Gothic"/>
                        </a:defRPr>
                      </a:pPr>
                      <a:r>
                        <a:t>The Next Web</a:t>
                      </a:r>
                    </a:p>
                  </a:txBody>
                  <a:tcPr>
                    <a:solidFill>
                      <a:srgbClr val="F0F7F4"/>
                    </a:solidFill>
                  </a:tcPr>
                </a:tc>
                <a:tc>
                  <a:txBody>
                    <a:bodyPr/>
                    <a:lstStyle/>
                    <a:p>
                      <a:pPr>
                        <a:defRPr sz="1200">
                          <a:solidFill>
                            <a:srgbClr val="121C1F"/>
                          </a:solidFill>
                          <a:latin typeface="Yu Gothic"/>
                        </a:defRPr>
                      </a:pPr>
                      <a:r>
                        <a:t>2026-08-04</a:t>
                      </a:r>
                    </a:p>
                  </a:txBody>
                  <a:tcPr>
                    <a:solidFill>
                      <a:srgbClr val="F0F7F4"/>
                    </a:solidFill>
                  </a:tcPr>
                </a:tc>
                <a:tc>
                  <a:txBody>
                    <a:bodyPr/>
                    <a:lstStyle/>
                    <a:p>
                      <a:pPr>
                        <a:defRPr sz="1200">
                          <a:solidFill>
                            <a:srgbClr val="121C1F"/>
                          </a:solidFill>
                          <a:latin typeface="Yu Gothic"/>
                        </a:defRPr>
                      </a:pPr>
                      <a:r>
                        <a:t>Microsoft tokenmaxxing AI spending limits</a:t>
                      </a:r>
                    </a:p>
                  </a:txBody>
                  <a:tcPr>
                    <a:solidFill>
                      <a:srgbClr val="F0F7F4"/>
                    </a:solidFill>
                  </a:tcPr>
                </a:tc>
              </a:tr>
              <a:tr h="502920">
                <a:tc>
                  <a:txBody>
                    <a:bodyPr/>
                    <a:lstStyle/>
                    <a:p>
                      <a:pPr>
                        <a:defRPr sz="1200">
                          <a:solidFill>
                            <a:srgbClr val="121C1F"/>
                          </a:solidFill>
                          <a:latin typeface="Yu Gothic"/>
                        </a:defRPr>
                      </a:pPr>
                      <a:r>
                        <a:t>AI Weekly</a:t>
                      </a:r>
                    </a:p>
                  </a:txBody>
                  <a:tcPr>
                    <a:solidFill>
                      <a:srgbClr val="FFFFFF"/>
                    </a:solidFill>
                  </a:tcPr>
                </a:tc>
                <a:tc>
                  <a:txBody>
                    <a:bodyPr/>
                    <a:lstStyle/>
                    <a:p>
                      <a:pPr>
                        <a:defRPr sz="1200">
                          <a:solidFill>
                            <a:srgbClr val="121C1F"/>
                          </a:solidFill>
                          <a:latin typeface="Yu Gothic"/>
                        </a:defRPr>
                      </a:pPr>
                      <a:r>
                        <a:t>2026-08-04</a:t>
                      </a:r>
                    </a:p>
                  </a:txBody>
                  <a:tcPr>
                    <a:solidFill>
                      <a:srgbClr val="FFFFFF"/>
                    </a:solidFill>
                  </a:tcPr>
                </a:tc>
                <a:tc>
                  <a:txBody>
                    <a:bodyPr/>
                    <a:lstStyle/>
                    <a:p>
                      <a:pPr>
                        <a:defRPr sz="1200">
                          <a:solidFill>
                            <a:srgbClr val="121C1F"/>
                          </a:solidFill>
                          <a:latin typeface="Yu Gothic"/>
                        </a:defRPr>
                      </a:pPr>
                      <a:r>
                        <a:t>Microsoft caps engineer AI token budgets, defaults to GPT-5.6</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AIを売り込む側の企業自身が、AIコストとどう向き合うのか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答えを断定せず、確認できたこと・できなかったことを区別しながら、開かれた問いとして注目していきましょう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Microsoft幹部Jay Parikh氏が社内メールで、2026年7月からのAIトークン予算目標の運用を通達した</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「トークン数を減らすことではなく、1トークンあたりのインパクトを最大化する」という発言が核心</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社内デフォルトAIモデルをより安価とされるGPT-5.6に切替。詳細な削減効果は未確認</a:t>
            </a:r>
          </a:p>
        </p:txBody>
      </p:sp>
      <p:sp>
        <p:nvSpPr>
          <p:cNvPr id="12" name="Oval 11"/>
          <p:cNvSpPr/>
          <p:nvPr/>
        </p:nvSpPr>
        <p:spPr>
          <a:xfrm>
            <a:off x="457200" y="38130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同じ「tokenmaxxing」という言葉を使った既存テーマ(Weave社)とは別の新しい事象であることを開示した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404 Media(2026-08-04)ほか｜定期実行142本目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