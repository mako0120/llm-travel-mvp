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2026年8月10日から11日にかけて、NVIDIAが、ウォール街大手6社とAIインフラ向けに5,000億ドル超を調達するための覚書を締結したと発表しました。今日はこの発表の中身を、出典付きで整理してお伝えします。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まず結論です。NVIDIAが、ウォール街の大手6社と、AIインフラ向けに5,000億ドル超を調達するための覚書を締結したと発表しました。段階の話であることは、この後きちんと整理します。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この動画を見ると、5,000億ドルという規模と参加企業の顔ぶれ、覚書と確定融資の違い、コンピュート資産を担保にする新しい発想の3点が分かるようになります。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このテーマを扱う理由は3つです。着手日から1〜2日前という新しさ、5,000億ドルという桁の大きさ、そしてウォール街大手6社全社が応じたという意外性です。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今日はこの5つの流れでお伝えします。専門用語をかみ砕きながら、確定している事実と、まだ確定していない部分をはっきり分けて整理します。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まず全体像です。NVIDIAが、ウォール街の資産運用・投資銀行大手6社と、AIインフラ向けに5,000億ドル超を調達するための覚書を締結したという構図です。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報道され方を見ると、Bloombergが第一報を伝え、CNBCがフアンCEOへのインタビューを交えて報道したほか、Fortune、Axios、CNN Businessも同時期に取り上げています。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時系列にするとこうです。2026年8月10日にBloombergが第一報を伝え、翌11日にCNBCがフアンCEOへのインタビューを報じ、同時期に複数のメディアが追随しました。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『覚書(MOU)』とは、当事者間の合意事項を確認する文書のことです。最終的な契約とは異なり、詳細条件は今後詰める段階を指すことが多く、本件も覚書段階であることに注意が必要です。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AIインフラには、大規模なGPUサーバー群とデータセンター設備への巨額の投資が必要です。自己資金だけでは賄いきれなくなり、外部から大規模な資金を調達する動きが広がっています。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コンピュート資産の資金化とは、GPUサーバー群やデータセンター設備を、商業用不動産や有料道路のような『投資可能な資産』として扱い、それを担保に資金を借り入れる仕組みのことです。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あらためて規模を確認します。NVIDIAがウォール街大手6社と締結した覚書は、AIインフラ向けに5,000億ドル超を調達することを目指すものです。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参加した6社です。Apollo Global Management、BlackRock、Blackstone、Brookfield Asset Management、Goldman Sachs、KKRという、ウォール街を代表する資産運用会社・投資銀行が名を連ねています。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ジェンスン・フアンCEOはCNBCのインタビューで、この資金調達についてこの6社にのみ声をかけ、全社が応じたと述べています。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資金調達の枠組みを整理すると、コンピュートインフラを商業用不動産のような資産として位置づけ、それを担保に資金を借り入れ、AIインフラ向けに供給するという想定です。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資金調達の考え方を比べるとこうなります。従来型は企業の信用力に基づく社債が中心ですが、今回の枠組みはコンピュートインフラ自体を担保として位置づける発想です。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想定される資金の供給先は3つに整理できます。フロンティアAI研究所、AI関連企業、そしてクラウドプロバイダーです。ただし具体的な配分先の詳細は不明です。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ここまでの数字をカードで振り返ります。5,000億ドル超の規模、参加した6社、覚書という契約の段階、5つの主要メディアが報じたこと。この4つが今回の発表の骨格です。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5,000億ドルという数字を読むときの重要な注意点です。今回は覚書の段階であり、全額が即座に融資・調達されることが確定しているわけではありません。具体的な融資条件も不明です。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覚書と確定した融資の違いを表で整理しました。今回の発表は前者の段階であり、後者の具体条件が確定した情報は本調査の範囲では確認できていません。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ここで事実・推測・不明を整理します。参加企業や発表の枠組みは検証済みの事実ですが、その先の具体的な条件・配分は現時点では確認できておらず、不明として扱っています。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確認できなかったことを4点、一覧にしました。数字を作らず、正直に不明として扱っています。特に各社の個別出資額や具体的な配分先は、本調査の範囲では確認できていません。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この発表から確認すべきことです。覚書の段階であること、続報で確定した融資条件が出るか、資金の実際の配分先、この3つを意識して見ていくことを勧めます。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立場別に整理すると、投資家・業界観察者は続報を継続確認すること、企業は新しい資金調達手法の広がりとして捉えること、一般の読者は確定額と誤解しないこと、それぞれ実践的な示唆があります。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違いを明示します。7月28日発表の既存テーマはNVIDIA・OpenAIによるオハイオ州の特定データセンター向けの協議でしたが、今回はウォール街6社との、特定施設に紐づかない資金調達の枠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2つのテーマを並べるとこうです。当事者・対象・規模のすべてが異なる別の発表であることが分かります。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本テーマを扱う方針です。特定企業・製品の利用を推奨する結論にはせず、政治的な争点には踏み込まず、5,000億ドルが覚書段階の数字であることを繰り返し明示しています。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最後にもう一度数字で確認します。5つの独立した情報源が、同じ時期にこの発表を報じました。単発の噂ではなく、複数の裏付けがある話題であることが分かります。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NVIDIAがウォール街大手6社と5,000億ドル超のAIインフラ資金調達の覚書を締結した発表をお伝えしました。数字を鵜呑みにせず、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AIチップが、不動産になった日。</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NVIDIAが、ウォール街大手6社と5,000億ドル超のAIインフラ資金調達で覚書(MOU)を締結——2026年8月10〜11日発表の要点を出典付きで整理する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Bloomberg / CNBC / Fortune ほか(2026-08-10〜11)。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結論を先に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5,000億ドル超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NVIDIAが、Apollo・BlackRock・Blackstone・Brookfield・Goldman Sachs・KKRのウォール街6社とAIインフラ向け資金調達の覚書(MOU)を締結</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Bloomberg / CNBC(2026-08-10〜11)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今日お伝えする内容です。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5,000億ドルという規模と、参加した6社の顔ぶれが分かる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「覚書(MOU)」とは何か、確定した融資と何が違うのかが分かる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コンピュート資産を担保にする、という新しい資金調達の発想が分かる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 / CNBC(2026-08-10〜11)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2026年8月10〜11日発表で、着手日から1〜2日前という新しい話題である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5,000億ドルという桁の大きさが具体的なフックになる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ウォール街大手6社全社が応じたという意外性がある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 / CNBC(2026-08-10〜11)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この発表とは何か・なぜ今話題なのか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基礎知識(覚書とは・コンピュート資産の資金化とは)</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参加企業と資金調達の枠組みを深掘り</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覚書段階であり確定した融資ではない点を確認</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既存の類似テーマとの違いと、確認できなかったこと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何が起きたのか(概念図)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NVIDIA</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AIチップを供給する半導体企業</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ウォール街大手6社</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Apollo・BlackRock・Blackstone・Brookfield・Goldman Sachs・KKR</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5,000億ドル超のMOU</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AIインフラ向け資金調達の覚書を締結</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NVIDIAが、ウォール街の資産運用・投資銀行大手6社とAIインフラ資金調達の覚書を締結したという構図として報じられている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報道した主なメディア</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2A2E"/>
                    </a:solidFill>
                  </a:tcPr>
                </a:tc>
                <a:tc>
                  <a:txBody>
                    <a:bodyPr/>
                    <a:lstStyle/>
                    <a:p>
                      <a:pPr>
                        <a:defRPr sz="1300" b="1">
                          <a:solidFill>
                            <a:srgbClr val="FFFFFF"/>
                          </a:solidFill>
                          <a:latin typeface="Yu Gothic"/>
                        </a:defRPr>
                      </a:pPr>
                      <a:r>
                        <a:t>見出しの要旨</a:t>
                      </a:r>
                    </a:p>
                  </a:txBody>
                  <a:tcPr>
                    <a:solidFill>
                      <a:srgbClr val="1B2A2E"/>
                    </a:solidFill>
                  </a:tcPr>
                </a:tc>
              </a:tr>
              <a:tr h="502920">
                <a:tc>
                  <a:txBody>
                    <a:bodyPr/>
                    <a:lstStyle/>
                    <a:p>
                      <a:pPr>
                        <a:defRPr sz="1200">
                          <a:solidFill>
                            <a:srgbClr val="121C1F"/>
                          </a:solidFill>
                          <a:latin typeface="Yu Gothic"/>
                        </a:defRPr>
                      </a:pPr>
                      <a:r>
                        <a:t>Bloomberg</a:t>
                      </a:r>
                    </a:p>
                  </a:txBody>
                  <a:tcPr>
                    <a:solidFill>
                      <a:srgbClr val="FFFFFF"/>
                    </a:solidFill>
                  </a:tcPr>
                </a:tc>
                <a:tc>
                  <a:txBody>
                    <a:bodyPr/>
                    <a:lstStyle/>
                    <a:p>
                      <a:pPr>
                        <a:defRPr sz="1200">
                          <a:solidFill>
                            <a:srgbClr val="121C1F"/>
                          </a:solidFill>
                          <a:latin typeface="Yu Gothic"/>
                        </a:defRPr>
                      </a:pPr>
                      <a:r>
                        <a:t>「Nvidia Taps Wall Street for $500 Billion Funding Commitment」</a:t>
                      </a:r>
                    </a:p>
                  </a:txBody>
                  <a:tcPr>
                    <a:solidFill>
                      <a:srgbClr val="FFFFFF"/>
                    </a:solidFill>
                  </a:tcPr>
                </a:tc>
              </a:tr>
              <a:tr h="502920">
                <a:tc>
                  <a:txBody>
                    <a:bodyPr/>
                    <a:lstStyle/>
                    <a:p>
                      <a:pPr>
                        <a:defRPr sz="1200">
                          <a:solidFill>
                            <a:srgbClr val="121C1F"/>
                          </a:solidFill>
                          <a:latin typeface="Yu Gothic"/>
                        </a:defRPr>
                      </a:pPr>
                      <a:r>
                        <a:t>CNBC</a:t>
                      </a:r>
                    </a:p>
                  </a:txBody>
                  <a:tcPr>
                    <a:solidFill>
                      <a:srgbClr val="F0F7F4"/>
                    </a:solidFill>
                  </a:tcPr>
                </a:tc>
                <a:tc>
                  <a:txBody>
                    <a:bodyPr/>
                    <a:lstStyle/>
                    <a:p>
                      <a:pPr>
                        <a:defRPr sz="1200">
                          <a:solidFill>
                            <a:srgbClr val="121C1F"/>
                          </a:solidFill>
                          <a:latin typeface="Yu Gothic"/>
                        </a:defRPr>
                      </a:pPr>
                      <a:r>
                        <a:t>フアンCEOへのインタビューを含めて報道</a:t>
                      </a:r>
                    </a:p>
                  </a:txBody>
                  <a:tcPr>
                    <a:solidFill>
                      <a:srgbClr val="F0F7F4"/>
                    </a:solidFill>
                  </a:tcPr>
                </a:tc>
              </a:tr>
              <a:tr h="502920">
                <a:tc>
                  <a:txBody>
                    <a:bodyPr/>
                    <a:lstStyle/>
                    <a:p>
                      <a:pPr>
                        <a:defRPr sz="1200">
                          <a:solidFill>
                            <a:srgbClr val="121C1F"/>
                          </a:solidFill>
                          <a:latin typeface="Yu Gothic"/>
                        </a:defRPr>
                      </a:pPr>
                      <a:r>
                        <a:t>Fortune</a:t>
                      </a:r>
                    </a:p>
                  </a:txBody>
                  <a:tcPr>
                    <a:solidFill>
                      <a:srgbClr val="FFFFFF"/>
                    </a:solidFill>
                  </a:tcPr>
                </a:tc>
                <a:tc>
                  <a:txBody>
                    <a:bodyPr/>
                    <a:lstStyle/>
                    <a:p>
                      <a:pPr>
                        <a:defRPr sz="1200">
                          <a:solidFill>
                            <a:srgbClr val="121C1F"/>
                          </a:solidFill>
                          <a:latin typeface="Yu Gothic"/>
                        </a:defRPr>
                      </a:pPr>
                      <a:r>
                        <a:t>資金調達の枠組みを解説</a:t>
                      </a:r>
                    </a:p>
                  </a:txBody>
                  <a:tcPr>
                    <a:solidFill>
                      <a:srgbClr val="FFFFFF"/>
                    </a:solidFill>
                  </a:tcPr>
                </a:tc>
              </a:tr>
              <a:tr h="502920">
                <a:tc>
                  <a:txBody>
                    <a:bodyPr/>
                    <a:lstStyle/>
                    <a:p>
                      <a:pPr>
                        <a:defRPr sz="1200">
                          <a:solidFill>
                            <a:srgbClr val="121C1F"/>
                          </a:solidFill>
                          <a:latin typeface="Yu Gothic"/>
                        </a:defRPr>
                      </a:pPr>
                      <a:r>
                        <a:t>Axios</a:t>
                      </a:r>
                    </a:p>
                  </a:txBody>
                  <a:tcPr>
                    <a:solidFill>
                      <a:srgbClr val="F0F7F4"/>
                    </a:solidFill>
                  </a:tcPr>
                </a:tc>
                <a:tc>
                  <a:txBody>
                    <a:bodyPr/>
                    <a:lstStyle/>
                    <a:p>
                      <a:pPr>
                        <a:defRPr sz="1200">
                          <a:solidFill>
                            <a:srgbClr val="121C1F"/>
                          </a:solidFill>
                          <a:latin typeface="Yu Gothic"/>
                        </a:defRPr>
                      </a:pPr>
                      <a:r>
                        <a:t>パートナーシップとして報道</a:t>
                      </a:r>
                    </a:p>
                  </a:txBody>
                  <a:tcPr>
                    <a:solidFill>
                      <a:srgbClr val="F0F7F4"/>
                    </a:solidFill>
                  </a:tcPr>
                </a:tc>
              </a:tr>
              <a:tr h="502920">
                <a:tc>
                  <a:txBody>
                    <a:bodyPr/>
                    <a:lstStyle/>
                    <a:p>
                      <a:pPr>
                        <a:defRPr sz="1200">
                          <a:solidFill>
                            <a:srgbClr val="121C1F"/>
                          </a:solidFill>
                          <a:latin typeface="Yu Gothic"/>
                        </a:defRPr>
                      </a:pPr>
                      <a:r>
                        <a:t>CNN Business</a:t>
                      </a:r>
                    </a:p>
                  </a:txBody>
                  <a:tcPr>
                    <a:solidFill>
                      <a:srgbClr val="FFFFFF"/>
                    </a:solidFill>
                  </a:tcPr>
                </a:tc>
                <a:tc>
                  <a:txBody>
                    <a:bodyPr/>
                    <a:lstStyle/>
                    <a:p>
                      <a:pPr>
                        <a:defRPr sz="1200">
                          <a:solidFill>
                            <a:srgbClr val="121C1F"/>
                          </a:solidFill>
                          <a:latin typeface="Yu Gothic"/>
                        </a:defRPr>
                      </a:pPr>
                      <a:r>
                        <a:t>同時期に報道</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各社(2026-08-10〜11)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時系列</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2026年8月10日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Bloombergが第一報を報道</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2026年8月11日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CNBCがフアンCEOへのインタビューを報道</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同時期</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Fortune・Axios・CNN Businessなど複数メディアが追随報道</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基礎知識:「覚書(MOU)」とは(初心者向け)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専門用語を1つずつ解説します。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MOU(Memorandum of Understanding)は、当事者間の合意事項を確認する文書</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法的拘束力のある契約(最終契約)とは異なり、詳細条件は今後詰める段階を指すことが多い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本件も覚書段階であり、5,000億ドル全額が即座に融資・調達される確約ではない可能性がある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 / CNBC(2026-08-10〜11)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基礎知識:なぜAIインフラに巨額の資金が必要なのか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もう1つの重要な前提です。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AIモデルの学習・推論には大規模なGPUサーバー群とデータセンター設備が必要になる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設備投資の規模が拡大し、自己資金・従来型の社債だけでは賄いきれなくなっているとされる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その結果、外部の資産運用会社・投資銀行から大規模な資金を調達する動きが広がっている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CNBC / Fortune(2026-08-10〜11)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基礎知識:コンピュート資産の証券化・資金化とは(概念図)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コンピュートインフラ</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GPUサーバー群・データセンター設備</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投資可能な資産として扱う</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商業用不動産や有料道路のような資産と同様に位置づける</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それを担保に資金を借り入れる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資産運用会社・投資銀行から資金を調達する仕組み</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コンピュートインフラを商業用不動産や有料道路のような資産と同様に扱い、それを担保に資金を借り入れる仕組みを想定しているとされる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調達を目指す規模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5,000億ドル超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AIインフラ向けに調達を目指すとされる金額。ウォール街大手6社との覚書段階の数字である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Bloomberg / CNBC(2026-08-10〜11)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参加した6社</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企業名</a:t>
                      </a:r>
                    </a:p>
                  </a:txBody>
                  <a:tcPr>
                    <a:solidFill>
                      <a:srgbClr val="1B2A2E"/>
                    </a:solidFill>
                  </a:tcPr>
                </a:tc>
                <a:tc>
                  <a:txBody>
                    <a:bodyPr/>
                    <a:lstStyle/>
                    <a:p>
                      <a:pPr>
                        <a:defRPr sz="1300" b="1">
                          <a:solidFill>
                            <a:srgbClr val="FFFFFF"/>
                          </a:solidFill>
                          <a:latin typeface="Yu Gothic"/>
                        </a:defRPr>
                      </a:pPr>
                      <a:r>
                        <a:t>分野</a:t>
                      </a:r>
                    </a:p>
                  </a:txBody>
                  <a:tcPr>
                    <a:solidFill>
                      <a:srgbClr val="1B2A2E"/>
                    </a:solidFill>
                  </a:tcPr>
                </a:tc>
              </a:tr>
              <a:tr h="502920">
                <a:tc>
                  <a:txBody>
                    <a:bodyPr/>
                    <a:lstStyle/>
                    <a:p>
                      <a:pPr>
                        <a:defRPr sz="1200">
                          <a:solidFill>
                            <a:srgbClr val="121C1F"/>
                          </a:solidFill>
                          <a:latin typeface="Yu Gothic"/>
                        </a:defRPr>
                      </a:pPr>
                      <a:r>
                        <a:t>Apollo Global Management</a:t>
                      </a:r>
                    </a:p>
                  </a:txBody>
                  <a:tcPr>
                    <a:solidFill>
                      <a:srgbClr val="FFFFFF"/>
                    </a:solidFill>
                  </a:tcPr>
                </a:tc>
                <a:tc>
                  <a:txBody>
                    <a:bodyPr/>
                    <a:lstStyle/>
                    <a:p>
                      <a:pPr>
                        <a:defRPr sz="1200">
                          <a:solidFill>
                            <a:srgbClr val="121C1F"/>
                          </a:solidFill>
                          <a:latin typeface="Yu Gothic"/>
                        </a:defRPr>
                      </a:pPr>
                      <a:r>
                        <a:t>資産運用会社</a:t>
                      </a:r>
                    </a:p>
                  </a:txBody>
                  <a:tcPr>
                    <a:solidFill>
                      <a:srgbClr val="FFFFFF"/>
                    </a:solidFill>
                  </a:tcPr>
                </a:tc>
              </a:tr>
              <a:tr h="502920">
                <a:tc>
                  <a:txBody>
                    <a:bodyPr/>
                    <a:lstStyle/>
                    <a:p>
                      <a:pPr>
                        <a:defRPr sz="1200">
                          <a:solidFill>
                            <a:srgbClr val="121C1F"/>
                          </a:solidFill>
                          <a:latin typeface="Yu Gothic"/>
                        </a:defRPr>
                      </a:pPr>
                      <a:r>
                        <a:t>BlackRock</a:t>
                      </a:r>
                    </a:p>
                  </a:txBody>
                  <a:tcPr>
                    <a:solidFill>
                      <a:srgbClr val="F0F7F4"/>
                    </a:solidFill>
                  </a:tcPr>
                </a:tc>
                <a:tc>
                  <a:txBody>
                    <a:bodyPr/>
                    <a:lstStyle/>
                    <a:p>
                      <a:pPr>
                        <a:defRPr sz="1200">
                          <a:solidFill>
                            <a:srgbClr val="121C1F"/>
                          </a:solidFill>
                          <a:latin typeface="Yu Gothic"/>
                        </a:defRPr>
                      </a:pPr>
                      <a:r>
                        <a:t>資産運用会社</a:t>
                      </a:r>
                    </a:p>
                  </a:txBody>
                  <a:tcPr>
                    <a:solidFill>
                      <a:srgbClr val="F0F7F4"/>
                    </a:solidFill>
                  </a:tcPr>
                </a:tc>
              </a:tr>
              <a:tr h="502920">
                <a:tc>
                  <a:txBody>
                    <a:bodyPr/>
                    <a:lstStyle/>
                    <a:p>
                      <a:pPr>
                        <a:defRPr sz="1200">
                          <a:solidFill>
                            <a:srgbClr val="121C1F"/>
                          </a:solidFill>
                          <a:latin typeface="Yu Gothic"/>
                        </a:defRPr>
                      </a:pPr>
                      <a:r>
                        <a:t>Blackstone</a:t>
                      </a:r>
                    </a:p>
                  </a:txBody>
                  <a:tcPr>
                    <a:solidFill>
                      <a:srgbClr val="FFFFFF"/>
                    </a:solidFill>
                  </a:tcPr>
                </a:tc>
                <a:tc>
                  <a:txBody>
                    <a:bodyPr/>
                    <a:lstStyle/>
                    <a:p>
                      <a:pPr>
                        <a:defRPr sz="1200">
                          <a:solidFill>
                            <a:srgbClr val="121C1F"/>
                          </a:solidFill>
                          <a:latin typeface="Yu Gothic"/>
                        </a:defRPr>
                      </a:pPr>
                      <a:r>
                        <a:t>資産運用会社</a:t>
                      </a:r>
                    </a:p>
                  </a:txBody>
                  <a:tcPr>
                    <a:solidFill>
                      <a:srgbClr val="FFFFFF"/>
                    </a:solidFill>
                  </a:tcPr>
                </a:tc>
              </a:tr>
              <a:tr h="502920">
                <a:tc>
                  <a:txBody>
                    <a:bodyPr/>
                    <a:lstStyle/>
                    <a:p>
                      <a:pPr>
                        <a:defRPr sz="1200">
                          <a:solidFill>
                            <a:srgbClr val="121C1F"/>
                          </a:solidFill>
                          <a:latin typeface="Yu Gothic"/>
                        </a:defRPr>
                      </a:pPr>
                      <a:r>
                        <a:t>Brookfield Asset Management</a:t>
                      </a:r>
                    </a:p>
                  </a:txBody>
                  <a:tcPr>
                    <a:solidFill>
                      <a:srgbClr val="F0F7F4"/>
                    </a:solidFill>
                  </a:tcPr>
                </a:tc>
                <a:tc>
                  <a:txBody>
                    <a:bodyPr/>
                    <a:lstStyle/>
                    <a:p>
                      <a:pPr>
                        <a:defRPr sz="1200">
                          <a:solidFill>
                            <a:srgbClr val="121C1F"/>
                          </a:solidFill>
                          <a:latin typeface="Yu Gothic"/>
                        </a:defRPr>
                      </a:pPr>
                      <a:r>
                        <a:t>資産運用会社</a:t>
                      </a:r>
                    </a:p>
                  </a:txBody>
                  <a:tcPr>
                    <a:solidFill>
                      <a:srgbClr val="F0F7F4"/>
                    </a:solidFill>
                  </a:tcPr>
                </a:tc>
              </a:tr>
              <a:tr h="502920">
                <a:tc>
                  <a:txBody>
                    <a:bodyPr/>
                    <a:lstStyle/>
                    <a:p>
                      <a:pPr>
                        <a:defRPr sz="1200">
                          <a:solidFill>
                            <a:srgbClr val="121C1F"/>
                          </a:solidFill>
                          <a:latin typeface="Yu Gothic"/>
                        </a:defRPr>
                      </a:pPr>
                      <a:r>
                        <a:t>Goldman Sachs</a:t>
                      </a:r>
                    </a:p>
                  </a:txBody>
                  <a:tcPr>
                    <a:solidFill>
                      <a:srgbClr val="FFFFFF"/>
                    </a:solidFill>
                  </a:tcPr>
                </a:tc>
                <a:tc>
                  <a:txBody>
                    <a:bodyPr/>
                    <a:lstStyle/>
                    <a:p>
                      <a:pPr>
                        <a:defRPr sz="1200">
                          <a:solidFill>
                            <a:srgbClr val="121C1F"/>
                          </a:solidFill>
                          <a:latin typeface="Yu Gothic"/>
                        </a:defRPr>
                      </a:pPr>
                      <a:r>
                        <a:t>投資銀行</a:t>
                      </a:r>
                    </a:p>
                  </a:txBody>
                  <a:tcPr>
                    <a:solidFill>
                      <a:srgbClr val="FFFFFF"/>
                    </a:solidFill>
                  </a:tcPr>
                </a:tc>
              </a:tr>
              <a:tr h="502920">
                <a:tc>
                  <a:txBody>
                    <a:bodyPr/>
                    <a:lstStyle/>
                    <a:p>
                      <a:pPr>
                        <a:defRPr sz="1200">
                          <a:solidFill>
                            <a:srgbClr val="121C1F"/>
                          </a:solidFill>
                          <a:latin typeface="Yu Gothic"/>
                        </a:defRPr>
                      </a:pPr>
                      <a:r>
                        <a:t>KKR</a:t>
                      </a:r>
                    </a:p>
                  </a:txBody>
                  <a:tcPr>
                    <a:solidFill>
                      <a:srgbClr val="F0F7F4"/>
                    </a:solidFill>
                  </a:tcPr>
                </a:tc>
                <a:tc>
                  <a:txBody>
                    <a:bodyPr/>
                    <a:lstStyle/>
                    <a:p>
                      <a:pPr>
                        <a:defRPr sz="1200">
                          <a:solidFill>
                            <a:srgbClr val="121C1F"/>
                          </a:solidFill>
                          <a:latin typeface="Yu Gothic"/>
                        </a:defRPr>
                      </a:pPr>
                      <a:r>
                        <a:t>資産運用会社</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 / CNBC(2026-08-10〜11)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“この資金調達についてはこの6社にのみ声をかけ、全社が応じた。”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FE8DE"/>
                </a:solidFill>
                <a:latin typeface="Yu Gothic"/>
              </a:rPr>
              <a:t>— ジェンスン・フアン氏(NVIDIA CEO)、CNBCインタビューより(2026-08-11)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資金調達の枠組み(担保の考え方)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コンピュートインフラ</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商業用不動産・有料道路のような資産として位置づける</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それを担保にする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資産を裏付けとして資金を借り入れる想定の枠組み</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AIインフラへ供給</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フロンティアAI研究所・企業・クラウドプロバイダーに及ぶとされる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コンピュートインフラを担保に資金を借り入れ、AIインフラ向けに供給する枠組みが想定されているとされる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従来型の資金調達 / 今回想定されている枠組み</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従来型の資金調達</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自己資金や企業の信用に基づく社債発行が中心</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設備投資の規模拡大に資金調達が追いつきにくくなる</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調達額の上限が企業の信用力に左右されやすい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今回想定されている枠組み</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コンピュートインフラ自体を担保に位置づける想定</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商業用不動産や有料道路のような資産として扱う発想</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資産運用会社・投資銀行から大規模な資金を調達しやすくなるとされる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想定される資金の供給先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フロンティアAI研究所</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最先端のAIモデルを開発する研究組織</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AI関連企業</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AIサービス・アプリケーションを手がける企業</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クラウドプロバイダー</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AI向けのコンピュート基盤を提供する事業者</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数字で振り返る今回の発表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00D2A0"/>
                </a:solidFill>
                <a:latin typeface="Yu Gothic"/>
              </a:rPr>
              <a:t>5,000億ドル超</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1B2A2E"/>
                </a:solidFill>
                <a:latin typeface="Yu Gothic"/>
              </a:rPr>
              <a:t>調達を目指す規模</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ウォール街大手6社との覚書段階の数字</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00D2A0"/>
                </a:solidFill>
                <a:latin typeface="Yu Gothic"/>
              </a:rPr>
              <a:t>6社</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1B2A2E"/>
                </a:solidFill>
                <a:latin typeface="Yu Gothic"/>
              </a:rPr>
              <a:t>参加した企業数</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Apollo・BlackRock・Blackstone・Brookfield・Goldman Sachs・KKR</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00D2A0"/>
                </a:solidFill>
                <a:latin typeface="Yu Gothic"/>
              </a:rPr>
              <a:t>MOU</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1B2A2E"/>
                </a:solidFill>
                <a:latin typeface="Yu Gothic"/>
              </a:rPr>
              <a:t>契約の段階</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覚書であり、最終契約・確定融資ではない</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00D2A0"/>
                </a:solidFill>
                <a:latin typeface="Yu Gothic"/>
              </a:rPr>
              <a:t>5媒体</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1B2A2E"/>
                </a:solidFill>
                <a:latin typeface="Yu Gothic"/>
              </a:rPr>
              <a:t>報道した主なメディア数</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Bloomberg・CNBC・Fortune・Axios・CNN Business</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重要な注意点:覚書段階であり、確定した融資ではない</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5,000億ドルという数字を誤解しないための整理です。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今回の発表は「覚書(MOU)」であり、法的拘束力のある最終契約ではない可能性がある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5,000億ドル全額が即座に融資・調達されることが確定しているわけではない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具体的な融資条件(金利・担保の詳細・返済スケジュール等)は不明である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 / CNBC(2026-08-10〜11)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「覚書」と「確定した融資」の違い</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段階</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覚書(MOU、今回の発表)</a:t>
                      </a:r>
                    </a:p>
                  </a:txBody>
                  <a:tcPr>
                    <a:solidFill>
                      <a:srgbClr val="FFFFFF"/>
                    </a:solidFill>
                  </a:tcPr>
                </a:tc>
                <a:tc>
                  <a:txBody>
                    <a:bodyPr/>
                    <a:lstStyle/>
                    <a:p>
                      <a:pPr>
                        <a:defRPr sz="1200">
                          <a:solidFill>
                            <a:srgbClr val="121C1F"/>
                          </a:solidFill>
                          <a:latin typeface="Yu Gothic"/>
                        </a:defRPr>
                      </a:pPr>
                      <a:r>
                        <a:t>当事者間で合意事項を確認する文書。詳細条件は今後詰める段階</a:t>
                      </a:r>
                    </a:p>
                  </a:txBody>
                  <a:tcPr>
                    <a:solidFill>
                      <a:srgbClr val="FFFFFF"/>
                    </a:solidFill>
                  </a:tcPr>
                </a:tc>
              </a:tr>
              <a:tr h="502920">
                <a:tc>
                  <a:txBody>
                    <a:bodyPr/>
                    <a:lstStyle/>
                    <a:p>
                      <a:pPr>
                        <a:defRPr sz="1200">
                          <a:solidFill>
                            <a:srgbClr val="121C1F"/>
                          </a:solidFill>
                          <a:latin typeface="Yu Gothic"/>
                        </a:defRPr>
                      </a:pPr>
                      <a:r>
                        <a:t>最終契約・確定した融資(未確認)</a:t>
                      </a:r>
                    </a:p>
                  </a:txBody>
                  <a:tcPr>
                    <a:solidFill>
                      <a:srgbClr val="F0F7F4"/>
                    </a:solidFill>
                  </a:tcPr>
                </a:tc>
                <a:tc>
                  <a:txBody>
                    <a:bodyPr/>
                    <a:lstStyle/>
                    <a:p>
                      <a:pPr>
                        <a:defRPr sz="1200">
                          <a:solidFill>
                            <a:srgbClr val="121C1F"/>
                          </a:solidFill>
                          <a:latin typeface="Yu Gothic"/>
                        </a:defRPr>
                      </a:pPr>
                      <a:r>
                        <a:t>金利・担保・返済スケジュール等の具体条件が確定した契約</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 / CNBC(2026-08-10〜11)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事実・推測・不明の区別</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分類</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検証済み事実</a:t>
                      </a:r>
                    </a:p>
                  </a:txBody>
                  <a:tcPr>
                    <a:solidFill>
                      <a:srgbClr val="FFFFFF"/>
                    </a:solidFill>
                  </a:tcPr>
                </a:tc>
                <a:tc>
                  <a:txBody>
                    <a:bodyPr/>
                    <a:lstStyle/>
                    <a:p>
                      <a:pPr>
                        <a:defRPr sz="1200">
                          <a:solidFill>
                            <a:srgbClr val="121C1F"/>
                          </a:solidFill>
                          <a:latin typeface="Yu Gothic"/>
                        </a:defRPr>
                      </a:pPr>
                      <a:r>
                        <a:t>NVIDIAとウォール街6社が5,000億ドル超のAIインフラ資金調達MOUを締結・フアンCEOの発言・想定される担保の考え方・想定される供給先</a:t>
                      </a:r>
                    </a:p>
                  </a:txBody>
                  <a:tcPr>
                    <a:solidFill>
                      <a:srgbClr val="FFFFFF"/>
                    </a:solidFill>
                  </a:tcPr>
                </a:tc>
              </a:tr>
              <a:tr h="502920">
                <a:tc>
                  <a:txBody>
                    <a:bodyPr/>
                    <a:lstStyle/>
                    <a:p>
                      <a:pPr>
                        <a:defRPr sz="1200">
                          <a:solidFill>
                            <a:srgbClr val="121C1F"/>
                          </a:solidFill>
                          <a:latin typeface="Yu Gothic"/>
                        </a:defRPr>
                      </a:pPr>
                      <a:r>
                        <a:t>合理的推測</a:t>
                      </a:r>
                    </a:p>
                  </a:txBody>
                  <a:tcPr>
                    <a:solidFill>
                      <a:srgbClr val="F0F7F4"/>
                    </a:solidFill>
                  </a:tcPr>
                </a:tc>
                <a:tc>
                  <a:txBody>
                    <a:bodyPr/>
                    <a:lstStyle/>
                    <a:p>
                      <a:pPr>
                        <a:defRPr sz="1200">
                          <a:solidFill>
                            <a:srgbClr val="121C1F"/>
                          </a:solidFill>
                          <a:latin typeface="Yu Gothic"/>
                        </a:defRPr>
                      </a:pPr>
                      <a:r>
                        <a:t>自己資金だけでは賄いきれない設備投資規模の拡大が資金調達ニーズの背景にあること</a:t>
                      </a:r>
                    </a:p>
                  </a:txBody>
                  <a:tcPr>
                    <a:solidFill>
                      <a:srgbClr val="F0F7F4"/>
                    </a:solidFill>
                  </a:tcPr>
                </a:tc>
              </a:tr>
              <a:tr h="502920">
                <a:tc>
                  <a:txBody>
                    <a:bodyPr/>
                    <a:lstStyle/>
                    <a:p>
                      <a:pPr>
                        <a:defRPr sz="1200">
                          <a:solidFill>
                            <a:srgbClr val="121C1F"/>
                          </a:solidFill>
                          <a:latin typeface="Yu Gothic"/>
                        </a:defRPr>
                      </a:pPr>
                      <a:r>
                        <a:t>不明</a:t>
                      </a:r>
                    </a:p>
                  </a:txBody>
                  <a:tcPr>
                    <a:solidFill>
                      <a:srgbClr val="FFFFFF"/>
                    </a:solidFill>
                  </a:tcPr>
                </a:tc>
                <a:tc>
                  <a:txBody>
                    <a:bodyPr/>
                    <a:lstStyle/>
                    <a:p>
                      <a:pPr>
                        <a:defRPr sz="1200">
                          <a:solidFill>
                            <a:srgbClr val="121C1F"/>
                          </a:solidFill>
                          <a:latin typeface="Yu Gothic"/>
                        </a:defRPr>
                      </a:pPr>
                      <a:r>
                        <a:t>MOUから確定融資への具体的な条件・各社の個別出資額・具体的な配分先プロジェクト</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状況</a:t>
                      </a:r>
                    </a:p>
                  </a:txBody>
                  <a:tcPr>
                    <a:solidFill>
                      <a:srgbClr val="1B2A2E"/>
                    </a:solidFill>
                  </a:tcPr>
                </a:tc>
              </a:tr>
              <a:tr h="502920">
                <a:tc>
                  <a:txBody>
                    <a:bodyPr/>
                    <a:lstStyle/>
                    <a:p>
                      <a:pPr>
                        <a:defRPr sz="1200">
                          <a:solidFill>
                            <a:srgbClr val="121C1F"/>
                          </a:solidFill>
                          <a:latin typeface="Yu Gothic"/>
                        </a:defRPr>
                      </a:pPr>
                      <a:r>
                        <a:t>MOUから最終契約に至る具体的な条件・スケジュール</a:t>
                      </a:r>
                    </a:p>
                  </a:txBody>
                  <a:tcPr>
                    <a:solidFill>
                      <a:srgbClr val="FFFFFF"/>
                    </a:solidFill>
                  </a:tcPr>
                </a:tc>
                <a:tc>
                  <a:txBody>
                    <a:bodyPr/>
                    <a:lstStyle/>
                    <a:p>
                      <a:pPr>
                        <a:defRPr sz="1200">
                          <a:solidFill>
                            <a:srgbClr val="121C1F"/>
                          </a:solidFill>
                          <a:latin typeface="Yu Gothic"/>
                        </a:defRPr>
                      </a:pPr>
                      <a:r>
                        <a:t>本調査の範囲では確認できていない</a:t>
                      </a:r>
                    </a:p>
                  </a:txBody>
                  <a:tcPr>
                    <a:solidFill>
                      <a:srgbClr val="FFFFFF"/>
                    </a:solidFill>
                  </a:tcPr>
                </a:tc>
              </a:tr>
              <a:tr h="502920">
                <a:tc>
                  <a:txBody>
                    <a:bodyPr/>
                    <a:lstStyle/>
                    <a:p>
                      <a:pPr>
                        <a:defRPr sz="1200">
                          <a:solidFill>
                            <a:srgbClr val="121C1F"/>
                          </a:solidFill>
                          <a:latin typeface="Yu Gothic"/>
                        </a:defRPr>
                      </a:pPr>
                      <a:r>
                        <a:t>具体的な融資条件(金利・担保の詳細・返済スケジュール等)</a:t>
                      </a:r>
                    </a:p>
                  </a:txBody>
                  <a:tcPr>
                    <a:solidFill>
                      <a:srgbClr val="F0F7F4"/>
                    </a:solidFill>
                  </a:tcPr>
                </a:tc>
                <a:tc>
                  <a:txBody>
                    <a:bodyPr/>
                    <a:lstStyle/>
                    <a:p>
                      <a:pPr>
                        <a:defRPr sz="1200">
                          <a:solidFill>
                            <a:srgbClr val="121C1F"/>
                          </a:solidFill>
                          <a:latin typeface="Yu Gothic"/>
                        </a:defRPr>
                      </a:pPr>
                      <a:r>
                        <a:t>本調査の範囲では確認できていない</a:t>
                      </a:r>
                    </a:p>
                  </a:txBody>
                  <a:tcPr>
                    <a:solidFill>
                      <a:srgbClr val="F0F7F4"/>
                    </a:solidFill>
                  </a:tcPr>
                </a:tc>
              </a:tr>
              <a:tr h="502920">
                <a:tc>
                  <a:txBody>
                    <a:bodyPr/>
                    <a:lstStyle/>
                    <a:p>
                      <a:pPr>
                        <a:defRPr sz="1200">
                          <a:solidFill>
                            <a:srgbClr val="121C1F"/>
                          </a:solidFill>
                          <a:latin typeface="Yu Gothic"/>
                        </a:defRPr>
                      </a:pPr>
                      <a:r>
                        <a:t>各社(Apollo・BlackRock・Blackstone・Brookfield・Goldman Sachs・KKR)の個別出資額・分担割合</a:t>
                      </a:r>
                    </a:p>
                  </a:txBody>
                  <a:tcPr>
                    <a:solidFill>
                      <a:srgbClr val="FFFFFF"/>
                    </a:solidFill>
                  </a:tcPr>
                </a:tc>
                <a:tc>
                  <a:txBody>
                    <a:bodyPr/>
                    <a:lstStyle/>
                    <a:p>
                      <a:pPr>
                        <a:defRPr sz="1200">
                          <a:solidFill>
                            <a:srgbClr val="121C1F"/>
                          </a:solidFill>
                          <a:latin typeface="Yu Gothic"/>
                        </a:defRPr>
                      </a:pPr>
                      <a:r>
                        <a:t>本調査の範囲では確認できていない</a:t>
                      </a:r>
                    </a:p>
                  </a:txBody>
                  <a:tcPr>
                    <a:solidFill>
                      <a:srgbClr val="FFFFFF"/>
                    </a:solidFill>
                  </a:tcPr>
                </a:tc>
              </a:tr>
              <a:tr h="502920">
                <a:tc>
                  <a:txBody>
                    <a:bodyPr/>
                    <a:lstStyle/>
                    <a:p>
                      <a:pPr>
                        <a:defRPr sz="1200">
                          <a:solidFill>
                            <a:srgbClr val="121C1F"/>
                          </a:solidFill>
                          <a:latin typeface="Yu Gothic"/>
                        </a:defRPr>
                      </a:pPr>
                      <a:r>
                        <a:t>資金が具体的にどのAI研究所・企業・プロジェクトに配分される予定かの詳細</a:t>
                      </a:r>
                    </a:p>
                  </a:txBody>
                  <a:tcPr>
                    <a:solidFill>
                      <a:srgbClr val="F0F7F4"/>
                    </a:solidFill>
                  </a:tcPr>
                </a:tc>
                <a:tc>
                  <a:txBody>
                    <a:bodyPr/>
                    <a:lstStyle/>
                    <a:p>
                      <a:pPr>
                        <a:defRPr sz="1200">
                          <a:solidFill>
                            <a:srgbClr val="121C1F"/>
                          </a:solidFill>
                          <a:latin typeface="Yu Gothic"/>
                        </a:defRPr>
                      </a:pPr>
                      <a:r>
                        <a:t>本調査の範囲では確認できていない</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この発表から何を確認すべきか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契約の段階</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覚書(MOU)であり、確定した融資ではないことを確認する</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続報の有無</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最終契約・具体的な融資条件が発表されるか継続して見る</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配分先</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資金が実際にどの企業・プロジェクトへ配分されるかを確認する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立場別の実践的示唆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投資家・業界観察者として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MOUから最終契約への進展・各社の個別開示を継続して確認する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AIインフラに関心がある企業として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コンピュート資産を担保にする資金調達の広がりを業界動向の一例として捉える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一般の読者として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5,000億ドルという規模を、確定した融資額と誤解しないよう注意する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既存テーマとの違い(オハイオ州データセンター案件)</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似た名前の既存テーマとの違いを明示します。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既存テーマ(2026年7月28日発表)はNVIDIA・OpenAIによるオハイオ州の特定データセンター向け資金保証の協議だった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本テーマ(2026年8月10〜11日発表)は、NVIDIA単独がウォール街の資産運用会社6社と結んだ、特定データセンターに紐づかない資金調達の枠組み(MOU)である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当事者(OpenAIの関与の有無)・規模・契約の性質・発表日がすべて異なる別の発表である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既存テーマ(オハイオ案件) / 本テーマ(ウォール街6社MOU)</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既存テーマ(2026-07-28発表)</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当事者はNVIDIA・OpenAI</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オハイオ州の特定データセンター向け</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規模は2,500億ドル規模</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本テーマ(2026-08-10〜11発表)</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当事者はNVIDIA・ウォール街の資産運用会社等6社(OpenAIは非当事者)</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特定施設に紐づかないAIインフラ全般向けの枠組み</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規模は5,000億ドル超</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本テーマの取り扱い方針</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この発表を扱う上での方針です。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特定企業・製品の利用を強く推奨する結論にはしない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米国の産業政策・金融規制等の政治的な争点には踏み込まず、企業間の資金調達の事実関係のみを扱う</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5,000億ドルという規模を強調しつつも、覚書段階であることを繰り返し明示する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本シリーズの制作方針</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5媒体が同時期に報道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Bloomberg・CNBC・Fortune・Axios・CNN Businessが、独立して同じ発表を報じた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各社(2026-08-10〜11)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主な出典一覧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2A2E"/>
                    </a:solidFill>
                  </a:tcPr>
                </a:tc>
                <a:tc>
                  <a:txBody>
                    <a:bodyPr/>
                    <a:lstStyle/>
                    <a:p>
                      <a:pPr>
                        <a:defRPr sz="1300" b="1">
                          <a:solidFill>
                            <a:srgbClr val="FFFFFF"/>
                          </a:solidFill>
                          <a:latin typeface="Yu Gothic"/>
                        </a:defRPr>
                      </a:pPr>
                      <a:r>
                        <a:t>報道日</a:t>
                      </a:r>
                    </a:p>
                  </a:txBody>
                  <a:tcPr>
                    <a:solidFill>
                      <a:srgbClr val="1B2A2E"/>
                    </a:solidFill>
                  </a:tcPr>
                </a:tc>
              </a:tr>
              <a:tr h="502920">
                <a:tc>
                  <a:txBody>
                    <a:bodyPr/>
                    <a:lstStyle/>
                    <a:p>
                      <a:pPr>
                        <a:defRPr sz="1200">
                          <a:solidFill>
                            <a:srgbClr val="121C1F"/>
                          </a:solidFill>
                          <a:latin typeface="Yu Gothic"/>
                        </a:defRPr>
                      </a:pPr>
                      <a:r>
                        <a:t>Bloomberg</a:t>
                      </a:r>
                    </a:p>
                  </a:txBody>
                  <a:tcPr>
                    <a:solidFill>
                      <a:srgbClr val="FFFFFF"/>
                    </a:solidFill>
                  </a:tcPr>
                </a:tc>
                <a:tc>
                  <a:txBody>
                    <a:bodyPr/>
                    <a:lstStyle/>
                    <a:p>
                      <a:pPr>
                        <a:defRPr sz="1200">
                          <a:solidFill>
                            <a:srgbClr val="121C1F"/>
                          </a:solidFill>
                          <a:latin typeface="Yu Gothic"/>
                        </a:defRPr>
                      </a:pPr>
                      <a:r>
                        <a:t>2026-08-10</a:t>
                      </a:r>
                    </a:p>
                  </a:txBody>
                  <a:tcPr>
                    <a:solidFill>
                      <a:srgbClr val="FFFFFF"/>
                    </a:solidFill>
                  </a:tcPr>
                </a:tc>
              </a:tr>
              <a:tr h="502920">
                <a:tc>
                  <a:txBody>
                    <a:bodyPr/>
                    <a:lstStyle/>
                    <a:p>
                      <a:pPr>
                        <a:defRPr sz="1200">
                          <a:solidFill>
                            <a:srgbClr val="121C1F"/>
                          </a:solidFill>
                          <a:latin typeface="Yu Gothic"/>
                        </a:defRPr>
                      </a:pPr>
                      <a:r>
                        <a:t>CNBC</a:t>
                      </a:r>
                    </a:p>
                  </a:txBody>
                  <a:tcPr>
                    <a:solidFill>
                      <a:srgbClr val="F0F7F4"/>
                    </a:solidFill>
                  </a:tcPr>
                </a:tc>
                <a:tc>
                  <a:txBody>
                    <a:bodyPr/>
                    <a:lstStyle/>
                    <a:p>
                      <a:pPr>
                        <a:defRPr sz="1200">
                          <a:solidFill>
                            <a:srgbClr val="121C1F"/>
                          </a:solidFill>
                          <a:latin typeface="Yu Gothic"/>
                        </a:defRPr>
                      </a:pPr>
                      <a:r>
                        <a:t>2026-08-11</a:t>
                      </a:r>
                    </a:p>
                  </a:txBody>
                  <a:tcPr>
                    <a:solidFill>
                      <a:srgbClr val="F0F7F4"/>
                    </a:solidFill>
                  </a:tcPr>
                </a:tc>
              </a:tr>
              <a:tr h="502920">
                <a:tc>
                  <a:txBody>
                    <a:bodyPr/>
                    <a:lstStyle/>
                    <a:p>
                      <a:pPr>
                        <a:defRPr sz="1200">
                          <a:solidFill>
                            <a:srgbClr val="121C1F"/>
                          </a:solidFill>
                          <a:latin typeface="Yu Gothic"/>
                        </a:defRPr>
                      </a:pPr>
                      <a:r>
                        <a:t>Fortune</a:t>
                      </a:r>
                    </a:p>
                  </a:txBody>
                  <a:tcPr>
                    <a:solidFill>
                      <a:srgbClr val="FFFFFF"/>
                    </a:solidFill>
                  </a:tcPr>
                </a:tc>
                <a:tc>
                  <a:txBody>
                    <a:bodyPr/>
                    <a:lstStyle/>
                    <a:p>
                      <a:pPr>
                        <a:defRPr sz="1200">
                          <a:solidFill>
                            <a:srgbClr val="121C1F"/>
                          </a:solidFill>
                          <a:latin typeface="Yu Gothic"/>
                        </a:defRPr>
                      </a:pPr>
                      <a:r>
                        <a:t>2026-08-10〜11</a:t>
                      </a:r>
                    </a:p>
                  </a:txBody>
                  <a:tcPr>
                    <a:solidFill>
                      <a:srgbClr val="FFFFFF"/>
                    </a:solidFill>
                  </a:tcPr>
                </a:tc>
              </a:tr>
              <a:tr h="502920">
                <a:tc>
                  <a:txBody>
                    <a:bodyPr/>
                    <a:lstStyle/>
                    <a:p>
                      <a:pPr>
                        <a:defRPr sz="1200">
                          <a:solidFill>
                            <a:srgbClr val="121C1F"/>
                          </a:solidFill>
                          <a:latin typeface="Yu Gothic"/>
                        </a:defRPr>
                      </a:pPr>
                      <a:r>
                        <a:t>Axios</a:t>
                      </a:r>
                    </a:p>
                  </a:txBody>
                  <a:tcPr>
                    <a:solidFill>
                      <a:srgbClr val="F0F7F4"/>
                    </a:solidFill>
                  </a:tcPr>
                </a:tc>
                <a:tc>
                  <a:txBody>
                    <a:bodyPr/>
                    <a:lstStyle/>
                    <a:p>
                      <a:pPr>
                        <a:defRPr sz="1200">
                          <a:solidFill>
                            <a:srgbClr val="121C1F"/>
                          </a:solidFill>
                          <a:latin typeface="Yu Gothic"/>
                        </a:defRPr>
                      </a:pPr>
                      <a:r>
                        <a:t>2026-08-10〜11</a:t>
                      </a:r>
                    </a:p>
                  </a:txBody>
                  <a:tcPr>
                    <a:solidFill>
                      <a:srgbClr val="F0F7F4"/>
                    </a:solidFill>
                  </a:tcPr>
                </a:tc>
              </a:tr>
              <a:tr h="502920">
                <a:tc>
                  <a:txBody>
                    <a:bodyPr/>
                    <a:lstStyle/>
                    <a:p>
                      <a:pPr>
                        <a:defRPr sz="1200">
                          <a:solidFill>
                            <a:srgbClr val="121C1F"/>
                          </a:solidFill>
                          <a:latin typeface="Yu Gothic"/>
                        </a:defRPr>
                      </a:pPr>
                      <a:r>
                        <a:t>CNN Business</a:t>
                      </a:r>
                    </a:p>
                  </a:txBody>
                  <a:tcPr>
                    <a:solidFill>
                      <a:srgbClr val="FFFFFF"/>
                    </a:solidFill>
                  </a:tcPr>
                </a:tc>
                <a:tc>
                  <a:txBody>
                    <a:bodyPr/>
                    <a:lstStyle/>
                    <a:p>
                      <a:pPr>
                        <a:defRPr sz="1200">
                          <a:solidFill>
                            <a:srgbClr val="121C1F"/>
                          </a:solidFill>
                          <a:latin typeface="Yu Gothic"/>
                        </a:defRPr>
                      </a:pPr>
                      <a:r>
                        <a:t>2026-08-10〜11</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 / CNBC / Fortune / Axios / CNN Businessほか(2026-08-10〜11報道)｜176本目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5,000億ドルの覚書は、まだ入り口。確定した融資ではないことを忘れずに。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特定企業・製品の利用を強く推奨する結論や、確定していない融資条件への断定は一切行っていません。</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