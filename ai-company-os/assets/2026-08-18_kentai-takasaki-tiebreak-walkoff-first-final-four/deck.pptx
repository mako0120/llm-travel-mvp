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最終得点</c:v>
                </c:pt>
              </c:strCache>
            </c:strRef>
          </c:tx>
          <c:spPr>
            <a:solidFill>
              <a:srgbClr val="1E2761"/>
            </a:solidFill>
          </c:spPr>
          <c:cat>
            <c:strRef>
              <c:f>Sheet1!$A$2:$A$3</c:f>
              <c:strCache>
                <c:ptCount val="2"/>
                <c:pt idx="0">
                  <c:v>健大高崎</c:v>
                </c:pt>
                <c:pt idx="1">
                  <c:v>有明</c:v>
                </c:pt>
              </c:strCache>
            </c:strRef>
          </c:cat>
          <c:val>
            <c:numRef>
              <c:f>Sheet1!$B$2:$B$3</c:f>
              <c:numCache>
                <c:formatCode>General</c:formatCode>
                <c:ptCount val="2"/>
                <c:pt idx="0">
                  <c:v>1</c:v>
                </c:pt>
                <c:pt idx="1">
                  <c:v>0</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夏の甲子園(第108回全国高校野球選手権大会)準々決勝第4試合が行われ、健大高崎(群馬)が有明(熊本)を延長10回タイブレークの末1-0で下しました。健大高崎にとって夏の甲子園史上初のベスト4進出です。今日はこの経過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健大高崎が延長10回タイブレークの末、有明を1-0で下し、夏の甲子園史上初のベスト4進出を決めました。9回までスコアレスの投手戦がどう決着したのか、ここから数字と経過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9回までの投手戦から、延長10回サヨナラの経過、石垣投手の力投、確認できていないことまで、出典付きで正確に整理します。対戦相手・有明高校の結果にも簡潔に触れますが、本テーマの主役は健大高崎の初のベスト4進出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当日という新しさに加え、9回までスコアレスから延長10回タイブレークのサヨナラ勝ちで決着するという劇的な展開があります。ビデオ検証を経ても判定が覆らなかった緊迫した経過も、複数のメディアが一致し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甲子園は夏の全国高校野球選手権大会の通称で、準々決勝はベスト8が対戦しベスト4進出をかけて戦う試合です。健大高崎にとって、今回のベスト4進出は夏の甲子園史上初めての成績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イブレークについて確認します。延長10回に達しても決着がつかない場合、無死1・2塁から攻撃を始める特別ルールです。決着を早め、投手への過度な負担を抑える目的で導入されています。本試合はこのタイブレークの初回、延長10回で決着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回までの流れを、判明している範囲で整理しました。両チームとも9回まで無得点で投手戦が続き、健大高崎は9回に2死満塁のチャンスを作りましたが、代打が三振に倒れ加点できず、延長10回タイブレークに突入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ビデオ検証について確認します。審判の判定に対しチームが映像による再確認を求められる制度です。本試合では延長10回の本塁突入の判定を巡り、有明側が検証を求めましたが、当初の判定は覆らず、健大高崎のサヨナラ勝ちが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9回の攻防を確認します。健大高崎は9回に2死満塁のチャンスを作りましたが、代打が三振に倒れ加点できませんでした。9回を0-0で終え、延長10回タイブレークに突入しています。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延長10回、サヨナラまでの流れです。送りバントで1死二・三塁とした後、2番・石田雄星選手が二塁への内野安打を放ち、三塁走者の代走・藤村勇也選手が本塁へ突入しました。有明側がビデオ検証を求めましたが、判定通りセーフとなり1-0でサヨナラ勝ちが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延長10回の決着プロセスを図にしました。送りバントで1死二・三塁とした後、石田雄星選手が二塁への内野安打を放ち、代走・藤村勇也選手が本塁へ突入。ビデオ検証でもセーフが確定し、この回で決着がつ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延長10回の経過を一覧にしました。送りバントで走者を進め、石田雄星選手の内野安打で代走・藤村勇也選手が本塁へ突入。有明側がビデオ検証を求めましたが判定は覆らず、1-0でサヨナラ勝ちが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延長10回のキープレーを振り返ります。送りバントで1死二・三塁とし、石田雄星選手の内野安打、代走・藤村勇也選手の本塁突入と、それぞれの役割がつながってサヨナラ勝ちにつながりました。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判定を巡る攻防を確認します。本塁突入の判定に対し有明側がビデオ検証を求めましたが、当初の判定通りセーフが確定しました。緊迫した数分間を経て、健大高崎のサヨナラ勝ちが確定しています。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判定への異議と、確定した結果を比べます。有明側は本塁突入のタイミングを巡りビデオ検証を求めましたが、検証の結果、当初の判定は覆らず、健大高崎の1-0でのサヨナラ勝ちが確定しました。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先発の力投を確認します。石垣聡志投手(2年)が延長10回を1人で投げ抜き、110球で完封しました。9回までの無失点に加え、延長10回のタイブレークも無失点に抑えたことがサヨナラ勝ちにつながっています。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石垣聡志投手の投球を数字で見ます。先発として9回から延長10回まで交代なく投げ抜き、総投球数は110球でした。延長戦を含めての完封という結果です。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最終スコアをグラフにしました。健大高崎が1点、有明が0点です。延長10回タイブレークのわずか1点が、9回までの投手戦を制する決定打となりました。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健大高崎にとっての結果を確認します。夏の甲子園史上初のベスト4進出です。9回までの投手戦を延長10回タイブレークのサヨナラ勝ちで制し、達成した記録です。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意味することを整理します。夏の甲子園史上初のベスト4進出は、健大高崎にとって大会通算の記録として位置づけられます。準決勝の日程・対戦相手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戦相手・有明高校の結果も簡潔にお伝えします。準々決勝で健大高崎に延長10回タイブレークの末1-0で敗れ、ベスト4進出はなりませんでした。9回まで無失点に抑える健闘を見せましたが、延長10回で惜しくも決着がつ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ている配慮です。主題はあくまで健大高崎の夏初のベスト4進出であり、有明の敗戦を演出・強調する構成にはしていません。有明については、健闘の末に惜しくも敗れたという中立的な事実のみを簡潔に伝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数字への向き合い方を整理します。1-0という最終スコア、110球完封という確認済みの数字はそのまま伝えますが、出典にない数字や準決勝の日程・対戦相手を推測で埋めることはしません。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確認できていないことを正直にお伝えします。健大高崎のベスト4進出は複数媒体で確認できていますが、準決勝の日程・対戦相手は本調査の範囲では確認できていません。推測では補いません。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石垣投手の投球数についても正直にお伝えします。本試合の110球・延長10回完投は複数媒体で確認できていますが、大会を通じた通算投球回数は本調査の範囲では確認できていません。推測では補いません。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確認の状況を一覧にしました。最終スコア・延長10回の決着経過・石垣投手の110球完封・健大高崎のベスト4進出は複数媒体で確認できていますが、準決勝の日程と石垣投手の大会通算投球回数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視聴者にとっての実践的な示唆をまとめました。高校野球ファンとして、判定・ルールへの関心として、情報を発信する立場として、それぞれで意識したい点です。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スコア・延長10回の決着経過・石垣投手の110球完封・健大高崎のベスト4進出はすべて出典で確認できた事実です。推測はほぼ用いておらず、準決勝の日程等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健大高崎が夏の甲子園準々決勝で有明を延長10回タイブレークの末1-0で下し、史上初のベスト4進出を決めた件をお伝えしました。ビデオ検証を経ても判定が覆らなかった経過と、石垣聡志投手の110球完封も正確に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まさかの決着。健大高崎、延長タイブレークの死闘を制し</a:t>
            </a:r>
          </a:p>
          <a:p>
            <a:pPr algn="l">
              <a:lnSpc>
                <a:spcPct val="115000"/>
              </a:lnSpc>
            </a:pPr>
            <a:r>
              <a:rPr sz="4200" b="1">
                <a:solidFill>
                  <a:srgbClr val="FFFFFF"/>
                </a:solidFill>
                <a:latin typeface="Yu Gothic"/>
              </a:rPr>
              <a:t>夏初のベスト4進出</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9回までスコアレス、延長10回タイブレークの末1-0でサヨナラ勝ち――出典付きで正確に整理してお届けします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スポーツ報知(Yahoo!ニュース配信)・熊本日日新聞(Yahoo!ニュース配信)(2026年8月18日時点)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延長10回1-0でサヨナラ、夏初のベスト4へ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健大高崎(群馬)が有明(熊本)を延長10回タイブレークの末1-0で下し、夏の甲子園史上初のベスト4進出を決めた(2026年8月18日、準々決勝第4試合)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スポーツ報知・熊本日日新聞(Yahoo!ニュース配信、2026-08-18)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甲子園・準々決勝とタイブレークの基礎知識(初心者向け)</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9回までの投手戦、延長10回サヨナラまでの流れ</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延長10回の決着を数字で深掘りする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先発・石垣聡志投手の110球完封を数字で見る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健大高崎にとっての意味、確認できていないこと・出典一覧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準々決勝(2026年8月18日開催)は着手日(同日)当日という、最も新しい形で鮮度基準を満たす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9回までスコアレスの投手戦が、延長10回タイブレークのサヨナラ勝ちで決着するという、劇的な展開である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本塁突入の判定を巡りビデオ検証まで行われ、それでも判定が覆らなかったという緊迫した経過が複数の独立したメディアで一致して報じられている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スポーツ報知・熊本日日新聞(Yahoo!ニュース配信、2026-08-18)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甲子園・準々決勝とは(初心者向け)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『甲子園』は夏に行われる全国高校野球選手権大会(今大会で第108回)の通称。都道府県代表校が出場するトーナメント方式の大会である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『準々決勝』はベスト8の8校が対戦し、勝てばベスト4(準決勝進出)となる試合。今大会で上位にあたる成績である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健大高崎(群馬)にとって、今回のベスト4進出は夏の甲子園史上初めての成績である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『タイブレーク』とは(初心者向け)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もう一つの前提を確認します。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『タイブレーク』は、延長戦が一定回数(現行ルールでは延長10回)に達しても決着がつかない場合に、無死1・2塁の状態から攻撃を始める特別ルールである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決着を早め、投手への過度な負担を抑える目的で導入されている制度である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本試合はこのタイブレークの初回(延長10回)で決着した</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9回までの流れ(判明している範囲)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序盤〜中盤</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両チームとも得点なく、投手戦が続く</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9回、好機</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健大高崎が2死満塁のチャンスを作る</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代打、三振</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代打が三振に倒れ、加点ならず</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延長へ</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9回を終えて0-0、延長10回タイブレークへ</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『ビデオ検証(リクエスト)』とは(初心者向け)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延長10回の決着を理解する前提として確認します。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『ビデオ検証(リクエスト)』は、審判の判定に対しチームが映像による再確認を求められる制度である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本試合では、延長10回の本塁突入の判定を巡り、有明側がビデオ検証を求めた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検証の結果、当初の判定(セーフ)は覆らず、健大高崎のサヨナラ勝ちが確定した</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9回、あと一歩</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2死満塁も、代打三振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健大高崎は9回に2死満塁のチャンスを作ったが、代打が三振に倒れ、9回を0-0で終えた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スポーツ報知・熊本日日新聞(Yahoo!ニュース配信、2026-08-18)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延長10回、サヨナラまでの流れ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送りバント</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1死二・三塁とし、走者を進める</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石田選手、内野安打</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2番・石田雄星選手が二塁への内野安打を放つ</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代走、本塁突入</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三塁走者の代走・藤村勇也選手が本塁へ突入する</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サヨナラ確定</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ビデオ検証でもセーフが確定し、1-0でサヨナラ勝ち</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延長10回、決着のプロセス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送りバントで進塁</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1死二・三塁とする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石田選手の内野安打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二塁への内野安打</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代走・藤村選手が本塁突入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ビデオ検証でもセーフ確定</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延長10回、たった1回の攻撃で決着がついた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スポーツ報知・熊本日日新聞(Yahoo!ニュース配信、2026-08-18)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延長10回の経過サマリー</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局面</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走者を進める</a:t>
                      </a:r>
                    </a:p>
                  </a:txBody>
                  <a:tcPr>
                    <a:solidFill>
                      <a:srgbClr val="FFFFFF"/>
                    </a:solidFill>
                  </a:tcPr>
                </a:tc>
                <a:tc>
                  <a:txBody>
                    <a:bodyPr/>
                    <a:lstStyle/>
                    <a:p>
                      <a:pPr>
                        <a:defRPr sz="1200">
                          <a:solidFill>
                            <a:srgbClr val="1A1A2E"/>
                          </a:solidFill>
                          <a:latin typeface="Yu Gothic"/>
                        </a:defRPr>
                      </a:pPr>
                      <a:r>
                        <a:t>送りバントで1死二・三塁</a:t>
                      </a:r>
                    </a:p>
                  </a:txBody>
                  <a:tcPr>
                    <a:solidFill>
                      <a:srgbClr val="FFFFFF"/>
                    </a:solidFill>
                  </a:tcPr>
                </a:tc>
              </a:tr>
              <a:tr h="502920">
                <a:tc>
                  <a:txBody>
                    <a:bodyPr/>
                    <a:lstStyle/>
                    <a:p>
                      <a:pPr>
                        <a:defRPr sz="1200">
                          <a:solidFill>
                            <a:srgbClr val="1A1A2E"/>
                          </a:solidFill>
                          <a:latin typeface="Yu Gothic"/>
                        </a:defRPr>
                      </a:pPr>
                      <a:r>
                        <a:t>決勝打</a:t>
                      </a:r>
                    </a:p>
                  </a:txBody>
                  <a:tcPr>
                    <a:solidFill>
                      <a:srgbClr val="F3F6FC"/>
                    </a:solidFill>
                  </a:tcPr>
                </a:tc>
                <a:tc>
                  <a:txBody>
                    <a:bodyPr/>
                    <a:lstStyle/>
                    <a:p>
                      <a:pPr>
                        <a:defRPr sz="1200">
                          <a:solidFill>
                            <a:srgbClr val="1A1A2E"/>
                          </a:solidFill>
                          <a:latin typeface="Yu Gothic"/>
                        </a:defRPr>
                      </a:pPr>
                      <a:r>
                        <a:t>石田雄星選手の二塁への内野安打</a:t>
                      </a:r>
                    </a:p>
                  </a:txBody>
                  <a:tcPr>
                    <a:solidFill>
                      <a:srgbClr val="F3F6FC"/>
                    </a:solidFill>
                  </a:tcPr>
                </a:tc>
              </a:tr>
              <a:tr h="502920">
                <a:tc>
                  <a:txBody>
                    <a:bodyPr/>
                    <a:lstStyle/>
                    <a:p>
                      <a:pPr>
                        <a:defRPr sz="1200">
                          <a:solidFill>
                            <a:srgbClr val="1A1A2E"/>
                          </a:solidFill>
                          <a:latin typeface="Yu Gothic"/>
                        </a:defRPr>
                      </a:pPr>
                      <a:r>
                        <a:t>本塁突入</a:t>
                      </a:r>
                    </a:p>
                  </a:txBody>
                  <a:tcPr>
                    <a:solidFill>
                      <a:srgbClr val="FFFFFF"/>
                    </a:solidFill>
                  </a:tcPr>
                </a:tc>
                <a:tc>
                  <a:txBody>
                    <a:bodyPr/>
                    <a:lstStyle/>
                    <a:p>
                      <a:pPr>
                        <a:defRPr sz="1200">
                          <a:solidFill>
                            <a:srgbClr val="1A1A2E"/>
                          </a:solidFill>
                          <a:latin typeface="Yu Gothic"/>
                        </a:defRPr>
                      </a:pPr>
                      <a:r>
                        <a:t>代走・藤村勇也選手が突入</a:t>
                      </a:r>
                    </a:p>
                  </a:txBody>
                  <a:tcPr>
                    <a:solidFill>
                      <a:srgbClr val="FFFFFF"/>
                    </a:solidFill>
                  </a:tcPr>
                </a:tc>
              </a:tr>
              <a:tr h="502920">
                <a:tc>
                  <a:txBody>
                    <a:bodyPr/>
                    <a:lstStyle/>
                    <a:p>
                      <a:pPr>
                        <a:defRPr sz="1200">
                          <a:solidFill>
                            <a:srgbClr val="1A1A2E"/>
                          </a:solidFill>
                          <a:latin typeface="Yu Gothic"/>
                        </a:defRPr>
                      </a:pPr>
                      <a:r>
                        <a:t>判定</a:t>
                      </a:r>
                    </a:p>
                  </a:txBody>
                  <a:tcPr>
                    <a:solidFill>
                      <a:srgbClr val="F3F6FC"/>
                    </a:solidFill>
                  </a:tcPr>
                </a:tc>
                <a:tc>
                  <a:txBody>
                    <a:bodyPr/>
                    <a:lstStyle/>
                    <a:p>
                      <a:pPr>
                        <a:defRPr sz="1200">
                          <a:solidFill>
                            <a:srgbClr val="1A1A2E"/>
                          </a:solidFill>
                          <a:latin typeface="Yu Gothic"/>
                        </a:defRPr>
                      </a:pPr>
                      <a:r>
                        <a:t>有明側がビデオ検証を要求するもセーフ確定、1-0でサヨナラ</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スポーツ報知・熊本日日新聞(Yahoo!ニュース配信、2026-08-18)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延長10回のキープレー</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送りバント</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1死二・三塁</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確実に走者を進める攻撃で好機を広げた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石田雄星</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二塁への内野安打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決勝点を呼び込んだ一打</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藤村勇也</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代走で本塁突入</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サヨナラの生還を決めた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判定を巡る攻防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ビデオ検証でもセーフ確定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本塁突入の判定を巡り有明側がビデオ検証を求めたが、判定は覆らずセーフが確定した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スポーツ報知・熊本日日新聞(Yahoo!ニュース配信、2026-08-18)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判定への異議と、確定した結果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有明側の検証要求</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本塁突入のタイミングを巡りビデオ検証を要求</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判定を覆せるかどうかに注目が集まった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確定した結果</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検証の結果、当初の判定(セーフ)は覆らず</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健大高崎の1-0でのサヨナラ勝ちが確定した</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先発の力投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石垣聡志投手、110球完封</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先発の石垣聡志投手(2年)が延長10回を1人で投げ抜き、110球で完封した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スポーツ報知・熊本日日新聞(Yahoo!ニュース配信、2026-08-18)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石垣聡志投手の投球を数字で見る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先発</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起用</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9回から延長10回まで先発マウンドを守った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延長10回</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投げ抜いた回数</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交代なく1人で投げ抜いた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110球</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総投球数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延長戦を含め110球で完封した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スポーツ報知・熊本日日新聞(Yahoo!ニュース配信、2026-08-18)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最終スコアを数字で見る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スポーツ報知・熊本日日新聞(Yahoo!ニュース配信、2026-08-18)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夏の甲子園、健大高崎にとって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史上初のベスト4進出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健大高崎(群馬)が夏の甲子園史上初のベスト4進出を決めた(2026年8月18日、準々決勝第4試合)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スポーツ報知・熊本日日新聞(Yahoo!ニュース配信、2026-08-18)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これで何が変わるか・健大高崎にとっての意味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夏の甲子園史上初のベスト4進出は、健大高崎にとって大会通算の記録として位置づけられる(断定的な評価は避ける)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延長10回タイブレークでの決着は、9回までの無失点投球と延長での1点の重みが両方揃って初めて成立した結果である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準決勝の日程・対戦相手は本調査の範囲では確認できていない(本調査時点の情報)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対戦相手・有明高校の結果(簡潔に)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対戦相手の結果も、簡潔かつ正確にお伝えします。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有明(熊本、初出場)は準々決勝で健大高崎に延長10回タイブレークの末1-0で敗れ、ベスト4進出はならなかった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9回まで無失点に抑える健闘を見せたが、延長10回タイブレークで惜しくも決着がついた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有明の初出場の経緯・これまでの戦いぶりの詳細は本テーマの主題ではないため、ここでは深く扱わない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スポーツ報知・熊本日日新聞(Yahoo!ニュース配信、2026-08-18)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敗者を主題化しない方針(本テーマ固有)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本テーマで大切にしている配慮です。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本テーマの主題・主役はあくまで健大高崎の夏初のベスト4進出であり、有明の敗戦を演出・強調する構成にはしない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有明の初出場・これまでの戦いぶりは別テーマで既に扱っており、本テーマでは重複・再掲しない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有明については『健闘の末に惜しくも敗れた』という中立的な事実のみを簡潔に伝える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数字への向き合い方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伝えること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1-0という最終スコア、110球完封という確認済みの数字</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延長10回タイブレークで決着したという事実</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創作しないこと</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出典にない数字・投球回数の累計は創作しない</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準決勝の日程・対戦相手を推測で埋めない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確認できていないこと(準決勝の日程・対戦相手)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健大高崎がベスト4進出を決めたことは複数媒体で一致して確認できているが、準決勝の日程・対戦相手は本調査の範囲では確認できていない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準決勝の組み合わせは他の準々決勝の結果にも左右されるため、本成果物では推測で補わない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確認できた範囲の事実のみを扱い、続報は別途確認が必要である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確認できていないこと(石垣投手の大会通算投球回数)</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こちらも正直にお伝えします。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本試合での石垣聡志投手の投球数(110球、延長10回完投)は複数媒体で確認できている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一方、この試合以前の登板を含めた大会を通じた通算投球回数は、本調査の範囲では確認できていない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本試合単独の数字のみを事実として扱い、通算値を推測で創作しない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事実確認の一覧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状態</a:t>
                      </a:r>
                    </a:p>
                  </a:txBody>
                  <a:tcPr>
                    <a:solidFill>
                      <a:srgbClr val="1E2761"/>
                    </a:solidFill>
                  </a:tcPr>
                </a:tc>
              </a:tr>
              <a:tr h="502920">
                <a:tc>
                  <a:txBody>
                    <a:bodyPr/>
                    <a:lstStyle/>
                    <a:p>
                      <a:pPr>
                        <a:defRPr sz="1200">
                          <a:solidFill>
                            <a:srgbClr val="1A1A2E"/>
                          </a:solidFill>
                          <a:latin typeface="Yu Gothic"/>
                        </a:defRPr>
                      </a:pPr>
                      <a:r>
                        <a:t>最終スコア(1-0)</a:t>
                      </a:r>
                    </a:p>
                  </a:txBody>
                  <a:tcPr>
                    <a:solidFill>
                      <a:srgbClr val="FFFFFF"/>
                    </a:solidFill>
                  </a:tcPr>
                </a:tc>
                <a:tc>
                  <a:txBody>
                    <a:bodyPr/>
                    <a:lstStyle/>
                    <a:p>
                      <a:pPr>
                        <a:defRPr sz="1200">
                          <a:solidFill>
                            <a:srgbClr val="1A1A2E"/>
                          </a:solidFill>
                          <a:latin typeface="Yu Gothic"/>
                        </a:defRPr>
                      </a:pPr>
                      <a:r>
                        <a:t>確認済み(複数媒体一致)</a:t>
                      </a:r>
                    </a:p>
                  </a:txBody>
                  <a:tcPr>
                    <a:solidFill>
                      <a:srgbClr val="FFFFFF"/>
                    </a:solidFill>
                  </a:tcPr>
                </a:tc>
              </a:tr>
              <a:tr h="502920">
                <a:tc>
                  <a:txBody>
                    <a:bodyPr/>
                    <a:lstStyle/>
                    <a:p>
                      <a:pPr>
                        <a:defRPr sz="1200">
                          <a:solidFill>
                            <a:srgbClr val="1A1A2E"/>
                          </a:solidFill>
                          <a:latin typeface="Yu Gothic"/>
                        </a:defRPr>
                      </a:pPr>
                      <a:r>
                        <a:t>延長10回タイブレークでの決着経過</a:t>
                      </a:r>
                    </a:p>
                  </a:txBody>
                  <a:tcPr>
                    <a:solidFill>
                      <a:srgbClr val="F3F6FC"/>
                    </a:solidFill>
                  </a:tcPr>
                </a:tc>
                <a:tc>
                  <a:txBody>
                    <a:bodyPr/>
                    <a:lstStyle/>
                    <a:p>
                      <a:pPr>
                        <a:defRPr sz="1200">
                          <a:solidFill>
                            <a:srgbClr val="1A1A2E"/>
                          </a:solidFill>
                          <a:latin typeface="Yu Gothic"/>
                        </a:defRPr>
                      </a:pPr>
                      <a:r>
                        <a:t>確認済み(複数媒体一致)</a:t>
                      </a:r>
                    </a:p>
                  </a:txBody>
                  <a:tcPr>
                    <a:solidFill>
                      <a:srgbClr val="F3F6FC"/>
                    </a:solidFill>
                  </a:tcPr>
                </a:tc>
              </a:tr>
              <a:tr h="502920">
                <a:tc>
                  <a:txBody>
                    <a:bodyPr/>
                    <a:lstStyle/>
                    <a:p>
                      <a:pPr>
                        <a:defRPr sz="1200">
                          <a:solidFill>
                            <a:srgbClr val="1A1A2E"/>
                          </a:solidFill>
                          <a:latin typeface="Yu Gothic"/>
                        </a:defRPr>
                      </a:pPr>
                      <a:r>
                        <a:t>石垣聡志投手、110球完封</a:t>
                      </a:r>
                    </a:p>
                  </a:txBody>
                  <a:tcPr>
                    <a:solidFill>
                      <a:srgbClr val="FFFFFF"/>
                    </a:solidFill>
                  </a:tcPr>
                </a:tc>
                <a:tc>
                  <a:txBody>
                    <a:bodyPr/>
                    <a:lstStyle/>
                    <a:p>
                      <a:pPr>
                        <a:defRPr sz="1200">
                          <a:solidFill>
                            <a:srgbClr val="1A1A2E"/>
                          </a:solidFill>
                          <a:latin typeface="Yu Gothic"/>
                        </a:defRPr>
                      </a:pPr>
                      <a:r>
                        <a:t>確認済み(複数媒体一致)</a:t>
                      </a:r>
                    </a:p>
                  </a:txBody>
                  <a:tcPr>
                    <a:solidFill>
                      <a:srgbClr val="FFFFFF"/>
                    </a:solidFill>
                  </a:tcPr>
                </a:tc>
              </a:tr>
              <a:tr h="502920">
                <a:tc>
                  <a:txBody>
                    <a:bodyPr/>
                    <a:lstStyle/>
                    <a:p>
                      <a:pPr>
                        <a:defRPr sz="1200">
                          <a:solidFill>
                            <a:srgbClr val="1A1A2E"/>
                          </a:solidFill>
                          <a:latin typeface="Yu Gothic"/>
                        </a:defRPr>
                      </a:pPr>
                      <a:r>
                        <a:t>健大高崎の夏初のベスト4進出</a:t>
                      </a:r>
                    </a:p>
                  </a:txBody>
                  <a:tcPr>
                    <a:solidFill>
                      <a:srgbClr val="F3F6FC"/>
                    </a:solidFill>
                  </a:tcPr>
                </a:tc>
                <a:tc>
                  <a:txBody>
                    <a:bodyPr/>
                    <a:lstStyle/>
                    <a:p>
                      <a:pPr>
                        <a:defRPr sz="1200">
                          <a:solidFill>
                            <a:srgbClr val="1A1A2E"/>
                          </a:solidFill>
                          <a:latin typeface="Yu Gothic"/>
                        </a:defRPr>
                      </a:pPr>
                      <a:r>
                        <a:t>確認済み</a:t>
                      </a:r>
                    </a:p>
                  </a:txBody>
                  <a:tcPr>
                    <a:solidFill>
                      <a:srgbClr val="F3F6FC"/>
                    </a:solidFill>
                  </a:tcPr>
                </a:tc>
              </a:tr>
              <a:tr h="502920">
                <a:tc>
                  <a:txBody>
                    <a:bodyPr/>
                    <a:lstStyle/>
                    <a:p>
                      <a:pPr>
                        <a:defRPr sz="1200">
                          <a:solidFill>
                            <a:srgbClr val="1A1A2E"/>
                          </a:solidFill>
                          <a:latin typeface="Yu Gothic"/>
                        </a:defRPr>
                      </a:pPr>
                      <a:r>
                        <a:t>準決勝の日程・対戦相手</a:t>
                      </a:r>
                    </a:p>
                  </a:txBody>
                  <a:tcPr>
                    <a:solidFill>
                      <a:srgbClr val="FFFFFF"/>
                    </a:solidFill>
                  </a:tcPr>
                </a:tc>
                <a:tc>
                  <a:txBody>
                    <a:bodyPr/>
                    <a:lstStyle/>
                    <a:p>
                      <a:pPr>
                        <a:defRPr sz="1200">
                          <a:solidFill>
                            <a:srgbClr val="1A1A2E"/>
                          </a:solidFill>
                          <a:latin typeface="Yu Gothic"/>
                        </a:defRPr>
                      </a:pPr>
                      <a:r>
                        <a:t>未確認</a:t>
                      </a:r>
                    </a:p>
                  </a:txBody>
                  <a:tcPr>
                    <a:solidFill>
                      <a:srgbClr val="FFFFFF"/>
                    </a:solidFill>
                  </a:tcPr>
                </a:tc>
              </a:tr>
              <a:tr h="502920">
                <a:tc>
                  <a:txBody>
                    <a:bodyPr/>
                    <a:lstStyle/>
                    <a:p>
                      <a:pPr>
                        <a:defRPr sz="1200">
                          <a:solidFill>
                            <a:srgbClr val="1A1A2E"/>
                          </a:solidFill>
                          <a:latin typeface="Yu Gothic"/>
                        </a:defRPr>
                      </a:pPr>
                      <a:r>
                        <a:t>石垣投手の大会通算投球回数</a:t>
                      </a:r>
                    </a:p>
                  </a:txBody>
                  <a:tcPr>
                    <a:solidFill>
                      <a:srgbClr val="F3F6FC"/>
                    </a:solidFill>
                  </a:tcPr>
                </a:tc>
                <a:tc>
                  <a:txBody>
                    <a:bodyPr/>
                    <a:lstStyle/>
                    <a:p>
                      <a:pPr>
                        <a:defRPr sz="1200">
                          <a:solidFill>
                            <a:srgbClr val="1A1A2E"/>
                          </a:solidFill>
                          <a:latin typeface="Yu Gothic"/>
                        </a:defRPr>
                      </a:pPr>
                      <a:r>
                        <a:t>未確認</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スポーツ報知・熊本日日新聞(Yahoo!ニュース配信、2026-08-18)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高校野球ファンとして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延長タイブレークの決着経過を、確認できた範囲の事実で正確に追うと理解が深まる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判定・ルールへの関心として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ビデオ検証があっても判定が覆らない場合があるという実例として捉えられる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未確認の詳細(準決勝日程・通算投球数)を推測で補わず、正確に伝える姿勢が信頼につながる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最終スコア1-0・延長10回タイブレークでの決着経過(送りバント・石田選手の内野安打・藤村選手の本塁突入・ビデオ検証・セーフ確定)・石垣投手の110球完封・健大高崎の夏初のベスト4進出</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不明: 準決勝の日程・対戦相手、石垣投手の大会通算投球回数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スポーツ報知(Yahoo!ニュース配信)</a:t>
                      </a:r>
                    </a:p>
                  </a:txBody>
                  <a:tcPr>
                    <a:solidFill>
                      <a:srgbClr val="FFFFFF"/>
                    </a:solidFill>
                  </a:tcPr>
                </a:tc>
                <a:tc>
                  <a:txBody>
                    <a:bodyPr/>
                    <a:lstStyle/>
                    <a:p>
                      <a:pPr>
                        <a:defRPr sz="1200">
                          <a:solidFill>
                            <a:srgbClr val="1A1A2E"/>
                          </a:solidFill>
                          <a:latin typeface="Yu Gothic"/>
                        </a:defRPr>
                      </a:pPr>
                      <a:r>
                        <a:t>試合結果・延長10回の経過・投球数の報道(2026-08-18)</a:t>
                      </a:r>
                    </a:p>
                  </a:txBody>
                  <a:tcPr>
                    <a:solidFill>
                      <a:srgbClr val="FFFFFF"/>
                    </a:solidFill>
                  </a:tcPr>
                </a:tc>
              </a:tr>
              <a:tr h="502920">
                <a:tc>
                  <a:txBody>
                    <a:bodyPr/>
                    <a:lstStyle/>
                    <a:p>
                      <a:pPr>
                        <a:defRPr sz="1200">
                          <a:solidFill>
                            <a:srgbClr val="1A1A2E"/>
                          </a:solidFill>
                          <a:latin typeface="Yu Gothic"/>
                        </a:defRPr>
                      </a:pPr>
                      <a:r>
                        <a:t>熊本日日新聞(Yahoo!ニュース配信)</a:t>
                      </a:r>
                    </a:p>
                  </a:txBody>
                  <a:tcPr>
                    <a:solidFill>
                      <a:srgbClr val="F3F6FC"/>
                    </a:solidFill>
                  </a:tcPr>
                </a:tc>
                <a:tc>
                  <a:txBody>
                    <a:bodyPr/>
                    <a:lstStyle/>
                    <a:p>
                      <a:pPr>
                        <a:defRPr sz="1200">
                          <a:solidFill>
                            <a:srgbClr val="1A1A2E"/>
                          </a:solidFill>
                          <a:latin typeface="Yu Gothic"/>
                        </a:defRPr>
                      </a:pPr>
                      <a:r>
                        <a:t>試合結果・延長10回の経過・投球数の報道(2026-08-18)</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スポーツ報知(Yahoo!ニュース配信)・熊本日日新聞(Yahoo!ニュース配信)(2026年8月18日時点)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延長タイブレークの死闘を制し、夏初のベスト4へ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1-0というスコアと、延長10回でのサヨナラ勝ちの経過を、それぞれ正確に出典付きで整理してお届けしました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