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Intelligence Indexスコア</c:v>
                </c:pt>
              </c:strCache>
            </c:strRef>
          </c:tx>
          <c:spPr>
            <a:solidFill>
              <a:srgbClr val="1B3A5C"/>
            </a:solidFill>
          </c:spPr>
          <c:cat>
            <c:strRef>
              <c:f>Sheet1!$A$2:$A$3</c:f>
              <c:strCache>
                <c:ptCount val="2"/>
                <c:pt idx="0">
                  <c:v>Nemotron 3 Nano(旧・推測値)</c:v>
                </c:pt>
                <c:pt idx="1">
                  <c:v>Nemotron 3.5 Lightning(新)</c:v>
                </c:pt>
              </c:strCache>
            </c:strRef>
          </c:cat>
          <c:val>
            <c:numRef>
              <c:f>Sheet1!$B$2:$B$3</c:f>
              <c:numCache>
                <c:formatCode>General</c:formatCode>
                <c:ptCount val="2"/>
                <c:pt idx="0">
                  <c:v>15</c:v>
                </c:pt>
                <c:pt idx="1">
                  <c:v>24</c:v>
                </c:pt>
              </c:numCache>
            </c:numRef>
          </c:val>
        </c:ser>
        <c:dLbls>
          <c:numFmt formatCode="0" sourceLinked="0"/>
          <c:txPr>
            <a:bodyPr/>
            <a:lstStyle/>
            <a:p>
              <a:pPr>
                <a:defRPr sz="1200" b="1">
                  <a:solidFill>
                    <a:srgbClr val="1B3A5C"/>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2026年8月11日、NVIDIAが自律型AIエージェント向けに設計されたオープンソースAIモデル「Nemotron 3.5 Lightning」を公開しました。今日はこの発表内容を出典付きで整理してお伝えします。技術的な優位性を断定する内容ではなく、事実関係の整理に徹します。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結論から確認します。Nemotron 3.5 Lightningは、同クラス製品と比較して出力速度が最大4倍速く、タスク完了が30%速いとされています。そしてシングルGPUでもローカル実行できる軽量さが特徴です。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今日はこの5つの流れでお伝えします。専門用語をかみ砕きながら、事実と推測、確認できなかったことをはっきり分けて整理します。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このテーマは着手日から2日以内という新しい発表に基づいています。1枚のGPUで動く、出力速度が最大4倍という分かりやすい数字、オープンソースで誰でも試せるという点が注目点です。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Nemotronは、NVIDIAが公開しているオープンソースAIモデル群のシリーズ名です。今回、新モデル「Nemotron 3.5 Lightning」が公開され、前モデル「Nemotron 3 Nano」からの性能向上が報じられています。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本題のキーワードを確認します。AIエージェントとは、人間の指示のもと自律的に複数の手順を実行するAIの仕組みです。Nemotron 3.5 Lightningは、こうした自律型AIエージェント向けに設計されたと報じられています。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従来の高性能モデルと、Nemotron 3.5 Lightningの設計思想の違いを比較します。一般的な高性能モデルは計算コストが課題になりやすい一方、このモデルは総パラメータ300億のうちアクティブは30億のみとされ、シングルGPUでも動く軽量さを掲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アーキテクチャのキーワードを確認します。MoEは、複数の専門家ネットワークのうち入力ごとに一部だけを使う仕組みです。Nemotron 3.5 Lightningは、Mamba-2とAttention層を組み合わせたMoEアーキテクチャを採用しているとされています。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パラメータ規模を数字で確認します。総パラメータは300億ですが、1回の処理で実際に使われるアクティブパラメータは30億とされています。この差が、効率性の高さにつながっているとされています。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旧モデルNemotron 3 Nanoと、新モデル3.5 Lightningの性能を比較します。新モデルのIntelligence Indexスコアは24、旧モデルから9ポイント向上したとされています。旧モデルのスコア15は、この2つの数字からの単純計算による推測値であることに留意してください。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出力速度の数字を確認します。同クラス製品と比較して、出力速度が最大4倍速いとされています。ただし比較対象の具体的な競合モデル名までは報道からは確認できていません。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タスク完了速度の数字も確認します。同クラス製品と比較してタスク完了が30%速いとされ、長時間稼働するエージェント型ワークロードでの効率性が強調されています。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Intelligence Indexスコアをグラフにしました。新モデルは24、旧モデルは公表された9ポイント向上という数字からの単純計算で15相当と推測されます。旧モデルの数字自体はNVIDIA公式が直接明言したものではない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モデル仕様を一覧にしました。総パラメータ300億・アクティブパラメータ30億、Mamba-2とAttention層を組み合わせたMoEアーキテクチャで、2026年8月11日に公開されています。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Eアーキテクチャの概念を図にしました。入力されたタスクに対し、Mamba-2とAttention層を組み合わせた仕組みの中で一部の専門家だけが使われ、アクティブ30億パラメータ相当の計算で出力するとされています。内部実装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想定されているワークロードを紹介します。コードレビュー、ツール利用、セキュリティアラート監視、請求関連の質問応答など、大量処理が発生するワークロード向けに設計されているとされています。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同時に公開されたNeMo Switchyardを確認します。タスクごとに最適なモデルへリクエストを振り分けるオープンソースライブラリとされ、Nemotron 3.5 Lightningと同時に公開されました。具体的な対応スケジュールまでは確認できていません。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NeMo Switchyardによるルーティングの概念を図にしました。リクエストが届くと、タスクごとに最適なモデルへ振り分けるとされています。具体的な振り分けアルゴリズムの詳細までは確認できていません。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どこで使えるかを確認します。Hugging Face、ModelScope、OpenRouter、そしてbuild.nvidia.comではNVIDIA NIMマイクロサービスとして、それぞれ利用可能とされています。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開発者にとっての意味を考えます。オープンソースでシングルGPUでも動く軽量さのため、試しやすい選択肢が増える可能性がありますが、ライセンス条件の詳細は確認できておらず、利用前に公式情報の確認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企業にとっての意味も確認します。大量処理ワークロードの効率化候補として検討され得ますが、実際の導入事例の具体名は確認できていません。NeMo Switchyardとの組み合わせで、モデル選択の自動化が想定されているとされています。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見出しの印象と実際の内容にはギャップがあります。今回の発表はモデルとライブラリの公開であり、具体的な企業導入事例や商用ライセンス条件の詳細まで確認できているわけではありません。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を見る際の注意点です。最大4倍・30%速いという数字はNVIDIA側が示すもので、第三者による独立した再現検証結果までは確認できていません。オープンソースであることと商用利用が無条件で自由であることは同じ意味ではない点にも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確認できていないことを正直にお伝えします。学習データセットの詳細、商用ライセンス条件の詳細、実際の企業導入事例・顧客の具体名は、本調査の範囲では確認できていません。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パラメータ規模や公開日などは複数媒体が確認した事実ですが、旧モデルのスコア「15」は単純計算による推測値であることを明確にします。学習データセットの詳細などは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本テーマの鮮度を数字で確認します。中心となる発表・報道は2026年8月11日、着手日は8月13日で、2日以内という基準を満たしています。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今回のポイントを確認します。シングルGPUで動き、出力速度が最大4倍とされるオープンソースのAIエージェント基盤が公開されたことは事実として報じられていますが、学習データ・ライセンス条件・導入事例はまだ確認できておらず、確定事実と未確認情報を区別して見る必要がある、という点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本編は以上です。今日はNVIDIAがシングルGPUで動くオープンソースAIエージェントモデル「Nemotron 3.5 Lightning」と「NeMo Switchyard」を公開した経緯をお伝えしました。称賛や誇張ではなく、事実関係の整理に留めています。次回もまた出典付きでお届けします。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1枚のGPUで動くAIエージェント。</a:t>
            </a:r>
          </a:p>
          <a:p>
            <a:pPr algn="l">
              <a:lnSpc>
                <a:spcPct val="115000"/>
              </a:lnSpc>
            </a:pPr>
            <a:r>
              <a:rPr sz="4200" b="1">
                <a:solidFill>
                  <a:srgbClr val="FFFFFF"/>
                </a:solidFill>
                <a:latin typeface="Yu Gothic"/>
              </a:rPr>
              <a:t>NVIDIAが公開したオープンソースモデル</a:t>
            </a:r>
          </a:p>
          <a:p>
            <a:pPr algn="l">
              <a:lnSpc>
                <a:spcPct val="115000"/>
              </a:lnSpc>
            </a:pPr>
            <a:r>
              <a:rPr sz="4200" b="1">
                <a:solidFill>
                  <a:srgbClr val="FFFFFF"/>
                </a:solidFill>
                <a:latin typeface="Yu Gothic"/>
              </a:rPr>
              <a:t>「Nemotron 3.5 Lightning」は、出力速度が</a:t>
            </a:r>
          </a:p>
          <a:p>
            <a:pPr algn="l">
              <a:lnSpc>
                <a:spcPct val="115000"/>
              </a:lnSpc>
            </a:pPr>
            <a:r>
              <a:rPr sz="4200" b="1">
                <a:solidFill>
                  <a:srgbClr val="FFFFFF"/>
                </a:solidFill>
                <a:latin typeface="Yu Gothic"/>
              </a:rPr>
              <a:t>最大4倍速いとされる。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300億パラメータ(アクティブ30億)のMoEモデル――出典付きで事実関係を整理する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NVIDIA公式ブログ・CNBC・SiliconANGLE・MarkTechPost(いずれも2026年8月11日の報道)。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出力速度 最大4倍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同クラス製品と比較して出力速度が最大4倍速く、タスク完了は30%速いとされる。シングルGPUでもローカル実行できる軽量さが特徴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NVIDIA公式ブログ・CNBC(2026-08-11)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何が発表されたのか(初心者向け解説つき)</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モデルの仕組み(パラメータ規模・MoEアーキテクチャ)</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報じられている性能の数字を深掘り</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想定される使いどころと「NeMo Switchyard」</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確認できなかったこと・本テーマの扱い方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2026年8月11日の発表を、着手日から2日以内に複数の独立した媒体が報じている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「1枚のGPUで動くAIエージェント」という具体性の高いフックがある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「出力速度最大4倍」という分かりやすい数字と、オープンソースで誰でも試せる参加性の高さが注目点</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NVIDIA公式ブログ・CNBC・SiliconANGLE・MarkTechPost(2026-08-11)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Nemotronシリーズとは(初心者向け)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本題に入る前に、シリーズの前提を確認します。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NVIDIAが公開しているオープンソースのAIモデル群のシリーズ名</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今回、新モデル「Nemotron 3.5 Lightning」が2026年8月11日に公開された</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前モデル「Nemotron 3 Nano」からの性能向上が報じられている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「AIエージェント」とは何か(前提知識)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人間の指示のもと、自律的に複数の手順を実行するAIの仕組みを指す</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コードレビュー・ツール利用・監視業務など、長時間動き続けるタスクを想定して使われることが多い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Nemotron 3.5 Lightningは、こうした自律型AIエージェント向けに設計されたと報じられている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従来の高性能モデル と Nemotron 3.5 Lightningの設計思想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一般的な高性能AIモデルの傾向</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パラメータ総数が多いほど高性能とされることが多い</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長時間の推論・大量処理では計算コストが課題になりやすい</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複数GPU・大規模インフラを前提とすることが多い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Nemotron 3.5 Lightningが掲げる方向性</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総パラメータ300億のうちアクティブは30億のみとされる</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長時間稼働するエージェント型ワークロード向けに効率性を重視するとされる</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シングルGPUでもローカル実行できる軽量さを特徴として掲げる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MoE(Mixture of Experts)とは何か(前提知識)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アーキテクチャのキーワードを確認します。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複数の「専門家(エキスパート)」ネットワークを内部に持ち、入力ごとに一部だけを使う仕組みとされる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全パラメータを常に使う方式に比べ、計算量を抑えながら高い性能を狙えるとされる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Nemotron 3.5 Lightningは、Mamba-2とAttention層を組み合わせたMoEアーキテクチャを採用しているとされる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NVIDIA公式ブログ・MarkTechPost(2026-08-11)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パラメータ規模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300億(アクティブ30億)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総パラメータ300億のうち、1回の処理で実際に使われるアクティブパラメータは30億とされる。この設計がシングルGPUでの軽量な実行につながっているとされる。Mamba-2とAttention層を組み合わせたMoEアーキテクチャを採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NVIDIA公式ブログ・MarkTechPost(2026-08-11)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Nemotron 3 Nano(旧) と 3.5 Lightning(新)の性能比較</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Nemotron 3 Nano(旧モデル)</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Artificial Analysis Intelligence Indexのスコアは、公表された2数値からの単純計算で15相当と推測される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この「15」はNVIDIA公式が直接明言した数字ではなく、確認済みの2数値からの算術上の逆算であることに留意</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Nemotron 3.5 Lightning(新モデル)</a:t>
            </a:r>
          </a:p>
        </p:txBody>
      </p:sp>
      <p:sp>
        <p:nvSpPr>
          <p:cNvPr id="16" name="Oval 15"/>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Artificial Analysis Intelligence Indexのスコアは24とされる</a:t>
            </a:r>
          </a:p>
        </p:txBody>
      </p:sp>
      <p:sp>
        <p:nvSpPr>
          <p:cNvPr id="18" name="Oval 17"/>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旧モデルから9ポイント向上したとされる</a:t>
            </a:r>
          </a:p>
        </p:txBody>
      </p:sp>
      <p:sp>
        <p:nvSpPr>
          <p:cNvPr id="20" name="Oval 19"/>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出力速度は同クラス製品比で最大4倍、タスク完了は30%速いとされる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出力速度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最大4倍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同クラス製品と比較して出力速度が最大4倍速いとされる。比較対象の具体的な競合モデル名までは報道からは確認できていない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NVIDIA公式ブログ・CNBC(2026-08-11)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タスク完了速度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30%速い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同クラス製品と比較してタスク完了が30%速いとされる。長時間稼働するエージェント型ワークロードでの効率性が強調されている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NVIDIA公式ブログ(2026-08-11)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Artificial Analysis Intelligence Indexスコア(単純計算含む)</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NVIDIA公式ブログ・MarkTechPost(2026-08-11)。旧モデルの15は公表2数値からの単純計算による推測値</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モデル仕様一覧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モデル名</a:t>
                      </a:r>
                    </a:p>
                  </a:txBody>
                  <a:tcPr>
                    <a:solidFill>
                      <a:srgbClr val="FFFFFF"/>
                    </a:solidFill>
                  </a:tcPr>
                </a:tc>
                <a:tc>
                  <a:txBody>
                    <a:bodyPr/>
                    <a:lstStyle/>
                    <a:p>
                      <a:pPr>
                        <a:defRPr sz="1200">
                          <a:solidFill>
                            <a:srgbClr val="16202E"/>
                          </a:solidFill>
                          <a:latin typeface="Yu Gothic"/>
                        </a:defRPr>
                      </a:pPr>
                      <a:r>
                        <a:t>Nemotron 3.5 Lightning</a:t>
                      </a:r>
                    </a:p>
                  </a:txBody>
                  <a:tcPr>
                    <a:solidFill>
                      <a:srgbClr val="FFFFFF"/>
                    </a:solidFill>
                  </a:tcPr>
                </a:tc>
              </a:tr>
              <a:tr h="502920">
                <a:tc>
                  <a:txBody>
                    <a:bodyPr/>
                    <a:lstStyle/>
                    <a:p>
                      <a:pPr>
                        <a:defRPr sz="1200">
                          <a:solidFill>
                            <a:srgbClr val="16202E"/>
                          </a:solidFill>
                          <a:latin typeface="Yu Gothic"/>
                        </a:defRPr>
                      </a:pPr>
                      <a:r>
                        <a:t>総パラメータ</a:t>
                      </a:r>
                    </a:p>
                  </a:txBody>
                  <a:tcPr>
                    <a:solidFill>
                      <a:srgbClr val="F2F6FA"/>
                    </a:solidFill>
                  </a:tcPr>
                </a:tc>
                <a:tc>
                  <a:txBody>
                    <a:bodyPr/>
                    <a:lstStyle/>
                    <a:p>
                      <a:pPr>
                        <a:defRPr sz="1200">
                          <a:solidFill>
                            <a:srgbClr val="16202E"/>
                          </a:solidFill>
                          <a:latin typeface="Yu Gothic"/>
                        </a:defRPr>
                      </a:pPr>
                      <a:r>
                        <a:t>300億</a:t>
                      </a:r>
                    </a:p>
                  </a:txBody>
                  <a:tcPr>
                    <a:solidFill>
                      <a:srgbClr val="F2F6FA"/>
                    </a:solidFill>
                  </a:tcPr>
                </a:tc>
              </a:tr>
              <a:tr h="502920">
                <a:tc>
                  <a:txBody>
                    <a:bodyPr/>
                    <a:lstStyle/>
                    <a:p>
                      <a:pPr>
                        <a:defRPr sz="1200">
                          <a:solidFill>
                            <a:srgbClr val="16202E"/>
                          </a:solidFill>
                          <a:latin typeface="Yu Gothic"/>
                        </a:defRPr>
                      </a:pPr>
                      <a:r>
                        <a:t>アクティブパラメータ</a:t>
                      </a:r>
                    </a:p>
                  </a:txBody>
                  <a:tcPr>
                    <a:solidFill>
                      <a:srgbClr val="FFFFFF"/>
                    </a:solidFill>
                  </a:tcPr>
                </a:tc>
                <a:tc>
                  <a:txBody>
                    <a:bodyPr/>
                    <a:lstStyle/>
                    <a:p>
                      <a:pPr>
                        <a:defRPr sz="1200">
                          <a:solidFill>
                            <a:srgbClr val="16202E"/>
                          </a:solidFill>
                          <a:latin typeface="Yu Gothic"/>
                        </a:defRPr>
                      </a:pPr>
                      <a:r>
                        <a:t>30億</a:t>
                      </a:r>
                    </a:p>
                  </a:txBody>
                  <a:tcPr>
                    <a:solidFill>
                      <a:srgbClr val="FFFFFF"/>
                    </a:solidFill>
                  </a:tcPr>
                </a:tc>
              </a:tr>
              <a:tr h="502920">
                <a:tc>
                  <a:txBody>
                    <a:bodyPr/>
                    <a:lstStyle/>
                    <a:p>
                      <a:pPr>
                        <a:defRPr sz="1200">
                          <a:solidFill>
                            <a:srgbClr val="16202E"/>
                          </a:solidFill>
                          <a:latin typeface="Yu Gothic"/>
                        </a:defRPr>
                      </a:pPr>
                      <a:r>
                        <a:t>アーキテクチャ</a:t>
                      </a:r>
                    </a:p>
                  </a:txBody>
                  <a:tcPr>
                    <a:solidFill>
                      <a:srgbClr val="F2F6FA"/>
                    </a:solidFill>
                  </a:tcPr>
                </a:tc>
                <a:tc>
                  <a:txBody>
                    <a:bodyPr/>
                    <a:lstStyle/>
                    <a:p>
                      <a:pPr>
                        <a:defRPr sz="1200">
                          <a:solidFill>
                            <a:srgbClr val="16202E"/>
                          </a:solidFill>
                          <a:latin typeface="Yu Gothic"/>
                        </a:defRPr>
                      </a:pPr>
                      <a:r>
                        <a:t>Mamba-2 + Attention層のMoE</a:t>
                      </a:r>
                    </a:p>
                  </a:txBody>
                  <a:tcPr>
                    <a:solidFill>
                      <a:srgbClr val="F2F6FA"/>
                    </a:solidFill>
                  </a:tcPr>
                </a:tc>
              </a:tr>
              <a:tr h="502920">
                <a:tc>
                  <a:txBody>
                    <a:bodyPr/>
                    <a:lstStyle/>
                    <a:p>
                      <a:pPr>
                        <a:defRPr sz="1200">
                          <a:solidFill>
                            <a:srgbClr val="16202E"/>
                          </a:solidFill>
                          <a:latin typeface="Yu Gothic"/>
                        </a:defRPr>
                      </a:pPr>
                      <a:r>
                        <a:t>公開日</a:t>
                      </a:r>
                    </a:p>
                  </a:txBody>
                  <a:tcPr>
                    <a:solidFill>
                      <a:srgbClr val="FFFFFF"/>
                    </a:solidFill>
                  </a:tcPr>
                </a:tc>
                <a:tc>
                  <a:txBody>
                    <a:bodyPr/>
                    <a:lstStyle/>
                    <a:p>
                      <a:pPr>
                        <a:defRPr sz="1200">
                          <a:solidFill>
                            <a:srgbClr val="16202E"/>
                          </a:solidFill>
                          <a:latin typeface="Yu Gothic"/>
                        </a:defRPr>
                      </a:pPr>
                      <a:r>
                        <a:t>2026年8月11日</a:t>
                      </a:r>
                    </a:p>
                  </a:txBody>
                  <a:tcPr>
                    <a:solidFill>
                      <a:srgbClr val="FFFFFF"/>
                    </a:solidFill>
                  </a:tcPr>
                </a:tc>
              </a:tr>
              <a:tr h="502920">
                <a:tc>
                  <a:txBody>
                    <a:bodyPr/>
                    <a:lstStyle/>
                    <a:p>
                      <a:pPr>
                        <a:defRPr sz="1200">
                          <a:solidFill>
                            <a:srgbClr val="16202E"/>
                          </a:solidFill>
                          <a:latin typeface="Yu Gothic"/>
                        </a:defRPr>
                      </a:pPr>
                      <a:r>
                        <a:t>実行環境</a:t>
                      </a:r>
                    </a:p>
                  </a:txBody>
                  <a:tcPr>
                    <a:solidFill>
                      <a:srgbClr val="F2F6FA"/>
                    </a:solidFill>
                  </a:tcPr>
                </a:tc>
                <a:tc>
                  <a:txBody>
                    <a:bodyPr/>
                    <a:lstStyle/>
                    <a:p>
                      <a:pPr>
                        <a:defRPr sz="1200">
                          <a:solidFill>
                            <a:srgbClr val="16202E"/>
                          </a:solidFill>
                          <a:latin typeface="Yu Gothic"/>
                        </a:defRPr>
                      </a:pPr>
                      <a:r>
                        <a:t>シングルGPUでもローカル実行可能とされる</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NVIDIA公式ブログ・MarkTechPost(2026-08-11)</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MoEアーキテクチャの概念図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入力</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エージェントからのタスク・指示が入る</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Mamba-2 + Attention層</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複数の専門家のうち一部だけが処理に使われるとされる</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出力</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アクティブ30億パラメータ相当の計算で応答するとされる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「専門家の一部だけを使う」というMoEの一般的な考え方の概念図。Nemotron 3.5 Lightningの内部実装の詳細までは本調査の範囲では確認できていない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NVIDIA公式ブログ・MarkTechPost(2026-08-11)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想定されているワークロード</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コードレビュー</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大量のコードを継続的にチェックする用途を想定しているとされる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ツール利用</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外部ツール・APIを呼び出しながらタスクを進める用途を想定しているとされる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セキュリティアラート監視</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継続的な監視業務での利用を想定しているとされる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請求関連の質問応答</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大量処理が発生する問い合わせ対応を想定しているとされる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NVIDIA公式ブログ(2026-08-11)</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同時に公開された「NeMo Switchyard」とは何か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併せて発表されたライブラリを確認します。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タスクごとに最適なモデルへリクエストを振り分けるオープンソースライブラリとされる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Nemotron 3.5 Lightningと同時に、2026年8月11日に公開されたと報じられている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パートナープラットフォームへの対応スケジュールなど具体的な詳細は本調査の範囲では確認できていない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NVIDIA公式ブログ・SiliconANGLE(2026-08-11)</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NeMo Switchyardによるルーティングの概念図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リクエスト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エージェントからのタスクが届く</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NeMo Switchyard</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タスクごとに最適なモデルへ振り分けるとされる</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最適なモデル</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Nemotron 3.5 Lightning等、タスクに応じたモデルが処理するとされる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「タスクごとに最適なモデルへ振り分ける」という報道内容の概念図。具体的な振り分けアルゴリズムの詳細までは本調査の範囲では確認できていない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NVIDIA公式ブログ・SiliconANGLE(2026-08-11)</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どこで使えるか(利用チャネル)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Hugging Face</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モデルが公開されているとされる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ModelScope</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モデルが公開されているとされる</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OpenRouter</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モデルが利用可能とされる</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build.nvidia.com</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NVIDIA NIMマイクロサービスとして利用可能とされる</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NVIDIA公式ブログ・MarkTechPost(2026-08-11)</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これで何が変わるか:個人開発者にとって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読み手にとっての意味を考えます。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オープンソースかつシングルGPUで動く軽量さのため、個人でも試しやすいAIエージェント基盤の選択肢が増える可能性がある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ただし商用利用時のライセンス条件の詳細は本調査の範囲では確認できておらず、利用前に公式情報の確認が必要</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実際の性能はタスク内容・環境によって変わりうるため、報じられている数字は目安として捉える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これで何が変わるか:企業にとって</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企業側の視点も確認します。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大量処理が発生するワークロード(コードレビュー・問い合わせ対応等)の効率化候補として検討され得る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実際の企業導入事例の具体名は、本調査の範囲では確認できていない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NeMo Switchyardと組み合わせることで、タスクに応じたモデル選択の自動化が想定されているとされる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すでに大規模な企業導入が進んでいる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あらゆる競合モデルより一律に優れている</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商用利用の条件も明確に定まっている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公開されているのはモデルとライブラリであり、具体的な企業導入事例は本調査の範囲では確認できていない</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「同クラス製品と比較して」という報道の表現であり、比較対象の個別モデル名までは明示されていない</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商用ライセンス条件の詳細は本調査の範囲では確認できていない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注意点・留意すべきこと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数字を見る際に留意したい点です。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「最大4倍」「30%速い」はNVIDIA側が示す数字であり、第三者による独立した再現検証結果は本調査の範囲では確認できていない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「シングルGPUで動く」は軽量さを示す特徴であり、実際の推奨GPUスペック(VRAM容量等)の詳細は本調査の範囲では確認できていない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オープンソースであることと、商用利用が無条件で自由であることは同じ意味ではない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確認できていないこと(1)</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正直にお伝えします。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具体的な学習データセットの詳細</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商用利用時のライセンス条件の詳細</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実際の企業導入事例・顧客の具体名</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学習データセットの詳細</a:t>
                      </a:r>
                    </a:p>
                  </a:txBody>
                  <a:tcPr>
                    <a:solidFill>
                      <a:srgbClr val="FFFFFF"/>
                    </a:solidFill>
                  </a:tcPr>
                </a:tc>
                <a:tc>
                  <a:txBody>
                    <a:bodyPr/>
                    <a:lstStyle/>
                    <a:p>
                      <a:pPr>
                        <a:defRPr sz="1200">
                          <a:solidFill>
                            <a:srgbClr val="16202E"/>
                          </a:solidFill>
                          <a:latin typeface="Yu Gothic"/>
                        </a:defRPr>
                      </a:pPr>
                      <a:r>
                        <a:t>報道では性能・アーキテクチャの紹介が中心で、データセットの詳細は未確認</a:t>
                      </a:r>
                    </a:p>
                  </a:txBody>
                  <a:tcPr>
                    <a:solidFill>
                      <a:srgbClr val="FFFFFF"/>
                    </a:solidFill>
                  </a:tcPr>
                </a:tc>
              </a:tr>
              <a:tr h="502920">
                <a:tc>
                  <a:txBody>
                    <a:bodyPr/>
                    <a:lstStyle/>
                    <a:p>
                      <a:pPr>
                        <a:defRPr sz="1200">
                          <a:solidFill>
                            <a:srgbClr val="16202E"/>
                          </a:solidFill>
                          <a:latin typeface="Yu Gothic"/>
                        </a:defRPr>
                      </a:pPr>
                      <a:r>
                        <a:t>商用ライセンス条件の詳細</a:t>
                      </a:r>
                    </a:p>
                  </a:txBody>
                  <a:tcPr>
                    <a:solidFill>
                      <a:srgbClr val="F2F6FA"/>
                    </a:solidFill>
                  </a:tcPr>
                </a:tc>
                <a:tc>
                  <a:txBody>
                    <a:bodyPr/>
                    <a:lstStyle/>
                    <a:p>
                      <a:pPr>
                        <a:defRPr sz="1200">
                          <a:solidFill>
                            <a:srgbClr val="16202E"/>
                          </a:solidFill>
                          <a:latin typeface="Yu Gothic"/>
                        </a:defRPr>
                      </a:pPr>
                      <a:r>
                        <a:t>オープンソースとされるが、具体的な条件文書までは本調査の範囲では確認できていない</a:t>
                      </a:r>
                    </a:p>
                  </a:txBody>
                  <a:tcPr>
                    <a:solidFill>
                      <a:srgbClr val="F2F6FA"/>
                    </a:solidFill>
                  </a:tcPr>
                </a:tc>
              </a:tr>
              <a:tr h="502920">
                <a:tc>
                  <a:txBody>
                    <a:bodyPr/>
                    <a:lstStyle/>
                    <a:p>
                      <a:pPr>
                        <a:defRPr sz="1200">
                          <a:solidFill>
                            <a:srgbClr val="16202E"/>
                          </a:solidFill>
                          <a:latin typeface="Yu Gothic"/>
                        </a:defRPr>
                      </a:pPr>
                      <a:r>
                        <a:t>企業導入事例・顧客の具体名</a:t>
                      </a:r>
                    </a:p>
                  </a:txBody>
                  <a:tcPr>
                    <a:solidFill>
                      <a:srgbClr val="FFFFFF"/>
                    </a:solidFill>
                  </a:tcPr>
                </a:tc>
                <a:tc>
                  <a:txBody>
                    <a:bodyPr/>
                    <a:lstStyle/>
                    <a:p>
                      <a:pPr>
                        <a:defRPr sz="1200">
                          <a:solidFill>
                            <a:srgbClr val="16202E"/>
                          </a:solidFill>
                          <a:latin typeface="Yu Gothic"/>
                        </a:defRPr>
                      </a:pPr>
                      <a:r>
                        <a:t>具体的な企業名・事例は本調査の範囲では確認できていない</a:t>
                      </a:r>
                    </a:p>
                  </a:txBody>
                  <a:tcPr>
                    <a:solidFill>
                      <a:srgbClr val="FFFFFF"/>
                    </a:solidFill>
                  </a:tcPr>
                </a:tc>
              </a:tr>
              <a:tr h="502920">
                <a:tc>
                  <a:txBody>
                    <a:bodyPr/>
                    <a:lstStyle/>
                    <a:p>
                      <a:pPr>
                        <a:defRPr sz="1200">
                          <a:solidFill>
                            <a:srgbClr val="16202E"/>
                          </a:solidFill>
                          <a:latin typeface="Yu Gothic"/>
                        </a:defRPr>
                      </a:pPr>
                      <a:r>
                        <a:t>NeMo Switchyardのパートナー対応スケジュール</a:t>
                      </a:r>
                    </a:p>
                  </a:txBody>
                  <a:tcPr>
                    <a:solidFill>
                      <a:srgbClr val="F2F6FA"/>
                    </a:solidFill>
                  </a:tcPr>
                </a:tc>
                <a:tc>
                  <a:txBody>
                    <a:bodyPr/>
                    <a:lstStyle/>
                    <a:p>
                      <a:pPr>
                        <a:defRPr sz="1200">
                          <a:solidFill>
                            <a:srgbClr val="16202E"/>
                          </a:solidFill>
                          <a:latin typeface="Yu Gothic"/>
                        </a:defRPr>
                      </a:pPr>
                      <a:r>
                        <a:t>対応プラットフォームの拡大時期など具体的な計画は本調査の範囲では確認できていない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事実: パラメータ規模・アーキテクチャ・公開日・利用チャネルは複数媒体が一致して報道</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推測に近い表現: 旧モデルのIntelligence Indexスコア「15」は、確認済みの2数値からの単純計算による推測値</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不明: 学習データセットの詳細・商用ライセンス条件・企業導入事例・NeMo Switchyardのパートナー対応スケジュール</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着手日の2日前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NVIDIA公式ブログ・CNBC等の報道はいずれも2026年8月11日。着手日(2026年8月13日)を含めて2日以内という基準を満たす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報道時期</a:t>
                      </a:r>
                    </a:p>
                  </a:txBody>
                  <a:tcPr>
                    <a:solidFill>
                      <a:srgbClr val="1B3A5C"/>
                    </a:solidFill>
                  </a:tcPr>
                </a:tc>
              </a:tr>
              <a:tr h="502920">
                <a:tc>
                  <a:txBody>
                    <a:bodyPr/>
                    <a:lstStyle/>
                    <a:p>
                      <a:pPr>
                        <a:defRPr sz="1200">
                          <a:solidFill>
                            <a:srgbClr val="16202E"/>
                          </a:solidFill>
                          <a:latin typeface="Yu Gothic"/>
                        </a:defRPr>
                      </a:pPr>
                      <a:r>
                        <a:t>NVIDIA公式ブログ</a:t>
                      </a:r>
                    </a:p>
                  </a:txBody>
                  <a:tcPr>
                    <a:solidFill>
                      <a:srgbClr val="FFFFFF"/>
                    </a:solidFill>
                  </a:tcPr>
                </a:tc>
                <a:tc>
                  <a:txBody>
                    <a:bodyPr/>
                    <a:lstStyle/>
                    <a:p>
                      <a:pPr>
                        <a:defRPr sz="1200">
                          <a:solidFill>
                            <a:srgbClr val="16202E"/>
                          </a:solidFill>
                          <a:latin typeface="Yu Gothic"/>
                        </a:defRPr>
                      </a:pPr>
                      <a:r>
                        <a:t>2026年8月11日</a:t>
                      </a:r>
                    </a:p>
                  </a:txBody>
                  <a:tcPr>
                    <a:solidFill>
                      <a:srgbClr val="FFFFFF"/>
                    </a:solidFill>
                  </a:tcPr>
                </a:tc>
              </a:tr>
              <a:tr h="502920">
                <a:tc>
                  <a:txBody>
                    <a:bodyPr/>
                    <a:lstStyle/>
                    <a:p>
                      <a:pPr>
                        <a:defRPr sz="1200">
                          <a:solidFill>
                            <a:srgbClr val="16202E"/>
                          </a:solidFill>
                          <a:latin typeface="Yu Gothic"/>
                        </a:defRPr>
                      </a:pPr>
                      <a:r>
                        <a:t>CNBC</a:t>
                      </a:r>
                    </a:p>
                  </a:txBody>
                  <a:tcPr>
                    <a:solidFill>
                      <a:srgbClr val="F2F6FA"/>
                    </a:solidFill>
                  </a:tcPr>
                </a:tc>
                <a:tc>
                  <a:txBody>
                    <a:bodyPr/>
                    <a:lstStyle/>
                    <a:p>
                      <a:pPr>
                        <a:defRPr sz="1200">
                          <a:solidFill>
                            <a:srgbClr val="16202E"/>
                          </a:solidFill>
                          <a:latin typeface="Yu Gothic"/>
                        </a:defRPr>
                      </a:pPr>
                      <a:r>
                        <a:t>2026年8月11日前後</a:t>
                      </a:r>
                    </a:p>
                  </a:txBody>
                  <a:tcPr>
                    <a:solidFill>
                      <a:srgbClr val="F2F6FA"/>
                    </a:solidFill>
                  </a:tcPr>
                </a:tc>
              </a:tr>
              <a:tr h="502920">
                <a:tc>
                  <a:txBody>
                    <a:bodyPr/>
                    <a:lstStyle/>
                    <a:p>
                      <a:pPr>
                        <a:defRPr sz="1200">
                          <a:solidFill>
                            <a:srgbClr val="16202E"/>
                          </a:solidFill>
                          <a:latin typeface="Yu Gothic"/>
                        </a:defRPr>
                      </a:pPr>
                      <a:r>
                        <a:t>SiliconANGLE</a:t>
                      </a:r>
                    </a:p>
                  </a:txBody>
                  <a:tcPr>
                    <a:solidFill>
                      <a:srgbClr val="FFFFFF"/>
                    </a:solidFill>
                  </a:tcPr>
                </a:tc>
                <a:tc>
                  <a:txBody>
                    <a:bodyPr/>
                    <a:lstStyle/>
                    <a:p>
                      <a:pPr>
                        <a:defRPr sz="1200">
                          <a:solidFill>
                            <a:srgbClr val="16202E"/>
                          </a:solidFill>
                          <a:latin typeface="Yu Gothic"/>
                        </a:defRPr>
                      </a:pPr>
                      <a:r>
                        <a:t>2026年8月11日前後</a:t>
                      </a:r>
                    </a:p>
                  </a:txBody>
                  <a:tcPr>
                    <a:solidFill>
                      <a:srgbClr val="FFFFFF"/>
                    </a:solidFill>
                  </a:tcPr>
                </a:tc>
              </a:tr>
              <a:tr h="502920">
                <a:tc>
                  <a:txBody>
                    <a:bodyPr/>
                    <a:lstStyle/>
                    <a:p>
                      <a:pPr>
                        <a:defRPr sz="1200">
                          <a:solidFill>
                            <a:srgbClr val="16202E"/>
                          </a:solidFill>
                          <a:latin typeface="Yu Gothic"/>
                        </a:defRPr>
                      </a:pPr>
                      <a:r>
                        <a:t>MarkTechPost</a:t>
                      </a:r>
                    </a:p>
                  </a:txBody>
                  <a:tcPr>
                    <a:solidFill>
                      <a:srgbClr val="F2F6FA"/>
                    </a:solidFill>
                  </a:tcPr>
                </a:tc>
                <a:tc>
                  <a:txBody>
                    <a:bodyPr/>
                    <a:lstStyle/>
                    <a:p>
                      <a:pPr>
                        <a:defRPr sz="1200">
                          <a:solidFill>
                            <a:srgbClr val="16202E"/>
                          </a:solidFill>
                          <a:latin typeface="Yu Gothic"/>
                        </a:defRPr>
                      </a:pPr>
                      <a:r>
                        <a:t>2026年8月11日前後</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NVIDIA公式ブログ・CNBC・SiliconANGLE・MarkTechPost(2026-08-11の報道)｜191本目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1枚のGPUで動く、出力4倍速のAIエージェント基盤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VIDIAは300億パラメータ(アクティブ30億)のオープンソースモデルとルーティングライブラリを公開したと報じられているが、学習データ・ライセンス条件・導入事例は確認できておらず、確定事実と未確認情報を区別して見る必要があ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NVIDIA公式ブログ・CNBC・SiliconANGLE・MarkTechPost(2026-08-11)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モデルとライブラリは公開された。次に問われるのは、実際の導入事例と商用利用条件がどう明らかになっていくか。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特定企業への評価ではなく、事実関係の整理として、今後も出典付きで注目したいポイントです。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