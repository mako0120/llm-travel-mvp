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の現場には、誰も触りたがらない、老朽化したコードが山ほどあります。今日紹介するのは、そんなコードをAIエージェントが書き換えた、という実地報告です。ただし、良い話だけではありません。AIには判断できないことも、はっきり報告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まず数字から。RNA配列解析のパイプラインが、60倍速くなったと報告されています。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今日はこの5つの流れでお伝えします。成果だけでなく、限界についても丁寧に見ていきます。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発表内容を整理すると、この5点になります。複数のAIツールを組み合わせている点も注目です。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代表的な3つの案件を紹介します。単純な更新から、ゼロからの再構築まで、難易度もさまざまです。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流れを図にするとこうです。AIが書き換えを担い、最終的な科学的正しさの確認は、引き続き人間が担っています。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この案件が最も野心的です。2万行のコードをゼロから書き直して、精度もほぼ完全に一致させています。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もう一つの数字です。27分近くかかっていた処理が、30秒足らずになりました。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使用ツールを整理しました。単独ではなく、複数のAIツールを組み合わせる案件もあった点が興味深いところです。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OpenAI自身がこう報告しています。書くのが速くなった分、確認する作業の方が重要になった、ということです。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書き換えられたコードの規模も見ておきましょう。2万行という、決して小さくない規模です。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MHCflurryプロジェクトでは、2つのAIツールが役割を交代しながら進めた点が特徴的です。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良い話だけではありません。OpenAI自身が正直に報告している3つの限界を紹介します。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科学研究ソフトウェアの『正しさ』は、テストが通るかどうかとは別の話です。物理法則との整合性は、今のところ人間にしか判断できません。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この整理はOpenAI自身の報告に基づくものです。AIと人間、それぞれの役割がはっきり分かれています。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正直にお伝えします。この発表は6日前のものです。鮮度は下がりますが、妥協したことを隠さずお伝えしています。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この4点は、今回の調査で確認できなかった事項として一覧化しました。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今回・前回のテーマを合わせて見ると、AIエージェントをめぐる異なる3つの側面が見えてきます。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実地報告全体では8つの案件が扱われています。本テーマではそのうち3つを詳しく紹介しました。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実務的な視点として、研究機関が導入を検討する際に確認したい4つのポイントをまとめました。これは一般的な整理です。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AIの能力は上がりましたが、人間の役割がなくなったわけではありません。何が変わり、何が変わっていないかを整理しました。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72本目と本テーマは、どちらもAIエージェント関連ですが、扱う側面は異なります。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成果を伝える発表だからこそ、限界の記載まで含めて丁寧にお伝えすることを意識しました。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最後にもう一度確認します。60倍の高速化、2万行のコード書き換え。ただし科学的な正しさの判断は、引き続き人間の役割です。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最後にもう一度、この言葉を紹介します。AIがどれだけ速くコードを書けても、この判断だけは人間に委ねられています。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今後注目したいポイントを3つ挙げました。この分野の動きは、まだ始まったばかりです。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3つのテーマを通じて、AIエージェントの現在地が見えてきます。リスクだけでも成果だけでもない、両面を見る視点が大切です。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本テーマの総括です。8案件のうち3案件を詳しく見てきました。成果だけでなく限界もあわせて報告している点が、この実地報告の誠実なところです。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本編は以上です。今回はOpenAIのAIコーディングエージェントによる科学研究コード近代化の実地報告を題材に、成果と限界の両方についてお伝えしました。次回もまた出典付きでお届けします。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誰も触りたがらなかった、20年ものの「死んだコード」。</a:t>
            </a:r>
          </a:p>
          <a:p>
            <a:pPr algn="l">
              <a:lnSpc>
                <a:spcPct val="115000"/>
              </a:lnSpc>
            </a:pPr>
            <a:r>
              <a:rPr sz="4200" b="1">
                <a:solidFill>
                  <a:srgbClr val="FFFFFF"/>
                </a:solidFill>
                <a:latin typeface="Yu Gothic"/>
              </a:rPr>
              <a:t>AIエージェントは、それを書き換えた──ただし、正しさまでは判断できなかった。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OpenAIのAIコーディングエージェントによる科学研究コード近代化の実地報告(2026年7月28日発表)を、出典付きで振り返る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TechTimes・the-decoder・artificialintelligence-news ほか。発表日は着手日の6日前(鮮度の妥協を本編で開示)。</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RNA配列解析パイプラインの高速化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60倍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RNA-sequencing品質管理パイプラインの処理速度向上</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TechTimes(2026-07-28)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何が発表されたのか(実地報告の概要)</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代表的な3つの案件の中身</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『ボトルネックがレビューに移った』の意味</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AIには判断できないこと(正直な限界)</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読み解く上での注意点・確認できなかったこと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発表の概要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2026年7月28日、OpenAIの発表のポイントです。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GPT-5.5・GPT-5.6によるCodexを中心に、8つの実案件で科学研究用のレガシーコードを近代化</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5案件はCodex単独、3案件はAnthropicのClaude Codeも併用</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RNA配列解析パイプラインで60倍の高速化を達成</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2万行のC/C++ゲノムアライナーをゼロからRustで書き直し、99.8%の精度一致を達成</a:t>
            </a:r>
          </a:p>
        </p:txBody>
      </p:sp>
      <p:sp>
        <p:nvSpPr>
          <p:cNvPr id="15" name="Oval 14"/>
          <p:cNvSpPr/>
          <p:nvPr/>
        </p:nvSpPr>
        <p:spPr>
          <a:xfrm>
            <a:off x="457200" y="523036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『正しさの判断は人間にしかできない』という限界も同時に報告</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TechTimes / the-decoder(2026-07-28)</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代表的な3つの案件</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cyvcf2</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ビルド手順の最新化</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遺伝子データ読み込み用ライブラリの古い手順をGPT-5.5が更新</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MHCflurry</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TensorFlow→PyTorch移植</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免疫モデルの約1万行を、Claude CodeとCodexが役割を交代しながら移植</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rustar-aligner</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Rustでゼロから再構築</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ゲノムアライナーSTARを一からRustで書き直し</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the-decoder</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近代化の流れ(概念図)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老朽化した科学研究コード</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誰も触れたがらない状態</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AIコーディングエージェントが書き換え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Codex・Claude Codeを併用する案件も</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研究者が結果を検証</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科学的な正しさは人間が判断</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AIが書き換え、最終的な正しさは人間が確認する分業</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rustar-alignerプロジェクトの詳細</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最も野心的な案件を詳しく見ていきます。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STARは配列読み取りをゲノム上の位置に対応させる、ゲノム解析の中核ツール</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2万行のC/C++コードを、ゼロからRustで書き直した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既存のC/C++版との出力の精度一致率は99.8%と報告</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GPU向けに再設計した合成ゲノム生成処理は、1,610秒から27秒に短縮</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the-decoder / TechTimes</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合成ゲノム生成処理の高速化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1,610秒→27秒</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GPU向けに再設計した結果の処理時間短縮</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TechTimes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案件ごとの使用ツール</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案件</a:t>
                      </a:r>
                    </a:p>
                  </a:txBody>
                  <a:tcPr>
                    <a:solidFill>
                      <a:srgbClr val="1E2761"/>
                    </a:solidFill>
                  </a:tcPr>
                </a:tc>
                <a:tc>
                  <a:txBody>
                    <a:bodyPr/>
                    <a:lstStyle/>
                    <a:p>
                      <a:pPr>
                        <a:defRPr sz="1300" b="1">
                          <a:solidFill>
                            <a:srgbClr val="FFFFFF"/>
                          </a:solidFill>
                          <a:latin typeface="Yu Gothic"/>
                        </a:defRPr>
                      </a:pPr>
                      <a:r>
                        <a:t>使用ツール</a:t>
                      </a:r>
                    </a:p>
                  </a:txBody>
                  <a:tcPr>
                    <a:solidFill>
                      <a:srgbClr val="1E2761"/>
                    </a:solidFill>
                  </a:tcPr>
                </a:tc>
              </a:tr>
              <a:tr h="502920">
                <a:tc>
                  <a:txBody>
                    <a:bodyPr/>
                    <a:lstStyle/>
                    <a:p>
                      <a:pPr>
                        <a:defRPr sz="1200">
                          <a:solidFill>
                            <a:srgbClr val="1A1A2E"/>
                          </a:solidFill>
                          <a:latin typeface="Yu Gothic"/>
                        </a:defRPr>
                      </a:pPr>
                      <a:r>
                        <a:t>cyvcf2</a:t>
                      </a:r>
                    </a:p>
                  </a:txBody>
                  <a:tcPr>
                    <a:solidFill>
                      <a:srgbClr val="FFFFFF"/>
                    </a:solidFill>
                  </a:tcPr>
                </a:tc>
                <a:tc>
                  <a:txBody>
                    <a:bodyPr/>
                    <a:lstStyle/>
                    <a:p>
                      <a:pPr>
                        <a:defRPr sz="1200">
                          <a:solidFill>
                            <a:srgbClr val="1A1A2E"/>
                          </a:solidFill>
                          <a:latin typeface="Yu Gothic"/>
                        </a:defRPr>
                      </a:pPr>
                      <a:r>
                        <a:t>Codex単独(GPT-5.5)</a:t>
                      </a:r>
                    </a:p>
                  </a:txBody>
                  <a:tcPr>
                    <a:solidFill>
                      <a:srgbClr val="FFFFFF"/>
                    </a:solidFill>
                  </a:tcPr>
                </a:tc>
              </a:tr>
              <a:tr h="502920">
                <a:tc>
                  <a:txBody>
                    <a:bodyPr/>
                    <a:lstStyle/>
                    <a:p>
                      <a:pPr>
                        <a:defRPr sz="1200">
                          <a:solidFill>
                            <a:srgbClr val="1A1A2E"/>
                          </a:solidFill>
                          <a:latin typeface="Yu Gothic"/>
                        </a:defRPr>
                      </a:pPr>
                      <a:r>
                        <a:t>MHCflurry</a:t>
                      </a:r>
                    </a:p>
                  </a:txBody>
                  <a:tcPr>
                    <a:solidFill>
                      <a:srgbClr val="F3F6FC"/>
                    </a:solidFill>
                  </a:tcPr>
                </a:tc>
                <a:tc>
                  <a:txBody>
                    <a:bodyPr/>
                    <a:lstStyle/>
                    <a:p>
                      <a:pPr>
                        <a:defRPr sz="1200">
                          <a:solidFill>
                            <a:srgbClr val="1A1A2E"/>
                          </a:solidFill>
                          <a:latin typeface="Yu Gothic"/>
                        </a:defRPr>
                      </a:pPr>
                      <a:r>
                        <a:t>Claude Code + Codexの併用(役割交代)</a:t>
                      </a:r>
                    </a:p>
                  </a:txBody>
                  <a:tcPr>
                    <a:solidFill>
                      <a:srgbClr val="F3F6FC"/>
                    </a:solidFill>
                  </a:tcPr>
                </a:tc>
              </a:tr>
              <a:tr h="502920">
                <a:tc>
                  <a:txBody>
                    <a:bodyPr/>
                    <a:lstStyle/>
                    <a:p>
                      <a:pPr>
                        <a:defRPr sz="1200">
                          <a:solidFill>
                            <a:srgbClr val="1A1A2E"/>
                          </a:solidFill>
                          <a:latin typeface="Yu Gothic"/>
                        </a:defRPr>
                      </a:pPr>
                      <a:r>
                        <a:t>rustar-aligner</a:t>
                      </a:r>
                    </a:p>
                  </a:txBody>
                  <a:tcPr>
                    <a:solidFill>
                      <a:srgbClr val="FFFFFF"/>
                    </a:solidFill>
                  </a:tcPr>
                </a:tc>
                <a:tc>
                  <a:txBody>
                    <a:bodyPr/>
                    <a:lstStyle/>
                    <a:p>
                      <a:pPr>
                        <a:defRPr sz="1200">
                          <a:solidFill>
                            <a:srgbClr val="1A1A2E"/>
                          </a:solidFill>
                          <a:latin typeface="Yu Gothic"/>
                        </a:defRPr>
                      </a:pPr>
                      <a:r>
                        <a:t>Codex中心</a:t>
                      </a:r>
                    </a:p>
                  </a:txBody>
                  <a:tcPr>
                    <a:solidFill>
                      <a:srgbClr val="FFFFFF"/>
                    </a:solidFill>
                  </a:tcPr>
                </a:tc>
              </a:tr>
              <a:tr h="502920">
                <a:tc>
                  <a:txBody>
                    <a:bodyPr/>
                    <a:lstStyle/>
                    <a:p>
                      <a:pPr>
                        <a:defRPr sz="1200">
                          <a:solidFill>
                            <a:srgbClr val="1A1A2E"/>
                          </a:solidFill>
                          <a:latin typeface="Yu Gothic"/>
                        </a:defRPr>
                      </a:pPr>
                      <a:r>
                        <a:t>8案件全体</a:t>
                      </a:r>
                    </a:p>
                  </a:txBody>
                  <a:tcPr>
                    <a:solidFill>
                      <a:srgbClr val="F3F6FC"/>
                    </a:solidFill>
                  </a:tcPr>
                </a:tc>
                <a:tc>
                  <a:txBody>
                    <a:bodyPr/>
                    <a:lstStyle/>
                    <a:p>
                      <a:pPr>
                        <a:defRPr sz="1200">
                          <a:solidFill>
                            <a:srgbClr val="1A1A2E"/>
                          </a:solidFill>
                          <a:latin typeface="Yu Gothic"/>
                        </a:defRPr>
                      </a:pPr>
                      <a:r>
                        <a:t>5案件はCodex単独、3案件はClaude Codeも併用</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the-decoder</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“ボトルネックは、コードを書くことからレビューすることに移った。”</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OpenAIの実地報告の趣旨(the-decoder経由、意訳)</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書き換えられたコードの規模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2万行</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rustar-alignerプロジェクトでゼロからRustに書き直されたコード量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the-decoder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MHCflurryプロジェクトの進め方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役割分担の設定</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Claude CodeとCodexが開発者・レビュー役を交代する体制を組む</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段階的な移植</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約1万行をTensorFlowからPyTorchへ少しずつ移植</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相互レビュー</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一方が書いたコードをもう一方がレビューする形で進める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正直に報告された3つの限界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限界1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科学的正しさの判断はできない</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テストの合否ではなく物理法則との整合性が基準</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限界2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レビューが新たなボトルネック</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書く速度が上がった分、確認作業の重要性が増した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限界3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人間の検証は必須のまま</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研究者による結果確認は引き続き欠かせない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the-decoder</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『正しさ』の判断基準(概念図)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テストが通る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AIが確認できる範囲</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物理法則・生物学的な整合性</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AIには判断できない</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研究者による最終確認</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引き続き人間の役割</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テストの合否と科学的な正しさは別物であると明示されている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AIの役割 vs 人間の役割</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AIエージェントが担う役割</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レガシーコードの書き換え・移植</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ビルド・インストール手順の最新化</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処理速度の改善(GPU向け再設計等)</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人間(研究者)が担う役割</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科学的な正しさの最終判断</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物理法則・生物学的整合性の確認</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レビュー(新たなボトルネック)</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本テーマを見るときに、まずお伝えしたい点です。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本テーマの発表日は2026年7月28日で、着手日(2026-08-03)の6日前である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着手日・前日の新規候補が見つからず、鮮度基準を厳密には満たさないまま採用した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70本目・71本目で実現できた2日以内の高い鮮度から、今回は後退している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内容自体は複数の独立したメディアが同じ内容を報じており、事実確認は行っている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OpenAIの一次発表(field report)の原文全体</a:t>
                      </a:r>
                    </a:p>
                  </a:txBody>
                  <a:tcPr>
                    <a:solidFill>
                      <a:srgbClr val="FFFFFF"/>
                    </a:solidFill>
                  </a:tcPr>
                </a:tc>
                <a:tc>
                  <a:txBody>
                    <a:bodyPr/>
                    <a:lstStyle/>
                    <a:p>
                      <a:pPr>
                        <a:defRPr sz="1200">
                          <a:solidFill>
                            <a:srgbClr val="1A1A2E"/>
                          </a:solidFill>
                          <a:latin typeface="Yu Gothic"/>
                        </a:defRPr>
                      </a:pPr>
                      <a:r>
                        <a:t>WebFetchのアクセス制限により未確認、複数媒体の要約に基づく</a:t>
                      </a:r>
                    </a:p>
                  </a:txBody>
                  <a:tcPr>
                    <a:solidFill>
                      <a:srgbClr val="FFFFFF"/>
                    </a:solidFill>
                  </a:tcPr>
                </a:tc>
              </a:tr>
              <a:tr h="502920">
                <a:tc>
                  <a:txBody>
                    <a:bodyPr/>
                    <a:lstStyle/>
                    <a:p>
                      <a:pPr>
                        <a:defRPr sz="1200">
                          <a:solidFill>
                            <a:srgbClr val="1A1A2E"/>
                          </a:solidFill>
                          <a:latin typeface="Yu Gothic"/>
                        </a:defRPr>
                      </a:pPr>
                      <a:r>
                        <a:t>8案件全ての詳細な内訳</a:t>
                      </a:r>
                    </a:p>
                  </a:txBody>
                  <a:tcPr>
                    <a:solidFill>
                      <a:srgbClr val="F3F6FC"/>
                    </a:solidFill>
                  </a:tcPr>
                </a:tc>
                <a:tc>
                  <a:txBody>
                    <a:bodyPr/>
                    <a:lstStyle/>
                    <a:p>
                      <a:pPr>
                        <a:defRPr sz="1200">
                          <a:solidFill>
                            <a:srgbClr val="1A1A2E"/>
                          </a:solidFill>
                          <a:latin typeface="Yu Gothic"/>
                        </a:defRPr>
                      </a:pPr>
                      <a:r>
                        <a:t>3案件のみ具体的に確認できた</a:t>
                      </a:r>
                    </a:p>
                  </a:txBody>
                  <a:tcPr>
                    <a:solidFill>
                      <a:srgbClr val="F3F6FC"/>
                    </a:solidFill>
                  </a:tcPr>
                </a:tc>
              </a:tr>
              <a:tr h="502920">
                <a:tc>
                  <a:txBody>
                    <a:bodyPr/>
                    <a:lstStyle/>
                    <a:p>
                      <a:pPr>
                        <a:defRPr sz="1200">
                          <a:solidFill>
                            <a:srgbClr val="1A1A2E"/>
                          </a:solidFill>
                          <a:latin typeface="Yu Gothic"/>
                        </a:defRPr>
                      </a:pPr>
                      <a:r>
                        <a:t>各案件の実際の開発期間・人的コスト</a:t>
                      </a:r>
                    </a:p>
                  </a:txBody>
                  <a:tcPr>
                    <a:solidFill>
                      <a:srgbClr val="FFFFFF"/>
                    </a:solidFill>
                  </a:tcPr>
                </a:tc>
                <a:tc>
                  <a:txBody>
                    <a:bodyPr/>
                    <a:lstStyle/>
                    <a:p>
                      <a:pPr>
                        <a:defRPr sz="1200">
                          <a:solidFill>
                            <a:srgbClr val="1A1A2E"/>
                          </a:solidFill>
                          <a:latin typeface="Yu Gothic"/>
                        </a:defRPr>
                      </a:pPr>
                      <a:r>
                        <a:t>非公表・未確認</a:t>
                      </a:r>
                    </a:p>
                  </a:txBody>
                  <a:tcPr>
                    <a:solidFill>
                      <a:srgbClr val="FFFFFF"/>
                    </a:solidFill>
                  </a:tcPr>
                </a:tc>
              </a:tr>
              <a:tr h="502920">
                <a:tc>
                  <a:txBody>
                    <a:bodyPr/>
                    <a:lstStyle/>
                    <a:p>
                      <a:pPr>
                        <a:defRPr sz="1200">
                          <a:solidFill>
                            <a:srgbClr val="1A1A2E"/>
                          </a:solidFill>
                          <a:latin typeface="Yu Gothic"/>
                        </a:defRPr>
                      </a:pPr>
                      <a:r>
                        <a:t>『99.8%の精度一致』の判定基準・検証方法</a:t>
                      </a:r>
                    </a:p>
                  </a:txBody>
                  <a:tcPr>
                    <a:solidFill>
                      <a:srgbClr val="F3F6FC"/>
                    </a:solidFill>
                  </a:tcPr>
                </a:tc>
                <a:tc>
                  <a:txBody>
                    <a:bodyPr/>
                    <a:lstStyle/>
                    <a:p>
                      <a:pPr>
                        <a:defRPr sz="1200">
                          <a:solidFill>
                            <a:srgbClr val="1A1A2E"/>
                          </a:solidFill>
                          <a:latin typeface="Yu Gothic"/>
                        </a:defRPr>
                      </a:pPr>
                      <a:r>
                        <a:t>非公表・未確認</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今回のサイクルの3テーマとの関係</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今回・前回のサイクルで扱った3つのテーマを整理します。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70本目は、AIエージェントが暴走した事故のニュースだった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72本目は、AIエージェントを制御する製品への投資のニュースだった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本テーマ(73本目)は、AIエージェントが実際に生産性を上げた成果のニュースである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3つを合わせると、AIエージェントのリスク・対策・成果という異なる側面が見えてくる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実地報告で扱われた案件数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8案件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うち5案件はCodex単独、3案件はClaude Codeも併用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the-decoder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研究機関が導入を検討する際に確認したいこと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対象コードの棚卸し</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老朽化していて書き換えの優先度が高いコードを特定する</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レビュー体制の整備</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書き換え後のレビューを担当する研究者の体制を確保する</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検証基準の明確化</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何をもって『正しい』と判断するかの基準を事前に定める</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段階的な導入</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小規模な案件から試し、徐々に対象を広げる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この発表が示唆すること(合理的推測)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研究の高速化</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老朽化コードの近代化コストが下がり、研究全体が速くなる可能性がある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レビュアーの需要増</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コードレビューができる人材の重要性が増す可能性がある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複数AIツールの併用</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単一のAIツールでなく複数を組み合わせる手法が広がる可能性がある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変わったこと・変わらないこと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変わったこと(報じられている範囲)</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老朽化コードの書き換えが大幅に速くなった</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複数のAIツールを組み合わせる案件が生まれた</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ボトルネックが『書く』から『レビューする』に移った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変わらないこと</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科学的な正しさの最終判断は人間が担う</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テストの合否と科学的正しさは別物である</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研究者による結果確認は引き続き必須</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72本目との比較(重複でないことの確認)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観点</a:t>
                      </a:r>
                    </a:p>
                  </a:txBody>
                  <a:tcPr>
                    <a:solidFill>
                      <a:srgbClr val="1E2761"/>
                    </a:solidFill>
                  </a:tcPr>
                </a:tc>
                <a:tc>
                  <a:txBody>
                    <a:bodyPr/>
                    <a:lstStyle/>
                    <a:p>
                      <a:pPr>
                        <a:defRPr sz="1300" b="1">
                          <a:solidFill>
                            <a:srgbClr val="FFFFFF"/>
                          </a:solidFill>
                          <a:latin typeface="Yu Gothic"/>
                        </a:defRPr>
                      </a:pPr>
                      <a:r>
                        <a:t>72本目 Onyx Security</a:t>
                      </a:r>
                    </a:p>
                  </a:txBody>
                  <a:tcPr>
                    <a:solidFill>
                      <a:srgbClr val="1E2761"/>
                    </a:solidFill>
                  </a:tcPr>
                </a:tc>
                <a:tc>
                  <a:txBody>
                    <a:bodyPr/>
                    <a:lstStyle/>
                    <a:p>
                      <a:pPr>
                        <a:defRPr sz="1300" b="1">
                          <a:solidFill>
                            <a:srgbClr val="FFFFFF"/>
                          </a:solidFill>
                          <a:latin typeface="Yu Gothic"/>
                        </a:defRPr>
                      </a:pPr>
                      <a:r>
                        <a:t>73本目(本テーマ) OpenAI実地報告</a:t>
                      </a:r>
                    </a:p>
                  </a:txBody>
                  <a:tcPr>
                    <a:solidFill>
                      <a:srgbClr val="1E2761"/>
                    </a:solidFill>
                  </a:tcPr>
                </a:tc>
              </a:tr>
              <a:tr h="502920">
                <a:tc>
                  <a:txBody>
                    <a:bodyPr/>
                    <a:lstStyle/>
                    <a:p>
                      <a:pPr>
                        <a:defRPr sz="1200">
                          <a:solidFill>
                            <a:srgbClr val="1A1A2E"/>
                          </a:solidFill>
                          <a:latin typeface="Yu Gothic"/>
                        </a:defRPr>
                      </a:pPr>
                      <a:r>
                        <a:t>性質</a:t>
                      </a:r>
                    </a:p>
                  </a:txBody>
                  <a:tcPr>
                    <a:solidFill>
                      <a:srgbClr val="FFFFFF"/>
                    </a:solidFill>
                  </a:tcPr>
                </a:tc>
                <a:tc>
                  <a:txBody>
                    <a:bodyPr/>
                    <a:lstStyle/>
                    <a:p>
                      <a:pPr>
                        <a:defRPr sz="1200">
                          <a:solidFill>
                            <a:srgbClr val="1A1A2E"/>
                          </a:solidFill>
                          <a:latin typeface="Yu Gothic"/>
                        </a:defRPr>
                      </a:pPr>
                      <a:r>
                        <a:t>AIエージェントを制御する製品への投資</a:t>
                      </a:r>
                    </a:p>
                  </a:txBody>
                  <a:tcPr>
                    <a:solidFill>
                      <a:srgbClr val="FFFFFF"/>
                    </a:solidFill>
                  </a:tcPr>
                </a:tc>
                <a:tc>
                  <a:txBody>
                    <a:bodyPr/>
                    <a:lstStyle/>
                    <a:p>
                      <a:pPr>
                        <a:defRPr sz="1200">
                          <a:solidFill>
                            <a:srgbClr val="1A1A2E"/>
                          </a:solidFill>
                          <a:latin typeface="Yu Gothic"/>
                        </a:defRPr>
                      </a:pPr>
                      <a:r>
                        <a:t>AIコーディングエージェントの生産性の実例</a:t>
                      </a:r>
                    </a:p>
                  </a:txBody>
                  <a:tcPr>
                    <a:solidFill>
                      <a:srgbClr val="FFFFFF"/>
                    </a:solidFill>
                  </a:tcPr>
                </a:tc>
              </a:tr>
              <a:tr h="502920">
                <a:tc>
                  <a:txBody>
                    <a:bodyPr/>
                    <a:lstStyle/>
                    <a:p>
                      <a:pPr>
                        <a:defRPr sz="1200">
                          <a:solidFill>
                            <a:srgbClr val="1A1A2E"/>
                          </a:solidFill>
                          <a:latin typeface="Yu Gothic"/>
                        </a:defRPr>
                      </a:pPr>
                      <a:r>
                        <a:t>主体</a:t>
                      </a:r>
                    </a:p>
                  </a:txBody>
                  <a:tcPr>
                    <a:solidFill>
                      <a:srgbClr val="F3F6FC"/>
                    </a:solidFill>
                  </a:tcPr>
                </a:tc>
                <a:tc>
                  <a:txBody>
                    <a:bodyPr/>
                    <a:lstStyle/>
                    <a:p>
                      <a:pPr>
                        <a:defRPr sz="1200">
                          <a:solidFill>
                            <a:srgbClr val="1A1A2E"/>
                          </a:solidFill>
                          <a:latin typeface="Yu Gothic"/>
                        </a:defRPr>
                      </a:pPr>
                      <a:r>
                        <a:t>Onyx Security(スタートアップ)</a:t>
                      </a:r>
                    </a:p>
                  </a:txBody>
                  <a:tcPr>
                    <a:solidFill>
                      <a:srgbClr val="F3F6FC"/>
                    </a:solidFill>
                  </a:tcPr>
                </a:tc>
                <a:tc>
                  <a:txBody>
                    <a:bodyPr/>
                    <a:lstStyle/>
                    <a:p>
                      <a:pPr>
                        <a:defRPr sz="1200">
                          <a:solidFill>
                            <a:srgbClr val="1A1A2E"/>
                          </a:solidFill>
                          <a:latin typeface="Yu Gothic"/>
                        </a:defRPr>
                      </a:pPr>
                      <a:r>
                        <a:t>OpenAI(自社の実地報告)</a:t>
                      </a:r>
                    </a:p>
                  </a:txBody>
                  <a:tcPr>
                    <a:solidFill>
                      <a:srgbClr val="F3F6FC"/>
                    </a:solidFill>
                  </a:tcPr>
                </a:tc>
              </a:tr>
              <a:tr h="502920">
                <a:tc>
                  <a:txBody>
                    <a:bodyPr/>
                    <a:lstStyle/>
                    <a:p>
                      <a:pPr>
                        <a:defRPr sz="1200">
                          <a:solidFill>
                            <a:srgbClr val="1A1A2E"/>
                          </a:solidFill>
                          <a:latin typeface="Yu Gothic"/>
                        </a:defRPr>
                      </a:pPr>
                      <a:r>
                        <a:t>位置づけ</a:t>
                      </a:r>
                    </a:p>
                  </a:txBody>
                  <a:tcPr>
                    <a:solidFill>
                      <a:srgbClr val="FFFFFF"/>
                    </a:solidFill>
                  </a:tcPr>
                </a:tc>
                <a:tc>
                  <a:txBody>
                    <a:bodyPr/>
                    <a:lstStyle/>
                    <a:p>
                      <a:pPr>
                        <a:defRPr sz="1200">
                          <a:solidFill>
                            <a:srgbClr val="1A1A2E"/>
                          </a:solidFill>
                          <a:latin typeface="Yu Gothic"/>
                        </a:defRPr>
                      </a:pPr>
                      <a:r>
                        <a:t>AIエージェントのリスクへの対策</a:t>
                      </a:r>
                    </a:p>
                  </a:txBody>
                  <a:tcPr>
                    <a:solidFill>
                      <a:srgbClr val="FFFFFF"/>
                    </a:solidFill>
                  </a:tcPr>
                </a:tc>
                <a:tc>
                  <a:txBody>
                    <a:bodyPr/>
                    <a:lstStyle/>
                    <a:p>
                      <a:pPr>
                        <a:defRPr sz="1200">
                          <a:solidFill>
                            <a:srgbClr val="1A1A2E"/>
                          </a:solidFill>
                          <a:latin typeface="Yu Gothic"/>
                        </a:defRPr>
                      </a:pPr>
                      <a:r>
                        <a:t>AIエージェントの能力の実証</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この発表から得られる学び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個別の企業評価ではなく、一般的な視点としてまとめます。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AIコーディングエージェントの成果を伝える報告ほど、限界についての記載も確認する価値がある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『テストが通る』と『科学的に正しい』は別の基準であることを意識するとよい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複数のAIツールを役割分担させる手法は、今後の一つのパターンになりうる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自社の一次報告である点も踏まえ、成果を強調するバイアスの可能性も念頭に置くとよい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60倍 / 2万行</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RNA解析60倍高速化、2万行のコードをRustで書き直し(2026-07-28発表、鮮度6日の妥協あり)</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本編のまとめ</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“正しさは、テストの合否ではなく、物理法則との整合性で決まる。”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OpenAIの実地報告の趣旨(the-decoder経由、意訳)</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他分野への波及</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ゲノム解析以外の科学分野にも同様の手法が広がるか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レビュー支援ツールの発展</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レビューのボトルネックを解消する新たなツールが登場するか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複数AIツール併用の標準化</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Codex・Claude Code等を組み合わせる手法が一般化するか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3テーマを通じて見えてくること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70・72・73本目を通じて、AIエージェントの現在地を整理します。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AIエージェントは便利さと同時に、想定外の行動を起こすリスクも抱えている(70本目)</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そのリスクに対策するための製品にも、大きな資金が投じられている(72本目)</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一方で、AIエージェントが実際に大きな生産性向上をもたらす事例も報告されている(73本目)</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リスク・対策・成果、この3つの側面を合わせて見ることが大切</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TechTimes・the-decoder・artificialintelligence-news ほか(2026-07-28発表)｜定期実行73本目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8案件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うち3案件を詳しく紹介(cyvcf2・MHCflurry・rustar-aligner)。成果と限界の両方をあわせて報告(2026-07-28発表、鮮度6日の妥協あり)</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本編のまとめ</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AIの成果報告ほど、限界の記載まで確認する。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『できたこと』だけでなく『できなかったこと』まで正直に報告する発表かどうか、確認する視点を持ってみてください。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