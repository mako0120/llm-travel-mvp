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音声入力AI企業Wispr、Wispr Flowの開発元が、2026年8月17日にシリーズBラウンドで2億8000万ドルを調達したと発表しました。評価額はまさかの20億ドルに到達。今日はこの資金調達の数字を出典付きで正確に整理してお届けします。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結論から確認します。Wisprは今回のシリーズBラウンドでMenlo Venturesを主導投資家として2億8000万ドルを調達し、評価額は20億ドルに到達しました。ここから数字を1つずつ出典付きで見ていきます。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今日は6つの流れでお伝えします。資金調達の数字から投資家一覧、業績の伸び、新モデルCantoまで、正確に数字を引用しながら整理します。誇張せず、確認できなかったことは正直にお伝えします。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評価額20億ドルという際立った数字、そして既存投資家に加え新規投資家6社が同時参加している点があります。複数の媒体が金額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本題に入る前に、Wisprという企業の前提を確認します。話した内容をテキストに変換する音声入力AIアプリ『Wispr Flow』を開発しており、文字起こしにとどまらず人間とAIのやり取りの基盤を目指す方針を表明しています。本編は資金調達・事業展開の事実紹介であり、製品利用を勧める内容ではありません。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シリーズBとは、シード・シリーズAに続く段階の資金調達を指します。評価額は投資家との合意で算定される推定企業価値、音声入力AIはキーボード入力の代替とな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今回の調達額です。シリーズBラウンドで2億8000万ドルを調達しました。このラウンドはMenlo Venturesが主導しています。次に、調達の詳細と参加した投資家を確認します。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シリーズBラウンドの概要を一覧にしました。2026年8月17日発表、調達額2億8000万ドル、評価額20億ドル。Menlo Venturesが主導しました。次に、参加した投資家の一覧を確認します。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主導投資家を確認します。今回のシリーズBラウンドはMenlo Venturesが主導しました。次に、既存投資家・新規投資家それぞれの参加状況を見ていきます。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既存投資家の追加出資を一覧にしました。Notable Capital・NEA・Neo Ventures・8VC・MVP Venturesの5社が追加出資しています。次に、新規投資家の顔ぶれを確認します。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新規投資家の顔ぶれです。Acrew・Forerunner・Goodwater・Peak XV・Together Fund・PLUS Capitalの6社が新規に参加しました。各投資家の具体的な出資額は非公表です。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投資家をまとめました。既存5社が追加出資し、新規6社が参加。合計で判明しているだけで11社がこのラウンドに参加しています。次に、過去との比較について正直にお伝えします。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ラウンドとの比較について正直にお伝えします。シリーズA等の過去の調達額・評価額は本調査の範囲では確認できていないため、『何倍になったか』という変化率は算出せず、確認できた今回の数字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業績を確認します。Wisprは直近4四半期連続で、売上高が前四半期比150%以上の成長を記録したと発表しています。次に、利用者数・利用企業数もあわせて見ていきます。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業績を3つの数字でまとめました。売上高は前四半期比150%以上の成長が4四半期連続、Flowの利用者は世界中で数百万人、利用企業数は12万5000社以上です。次に、それぞれを1つずつ確認します。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Flowの利用規模です。Wispr Flowは世界中で数百万人に利用されていると発表されています。次に、企業利用の広がりを確認します。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利用企業数です。12万5000社以上の企業でWispr Flowが使われていると発表されています。次に、この数字の内訳について正直にお伝えします。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利用の広がりについてです。フォーチュン500企業の大半の従業員が利用しているとされていますが、利用者数・利用企業数の算出方法の詳細、具体的な定義は本調査の範囲では確認できていません。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事業展開の方向性を図にしました。音声入力を担うWispr Flowから、会議の要約・アクションアイテムを表示する会議記録機能へ、さらに人間とAIのやり取り全般を支える『インテリジェンス層』構想へと事業領域を広げる方針を表明しています。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新しい音声認識モデル『Canto』を確認します。誤認識率を30%から10%未満に引き下げるとしていますが、技術的な仕組みの詳細は本調査の範囲では確認できていません。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Cantoの効果です。誤認識率を30%から10%未満に引き下げるとしています。次に、この数値を扱う際の注意点を正直にお伝えします。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toの技術的詳細について正直にお伝えします。アーキテクチャや学習データ、評価方法の詳細、誤認識率の測定条件は本調査の範囲では確認できていません。確認できた数値のみを紹介し、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今回のシリーズBの調達額・評価額のみであり、過去ラウンドとの比較やCantoの技術詳細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このニュースが読者にとって意味することをまとめました。AI業界の動向を追う立場、業務効率化ツールを検討する立場、投資・スタートアップを追う立場、それぞれで意識したい視点です。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実際に情報を確認・活用する際のチェックポイントです。評価額・調達額は資金調達時点の数字であり、収益性を直接示すものではありません。業績数値も企業側発表である点に留意してください。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今後の計画についても正直にお伝えします。次回の資金調達や上場の計画は、本調査の範囲では確認できていません。将来の計画について推測・断定は行いません。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本テーマの鮮度を数字で確認します。発表は着手日の前日にあたる2026年8月17日でした。当社の鮮度基準(着手日を含めて2日以内)を満たしています。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本編で使った主な出典を一覧にしました。TechCrunch・Fortune・Yahoo Finance・Pulse2・TechFundingNewsという複数の独立した媒体が金額・評価額の数値を一致させて報じていることを確認しています。詳細はresearch.mdをご確認ください。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WisprがシリーズBで2億8000万ドルを調達し評価額20億ドルに到達した件を、投資家一覧・業績・新モデルCanto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まさかの評価額20億ドルに。</a:t>
            </a:r>
          </a:p>
          <a:p>
            <a:pPr algn="l">
              <a:lnSpc>
                <a:spcPct val="115000"/>
              </a:lnSpc>
            </a:pPr>
            <a:r>
              <a:rPr sz="4200" b="1">
                <a:solidFill>
                  <a:srgbClr val="FFFFFF"/>
                </a:solidFill>
                <a:latin typeface="Yu Gothic"/>
              </a:rPr>
              <a:t>音声AI企業Wisprが</a:t>
            </a:r>
          </a:p>
          <a:p>
            <a:pPr algn="l">
              <a:lnSpc>
                <a:spcPct val="115000"/>
              </a:lnSpc>
            </a:pPr>
            <a:r>
              <a:rPr sz="4200" b="1">
                <a:solidFill>
                  <a:srgbClr val="FFFFFF"/>
                </a:solidFill>
                <a:latin typeface="Yu Gothic"/>
              </a:rPr>
              <a:t>2億8000万ドルの新規調達を発表</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2026年8月17日発表のシリーズBラウンド――出典付きで数字を正確に整理する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TechCrunch・Fortune・Yahoo Finance・Pulse2・TechFundingNews(2026年8月17日)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評価額20億ドル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Menlo Venturesを主導投資家とするシリーズBで2億8000万ドルを調達した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Wisprとは・基礎知識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資金調達の数字を確認する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参加した投資家一覧</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業績(売上高成長・利用者数)を深掘りする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事業展開の方針・新モデルCanto・確認できなかったこと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発表翌日(2026年8月18日着手)という鮮度の高い話題である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評価額20億ドルという、音声AI分野での際立った数字が確認できる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既存投資家に加え新規投資家6社が同時に参加している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複数の独立した媒体(TechCrunch・Fortune等)が金額を一致させて報じている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TechCrunch・Fortune・Pulse2(2026-08-17)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Wisprとは(初心者向け)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Wisprは、話した内容をテキストに変換する音声入力AIアプリ『Wispr Flow』を開発する企業である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文字起こしにとどまらず、人間とAIのやり取りの基盤となる『インテリジェンス層』の構築を目指す方針を表明している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本編ではWisprという特定企業の資金調達・事業展開の事実を中立的に紹介する(利用を推奨する内容ではない)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用語解説:シリーズB・評価額・音声入力AIとは(初心者向け)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『シリーズB』とは、スタートアップが複数回行う資金調達のうち、シード・シリーズAに続く段階を指す一般的な呼び方である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『評価額(企業価値)』とは、資金調達時に投資家との合意で算定される、その時点でのその企業の推定価値である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『音声入力AI』とは、話した内容をテキストに変換する技術を核に、キーボード入力の代替として使えるようにしたソフトウェアを指す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2億8000万ドル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シリーズBラウンドでの調達額。Menlo Venturesが主導した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シリーズBラウンドの概要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発表日</a:t>
                      </a:r>
                    </a:p>
                  </a:txBody>
                  <a:tcPr>
                    <a:solidFill>
                      <a:srgbClr val="FFFFFF"/>
                    </a:solidFill>
                  </a:tcPr>
                </a:tc>
                <a:tc>
                  <a:txBody>
                    <a:bodyPr/>
                    <a:lstStyle/>
                    <a:p>
                      <a:pPr>
                        <a:defRPr sz="1200">
                          <a:solidFill>
                            <a:srgbClr val="121C1F"/>
                          </a:solidFill>
                          <a:latin typeface="Yu Gothic"/>
                        </a:defRPr>
                      </a:pPr>
                      <a:r>
                        <a:t>2026年8月17日</a:t>
                      </a:r>
                    </a:p>
                  </a:txBody>
                  <a:tcPr>
                    <a:solidFill>
                      <a:srgbClr val="FFFFFF"/>
                    </a:solidFill>
                  </a:tcPr>
                </a:tc>
              </a:tr>
              <a:tr h="502920">
                <a:tc>
                  <a:txBody>
                    <a:bodyPr/>
                    <a:lstStyle/>
                    <a:p>
                      <a:pPr>
                        <a:defRPr sz="1200">
                          <a:solidFill>
                            <a:srgbClr val="121C1F"/>
                          </a:solidFill>
                          <a:latin typeface="Yu Gothic"/>
                        </a:defRPr>
                      </a:pPr>
                      <a:r>
                        <a:t>調達額</a:t>
                      </a:r>
                    </a:p>
                  </a:txBody>
                  <a:tcPr>
                    <a:solidFill>
                      <a:srgbClr val="F0F7F4"/>
                    </a:solidFill>
                  </a:tcPr>
                </a:tc>
                <a:tc>
                  <a:txBody>
                    <a:bodyPr/>
                    <a:lstStyle/>
                    <a:p>
                      <a:pPr>
                        <a:defRPr sz="1200">
                          <a:solidFill>
                            <a:srgbClr val="121C1F"/>
                          </a:solidFill>
                          <a:latin typeface="Yu Gothic"/>
                        </a:defRPr>
                      </a:pPr>
                      <a:r>
                        <a:t>2億8000万ドル</a:t>
                      </a:r>
                    </a:p>
                  </a:txBody>
                  <a:tcPr>
                    <a:solidFill>
                      <a:srgbClr val="F0F7F4"/>
                    </a:solidFill>
                  </a:tcPr>
                </a:tc>
              </a:tr>
              <a:tr h="502920">
                <a:tc>
                  <a:txBody>
                    <a:bodyPr/>
                    <a:lstStyle/>
                    <a:p>
                      <a:pPr>
                        <a:defRPr sz="1200">
                          <a:solidFill>
                            <a:srgbClr val="121C1F"/>
                          </a:solidFill>
                          <a:latin typeface="Yu Gothic"/>
                        </a:defRPr>
                      </a:pPr>
                      <a:r>
                        <a:t>評価額</a:t>
                      </a:r>
                    </a:p>
                  </a:txBody>
                  <a:tcPr>
                    <a:solidFill>
                      <a:srgbClr val="FFFFFF"/>
                    </a:solidFill>
                  </a:tcPr>
                </a:tc>
                <a:tc>
                  <a:txBody>
                    <a:bodyPr/>
                    <a:lstStyle/>
                    <a:p>
                      <a:pPr>
                        <a:defRPr sz="1200">
                          <a:solidFill>
                            <a:srgbClr val="121C1F"/>
                          </a:solidFill>
                          <a:latin typeface="Yu Gothic"/>
                        </a:defRPr>
                      </a:pPr>
                      <a:r>
                        <a:t>20億ドル</a:t>
                      </a:r>
                    </a:p>
                  </a:txBody>
                  <a:tcPr>
                    <a:solidFill>
                      <a:srgbClr val="FFFFFF"/>
                    </a:solidFill>
                  </a:tcPr>
                </a:tc>
              </a:tr>
              <a:tr h="502920">
                <a:tc>
                  <a:txBody>
                    <a:bodyPr/>
                    <a:lstStyle/>
                    <a:p>
                      <a:pPr>
                        <a:defRPr sz="1200">
                          <a:solidFill>
                            <a:srgbClr val="121C1F"/>
                          </a:solidFill>
                          <a:latin typeface="Yu Gothic"/>
                        </a:defRPr>
                      </a:pPr>
                      <a:r>
                        <a:t>主導投資家</a:t>
                      </a:r>
                    </a:p>
                  </a:txBody>
                  <a:tcPr>
                    <a:solidFill>
                      <a:srgbClr val="F0F7F4"/>
                    </a:solidFill>
                  </a:tcPr>
                </a:tc>
                <a:tc>
                  <a:txBody>
                    <a:bodyPr/>
                    <a:lstStyle/>
                    <a:p>
                      <a:pPr>
                        <a:defRPr sz="1200">
                          <a:solidFill>
                            <a:srgbClr val="121C1F"/>
                          </a:solidFill>
                          <a:latin typeface="Yu Gothic"/>
                        </a:defRPr>
                      </a:pPr>
                      <a:r>
                        <a:t>Menlo Ventures</a:t>
                      </a:r>
                    </a:p>
                  </a:txBody>
                  <a:tcPr>
                    <a:solidFill>
                      <a:srgbClr val="F0F7F4"/>
                    </a:solidFill>
                  </a:tcPr>
                </a:tc>
              </a:tr>
              <a:tr h="502920">
                <a:tc>
                  <a:txBody>
                    <a:bodyPr/>
                    <a:lstStyle/>
                    <a:p>
                      <a:pPr>
                        <a:defRPr sz="1200">
                          <a:solidFill>
                            <a:srgbClr val="121C1F"/>
                          </a:solidFill>
                          <a:latin typeface="Yu Gothic"/>
                        </a:defRPr>
                      </a:pPr>
                      <a:r>
                        <a:t>ラウンド種別</a:t>
                      </a:r>
                    </a:p>
                  </a:txBody>
                  <a:tcPr>
                    <a:solidFill>
                      <a:srgbClr val="FFFFFF"/>
                    </a:solidFill>
                  </a:tcPr>
                </a:tc>
                <a:tc>
                  <a:txBody>
                    <a:bodyPr/>
                    <a:lstStyle/>
                    <a:p>
                      <a:pPr>
                        <a:defRPr sz="1200">
                          <a:solidFill>
                            <a:srgbClr val="121C1F"/>
                          </a:solidFill>
                          <a:latin typeface="Yu Gothic"/>
                        </a:defRPr>
                      </a:pPr>
                      <a:r>
                        <a:t>シリーズB</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TechCrunch・Fortune・Yahoo Finance(2026-08-17)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主導投資家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Menlo Ventures</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今回のシリーズBラウンドを主導した投資会社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既存投資家の追加出資</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既存投資家</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Notable Capital</a:t>
                      </a:r>
                    </a:p>
                  </a:txBody>
                  <a:tcPr>
                    <a:solidFill>
                      <a:srgbClr val="FFFFFF"/>
                    </a:solidFill>
                  </a:tcPr>
                </a:tc>
                <a:tc>
                  <a:txBody>
                    <a:bodyPr/>
                    <a:lstStyle/>
                    <a:p>
                      <a:pPr>
                        <a:defRPr sz="1200">
                          <a:solidFill>
                            <a:srgbClr val="121C1F"/>
                          </a:solidFill>
                          <a:latin typeface="Yu Gothic"/>
                        </a:defRPr>
                      </a:pPr>
                      <a:r>
                        <a:t>追加出資</a:t>
                      </a:r>
                    </a:p>
                  </a:txBody>
                  <a:tcPr>
                    <a:solidFill>
                      <a:srgbClr val="FFFFFF"/>
                    </a:solidFill>
                  </a:tcPr>
                </a:tc>
              </a:tr>
              <a:tr h="502920">
                <a:tc>
                  <a:txBody>
                    <a:bodyPr/>
                    <a:lstStyle/>
                    <a:p>
                      <a:pPr>
                        <a:defRPr sz="1200">
                          <a:solidFill>
                            <a:srgbClr val="121C1F"/>
                          </a:solidFill>
                          <a:latin typeface="Yu Gothic"/>
                        </a:defRPr>
                      </a:pPr>
                      <a:r>
                        <a:t>NEA</a:t>
                      </a:r>
                    </a:p>
                  </a:txBody>
                  <a:tcPr>
                    <a:solidFill>
                      <a:srgbClr val="F0F7F4"/>
                    </a:solidFill>
                  </a:tcPr>
                </a:tc>
                <a:tc>
                  <a:txBody>
                    <a:bodyPr/>
                    <a:lstStyle/>
                    <a:p>
                      <a:pPr>
                        <a:defRPr sz="1200">
                          <a:solidFill>
                            <a:srgbClr val="121C1F"/>
                          </a:solidFill>
                          <a:latin typeface="Yu Gothic"/>
                        </a:defRPr>
                      </a:pPr>
                      <a:r>
                        <a:t>追加出資</a:t>
                      </a:r>
                    </a:p>
                  </a:txBody>
                  <a:tcPr>
                    <a:solidFill>
                      <a:srgbClr val="F0F7F4"/>
                    </a:solidFill>
                  </a:tcPr>
                </a:tc>
              </a:tr>
              <a:tr h="502920">
                <a:tc>
                  <a:txBody>
                    <a:bodyPr/>
                    <a:lstStyle/>
                    <a:p>
                      <a:pPr>
                        <a:defRPr sz="1200">
                          <a:solidFill>
                            <a:srgbClr val="121C1F"/>
                          </a:solidFill>
                          <a:latin typeface="Yu Gothic"/>
                        </a:defRPr>
                      </a:pPr>
                      <a:r>
                        <a:t>Neo Ventures</a:t>
                      </a:r>
                    </a:p>
                  </a:txBody>
                  <a:tcPr>
                    <a:solidFill>
                      <a:srgbClr val="FFFFFF"/>
                    </a:solidFill>
                  </a:tcPr>
                </a:tc>
                <a:tc>
                  <a:txBody>
                    <a:bodyPr/>
                    <a:lstStyle/>
                    <a:p>
                      <a:pPr>
                        <a:defRPr sz="1200">
                          <a:solidFill>
                            <a:srgbClr val="121C1F"/>
                          </a:solidFill>
                          <a:latin typeface="Yu Gothic"/>
                        </a:defRPr>
                      </a:pPr>
                      <a:r>
                        <a:t>追加出資</a:t>
                      </a:r>
                    </a:p>
                  </a:txBody>
                  <a:tcPr>
                    <a:solidFill>
                      <a:srgbClr val="FFFFFF"/>
                    </a:solidFill>
                  </a:tcPr>
                </a:tc>
              </a:tr>
              <a:tr h="502920">
                <a:tc>
                  <a:txBody>
                    <a:bodyPr/>
                    <a:lstStyle/>
                    <a:p>
                      <a:pPr>
                        <a:defRPr sz="1200">
                          <a:solidFill>
                            <a:srgbClr val="121C1F"/>
                          </a:solidFill>
                          <a:latin typeface="Yu Gothic"/>
                        </a:defRPr>
                      </a:pPr>
                      <a:r>
                        <a:t>8VC</a:t>
                      </a:r>
                    </a:p>
                  </a:txBody>
                  <a:tcPr>
                    <a:solidFill>
                      <a:srgbClr val="F0F7F4"/>
                    </a:solidFill>
                  </a:tcPr>
                </a:tc>
                <a:tc>
                  <a:txBody>
                    <a:bodyPr/>
                    <a:lstStyle/>
                    <a:p>
                      <a:pPr>
                        <a:defRPr sz="1200">
                          <a:solidFill>
                            <a:srgbClr val="121C1F"/>
                          </a:solidFill>
                          <a:latin typeface="Yu Gothic"/>
                        </a:defRPr>
                      </a:pPr>
                      <a:r>
                        <a:t>追加出資</a:t>
                      </a:r>
                    </a:p>
                  </a:txBody>
                  <a:tcPr>
                    <a:solidFill>
                      <a:srgbClr val="F0F7F4"/>
                    </a:solidFill>
                  </a:tcPr>
                </a:tc>
              </a:tr>
              <a:tr h="502920">
                <a:tc>
                  <a:txBody>
                    <a:bodyPr/>
                    <a:lstStyle/>
                    <a:p>
                      <a:pPr>
                        <a:defRPr sz="1200">
                          <a:solidFill>
                            <a:srgbClr val="121C1F"/>
                          </a:solidFill>
                          <a:latin typeface="Yu Gothic"/>
                        </a:defRPr>
                      </a:pPr>
                      <a:r>
                        <a:t>MVP Ventures</a:t>
                      </a:r>
                    </a:p>
                  </a:txBody>
                  <a:tcPr>
                    <a:solidFill>
                      <a:srgbClr val="FFFFFF"/>
                    </a:solidFill>
                  </a:tcPr>
                </a:tc>
                <a:tc>
                  <a:txBody>
                    <a:bodyPr/>
                    <a:lstStyle/>
                    <a:p>
                      <a:pPr>
                        <a:defRPr sz="1200">
                          <a:solidFill>
                            <a:srgbClr val="121C1F"/>
                          </a:solidFill>
                          <a:latin typeface="Yu Gothic"/>
                        </a:defRPr>
                      </a:pPr>
                      <a:r>
                        <a:t>追加出資</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TechCrunch・Fortune・Pulse2(2026-08-17)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新規投資家一覧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新規投資家</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Acrew</a:t>
                      </a:r>
                    </a:p>
                  </a:txBody>
                  <a:tcPr>
                    <a:solidFill>
                      <a:srgbClr val="FFFFFF"/>
                    </a:solidFill>
                  </a:tcPr>
                </a:tc>
                <a:tc>
                  <a:txBody>
                    <a:bodyPr/>
                    <a:lstStyle/>
                    <a:p>
                      <a:pPr>
                        <a:defRPr sz="1200">
                          <a:solidFill>
                            <a:srgbClr val="121C1F"/>
                          </a:solidFill>
                          <a:latin typeface="Yu Gothic"/>
                        </a:defRPr>
                      </a:pPr>
                      <a:r>
                        <a:t>新規参加</a:t>
                      </a:r>
                    </a:p>
                  </a:txBody>
                  <a:tcPr>
                    <a:solidFill>
                      <a:srgbClr val="FFFFFF"/>
                    </a:solidFill>
                  </a:tcPr>
                </a:tc>
              </a:tr>
              <a:tr h="502920">
                <a:tc>
                  <a:txBody>
                    <a:bodyPr/>
                    <a:lstStyle/>
                    <a:p>
                      <a:pPr>
                        <a:defRPr sz="1200">
                          <a:solidFill>
                            <a:srgbClr val="121C1F"/>
                          </a:solidFill>
                          <a:latin typeface="Yu Gothic"/>
                        </a:defRPr>
                      </a:pPr>
                      <a:r>
                        <a:t>Forerunner</a:t>
                      </a:r>
                    </a:p>
                  </a:txBody>
                  <a:tcPr>
                    <a:solidFill>
                      <a:srgbClr val="F0F7F4"/>
                    </a:solidFill>
                  </a:tcPr>
                </a:tc>
                <a:tc>
                  <a:txBody>
                    <a:bodyPr/>
                    <a:lstStyle/>
                    <a:p>
                      <a:pPr>
                        <a:defRPr sz="1200">
                          <a:solidFill>
                            <a:srgbClr val="121C1F"/>
                          </a:solidFill>
                          <a:latin typeface="Yu Gothic"/>
                        </a:defRPr>
                      </a:pPr>
                      <a:r>
                        <a:t>新規参加</a:t>
                      </a:r>
                    </a:p>
                  </a:txBody>
                  <a:tcPr>
                    <a:solidFill>
                      <a:srgbClr val="F0F7F4"/>
                    </a:solidFill>
                  </a:tcPr>
                </a:tc>
              </a:tr>
              <a:tr h="502920">
                <a:tc>
                  <a:txBody>
                    <a:bodyPr/>
                    <a:lstStyle/>
                    <a:p>
                      <a:pPr>
                        <a:defRPr sz="1200">
                          <a:solidFill>
                            <a:srgbClr val="121C1F"/>
                          </a:solidFill>
                          <a:latin typeface="Yu Gothic"/>
                        </a:defRPr>
                      </a:pPr>
                      <a:r>
                        <a:t>Goodwater</a:t>
                      </a:r>
                    </a:p>
                  </a:txBody>
                  <a:tcPr>
                    <a:solidFill>
                      <a:srgbClr val="FFFFFF"/>
                    </a:solidFill>
                  </a:tcPr>
                </a:tc>
                <a:tc>
                  <a:txBody>
                    <a:bodyPr/>
                    <a:lstStyle/>
                    <a:p>
                      <a:pPr>
                        <a:defRPr sz="1200">
                          <a:solidFill>
                            <a:srgbClr val="121C1F"/>
                          </a:solidFill>
                          <a:latin typeface="Yu Gothic"/>
                        </a:defRPr>
                      </a:pPr>
                      <a:r>
                        <a:t>新規参加</a:t>
                      </a:r>
                    </a:p>
                  </a:txBody>
                  <a:tcPr>
                    <a:solidFill>
                      <a:srgbClr val="FFFFFF"/>
                    </a:solidFill>
                  </a:tcPr>
                </a:tc>
              </a:tr>
              <a:tr h="502920">
                <a:tc>
                  <a:txBody>
                    <a:bodyPr/>
                    <a:lstStyle/>
                    <a:p>
                      <a:pPr>
                        <a:defRPr sz="1200">
                          <a:solidFill>
                            <a:srgbClr val="121C1F"/>
                          </a:solidFill>
                          <a:latin typeface="Yu Gothic"/>
                        </a:defRPr>
                      </a:pPr>
                      <a:r>
                        <a:t>Peak XV</a:t>
                      </a:r>
                    </a:p>
                  </a:txBody>
                  <a:tcPr>
                    <a:solidFill>
                      <a:srgbClr val="F0F7F4"/>
                    </a:solidFill>
                  </a:tcPr>
                </a:tc>
                <a:tc>
                  <a:txBody>
                    <a:bodyPr/>
                    <a:lstStyle/>
                    <a:p>
                      <a:pPr>
                        <a:defRPr sz="1200">
                          <a:solidFill>
                            <a:srgbClr val="121C1F"/>
                          </a:solidFill>
                          <a:latin typeface="Yu Gothic"/>
                        </a:defRPr>
                      </a:pPr>
                      <a:r>
                        <a:t>新規参加</a:t>
                      </a:r>
                    </a:p>
                  </a:txBody>
                  <a:tcPr>
                    <a:solidFill>
                      <a:srgbClr val="F0F7F4"/>
                    </a:solidFill>
                  </a:tcPr>
                </a:tc>
              </a:tr>
              <a:tr h="502920">
                <a:tc>
                  <a:txBody>
                    <a:bodyPr/>
                    <a:lstStyle/>
                    <a:p>
                      <a:pPr>
                        <a:defRPr sz="1200">
                          <a:solidFill>
                            <a:srgbClr val="121C1F"/>
                          </a:solidFill>
                          <a:latin typeface="Yu Gothic"/>
                        </a:defRPr>
                      </a:pPr>
                      <a:r>
                        <a:t>Together Fund</a:t>
                      </a:r>
                    </a:p>
                  </a:txBody>
                  <a:tcPr>
                    <a:solidFill>
                      <a:srgbClr val="FFFFFF"/>
                    </a:solidFill>
                  </a:tcPr>
                </a:tc>
                <a:tc>
                  <a:txBody>
                    <a:bodyPr/>
                    <a:lstStyle/>
                    <a:p>
                      <a:pPr>
                        <a:defRPr sz="1200">
                          <a:solidFill>
                            <a:srgbClr val="121C1F"/>
                          </a:solidFill>
                          <a:latin typeface="Yu Gothic"/>
                        </a:defRPr>
                      </a:pPr>
                      <a:r>
                        <a:t>新規参加</a:t>
                      </a:r>
                    </a:p>
                  </a:txBody>
                  <a:tcPr>
                    <a:solidFill>
                      <a:srgbClr val="FFFFFF"/>
                    </a:solidFill>
                  </a:tcPr>
                </a:tc>
              </a:tr>
              <a:tr h="502920">
                <a:tc>
                  <a:txBody>
                    <a:bodyPr/>
                    <a:lstStyle/>
                    <a:p>
                      <a:pPr>
                        <a:defRPr sz="1200">
                          <a:solidFill>
                            <a:srgbClr val="121C1F"/>
                          </a:solidFill>
                          <a:latin typeface="Yu Gothic"/>
                        </a:defRPr>
                      </a:pPr>
                      <a:r>
                        <a:t>PLUS Capital</a:t>
                      </a:r>
                    </a:p>
                  </a:txBody>
                  <a:tcPr>
                    <a:solidFill>
                      <a:srgbClr val="F0F7F4"/>
                    </a:solidFill>
                  </a:tcPr>
                </a:tc>
                <a:tc>
                  <a:txBody>
                    <a:bodyPr/>
                    <a:lstStyle/>
                    <a:p>
                      <a:pPr>
                        <a:defRPr sz="1200">
                          <a:solidFill>
                            <a:srgbClr val="121C1F"/>
                          </a:solidFill>
                          <a:latin typeface="Yu Gothic"/>
                        </a:defRPr>
                      </a:pPr>
                      <a:r>
                        <a:t>新規参加</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TechCrunch・Fortune・Pulse2(2026-08-17)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投資家まとめ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5社</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既存投資家の追加出資</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Notable Capital・NEA・Neo Ventures・8VC・MVP Venturesが追加出資</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6社</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新規投資家の参加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Acrew・Forerunner・Goodwater・Peak XV・Together Fund・PLUS Capitalが新規参加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11社</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合計参加投資家数(判明分)</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既存5社・新規6社が今回のラウンドに参加したと確認できている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過去ラウンドの評価額は不明(正直な開示)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Wisprの過去ラウンド(シリーズA等)の調達額・評価額は、本調査の範囲では確認できていない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そのため『評価額が何倍になったか』という変化率は算出できず、本成果物では創作・推測を行わない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確認できているのは、今回のシリーズBで調達額2億8000万ドル・評価額20億ドルに到達したという事実のみである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売上高の成長ペース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前四半期比150%以上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直近4四半期連続で、売上高が前四半期比150%以上の成長を記録したとしている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業績を数字で見る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150%以上</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売上高成長率</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直近4四半期連続で前四半期比150%以上の成長を記録</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数百万人</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Flow利用者数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世界中で数百万人がWispr Flowを利用している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12万5000社以上</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利用企業数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12万5000社以上の企業でWispr Flowが使われている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Flowの利用規模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数百万人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Wispr Flowは世界中で数百万人に利用されているとしている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利用している企業数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12万5000社以上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12万5000社以上の企業でWispr Flowが使われているとしている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フォーチュン500企業の大半でも利用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利用の広がりについてです。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フォーチュン500企業の大半の従業員が、Wispr Flowを利用しているとしている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利用者数・利用企業数はいずれも企業側の発表数字であり、算出方法の詳細は本調査の範囲では確認できていない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月間アクティブ利用者数か累計登録者数かなど、具体的な定義は不明である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事業展開の方向性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Wispr Flow</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音声入力(文字起こし)を担う基盤製品</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会議記録機能</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会議の要約・アクションアイテムを表示</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インテリジェンス層構想</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人間とAIのやり取り全般の基盤を目指す方針</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単なる文字起こしにとどまらず、事業領域を広げる方針を表明している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TechCrunch・Fortune(2026-08-17)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新モデル『Canto』とは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新しい音声認識モデルを確認します。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Wisprは新しい音声認識モデル『Canto』を発表している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Cantoにより、誤認識率を30%から10%未満に引き下げるとしている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『Canto』という名称と誤認識率の数値のみが報じられており、技術的な仕組みの詳細は本調査の範囲では確認できていない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新モデルCantoの効果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誤認識率30%→10%未満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新しい音声認識モデル『Canto』により、誤認識率を30%から10%未満に引き下げるとしている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TechCrunch・Fortune(2026-08-17)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Cantoの技術的詳細は不明(正直な開示)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『Canto』の技術的な仕組み(アーキテクチャ・学習データ・具体的な評価方法)の詳細は、本調査の範囲では確認できていない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誤認識率30%→10%未満という数値は企業側の発表であり、測定条件・比較対象の詳細は不明である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本成果物では、確認できた数値のみをそのまま紹介し、技術的な裏付けを推測で補わない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評価額20億ドル=事業が完全に安定して成功している</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過去との比較で急成長したことが分かるはず</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Cantoの技術的な優位性も裏付けられているはず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確認できているのは今回のシリーズBの調達額・評価額のみ</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過去ラウンドの評価額は本調査の範囲では確認できていない</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Cantoの技術的な仕組みの詳細は未確認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評価額の規模と投資家の顔ぶれから、音声AI分野への資金流入の勢いを継続して確認する視点が役立つ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業務効率化ツールを検討する立場として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Wispr Flow・会議記録機能の存在は事実として押さえつつ、実際の導入判断は別途自身で確認する必要がある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投資・スタートアップを追う立場として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過去ラウンドとの比較やCantoの技術詳細など、非公表・未確認の項目には断定的な情報に注意する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評価額・調達額はあくまで資金調達時点の数字であり、収益性や事業の持続性を直接示すものではない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売上高成長率・利用者数・利用企業数はいずれも企業側の発表数字であり、算出方法の詳細が公開されていない項目がある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製品導入を検討する場合は、本成果物の紹介にとどまらず、自身で最新の公式情報を確認することが望ましい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次回調達・上場計画は不明(正直な開示)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今後の計画についても正直にお伝えします。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次回の資金調達や株式上場(IPO)の計画は、本調査の範囲では確認できていない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今回の発表内容には、次のラウンドや上場時期についての言及は見当たらない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本成果物では将来の計画について推測・断定を行わない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シリーズBの調達額・評価額</a:t>
                      </a:r>
                    </a:p>
                  </a:txBody>
                  <a:tcPr>
                    <a:solidFill>
                      <a:srgbClr val="FFFFFF"/>
                    </a:solidFill>
                  </a:tcPr>
                </a:tc>
                <a:tc>
                  <a:txBody>
                    <a:bodyPr/>
                    <a:lstStyle/>
                    <a:p>
                      <a:pPr>
                        <a:defRPr sz="1200">
                          <a:solidFill>
                            <a:srgbClr val="121C1F"/>
                          </a:solidFill>
                          <a:latin typeface="Yu Gothic"/>
                        </a:defRPr>
                      </a:pPr>
                      <a:r>
                        <a:t>2億8000万ドル・20億ドルとして複数媒体で確認済み</a:t>
                      </a:r>
                    </a:p>
                  </a:txBody>
                  <a:tcPr>
                    <a:solidFill>
                      <a:srgbClr val="FFFFFF"/>
                    </a:solidFill>
                  </a:tcPr>
                </a:tc>
              </a:tr>
              <a:tr h="502920">
                <a:tc>
                  <a:txBody>
                    <a:bodyPr/>
                    <a:lstStyle/>
                    <a:p>
                      <a:pPr>
                        <a:defRPr sz="1200">
                          <a:solidFill>
                            <a:srgbClr val="121C1F"/>
                          </a:solidFill>
                          <a:latin typeface="Yu Gothic"/>
                        </a:defRPr>
                      </a:pPr>
                      <a:r>
                        <a:t>主導投資家・参加投資家</a:t>
                      </a:r>
                    </a:p>
                  </a:txBody>
                  <a:tcPr>
                    <a:solidFill>
                      <a:srgbClr val="F0F7F4"/>
                    </a:solidFill>
                  </a:tcPr>
                </a:tc>
                <a:tc>
                  <a:txBody>
                    <a:bodyPr/>
                    <a:lstStyle/>
                    <a:p>
                      <a:pPr>
                        <a:defRPr sz="1200">
                          <a:solidFill>
                            <a:srgbClr val="121C1F"/>
                          </a:solidFill>
                          <a:latin typeface="Yu Gothic"/>
                        </a:defRPr>
                      </a:pPr>
                      <a:r>
                        <a:t>Menlo Ventures主導、既存5社・新規6社の参加を確認済み</a:t>
                      </a:r>
                    </a:p>
                  </a:txBody>
                  <a:tcPr>
                    <a:solidFill>
                      <a:srgbClr val="F0F7F4"/>
                    </a:solidFill>
                  </a:tcPr>
                </a:tc>
              </a:tr>
              <a:tr h="502920">
                <a:tc>
                  <a:txBody>
                    <a:bodyPr/>
                    <a:lstStyle/>
                    <a:p>
                      <a:pPr>
                        <a:defRPr sz="1200">
                          <a:solidFill>
                            <a:srgbClr val="121C1F"/>
                          </a:solidFill>
                          <a:latin typeface="Yu Gothic"/>
                        </a:defRPr>
                      </a:pPr>
                      <a:r>
                        <a:t>過去ラウンドの評価額・変化率</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『Canto』の技術的な仕組みの詳細</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次回調達・上場計画</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発表(2026年8月17日)は着手日(2026年8月18日)の前日。着手日を含めて2日以内という基準を満たす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TechCrunch</a:t>
                      </a:r>
                    </a:p>
                  </a:txBody>
                  <a:tcPr>
                    <a:solidFill>
                      <a:srgbClr val="FFFFFF"/>
                    </a:solidFill>
                  </a:tcPr>
                </a:tc>
                <a:tc>
                  <a:txBody>
                    <a:bodyPr/>
                    <a:lstStyle/>
                    <a:p>
                      <a:pPr>
                        <a:defRPr sz="1200">
                          <a:solidFill>
                            <a:srgbClr val="121C1F"/>
                          </a:solidFill>
                          <a:latin typeface="Yu Gothic"/>
                        </a:defRPr>
                      </a:pPr>
                      <a:r>
                        <a:t>資金調達・評価額の一次報道(記事URLに2026/08/17の日付を含む)</a:t>
                      </a:r>
                    </a:p>
                  </a:txBody>
                  <a:tcPr>
                    <a:solidFill>
                      <a:srgbClr val="FFFFFF"/>
                    </a:solidFill>
                  </a:tcPr>
                </a:tc>
              </a:tr>
              <a:tr h="502920">
                <a:tc>
                  <a:txBody>
                    <a:bodyPr/>
                    <a:lstStyle/>
                    <a:p>
                      <a:pPr>
                        <a:defRPr sz="1200">
                          <a:solidFill>
                            <a:srgbClr val="121C1F"/>
                          </a:solidFill>
                          <a:latin typeface="Yu Gothic"/>
                        </a:defRPr>
                      </a:pPr>
                      <a:r>
                        <a:t>Fortune</a:t>
                      </a:r>
                    </a:p>
                  </a:txBody>
                  <a:tcPr>
                    <a:solidFill>
                      <a:srgbClr val="F0F7F4"/>
                    </a:solidFill>
                  </a:tcPr>
                </a:tc>
                <a:tc>
                  <a:txBody>
                    <a:bodyPr/>
                    <a:lstStyle/>
                    <a:p>
                      <a:pPr>
                        <a:defRPr sz="1200">
                          <a:solidFill>
                            <a:srgbClr val="121C1F"/>
                          </a:solidFill>
                          <a:latin typeface="Yu Gothic"/>
                        </a:defRPr>
                      </a:pPr>
                      <a:r>
                        <a:t>資金調達・業績数値の報道</a:t>
                      </a:r>
                    </a:p>
                  </a:txBody>
                  <a:tcPr>
                    <a:solidFill>
                      <a:srgbClr val="F0F7F4"/>
                    </a:solidFill>
                  </a:tcPr>
                </a:tc>
              </a:tr>
              <a:tr h="502920">
                <a:tc>
                  <a:txBody>
                    <a:bodyPr/>
                    <a:lstStyle/>
                    <a:p>
                      <a:pPr>
                        <a:defRPr sz="1200">
                          <a:solidFill>
                            <a:srgbClr val="121C1F"/>
                          </a:solidFill>
                          <a:latin typeface="Yu Gothic"/>
                        </a:defRPr>
                      </a:pPr>
                      <a:r>
                        <a:t>Yahoo Finance</a:t>
                      </a:r>
                    </a:p>
                  </a:txBody>
                  <a:tcPr>
                    <a:solidFill>
                      <a:srgbClr val="FFFFFF"/>
                    </a:solidFill>
                  </a:tcPr>
                </a:tc>
                <a:tc>
                  <a:txBody>
                    <a:bodyPr/>
                    <a:lstStyle/>
                    <a:p>
                      <a:pPr>
                        <a:defRPr sz="1200">
                          <a:solidFill>
                            <a:srgbClr val="121C1F"/>
                          </a:solidFill>
                          <a:latin typeface="Yu Gothic"/>
                        </a:defRPr>
                      </a:pPr>
                      <a:r>
                        <a:t>資金調達の報道</a:t>
                      </a:r>
                    </a:p>
                  </a:txBody>
                  <a:tcPr>
                    <a:solidFill>
                      <a:srgbClr val="FFFFFF"/>
                    </a:solidFill>
                  </a:tcPr>
                </a:tc>
              </a:tr>
              <a:tr h="502920">
                <a:tc>
                  <a:txBody>
                    <a:bodyPr/>
                    <a:lstStyle/>
                    <a:p>
                      <a:pPr>
                        <a:defRPr sz="1200">
                          <a:solidFill>
                            <a:srgbClr val="121C1F"/>
                          </a:solidFill>
                          <a:latin typeface="Yu Gothic"/>
                        </a:defRPr>
                      </a:pPr>
                      <a:r>
                        <a:t>Pulse2</a:t>
                      </a:r>
                    </a:p>
                  </a:txBody>
                  <a:tcPr>
                    <a:solidFill>
                      <a:srgbClr val="F0F7F4"/>
                    </a:solidFill>
                  </a:tcPr>
                </a:tc>
                <a:tc>
                  <a:txBody>
                    <a:bodyPr/>
                    <a:lstStyle/>
                    <a:p>
                      <a:pPr>
                        <a:defRPr sz="1200">
                          <a:solidFill>
                            <a:srgbClr val="121C1F"/>
                          </a:solidFill>
                          <a:latin typeface="Yu Gothic"/>
                        </a:defRPr>
                      </a:pPr>
                      <a:r>
                        <a:t>資金調達の報道</a:t>
                      </a:r>
                    </a:p>
                  </a:txBody>
                  <a:tcPr>
                    <a:solidFill>
                      <a:srgbClr val="F0F7F4"/>
                    </a:solidFill>
                  </a:tcPr>
                </a:tc>
              </a:tr>
              <a:tr h="502920">
                <a:tc>
                  <a:txBody>
                    <a:bodyPr/>
                    <a:lstStyle/>
                    <a:p>
                      <a:pPr>
                        <a:defRPr sz="1200">
                          <a:solidFill>
                            <a:srgbClr val="121C1F"/>
                          </a:solidFill>
                          <a:latin typeface="Yu Gothic"/>
                        </a:defRPr>
                      </a:pPr>
                      <a:r>
                        <a:t>TechFundingNews</a:t>
                      </a:r>
                    </a:p>
                  </a:txBody>
                  <a:tcPr>
                    <a:solidFill>
                      <a:srgbClr val="FFFFFF"/>
                    </a:solidFill>
                  </a:tcPr>
                </a:tc>
                <a:tc>
                  <a:txBody>
                    <a:bodyPr/>
                    <a:lstStyle/>
                    <a:p>
                      <a:pPr>
                        <a:defRPr sz="1200">
                          <a:solidFill>
                            <a:srgbClr val="121C1F"/>
                          </a:solidFill>
                          <a:latin typeface="Yu Gothic"/>
                        </a:defRPr>
                      </a:pPr>
                      <a:r>
                        <a:t>資金調達の報道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TechCrunch・Fortune・Yahoo Finance・Pulse2・TechFundingNews(2026-08-17)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評価額20億ドル。事実だけを、出典付きで。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Wisprが2億8000万ドルを調達し評価額20億ドルに到達した件を、投資家一覧・業績・新モデルCantoまで出典付きで整理してお届けしました。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