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米カリフォルニア州オークランドの連邦地方裁判所で、Meta Platforms社が設計した製品が子供・若年層に悪影響を及ぼしたとする29州合同の集団訴訟の陪審裁判が、2026年8月18日に開廷しました。州側は最大2000億ドルの損害賠償の可能性があるとしています。裁判は6〜8週間に及ぶ見込みで、まだ判決は出ていません。今日はこの件を出典付きで、両方の立場を公平に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29州の司法長官連合がMeta社を相手取った陪審裁判が開廷しましたが、これはまだ『裁判が始まった』段階です。判決や和解が出たわけではなく、結果が判明するのは数か月先になる可能性が高いです。この後じっくり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この動画で得られる3つのポイントです。何が起きたかという経緯、州司法長官連合とMetaそれぞれの言い分、そして今後注目すべき焦点まで、出典付きで整理してお届けします。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開廷したばかりの時事性に加え、29州・最大2000億ドルという規模の大きさ、SNSの若年層影響訴訟として過去最大規模とされる点があります。複数の独立した大手報道機関が内容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本題に入る前に、前提を確認します。米カリフォルニア州オークランドの連邦地方裁判所で、29州の司法長官連合を原告、Meta Platforms社を被告とする陪審裁判が開かれています。Metaが設計したSNSプラットフォームが子供・若年層に悪影響を及ぼしたと主張する集団訴訟です。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本題のキーワードを確認します。合同訴訟は複数の原告が共同で争う訴訟形態、陪審裁判は一般市民の陪審員が関与する米国の裁判制度、司法長官は州を代表して訴訟を提起できる役職を指します。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裁判の概要を一覧にしました。米カリフォルニア州オークランドの連邦地方裁判所で、29州の司法長官連合を原告、Meta Platforms社を被告とする陪審裁判が2026年8月18日に開廷しました。次に、裁判の規模を数字で見てみましょう。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原告となった州の数です。29州の司法長官連合が共同でMeta社を提訴しています。これほど多くの州が連合する訴訟は、SNSの若年層への影響をめぐるものとしては過去最大規模とされています。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裁判の規模です。6〜8週間に及ぶ見込みで、SNSの若年層への影響をめぐる訴訟としては過去最大規模の法廷闘争とされています。次に、州側が具体的に何を主張しているのかを見ていきます。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州司法長官連合の主張の全体像です。未成年者からのデータ不適切収集、意図的に依存性が生じるよう設計されたという主張、安全性について公衆を誤導したという主張、この3つが柱です。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州側の主張を3つの柱として整理しました。データ収集・依存性のある設計・安全性の誤導です。次に、具体的にどの機能が問題視されているのかを見ていきます。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州側が指摘する構図を図にしました。無限スクロール・通知・いいね・フィルター・アルゴリズム推薦といった機能設計が組み合わさり、強迫的な利用を助長し、若年層の心身の健康問題の一因になったと州側は主張しています。この因果関係についてはMeta側の反論もあり、後ほど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州側が指摘する設計要素の1つ目、無限スクロールです。コンテンツが途切れず流れ続けるこの設計が、強迫的な利用を助長したと州側は主張しています。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設計要素の2つ目、通知です。利用者を頻繁にアプリへ呼び戻す通知の設計も、依存性を高める要因の一つだと州側は主張しています。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設計要素の3つ目、『いいね』機能です。承認欲求を刺激するこの機能が、若年層の強迫的な利用につながったと州側は主張しています。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計要素の4つ目と5つ目、ビジュアルフィルターとアルゴリズムによるレコメンドシステムです。この2つも、強迫的な利用を助長したと州側は主張しています。次に、州側が主張する被害の内容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州側が主張する被害の内容です。これらの機能設計の組み合わせが若年層の心身の健康問題の一因になったと主張していますが、具体的な症例・件数の詳細は本調査の範囲では確認できていません。次に、損害賠償額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損害賠償額の可能性です。州司法長官側は、Metaに責任が認められた場合の損害賠償額が最大2000億ドルに達する可能性があるとしています。これはあくまで州側が主張する上限額であり、確定した金額ではないことに注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『最大2000億ドル』という数字の位置づけを正直に整理します。これは州司法長官側が主張する上限としての可能性であり、確定した賠償額ではありません。裁判はまだ進行中で、判決は出ていません。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州側が求めるプラットフォーム設計の変更です。年齢制限の導入、無限スクロールの廃止、プラットフォーム設計の全国的な変更、この3点を裁判所に求めています。次に、Meta側の反論を確認します。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側の反論の全体像です。ティーンエイジャー向けの保護機能に多額の投資を行ってきたと説明し、州側が主張する被害との因果関係は立証されていないと反論しています。Meta自身による反論の詳細な全文まで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Metaの反論の1つ目、保護機能への投資です。ティーンエイジャー向けの保護機能に多額の投資を行ってきたと説明していますが、具体的な投資額や機能の詳細は本調査の範囲では確認できていません。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の反論の2つ目、因果関係の未立証です。州側が主張する被害とプラットフォームとの因果関係は立証されていないと反論しており、これが裁判の核心的な争点の一つになっています。次に、両者の主張を並べ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州司法長官連合の主張とMetaの反論を両論併記します。州側はデータ収集や依存性のある設計、設計変更の要求と賠償の可能性を主張する一方、Metaは保護機能への投資を強調し、因果関係は立証されていないと反論しています。どちらが正しいかは陪審の判断に委ねられており、本編で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成果物の立場を明確にします。裁判は開廷したばかりで、6〜8週間に及ぶ見込みです。最終的な判決・和解の見通しは確認できていないため、本編では結果の予測を一切行わず、何が争われているかを事実として整理することに徹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確認できたことと確認できていないことを一覧にしました。開廷の事実や両者の主張は確認済みですが、最終的な判決・和解や具体的な証拠・証言の内容はまだ確認できていません。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このニュースが読者にとって意味することをまとめました。保護者・利用者として、テック業界を追う立場として、情報を受け取る立場として、それぞれで意識したい視点です。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追う際のチェックポイントです。開廷と判決は別の段階であること、最大2000億ドルは上限の可能性であることに留意してください。続報では審理の経過と最終的な判決の行方を優先して追うとよいでしょう。</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本編で使った主な出典を一覧にしました。NPR・US News &amp; World Report・Spokesman-Reviewという複数の独立した大手報道機関が内容を一致させて報じていることを確認しています。詳細はresearch.mdをご確認ください。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本編は以上です。今回は29州の司法長官連合がMeta Platforms社を相手取った陪審裁判が開廷した件を、州側の主張とMetaの反論、両方の立場を両論併記で整理してお伝えしました。裁判は6〜8週間に及ぶ見込みで、結果はまだ出ていません。今後の続報にご注目ください。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まさかの29州が団結。</a:t>
            </a:r>
          </a:p>
          <a:p>
            <a:pPr algn="l">
              <a:lnSpc>
                <a:spcPct val="115000"/>
              </a:lnSpc>
            </a:pPr>
            <a:r>
              <a:rPr sz="4200" b="1">
                <a:solidFill>
                  <a:srgbClr val="FFFFFF"/>
                </a:solidFill>
                <a:latin typeface="Yu Gothic"/>
              </a:rPr>
              <a:t>Metaを相手取った若年層保護訴訟が開廷、</a:t>
            </a:r>
          </a:p>
          <a:p>
            <a:pPr algn="l">
              <a:lnSpc>
                <a:spcPct val="115000"/>
              </a:lnSpc>
            </a:pPr>
            <a:r>
              <a:rPr sz="4200" b="1">
                <a:solidFill>
                  <a:srgbClr val="FFFFFF"/>
                </a:solidFill>
                <a:latin typeface="Yu Gothic"/>
              </a:rPr>
              <a:t>損害賠償額は最大2000億ドルの可能性</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2026年8月18日、米オークランドの連邦地裁で開廷――裁判は6〜8週間の見込み。まだ判決は出ていない</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NPR・US News &amp; World Report・Spokesman-Review(2026-08-18)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29州がMetaを提訴、</a:t>
            </a:r>
          </a:p>
          <a:p>
            <a:pPr algn="ctr"/>
            <a:r>
              <a:rPr sz="8800" b="1">
                <a:solidFill>
                  <a:srgbClr val="00D2A0"/>
                </a:solidFill>
                <a:latin typeface="Yu Gothic"/>
              </a:rPr>
              <a:t>裁判はまだ始まったばかり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29州の司法長官連合がMeta Platforms社を相手取った陪審裁判が開廷したが、判決・和解はまだ出ていない。結果は数か月先になる可能性が高い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NPR・US News &amp; World Report・Spokesman-Review(2026-08-18)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何が起きたか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29州合同の集団訴訟の陪審裁判が開廷した経緯を数字で確認できる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両者の言い分</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州司法長官連合の主張とMetaの反論、双方の立場を公平に理解できる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今後の焦点</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裁判の規模・見込み期間と、まだ出ていない結果の位置づけがつかめる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2026年8月18日に開廷したばかりの、極めてタイムリーな話題である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29州・最大2000億ドルという規模の大きさがある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SNSの若年層への影響をめぐる訴訟としては過去最大規模の法廷闘争とされている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NPR・US News &amp; World Report・Spokesman-Review等、複数の独立した大手報道機関が内容を一致させて報じている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基礎知識:この裁判はどんな裁判か(初心者向け)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本題に入る前に、前提を確認します。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米カリフォルニア州オークランドの連邦地方裁判所で開かれている陪審裁判である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29州の司法長官連合が原告、Meta Platforms社が被告である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Metaが設計したSNSプラットフォームが子供・若年層に悪影響を及ぼしたと主張する集団訴訟である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用語解説:合同訴訟・陪審裁判・司法長官とは(初心者向け)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用語</a:t>
                      </a:r>
                    </a:p>
                  </a:txBody>
                  <a:tcPr>
                    <a:solidFill>
                      <a:srgbClr val="1B2A2E"/>
                    </a:solidFill>
                  </a:tcPr>
                </a:tc>
                <a:tc>
                  <a:txBody>
                    <a:bodyPr/>
                    <a:lstStyle/>
                    <a:p>
                      <a:pPr>
                        <a:defRPr sz="1300" b="1">
                          <a:solidFill>
                            <a:srgbClr val="FFFFFF"/>
                          </a:solidFill>
                          <a:latin typeface="Yu Gothic"/>
                        </a:defRPr>
                      </a:pPr>
                      <a:r>
                        <a:t>説明</a:t>
                      </a:r>
                    </a:p>
                  </a:txBody>
                  <a:tcPr>
                    <a:solidFill>
                      <a:srgbClr val="1B2A2E"/>
                    </a:solidFill>
                  </a:tcPr>
                </a:tc>
              </a:tr>
              <a:tr h="502920">
                <a:tc>
                  <a:txBody>
                    <a:bodyPr/>
                    <a:lstStyle/>
                    <a:p>
                      <a:pPr>
                        <a:defRPr sz="1200">
                          <a:solidFill>
                            <a:srgbClr val="121C1F"/>
                          </a:solidFill>
                          <a:latin typeface="Yu Gothic"/>
                        </a:defRPr>
                      </a:pPr>
                      <a:r>
                        <a:t>合同訴訟</a:t>
                      </a:r>
                    </a:p>
                  </a:txBody>
                  <a:tcPr>
                    <a:solidFill>
                      <a:srgbClr val="FFFFFF"/>
                    </a:solidFill>
                  </a:tcPr>
                </a:tc>
                <a:tc>
                  <a:txBody>
                    <a:bodyPr/>
                    <a:lstStyle/>
                    <a:p>
                      <a:pPr>
                        <a:defRPr sz="1200">
                          <a:solidFill>
                            <a:srgbClr val="121C1F"/>
                          </a:solidFill>
                          <a:latin typeface="Yu Gothic"/>
                        </a:defRPr>
                      </a:pPr>
                      <a:r>
                        <a:t>複数の原告(本件では29州)が共同で1つの被告を相手取り、同種の主張をまとめて争う訴訟形態</a:t>
                      </a:r>
                    </a:p>
                  </a:txBody>
                  <a:tcPr>
                    <a:solidFill>
                      <a:srgbClr val="FFFFFF"/>
                    </a:solidFill>
                  </a:tcPr>
                </a:tc>
              </a:tr>
              <a:tr h="502920">
                <a:tc>
                  <a:txBody>
                    <a:bodyPr/>
                    <a:lstStyle/>
                    <a:p>
                      <a:pPr>
                        <a:defRPr sz="1200">
                          <a:solidFill>
                            <a:srgbClr val="121C1F"/>
                          </a:solidFill>
                          <a:latin typeface="Yu Gothic"/>
                        </a:defRPr>
                      </a:pPr>
                      <a:r>
                        <a:t>陪審裁判(jury trial)</a:t>
                      </a:r>
                    </a:p>
                  </a:txBody>
                  <a:tcPr>
                    <a:solidFill>
                      <a:srgbClr val="F0F7F4"/>
                    </a:solidFill>
                  </a:tcPr>
                </a:tc>
                <a:tc>
                  <a:txBody>
                    <a:bodyPr/>
                    <a:lstStyle/>
                    <a:p>
                      <a:pPr>
                        <a:defRPr sz="1200">
                          <a:solidFill>
                            <a:srgbClr val="121C1F"/>
                          </a:solidFill>
                          <a:latin typeface="Yu Gothic"/>
                        </a:defRPr>
                      </a:pPr>
                      <a:r>
                        <a:t>裁判官だけでなく一般市民から選ばれた陪審員が事実認定・評決に関与する米国の裁判制度</a:t>
                      </a:r>
                    </a:p>
                  </a:txBody>
                  <a:tcPr>
                    <a:solidFill>
                      <a:srgbClr val="F0F7F4"/>
                    </a:solidFill>
                  </a:tcPr>
                </a:tc>
              </a:tr>
              <a:tr h="502920">
                <a:tc>
                  <a:txBody>
                    <a:bodyPr/>
                    <a:lstStyle/>
                    <a:p>
                      <a:pPr>
                        <a:defRPr sz="1200">
                          <a:solidFill>
                            <a:srgbClr val="121C1F"/>
                          </a:solidFill>
                          <a:latin typeface="Yu Gothic"/>
                        </a:defRPr>
                      </a:pPr>
                      <a:r>
                        <a:t>司法長官(Attorney General)</a:t>
                      </a:r>
                    </a:p>
                  </a:txBody>
                  <a:tcPr>
                    <a:solidFill>
                      <a:srgbClr val="FFFFFF"/>
                    </a:solidFill>
                  </a:tcPr>
                </a:tc>
                <a:tc>
                  <a:txBody>
                    <a:bodyPr/>
                    <a:lstStyle/>
                    <a:p>
                      <a:pPr>
                        <a:defRPr sz="1200">
                          <a:solidFill>
                            <a:srgbClr val="121C1F"/>
                          </a:solidFill>
                          <a:latin typeface="Yu Gothic"/>
                        </a:defRPr>
                      </a:pPr>
                      <a:r>
                        <a:t>各州の法執行・訴訟代理を担う役職で、州を代表して訴訟を提起する権限を持つ</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裁判の概要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法廷</a:t>
                      </a:r>
                    </a:p>
                  </a:txBody>
                  <a:tcPr>
                    <a:solidFill>
                      <a:srgbClr val="FFFFFF"/>
                    </a:solidFill>
                  </a:tcPr>
                </a:tc>
                <a:tc>
                  <a:txBody>
                    <a:bodyPr/>
                    <a:lstStyle/>
                    <a:p>
                      <a:pPr>
                        <a:defRPr sz="1200">
                          <a:solidFill>
                            <a:srgbClr val="121C1F"/>
                          </a:solidFill>
                          <a:latin typeface="Yu Gothic"/>
                        </a:defRPr>
                      </a:pPr>
                      <a:r>
                        <a:t>米カリフォルニア州オークランドの連邦地方裁判所</a:t>
                      </a:r>
                    </a:p>
                  </a:txBody>
                  <a:tcPr>
                    <a:solidFill>
                      <a:srgbClr val="FFFFFF"/>
                    </a:solidFill>
                  </a:tcPr>
                </a:tc>
              </a:tr>
              <a:tr h="502920">
                <a:tc>
                  <a:txBody>
                    <a:bodyPr/>
                    <a:lstStyle/>
                    <a:p>
                      <a:pPr>
                        <a:defRPr sz="1200">
                          <a:solidFill>
                            <a:srgbClr val="121C1F"/>
                          </a:solidFill>
                          <a:latin typeface="Yu Gothic"/>
                        </a:defRPr>
                      </a:pPr>
                      <a:r>
                        <a:t>原告</a:t>
                      </a:r>
                    </a:p>
                  </a:txBody>
                  <a:tcPr>
                    <a:solidFill>
                      <a:srgbClr val="F0F7F4"/>
                    </a:solidFill>
                  </a:tcPr>
                </a:tc>
                <a:tc>
                  <a:txBody>
                    <a:bodyPr/>
                    <a:lstStyle/>
                    <a:p>
                      <a:pPr>
                        <a:defRPr sz="1200">
                          <a:solidFill>
                            <a:srgbClr val="121C1F"/>
                          </a:solidFill>
                          <a:latin typeface="Yu Gothic"/>
                        </a:defRPr>
                      </a:pPr>
                      <a:r>
                        <a:t>29州の司法長官連合</a:t>
                      </a:r>
                    </a:p>
                  </a:txBody>
                  <a:tcPr>
                    <a:solidFill>
                      <a:srgbClr val="F0F7F4"/>
                    </a:solidFill>
                  </a:tcPr>
                </a:tc>
              </a:tr>
              <a:tr h="502920">
                <a:tc>
                  <a:txBody>
                    <a:bodyPr/>
                    <a:lstStyle/>
                    <a:p>
                      <a:pPr>
                        <a:defRPr sz="1200">
                          <a:solidFill>
                            <a:srgbClr val="121C1F"/>
                          </a:solidFill>
                          <a:latin typeface="Yu Gothic"/>
                        </a:defRPr>
                      </a:pPr>
                      <a:r>
                        <a:t>被告</a:t>
                      </a:r>
                    </a:p>
                  </a:txBody>
                  <a:tcPr>
                    <a:solidFill>
                      <a:srgbClr val="FFFFFF"/>
                    </a:solidFill>
                  </a:tcPr>
                </a:tc>
                <a:tc>
                  <a:txBody>
                    <a:bodyPr/>
                    <a:lstStyle/>
                    <a:p>
                      <a:pPr>
                        <a:defRPr sz="1200">
                          <a:solidFill>
                            <a:srgbClr val="121C1F"/>
                          </a:solidFill>
                          <a:latin typeface="Yu Gothic"/>
                        </a:defRPr>
                      </a:pPr>
                      <a:r>
                        <a:t>Meta Platforms社</a:t>
                      </a:r>
                    </a:p>
                  </a:txBody>
                  <a:tcPr>
                    <a:solidFill>
                      <a:srgbClr val="FFFFFF"/>
                    </a:solidFill>
                  </a:tcPr>
                </a:tc>
              </a:tr>
              <a:tr h="502920">
                <a:tc>
                  <a:txBody>
                    <a:bodyPr/>
                    <a:lstStyle/>
                    <a:p>
                      <a:pPr>
                        <a:defRPr sz="1200">
                          <a:solidFill>
                            <a:srgbClr val="121C1F"/>
                          </a:solidFill>
                          <a:latin typeface="Yu Gothic"/>
                        </a:defRPr>
                      </a:pPr>
                      <a:r>
                        <a:t>開廷日</a:t>
                      </a:r>
                    </a:p>
                  </a:txBody>
                  <a:tcPr>
                    <a:solidFill>
                      <a:srgbClr val="F0F7F4"/>
                    </a:solidFill>
                  </a:tcPr>
                </a:tc>
                <a:tc>
                  <a:txBody>
                    <a:bodyPr/>
                    <a:lstStyle/>
                    <a:p>
                      <a:pPr>
                        <a:defRPr sz="1200">
                          <a:solidFill>
                            <a:srgbClr val="121C1F"/>
                          </a:solidFill>
                          <a:latin typeface="Yu Gothic"/>
                        </a:defRPr>
                      </a:pPr>
                      <a:r>
                        <a:t>2026年8月18日</a:t>
                      </a:r>
                    </a:p>
                  </a:txBody>
                  <a:tcPr>
                    <a:solidFill>
                      <a:srgbClr val="F0F7F4"/>
                    </a:solidFill>
                  </a:tcPr>
                </a:tc>
              </a:tr>
              <a:tr h="502920">
                <a:tc>
                  <a:txBody>
                    <a:bodyPr/>
                    <a:lstStyle/>
                    <a:p>
                      <a:pPr>
                        <a:defRPr sz="1200">
                          <a:solidFill>
                            <a:srgbClr val="121C1F"/>
                          </a:solidFill>
                          <a:latin typeface="Yu Gothic"/>
                        </a:defRPr>
                      </a:pPr>
                      <a:r>
                        <a:t>裁判形式</a:t>
                      </a:r>
                    </a:p>
                  </a:txBody>
                  <a:tcPr>
                    <a:solidFill>
                      <a:srgbClr val="FFFFFF"/>
                    </a:solidFill>
                  </a:tcPr>
                </a:tc>
                <a:tc>
                  <a:txBody>
                    <a:bodyPr/>
                    <a:lstStyle/>
                    <a:p>
                      <a:pPr>
                        <a:defRPr sz="1200">
                          <a:solidFill>
                            <a:srgbClr val="121C1F"/>
                          </a:solidFill>
                          <a:latin typeface="Yu Gothic"/>
                        </a:defRPr>
                      </a:pPr>
                      <a:r>
                        <a:t>陪審裁判</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原告となった州の数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29州</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29州の司法長官連合が共同でMeta Platforms社を提訴している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NPR・US News &amp; World Report・Spokesman-Review(2026-08-18)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裁判の規模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6〜8週間の見込み、</a:t>
            </a:r>
          </a:p>
          <a:p>
            <a:pPr algn="ctr"/>
            <a:r>
              <a:rPr sz="8800" b="1">
                <a:solidFill>
                  <a:srgbClr val="00D2A0"/>
                </a:solidFill>
                <a:latin typeface="Yu Gothic"/>
              </a:rPr>
              <a:t>過去最大規模の法廷闘争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裁判は6〜8週間に及ぶ見込みで、SNSの若年層への影響をめぐる訴訟としては過去最大規模の法廷闘争とされている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NPR・US News &amp; World Report・Spokesman-Review(2026-08-18)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州司法長官連合の主張(全体像)</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原告である29州の主張を確認します。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Metaが未成年者からデータを不適切に収集したと主張している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SNSプラットフォームを意図的に『依存性が生じるよう』設計したと主張している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安全性について公衆を誤導したと主張している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主張の3つの柱</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不適切なデータ収集</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未成年者から不適切にデータを収集していたとされる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依存性のある設計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プラットフォームを意図的に『依存性が生じるよう』設計したとされる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安全性の誤導</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安全性について公衆を誤導したとされる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州側が指摘する『依存性が生じる設計』のイメージ</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各種の機能設計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無限スクロール・通知・いいね・フィルター・アルゴリズム推薦</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強迫的な利用を助長</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州側は、これらの機能が組み合わさり利用をやめにくくすると主張している</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心身の健康問題の一因に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州側は、これが若年層の心身の健康問題の一因になったと主張している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州司法長官連合が主張する構図(Metaはこの因果関係が立証されていないと反論している)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指摘された設計要素(1)無限スクロール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無限スクロール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州側は、コンテンツが途切れず流れ続ける無限スクロールの設計が、強迫的な利用を助長したと主張している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NPR・US News &amp; World Report・Spokesman-Review(2026-08-18)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指摘された設計要素(2)通知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通知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州側は、利用者を頻繁にアプリへ呼び戻す通知の設計も、依存性を高める要因の一つだと主張している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NPR・US News &amp; World Report・Spokesman-Review(2026-08-18)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指摘された設計要素(3)『いいね』機能</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「いいね」機能</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州側は、承認欲求を刺激する『いいね』機能が、若年層の強迫的な利用につながったと主張している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NPR・US News &amp; World Report・Spokesman-Review(2026-08-18)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指摘された設計要素(4)(5)フィルターとアルゴリズム</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00D2A0"/>
                </a:solidFill>
                <a:latin typeface="Yu Gothic"/>
              </a:rPr>
              <a:t>4</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1B2A2E"/>
                </a:solidFill>
                <a:latin typeface="Yu Gothic"/>
              </a:rPr>
              <a:t>ビジュアルフィルター</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外見を加工するフィルター機能が、強迫的な利用を助長したとされる</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00D2A0"/>
                </a:solidFill>
                <a:latin typeface="Yu Gothic"/>
              </a:rPr>
              <a:t>5</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1B2A2E"/>
                </a:solidFill>
                <a:latin typeface="Yu Gothic"/>
              </a:rPr>
              <a:t>アルゴリズム推薦</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アルゴリズムによるレコメンドシステムが、強迫的な利用を助長したとされる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州側が主張する被害の内容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州側の主張をもう一歩掘り下げます。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これらの機能設計の組み合わせが、若年層の心身の健康問題の一因になったと州側は主張している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被害の具体的な症例・件数についての詳細は、本調査の範囲では確認できていない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州側は、この主張に基づいてMetaに責任を問う姿勢を示している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損害賠償額の可能性</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最大2000億ドル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州司法長官側は、Metaに責任が認められた場合の損害賠償額が最大2000億ドルに達する可能性があるとしている。確定した金額ではない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NPR・US News &amp; World Report・Spokesman-Review(2026-08-18)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『最大2000億ドル』の位置づけ(正直な開示)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主張している側</a:t>
                      </a:r>
                    </a:p>
                  </a:txBody>
                  <a:tcPr>
                    <a:solidFill>
                      <a:srgbClr val="FFFFFF"/>
                    </a:solidFill>
                  </a:tcPr>
                </a:tc>
                <a:tc>
                  <a:txBody>
                    <a:bodyPr/>
                    <a:lstStyle/>
                    <a:p>
                      <a:pPr>
                        <a:defRPr sz="1200">
                          <a:solidFill>
                            <a:srgbClr val="121C1F"/>
                          </a:solidFill>
                          <a:latin typeface="Yu Gothic"/>
                        </a:defRPr>
                      </a:pPr>
                      <a:r>
                        <a:t>29州の司法長官連合(原告)</a:t>
                      </a:r>
                    </a:p>
                  </a:txBody>
                  <a:tcPr>
                    <a:solidFill>
                      <a:srgbClr val="FFFFFF"/>
                    </a:solidFill>
                  </a:tcPr>
                </a:tc>
              </a:tr>
              <a:tr h="502920">
                <a:tc>
                  <a:txBody>
                    <a:bodyPr/>
                    <a:lstStyle/>
                    <a:p>
                      <a:pPr>
                        <a:defRPr sz="1200">
                          <a:solidFill>
                            <a:srgbClr val="121C1F"/>
                          </a:solidFill>
                          <a:latin typeface="Yu Gothic"/>
                        </a:defRPr>
                      </a:pPr>
                      <a:r>
                        <a:t>性質</a:t>
                      </a:r>
                    </a:p>
                  </a:txBody>
                  <a:tcPr>
                    <a:solidFill>
                      <a:srgbClr val="F0F7F4"/>
                    </a:solidFill>
                  </a:tcPr>
                </a:tc>
                <a:tc>
                  <a:txBody>
                    <a:bodyPr/>
                    <a:lstStyle/>
                    <a:p>
                      <a:pPr>
                        <a:defRPr sz="1200">
                          <a:solidFill>
                            <a:srgbClr val="121C1F"/>
                          </a:solidFill>
                          <a:latin typeface="Yu Gothic"/>
                        </a:defRPr>
                      </a:pPr>
                      <a:r>
                        <a:t>Metaに責任が認められた場合の、あくまで上限としての可能性</a:t>
                      </a:r>
                    </a:p>
                  </a:txBody>
                  <a:tcPr>
                    <a:solidFill>
                      <a:srgbClr val="F0F7F4"/>
                    </a:solidFill>
                  </a:tcPr>
                </a:tc>
              </a:tr>
              <a:tr h="502920">
                <a:tc>
                  <a:txBody>
                    <a:bodyPr/>
                    <a:lstStyle/>
                    <a:p>
                      <a:pPr>
                        <a:defRPr sz="1200">
                          <a:solidFill>
                            <a:srgbClr val="121C1F"/>
                          </a:solidFill>
                          <a:latin typeface="Yu Gothic"/>
                        </a:defRPr>
                      </a:pPr>
                      <a:r>
                        <a:t>確定額か</a:t>
                      </a:r>
                    </a:p>
                  </a:txBody>
                  <a:tcPr>
                    <a:solidFill>
                      <a:srgbClr val="FFFFFF"/>
                    </a:solidFill>
                  </a:tcPr>
                </a:tc>
                <a:tc>
                  <a:txBody>
                    <a:bodyPr/>
                    <a:lstStyle/>
                    <a:p>
                      <a:pPr>
                        <a:defRPr sz="1200">
                          <a:solidFill>
                            <a:srgbClr val="121C1F"/>
                          </a:solidFill>
                          <a:latin typeface="Yu Gothic"/>
                        </a:defRPr>
                      </a:pPr>
                      <a:r>
                        <a:t>確定していない。裁判はまだ進行中で判決は出ていない</a:t>
                      </a:r>
                    </a:p>
                  </a:txBody>
                  <a:tcPr>
                    <a:solidFill>
                      <a:srgbClr val="FFFFFF"/>
                    </a:solidFill>
                  </a:tcPr>
                </a:tc>
              </a:tr>
              <a:tr h="502920">
                <a:tc>
                  <a:txBody>
                    <a:bodyPr/>
                    <a:lstStyle/>
                    <a:p>
                      <a:pPr>
                        <a:defRPr sz="1200">
                          <a:solidFill>
                            <a:srgbClr val="121C1F"/>
                          </a:solidFill>
                          <a:latin typeface="Yu Gothic"/>
                        </a:defRPr>
                      </a:pPr>
                      <a:r>
                        <a:t>本成果物での扱い</a:t>
                      </a:r>
                    </a:p>
                  </a:txBody>
                  <a:tcPr>
                    <a:solidFill>
                      <a:srgbClr val="F0F7F4"/>
                    </a:solidFill>
                  </a:tcPr>
                </a:tc>
                <a:tc>
                  <a:txBody>
                    <a:bodyPr/>
                    <a:lstStyle/>
                    <a:p>
                      <a:pPr>
                        <a:defRPr sz="1200">
                          <a:solidFill>
                            <a:srgbClr val="121C1F"/>
                          </a:solidFill>
                          <a:latin typeface="Yu Gothic"/>
                        </a:defRPr>
                      </a:pPr>
                      <a:r>
                        <a:t>『最大2000億ドルの可能性』という表現に統一し、確定額として書かない</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州側が求めるプラットフォーム設計の変更</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年齢制限の導入</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州側は、年齢制限の導入を裁判所に求めている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無限スクロールの廃止</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州側は、無限スクロールの廃止を裁判所に求めている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全国的な設計変更</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州側は、プラットフォーム設計の全国的な変更を裁判所に求めている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Meta側の反論(全体像)</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被告であるMeta側の主張を確認します。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ティーンエイジャー向けの保護機能に多額の投資を行ってきたと説明している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州側が主張する被害とプラットフォームとの因果関係は立証されていないと反論している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Meta自身による詳細な反論内容の全文は、本調査の範囲では確認できていない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NPR・US News &amp; World Report・Spokesman-Review(2026-08-18)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Metaの反論(1)保護機能への投資</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Metaの反論をもう一歩掘り下げます。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ティーンエイジャー向けの保護機能に多額の投資を行ってきたと説明している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具体的な投資額・機能の詳細は、本調査の範囲では確認できていない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本成果物では、確認できた『投資してきた』という説明以上の詳細を創作しない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Metaの反論(2)因果関係の未立証</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Metaの反論をもう一歩掘り下げます。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州側が主張する若年層の被害とプラットフォームとの因果関係は立証されていないと反論している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これは裁判における核心的な争点の一つであり、陪審の判断に委ねられる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因果関係の立証・反証をめぐる具体的な証拠の内容は、本調査の範囲では確認できていない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州司法長官連合の主張 / Metaの反論</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州司法長官連合の主張(原告)</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未成年者からデータを不適切に収集したと主張</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『依存性が生じるよう』意図的に設計したと主張</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年齢制限の導入・無限スクロール廃止など設計変更を要求</a:t>
            </a:r>
          </a:p>
        </p:txBody>
      </p:sp>
      <p:sp>
        <p:nvSpPr>
          <p:cNvPr id="15" name="Oval 14"/>
          <p:cNvSpPr/>
          <p:nvPr/>
        </p:nvSpPr>
        <p:spPr>
          <a:xfrm>
            <a:off x="777240" y="4178807"/>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6" name="TextBox 15"/>
          <p:cNvSpPr txBox="1"/>
          <p:nvPr/>
        </p:nvSpPr>
        <p:spPr>
          <a:xfrm>
            <a:off x="1188720" y="416052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責任が認められれば最大2000億ドルの賠償の可能性</a:t>
            </a:r>
          </a:p>
        </p:txBody>
      </p:sp>
      <p:sp>
        <p:nvSpPr>
          <p:cNvPr id="17" name="Rounded Rectangle 16"/>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Metaの反論(被告)</a:t>
            </a:r>
          </a:p>
        </p:txBody>
      </p:sp>
      <p:sp>
        <p:nvSpPr>
          <p:cNvPr id="20" name="Oval 19"/>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ティーンエイジャー向け保護機能に多額の投資を実施と説明</a:t>
            </a:r>
          </a:p>
        </p:txBody>
      </p:sp>
      <p:sp>
        <p:nvSpPr>
          <p:cNvPr id="22" name="Oval 21"/>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被害とプラットフォームとの因果関係は未立証と反論</a:t>
            </a:r>
          </a:p>
        </p:txBody>
      </p:sp>
      <p:sp>
        <p:nvSpPr>
          <p:cNvPr id="24" name="Oval 23"/>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5" name="TextBox 24"/>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安全性への取り組みを強調している</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本成果物の立場:結果は予測しない(必須の明記)</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本成果物の姿勢を明確にします。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裁判は2026年8月18日に開廷したばかりで、6〜8週間に及ぶ見込みである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最終的な判決・和解の見通しは、本調査の範囲では確認できていない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本成果物では、判決の予測・示唆を一切行わず、『何が争われているか』を事実として整理することに徹する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開廷の事実・日付・法廷</a:t>
                      </a:r>
                    </a:p>
                  </a:txBody>
                  <a:tcPr>
                    <a:solidFill>
                      <a:srgbClr val="FFFFFF"/>
                    </a:solidFill>
                  </a:tcPr>
                </a:tc>
                <a:tc>
                  <a:txBody>
                    <a:bodyPr/>
                    <a:lstStyle/>
                    <a:p>
                      <a:pPr>
                        <a:defRPr sz="1200">
                          <a:solidFill>
                            <a:srgbClr val="121C1F"/>
                          </a:solidFill>
                          <a:latin typeface="Yu Gothic"/>
                        </a:defRPr>
                      </a:pPr>
                      <a:r>
                        <a:t>2026年8月18日、米オークランドの連邦地裁として確認済み</a:t>
                      </a:r>
                    </a:p>
                  </a:txBody>
                  <a:tcPr>
                    <a:solidFill>
                      <a:srgbClr val="FFFFFF"/>
                    </a:solidFill>
                  </a:tcPr>
                </a:tc>
              </a:tr>
              <a:tr h="502920">
                <a:tc>
                  <a:txBody>
                    <a:bodyPr/>
                    <a:lstStyle/>
                    <a:p>
                      <a:pPr>
                        <a:defRPr sz="1200">
                          <a:solidFill>
                            <a:srgbClr val="121C1F"/>
                          </a:solidFill>
                          <a:latin typeface="Yu Gothic"/>
                        </a:defRPr>
                      </a:pPr>
                      <a:r>
                        <a:t>州側の主張内容</a:t>
                      </a:r>
                    </a:p>
                  </a:txBody>
                  <a:tcPr>
                    <a:solidFill>
                      <a:srgbClr val="F0F7F4"/>
                    </a:solidFill>
                  </a:tcPr>
                </a:tc>
                <a:tc>
                  <a:txBody>
                    <a:bodyPr/>
                    <a:lstStyle/>
                    <a:p>
                      <a:pPr>
                        <a:defRPr sz="1200">
                          <a:solidFill>
                            <a:srgbClr val="121C1F"/>
                          </a:solidFill>
                          <a:latin typeface="Yu Gothic"/>
                        </a:defRPr>
                      </a:pPr>
                      <a:r>
                        <a:t>データ収集・依存性のある設計・安全性の誤導として確認済み</a:t>
                      </a:r>
                    </a:p>
                  </a:txBody>
                  <a:tcPr>
                    <a:solidFill>
                      <a:srgbClr val="F0F7F4"/>
                    </a:solidFill>
                  </a:tcPr>
                </a:tc>
              </a:tr>
              <a:tr h="502920">
                <a:tc>
                  <a:txBody>
                    <a:bodyPr/>
                    <a:lstStyle/>
                    <a:p>
                      <a:pPr>
                        <a:defRPr sz="1200">
                          <a:solidFill>
                            <a:srgbClr val="121C1F"/>
                          </a:solidFill>
                          <a:latin typeface="Yu Gothic"/>
                        </a:defRPr>
                      </a:pPr>
                      <a:r>
                        <a:t>Meta側の反論の要旨</a:t>
                      </a:r>
                    </a:p>
                  </a:txBody>
                  <a:tcPr>
                    <a:solidFill>
                      <a:srgbClr val="FFFFFF"/>
                    </a:solidFill>
                  </a:tcPr>
                </a:tc>
                <a:tc>
                  <a:txBody>
                    <a:bodyPr/>
                    <a:lstStyle/>
                    <a:p>
                      <a:pPr>
                        <a:defRPr sz="1200">
                          <a:solidFill>
                            <a:srgbClr val="121C1F"/>
                          </a:solidFill>
                          <a:latin typeface="Yu Gothic"/>
                        </a:defRPr>
                      </a:pPr>
                      <a:r>
                        <a:t>保護機能への投資・因果関係の未立証として確認済み</a:t>
                      </a:r>
                    </a:p>
                  </a:txBody>
                  <a:tcPr>
                    <a:solidFill>
                      <a:srgbClr val="FFFFFF"/>
                    </a:solidFill>
                  </a:tcPr>
                </a:tc>
              </a:tr>
              <a:tr h="502920">
                <a:tc>
                  <a:txBody>
                    <a:bodyPr/>
                    <a:lstStyle/>
                    <a:p>
                      <a:pPr>
                        <a:defRPr sz="1200">
                          <a:solidFill>
                            <a:srgbClr val="121C1F"/>
                          </a:solidFill>
                          <a:latin typeface="Yu Gothic"/>
                        </a:defRPr>
                      </a:pPr>
                      <a:r>
                        <a:t>最終的な判決・和解</a:t>
                      </a:r>
                    </a:p>
                  </a:txBody>
                  <a:tcPr>
                    <a:solidFill>
                      <a:srgbClr val="F0F7F4"/>
                    </a:solidFill>
                  </a:tcPr>
                </a:tc>
                <a:tc>
                  <a:txBody>
                    <a:bodyPr/>
                    <a:lstStyle/>
                    <a:p>
                      <a:pPr>
                        <a:defRPr sz="1200">
                          <a:solidFill>
                            <a:srgbClr val="121C1F"/>
                          </a:solidFill>
                          <a:latin typeface="Yu Gothic"/>
                        </a:defRPr>
                      </a:pPr>
                      <a:r>
                        <a:t>裁判は進行中であり、本調査の範囲では確認できていない</a:t>
                      </a:r>
                    </a:p>
                  </a:txBody>
                  <a:tcPr>
                    <a:solidFill>
                      <a:srgbClr val="F0F7F4"/>
                    </a:solidFill>
                  </a:tcPr>
                </a:tc>
              </a:tr>
              <a:tr h="502920">
                <a:tc>
                  <a:txBody>
                    <a:bodyPr/>
                    <a:lstStyle/>
                    <a:p>
                      <a:pPr>
                        <a:defRPr sz="1200">
                          <a:solidFill>
                            <a:srgbClr val="121C1F"/>
                          </a:solidFill>
                          <a:latin typeface="Yu Gothic"/>
                        </a:defRPr>
                      </a:pPr>
                      <a:r>
                        <a:t>具体的な証拠・証言の内容</a:t>
                      </a:r>
                    </a:p>
                  </a:txBody>
                  <a:tcPr>
                    <a:solidFill>
                      <a:srgbClr val="FFFFFF"/>
                    </a:solidFill>
                  </a:tcPr>
                </a:tc>
                <a:tc>
                  <a:txBody>
                    <a:bodyPr/>
                    <a:lstStyle/>
                    <a:p>
                      <a:pPr>
                        <a:defRPr sz="1200">
                          <a:solidFill>
                            <a:srgbClr val="121C1F"/>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保護者・利用者として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SNSの機能設計が若年層にどう影響しうるか、議論の論点を知るきっかけになる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テック業界を追う立場として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プラットフォーム設計をめぐる法的リスクの広がりを、今後も継続的に確認する視点が役立つ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情報を受け取る立場として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『開廷』と『判決』の違いなど、報道の段階を正確に読み分ける習慣が役立つ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実際に情報を追う場合のポイントです。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『開廷』はあくまで裁判の開始であり、判決確定前の内容を結論として扱わない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最大2000億ドルという数字は上限の可能性であり、確定額ではないことに留意する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続報を確認する際は、6〜8週間の審理経過・最終的な判決の行方を優先して追うとよい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NPR</a:t>
                      </a:r>
                    </a:p>
                  </a:txBody>
                  <a:tcPr>
                    <a:solidFill>
                      <a:srgbClr val="FFFFFF"/>
                    </a:solidFill>
                  </a:tcPr>
                </a:tc>
                <a:tc>
                  <a:txBody>
                    <a:bodyPr/>
                    <a:lstStyle/>
                    <a:p>
                      <a:pPr>
                        <a:defRPr sz="1200">
                          <a:solidFill>
                            <a:srgbClr val="121C1F"/>
                          </a:solidFill>
                          <a:latin typeface="Yu Gothic"/>
                        </a:defRPr>
                      </a:pPr>
                      <a:r>
                        <a:t>開廷の第一報・州側の主張・Meta側の反論の報道</a:t>
                      </a:r>
                    </a:p>
                  </a:txBody>
                  <a:tcPr>
                    <a:solidFill>
                      <a:srgbClr val="FFFFFF"/>
                    </a:solidFill>
                  </a:tcPr>
                </a:tc>
              </a:tr>
              <a:tr h="502920">
                <a:tc>
                  <a:txBody>
                    <a:bodyPr/>
                    <a:lstStyle/>
                    <a:p>
                      <a:pPr>
                        <a:defRPr sz="1200">
                          <a:solidFill>
                            <a:srgbClr val="121C1F"/>
                          </a:solidFill>
                          <a:latin typeface="Yu Gothic"/>
                        </a:defRPr>
                      </a:pPr>
                      <a:r>
                        <a:t>US News &amp; World Report</a:t>
                      </a:r>
                    </a:p>
                  </a:txBody>
                  <a:tcPr>
                    <a:solidFill>
                      <a:srgbClr val="F0F7F4"/>
                    </a:solidFill>
                  </a:tcPr>
                </a:tc>
                <a:tc>
                  <a:txBody>
                    <a:bodyPr/>
                    <a:lstStyle/>
                    <a:p>
                      <a:pPr>
                        <a:defRPr sz="1200">
                          <a:solidFill>
                            <a:srgbClr val="121C1F"/>
                          </a:solidFill>
                          <a:latin typeface="Yu Gothic"/>
                        </a:defRPr>
                      </a:pPr>
                      <a:r>
                        <a:t>開廷の第一報・裁判の規模・損害賠償額の報道</a:t>
                      </a:r>
                    </a:p>
                  </a:txBody>
                  <a:tcPr>
                    <a:solidFill>
                      <a:srgbClr val="F0F7F4"/>
                    </a:solidFill>
                  </a:tcPr>
                </a:tc>
              </a:tr>
              <a:tr h="502920">
                <a:tc>
                  <a:txBody>
                    <a:bodyPr/>
                    <a:lstStyle/>
                    <a:p>
                      <a:pPr>
                        <a:defRPr sz="1200">
                          <a:solidFill>
                            <a:srgbClr val="121C1F"/>
                          </a:solidFill>
                          <a:latin typeface="Yu Gothic"/>
                        </a:defRPr>
                      </a:pPr>
                      <a:r>
                        <a:t>Spokesman-Review</a:t>
                      </a:r>
                    </a:p>
                  </a:txBody>
                  <a:tcPr>
                    <a:solidFill>
                      <a:srgbClr val="FFFFFF"/>
                    </a:solidFill>
                  </a:tcPr>
                </a:tc>
                <a:tc>
                  <a:txBody>
                    <a:bodyPr/>
                    <a:lstStyle/>
                    <a:p>
                      <a:pPr>
                        <a:defRPr sz="1200">
                          <a:solidFill>
                            <a:srgbClr val="121C1F"/>
                          </a:solidFill>
                          <a:latin typeface="Yu Gothic"/>
                        </a:defRPr>
                      </a:pPr>
                      <a:r>
                        <a:t>開廷の第一報・州側の主張・求める是正措置の報道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NPR・US News &amp; World Report・Spokesman-Review(2026-08-18)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29州 vs Meta。判断はまだこれから。事実だけを、出典付きで。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29州の司法長官連合がMeta Platforms社を相手取った陪審裁判が開廷し、最大2000億ドルの損害賠償の可能性が報じられた件を、州側の主張・Metaの反論・両方の立場を出典付きで両論併記して整理してお届けしました。裁判は6〜8週間に及ぶ見込みで、結果はまだ出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