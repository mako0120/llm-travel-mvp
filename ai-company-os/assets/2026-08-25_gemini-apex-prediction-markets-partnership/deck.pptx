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暗号資産取引所Geminiが、証券会社向けインフラ大手Apexと提携しました。何が起きているのか、出典付きで正確に整理してお届けします。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結論から確認します。Gemini Titan上ではこれまでに2億2,500万件を超えるイベント契約が取引されてきました。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本日の流れです。提携内容から各社の基本情報、実績、そして確認できなかったことまで整理します。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着手日前日に複数メディアが一斉報道した、鮮度の高い話題です。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今回発表されたのは基本合意書(Letter of Intent)であり、最終契約はまだ締結されていません。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Apexのブローカレッジが暗号資産イベント契約を提供する際、執行・清算をGemini Titanが担う仕組みです。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暗号資産イベント契約は独占的な提携、その他のカテゴリーは非独占的な協業の余地があるとされています。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Titanは、CFTC規制下で予測市場を運営するGeminiの子会社です。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Titanは、Apexの暗号資産イベント契約分野において独占的な規制対応先となります。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Apex Fintech Solutionsは、証券会社・ブローカレッジ向けにインフラを提供する企業です。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Apexのブローカレッジ顧客が暗号資産イベント契約を利用する際、Gemini Titanが執行・清算を担います。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GeminiはTitanとOlympusという2つの子会社を通じて、それぞれ異なるCFTCライセンスを取得しています。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Titanは、これまでに2億2,500万件超のイベント契約、延べ2万7,000人超のトレーダー利用という実績があります。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Titanは、延べ2万7,000人を超えるトレーダーに利用されています。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CFTCライセンス取得から基本合意書締結、そして今後という流れで整理します。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暗号資産以外にも、スポーツ・経済・金融市場カテゴリーでの非独占的な協業の余地があるとされています。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Titanは2025年12月にCFTCからDCMライセンスを取得しています。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現時点はあくまで基本合意書の段階であり、最終契約はまだ確定していません。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規制対応の予測市場は、投資家・トレーダーの関心が拡大している分野です。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複数の独立したメディアが同一の提携内容を報じており、報道内容としての一貫性を確認しています。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提携前後で、Apex顧客の暗号資産イベント契約の提供体制が変わる見込みです。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Olympusは2026年4月にCFTCからDCOライセンスを取得しています。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本テーマは、暗号資産×金融インフラの提携動向の一事例として整理しています。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暗号資産イベント契約は独占的、その他のカテゴリーは非独占的という提携形態です。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Titan上での累計取引実績2億2,500万件超を背景に、ApexとGeminiが提携を発表しました。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本日はGeminiとApexの提携についてお届けしました。確認できなかったことは正直に開示しています。次回もお楽しみに。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Geminiが</a:t>
            </a:r>
          </a:p>
          <a:p>
            <a:pPr algn="l">
              <a:lnSpc>
                <a:spcPct val="115000"/>
              </a:lnSpc>
            </a:pPr>
            <a:r>
              <a:rPr sz="4200" b="1">
                <a:solidFill>
                  <a:srgbClr val="FFFFFF"/>
                </a:solidFill>
                <a:latin typeface="Yu Gothic"/>
              </a:rPr>
              <a:t>Apexと提携</a:t>
            </a:r>
          </a:p>
          <a:p>
            <a:pPr algn="l">
              <a:lnSpc>
                <a:spcPct val="115000"/>
              </a:lnSpc>
            </a:pPr>
            <a:r>
              <a:rPr sz="4200" b="1">
                <a:solidFill>
                  <a:srgbClr val="FFFFFF"/>
                </a:solidFill>
                <a:latin typeface="Yu Gothic"/>
              </a:rPr>
              <a:t>予測市場を拡大へ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暗号資産イベント契約の基本合意書を締結——出典付きで整理する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The Block(2026年8月24日)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2億2,500万件超 Titan上での累計イベント契約数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延べ2万7,000人超のトレーダーが利用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Gemini 2026年第2四半期決算資料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提携の内容を確認する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Gemini TitanとApexとは何か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これまでの実績・規制対応の経緯</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The Block・CoinDesk等が2026年8月24日に一斉報道</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暗号資産の予測市場という成長分野での大手提携</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CFTC規制対応の枠組みという専門性の高い話題</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提携の形態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基本合意書(LOI)を締結 最終契約はまだ未確定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決定事項ではなく協業に向けた合意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Block(2026-08-24)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提携の内容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Apexの先物取引業者(FCM)を通じた暗号資産イベント契約の提供</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執行・清算にGemini Titanを利用する仕組み</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Gemini Titanが独占的な規制対応先となる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PYMNTS(2026年8月)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提携の概要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合意形態</a:t>
                      </a:r>
                    </a:p>
                  </a:txBody>
                  <a:tcPr>
                    <a:solidFill>
                      <a:srgbClr val="FFFFFF"/>
                    </a:solidFill>
                  </a:tcPr>
                </a:tc>
                <a:tc>
                  <a:txBody>
                    <a:bodyPr/>
                    <a:lstStyle/>
                    <a:p>
                      <a:pPr>
                        <a:defRPr sz="1200">
                          <a:solidFill>
                            <a:srgbClr val="121C1F"/>
                          </a:solidFill>
                          <a:latin typeface="Yu Gothic"/>
                        </a:defRPr>
                      </a:pPr>
                      <a:r>
                        <a:t>基本合意書(Letter of Intent)</a:t>
                      </a:r>
                    </a:p>
                  </a:txBody>
                  <a:tcPr>
                    <a:solidFill>
                      <a:srgbClr val="FFFFFF"/>
                    </a:solidFill>
                  </a:tcPr>
                </a:tc>
              </a:tr>
              <a:tr h="502920">
                <a:tc>
                  <a:txBody>
                    <a:bodyPr/>
                    <a:lstStyle/>
                    <a:p>
                      <a:pPr>
                        <a:defRPr sz="1200">
                          <a:solidFill>
                            <a:srgbClr val="121C1F"/>
                          </a:solidFill>
                          <a:latin typeface="Yu Gothic"/>
                        </a:defRPr>
                      </a:pPr>
                      <a:r>
                        <a:t>独占カテゴリー</a:t>
                      </a:r>
                    </a:p>
                  </a:txBody>
                  <a:tcPr>
                    <a:solidFill>
                      <a:srgbClr val="F0F7F4"/>
                    </a:solidFill>
                  </a:tcPr>
                </a:tc>
                <a:tc>
                  <a:txBody>
                    <a:bodyPr/>
                    <a:lstStyle/>
                    <a:p>
                      <a:pPr>
                        <a:defRPr sz="1200">
                          <a:solidFill>
                            <a:srgbClr val="121C1F"/>
                          </a:solidFill>
                          <a:latin typeface="Yu Gothic"/>
                        </a:defRPr>
                      </a:pPr>
                      <a:r>
                        <a:t>暗号資産イベント契約</a:t>
                      </a:r>
                    </a:p>
                  </a:txBody>
                  <a:tcPr>
                    <a:solidFill>
                      <a:srgbClr val="F0F7F4"/>
                    </a:solidFill>
                  </a:tcPr>
                </a:tc>
              </a:tr>
              <a:tr h="502920">
                <a:tc>
                  <a:txBody>
                    <a:bodyPr/>
                    <a:lstStyle/>
                    <a:p>
                      <a:pPr>
                        <a:defRPr sz="1200">
                          <a:solidFill>
                            <a:srgbClr val="121C1F"/>
                          </a:solidFill>
                          <a:latin typeface="Yu Gothic"/>
                        </a:defRPr>
                      </a:pPr>
                      <a:r>
                        <a:t>非独占カテゴリー</a:t>
                      </a:r>
                    </a:p>
                  </a:txBody>
                  <a:tcPr>
                    <a:solidFill>
                      <a:srgbClr val="FFFFFF"/>
                    </a:solidFill>
                  </a:tcPr>
                </a:tc>
                <a:tc>
                  <a:txBody>
                    <a:bodyPr/>
                    <a:lstStyle/>
                    <a:p>
                      <a:pPr>
                        <a:defRPr sz="1200">
                          <a:solidFill>
                            <a:srgbClr val="121C1F"/>
                          </a:solidFill>
                          <a:latin typeface="Yu Gothic"/>
                        </a:defRPr>
                      </a:pPr>
                      <a:r>
                        <a:t>スポーツ・経済・金融市場等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Block(2026-08-24)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Gemini Titanとは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暗号資産取引所Geminiの子会社</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CFTC(米商品先物取引委員会)規制下で予測市場を運営</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2025年12月にDCM(指定契約市場)ライセンスを取得</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独占的な規制対応先に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CFTC規制対応 Apexの暗号資産イベント契約分野で独占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Apexのブローカレッジ顧客向け</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Block(2026-08-24)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Apex Fintech Solutionsとは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証券会社・ブローカレッジ向けのインフラ企業</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多数の金融機関にバックエンドサービスを提供</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先物取引業者(FCM)機能も有する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PYMNTS(2026年8月)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提携の仕組み(概念図)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Apexのブローカレッジ顧客</a:t>
            </a:r>
          </a:p>
        </p:txBody>
      </p:sp>
      <p:sp>
        <p:nvSpPr>
          <p:cNvPr id="9" name="Right Arrow 8"/>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Apexの先物取引業者(FCM)</a:t>
            </a:r>
          </a:p>
        </p:txBody>
      </p:sp>
      <p:sp>
        <p:nvSpPr>
          <p:cNvPr id="13" name="Right Arrow 12"/>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Gemini Titan(執行・清算)</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Apex経由の暗号資産イベント契約はGemini Titanで執行・清算される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CFTCライセンス取得の経緯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子会社</a:t>
                      </a:r>
                    </a:p>
                  </a:txBody>
                  <a:tcPr>
                    <a:solidFill>
                      <a:srgbClr val="1B2A2E"/>
                    </a:solidFill>
                  </a:tcPr>
                </a:tc>
                <a:tc>
                  <a:txBody>
                    <a:bodyPr/>
                    <a:lstStyle/>
                    <a:p>
                      <a:pPr>
                        <a:defRPr sz="1300" b="1">
                          <a:solidFill>
                            <a:srgbClr val="FFFFFF"/>
                          </a:solidFill>
                          <a:latin typeface="Yu Gothic"/>
                        </a:defRPr>
                      </a:pPr>
                      <a:r>
                        <a:t>ライセンス</a:t>
                      </a:r>
                    </a:p>
                  </a:txBody>
                  <a:tcPr>
                    <a:solidFill>
                      <a:srgbClr val="1B2A2E"/>
                    </a:solidFill>
                  </a:tcPr>
                </a:tc>
                <a:tc>
                  <a:txBody>
                    <a:bodyPr/>
                    <a:lstStyle/>
                    <a:p>
                      <a:pPr>
                        <a:defRPr sz="1300" b="1">
                          <a:solidFill>
                            <a:srgbClr val="FFFFFF"/>
                          </a:solidFill>
                          <a:latin typeface="Yu Gothic"/>
                        </a:defRPr>
                      </a:pPr>
                      <a:r>
                        <a:t>取得時期</a:t>
                      </a:r>
                    </a:p>
                  </a:txBody>
                  <a:tcPr>
                    <a:solidFill>
                      <a:srgbClr val="1B2A2E"/>
                    </a:solidFill>
                  </a:tcPr>
                </a:tc>
              </a:tr>
              <a:tr h="502920">
                <a:tc>
                  <a:txBody>
                    <a:bodyPr/>
                    <a:lstStyle/>
                    <a:p>
                      <a:pPr>
                        <a:defRPr sz="1200">
                          <a:solidFill>
                            <a:srgbClr val="121C1F"/>
                          </a:solidFill>
                          <a:latin typeface="Yu Gothic"/>
                        </a:defRPr>
                      </a:pPr>
                      <a:r>
                        <a:t>Gemini Titan</a:t>
                      </a:r>
                    </a:p>
                  </a:txBody>
                  <a:tcPr>
                    <a:solidFill>
                      <a:srgbClr val="FFFFFF"/>
                    </a:solidFill>
                  </a:tcPr>
                </a:tc>
                <a:tc>
                  <a:txBody>
                    <a:bodyPr/>
                    <a:lstStyle/>
                    <a:p>
                      <a:pPr>
                        <a:defRPr sz="1200">
                          <a:solidFill>
                            <a:srgbClr val="121C1F"/>
                          </a:solidFill>
                          <a:latin typeface="Yu Gothic"/>
                        </a:defRPr>
                      </a:pPr>
                      <a:r>
                        <a:t>DCM(指定契約市場)</a:t>
                      </a:r>
                    </a:p>
                  </a:txBody>
                  <a:tcPr>
                    <a:solidFill>
                      <a:srgbClr val="FFFFFF"/>
                    </a:solidFill>
                  </a:tcPr>
                </a:tc>
                <a:tc>
                  <a:txBody>
                    <a:bodyPr/>
                    <a:lstStyle/>
                    <a:p>
                      <a:pPr>
                        <a:defRPr sz="1200">
                          <a:solidFill>
                            <a:srgbClr val="121C1F"/>
                          </a:solidFill>
                          <a:latin typeface="Yu Gothic"/>
                        </a:defRPr>
                      </a:pPr>
                      <a:r>
                        <a:t>2025年12月</a:t>
                      </a:r>
                    </a:p>
                  </a:txBody>
                  <a:tcPr>
                    <a:solidFill>
                      <a:srgbClr val="FFFFFF"/>
                    </a:solidFill>
                  </a:tcPr>
                </a:tc>
              </a:tr>
              <a:tr h="502920">
                <a:tc>
                  <a:txBody>
                    <a:bodyPr/>
                    <a:lstStyle/>
                    <a:p>
                      <a:pPr>
                        <a:defRPr sz="1200">
                          <a:solidFill>
                            <a:srgbClr val="121C1F"/>
                          </a:solidFill>
                          <a:latin typeface="Yu Gothic"/>
                        </a:defRPr>
                      </a:pPr>
                      <a:r>
                        <a:t>Gemini Olympus</a:t>
                      </a:r>
                    </a:p>
                  </a:txBody>
                  <a:tcPr>
                    <a:solidFill>
                      <a:srgbClr val="F0F7F4"/>
                    </a:solidFill>
                  </a:tcPr>
                </a:tc>
                <a:tc>
                  <a:txBody>
                    <a:bodyPr/>
                    <a:lstStyle/>
                    <a:p>
                      <a:pPr>
                        <a:defRPr sz="1200">
                          <a:solidFill>
                            <a:srgbClr val="121C1F"/>
                          </a:solidFill>
                          <a:latin typeface="Yu Gothic"/>
                        </a:defRPr>
                      </a:pPr>
                      <a:r>
                        <a:t>DCO(デリバティブ清算機関)</a:t>
                      </a:r>
                    </a:p>
                  </a:txBody>
                  <a:tcPr>
                    <a:solidFill>
                      <a:srgbClr val="F0F7F4"/>
                    </a:solidFill>
                  </a:tcPr>
                </a:tc>
                <a:tc>
                  <a:txBody>
                    <a:bodyPr/>
                    <a:lstStyle/>
                    <a:p>
                      <a:pPr>
                        <a:defRPr sz="1200">
                          <a:solidFill>
                            <a:srgbClr val="121C1F"/>
                          </a:solidFill>
                          <a:latin typeface="Yu Gothic"/>
                        </a:defRPr>
                      </a:pPr>
                      <a:r>
                        <a:t>2026年4月</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Block(2026-08-24)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Titanのこれまでの実績</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累計イベント契約数2億2,500万件超</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延べ2万7,000人超のトレーダーが利用</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Geminiの2026年第2四半期決算資料に基づく数字</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Gemini 2026年第2四半期決算資料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累計トレーダー数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延べ2万7,000人超 Titan利用者数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2026年第2四半期決算資料より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Gemini 2026年第2四半期決算資料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提携の流れ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ライセンス取得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2025年12月〜2026年4月にCFTCライセンス取得</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基本合意書締結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2026年8月24日発表</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最終契約・サービス開始時期は未確認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今後の拡大余地</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スポーツカテゴリーでの協業の可能性</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経済指標に関する契約での協業の可能性</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金融市場カテゴリーでの協業の可能性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確定</a:t>
                      </a:r>
                    </a:p>
                  </a:txBody>
                  <a:tcPr>
                    <a:solidFill>
                      <a:srgbClr val="FFFFFF"/>
                    </a:solidFill>
                  </a:tcPr>
                </a:tc>
                <a:tc>
                  <a:txBody>
                    <a:bodyPr/>
                    <a:lstStyle/>
                    <a:p>
                      <a:pPr>
                        <a:defRPr sz="1200">
                          <a:solidFill>
                            <a:srgbClr val="121C1F"/>
                          </a:solidFill>
                          <a:latin typeface="Yu Gothic"/>
                        </a:defRPr>
                      </a:pPr>
                      <a:r>
                        <a:t>基本合意書の締結・提携の枠組み・Titanの実績数値</a:t>
                      </a:r>
                    </a:p>
                  </a:txBody>
                  <a:tcPr>
                    <a:solidFill>
                      <a:srgbClr val="FFFFFF"/>
                    </a:solidFill>
                  </a:tcPr>
                </a:tc>
              </a:tr>
              <a:tr h="502920">
                <a:tc>
                  <a:txBody>
                    <a:bodyPr/>
                    <a:lstStyle/>
                    <a:p>
                      <a:pPr>
                        <a:defRPr sz="1200">
                          <a:solidFill>
                            <a:srgbClr val="121C1F"/>
                          </a:solidFill>
                          <a:latin typeface="Yu Gothic"/>
                        </a:defRPr>
                      </a:pPr>
                      <a:r>
                        <a:t>確定</a:t>
                      </a:r>
                    </a:p>
                  </a:txBody>
                  <a:tcPr>
                    <a:solidFill>
                      <a:srgbClr val="F0F7F4"/>
                    </a:solidFill>
                  </a:tcPr>
                </a:tc>
                <a:tc>
                  <a:txBody>
                    <a:bodyPr/>
                    <a:lstStyle/>
                    <a:p>
                      <a:pPr>
                        <a:defRPr sz="1200">
                          <a:solidFill>
                            <a:srgbClr val="121C1F"/>
                          </a:solidFill>
                          <a:latin typeface="Yu Gothic"/>
                        </a:defRPr>
                      </a:pPr>
                      <a:r>
                        <a:t>CFTCライセンス取得の経緯</a:t>
                      </a:r>
                    </a:p>
                  </a:txBody>
                  <a:tcPr>
                    <a:solidFill>
                      <a:srgbClr val="F0F7F4"/>
                    </a:solidFill>
                  </a:tcPr>
                </a:tc>
              </a:tr>
              <a:tr h="502920">
                <a:tc>
                  <a:txBody>
                    <a:bodyPr/>
                    <a:lstStyle/>
                    <a:p>
                      <a:pPr>
                        <a:defRPr sz="1200">
                          <a:solidFill>
                            <a:srgbClr val="121C1F"/>
                          </a:solidFill>
                          <a:latin typeface="Yu Gothic"/>
                        </a:defRPr>
                      </a:pPr>
                      <a:r>
                        <a:t>未確認</a:t>
                      </a:r>
                    </a:p>
                  </a:txBody>
                  <a:tcPr>
                    <a:solidFill>
                      <a:srgbClr val="FFFFFF"/>
                    </a:solidFill>
                  </a:tcPr>
                </a:tc>
                <a:tc>
                  <a:txBody>
                    <a:bodyPr/>
                    <a:lstStyle/>
                    <a:p>
                      <a:pPr>
                        <a:defRPr sz="1200">
                          <a:solidFill>
                            <a:srgbClr val="121C1F"/>
                          </a:solidFill>
                          <a:latin typeface="Yu Gothic"/>
                        </a:defRPr>
                      </a:pPr>
                      <a:r>
                        <a:t>最終契約の締結時期・サービス提供開始日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最終契約の締結時期・具体的なサービス提供開始日</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今回の提携による具体的な取引量・収益への影響見込み</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スポーツ・経済等の非独占カテゴリーでの協業の具体的な内容</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DCMライセンス取得時期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2025年12月 Gemini TitanがCFTCから取得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指定契約市場(DCM)ライセンス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Block(2026-08-24)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基本合意書 vs 最終契約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基本合意書(現時点)</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協業の方向性に合意</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法的拘束力は限定的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最終契約(将来、未確定)</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具体的な条件を確定</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締結時期は未確認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予測市場業界の背景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規制対応の予測市場への関心が投資家・トレーダーの間で拡大</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証券会社インフラ企業と暗号資産取引所の連携が増加傾向</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CFTC規制の枠組みが業界の信頼性向上に寄与しているとされる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主要出典の一覧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報道日</a:t>
                      </a:r>
                    </a:p>
                  </a:txBody>
                  <a:tcPr>
                    <a:solidFill>
                      <a:srgbClr val="1B2A2E"/>
                    </a:solidFill>
                  </a:tcPr>
                </a:tc>
              </a:tr>
              <a:tr h="502920">
                <a:tc>
                  <a:txBody>
                    <a:bodyPr/>
                    <a:lstStyle/>
                    <a:p>
                      <a:pPr>
                        <a:defRPr sz="1200">
                          <a:solidFill>
                            <a:srgbClr val="121C1F"/>
                          </a:solidFill>
                          <a:latin typeface="Yu Gothic"/>
                        </a:defRPr>
                      </a:pPr>
                      <a:r>
                        <a:t>The Block</a:t>
                      </a:r>
                    </a:p>
                  </a:txBody>
                  <a:tcPr>
                    <a:solidFill>
                      <a:srgbClr val="FFFFFF"/>
                    </a:solidFill>
                  </a:tcPr>
                </a:tc>
                <a:tc>
                  <a:txBody>
                    <a:bodyPr/>
                    <a:lstStyle/>
                    <a:p>
                      <a:pPr>
                        <a:defRPr sz="1200">
                          <a:solidFill>
                            <a:srgbClr val="121C1F"/>
                          </a:solidFill>
                          <a:latin typeface="Yu Gothic"/>
                        </a:defRPr>
                      </a:pPr>
                      <a:r>
                        <a:t>2026年8月24日</a:t>
                      </a:r>
                    </a:p>
                  </a:txBody>
                  <a:tcPr>
                    <a:solidFill>
                      <a:srgbClr val="FFFFFF"/>
                    </a:solidFill>
                  </a:tcPr>
                </a:tc>
              </a:tr>
              <a:tr h="502920">
                <a:tc>
                  <a:txBody>
                    <a:bodyPr/>
                    <a:lstStyle/>
                    <a:p>
                      <a:pPr>
                        <a:defRPr sz="1200">
                          <a:solidFill>
                            <a:srgbClr val="121C1F"/>
                          </a:solidFill>
                          <a:latin typeface="Yu Gothic"/>
                        </a:defRPr>
                      </a:pPr>
                      <a:r>
                        <a:t>CoinDesk</a:t>
                      </a:r>
                    </a:p>
                  </a:txBody>
                  <a:tcPr>
                    <a:solidFill>
                      <a:srgbClr val="F0F7F4"/>
                    </a:solidFill>
                  </a:tcPr>
                </a:tc>
                <a:tc>
                  <a:txBody>
                    <a:bodyPr/>
                    <a:lstStyle/>
                    <a:p>
                      <a:pPr>
                        <a:defRPr sz="1200">
                          <a:solidFill>
                            <a:srgbClr val="121C1F"/>
                          </a:solidFill>
                          <a:latin typeface="Yu Gothic"/>
                        </a:defRPr>
                      </a:pPr>
                      <a:r>
                        <a:t>2026年8月24日</a:t>
                      </a:r>
                    </a:p>
                  </a:txBody>
                  <a:tcPr>
                    <a:solidFill>
                      <a:srgbClr val="F0F7F4"/>
                    </a:solidFill>
                  </a:tcPr>
                </a:tc>
              </a:tr>
              <a:tr h="502920">
                <a:tc>
                  <a:txBody>
                    <a:bodyPr/>
                    <a:lstStyle/>
                    <a:p>
                      <a:pPr>
                        <a:defRPr sz="1200">
                          <a:solidFill>
                            <a:srgbClr val="121C1F"/>
                          </a:solidFill>
                          <a:latin typeface="Yu Gothic"/>
                        </a:defRPr>
                      </a:pPr>
                      <a:r>
                        <a:t>PYMNTS</a:t>
                      </a:r>
                    </a:p>
                  </a:txBody>
                  <a:tcPr>
                    <a:solidFill>
                      <a:srgbClr val="FFFFFF"/>
                    </a:solidFill>
                  </a:tcPr>
                </a:tc>
                <a:tc>
                  <a:txBody>
                    <a:bodyPr/>
                    <a:lstStyle/>
                    <a:p>
                      <a:pPr>
                        <a:defRPr sz="1200">
                          <a:solidFill>
                            <a:srgbClr val="121C1F"/>
                          </a:solidFill>
                          <a:latin typeface="Yu Gothic"/>
                        </a:defRPr>
                      </a:pPr>
                      <a:r>
                        <a:t>2026年8月</a:t>
                      </a:r>
                    </a:p>
                  </a:txBody>
                  <a:tcPr>
                    <a:solidFill>
                      <a:srgbClr val="FFFFFF"/>
                    </a:solidFill>
                  </a:tcPr>
                </a:tc>
              </a:tr>
              <a:tr h="502920">
                <a:tc>
                  <a:txBody>
                    <a:bodyPr/>
                    <a:lstStyle/>
                    <a:p>
                      <a:pPr>
                        <a:defRPr sz="1200">
                          <a:solidFill>
                            <a:srgbClr val="121C1F"/>
                          </a:solidFill>
                          <a:latin typeface="Yu Gothic"/>
                        </a:defRPr>
                      </a:pPr>
                      <a:r>
                        <a:t>GlobeNewswire配信</a:t>
                      </a:r>
                    </a:p>
                  </a:txBody>
                  <a:tcPr>
                    <a:solidFill>
                      <a:srgbClr val="F0F7F4"/>
                    </a:solidFill>
                  </a:tcPr>
                </a:tc>
                <a:tc>
                  <a:txBody>
                    <a:bodyPr/>
                    <a:lstStyle/>
                    <a:p>
                      <a:pPr>
                        <a:defRPr sz="1200">
                          <a:solidFill>
                            <a:srgbClr val="121C1F"/>
                          </a:solidFill>
                          <a:latin typeface="Yu Gothic"/>
                        </a:defRPr>
                      </a:pPr>
                      <a:r>
                        <a:t>2026年8月24日</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提携前 vs 提携後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提携前</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ApexとGeminiは個別に事業展開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提携後(基本合意書段階)</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Apex顧客向けにGemini Titanが独占的に対応</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DCOライセンス取得時期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2026年4月 Gemini OlympusがCFTCから取得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デリバティブ清算機関(DCO)ライセンス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Block(2026-08-24)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証券インフラ大手Apexとの提携という規模感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CFTC規制対応という信頼性の高さ</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スポーツ・経済等への拡大余地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暗号資産×金融インフラの提携動向を追う人に参考になる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規制対応の予測市場という成長分野の一事例になる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特定商品の取引を推奨するものではない(投資助言ではない)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2A2E"/>
                    </a:solidFill>
                  </a:tcPr>
                </a:tc>
                <a:tc>
                  <a:txBody>
                    <a:bodyPr/>
                    <a:lstStyle/>
                    <a:p>
                      <a:pPr>
                        <a:defRPr sz="1300" b="1">
                          <a:solidFill>
                            <a:srgbClr val="FFFFFF"/>
                          </a:solidFill>
                          <a:latin typeface="Yu Gothic"/>
                        </a:defRPr>
                      </a:pPr>
                      <a:r>
                        <a:t>できごと</a:t>
                      </a:r>
                    </a:p>
                  </a:txBody>
                  <a:tcPr>
                    <a:solidFill>
                      <a:srgbClr val="1B2A2E"/>
                    </a:solidFill>
                  </a:tcPr>
                </a:tc>
              </a:tr>
              <a:tr h="502920">
                <a:tc>
                  <a:txBody>
                    <a:bodyPr/>
                    <a:lstStyle/>
                    <a:p>
                      <a:pPr>
                        <a:defRPr sz="1200">
                          <a:solidFill>
                            <a:srgbClr val="121C1F"/>
                          </a:solidFill>
                          <a:latin typeface="Yu Gothic"/>
                        </a:defRPr>
                      </a:pPr>
                      <a:r>
                        <a:t>2025年12月</a:t>
                      </a:r>
                    </a:p>
                  </a:txBody>
                  <a:tcPr>
                    <a:solidFill>
                      <a:srgbClr val="FFFFFF"/>
                    </a:solidFill>
                  </a:tcPr>
                </a:tc>
                <a:tc>
                  <a:txBody>
                    <a:bodyPr/>
                    <a:lstStyle/>
                    <a:p>
                      <a:pPr>
                        <a:defRPr sz="1200">
                          <a:solidFill>
                            <a:srgbClr val="121C1F"/>
                          </a:solidFill>
                          <a:latin typeface="Yu Gothic"/>
                        </a:defRPr>
                      </a:pPr>
                      <a:r>
                        <a:t>Gemini TitanがDCMライセンス取得</a:t>
                      </a:r>
                    </a:p>
                  </a:txBody>
                  <a:tcPr>
                    <a:solidFill>
                      <a:srgbClr val="FFFFFF"/>
                    </a:solidFill>
                  </a:tcPr>
                </a:tc>
              </a:tr>
              <a:tr h="502920">
                <a:tc>
                  <a:txBody>
                    <a:bodyPr/>
                    <a:lstStyle/>
                    <a:p>
                      <a:pPr>
                        <a:defRPr sz="1200">
                          <a:solidFill>
                            <a:srgbClr val="121C1F"/>
                          </a:solidFill>
                          <a:latin typeface="Yu Gothic"/>
                        </a:defRPr>
                      </a:pPr>
                      <a:r>
                        <a:t>2026年4月</a:t>
                      </a:r>
                    </a:p>
                  </a:txBody>
                  <a:tcPr>
                    <a:solidFill>
                      <a:srgbClr val="F0F7F4"/>
                    </a:solidFill>
                  </a:tcPr>
                </a:tc>
                <a:tc>
                  <a:txBody>
                    <a:bodyPr/>
                    <a:lstStyle/>
                    <a:p>
                      <a:pPr>
                        <a:defRPr sz="1200">
                          <a:solidFill>
                            <a:srgbClr val="121C1F"/>
                          </a:solidFill>
                          <a:latin typeface="Yu Gothic"/>
                        </a:defRPr>
                      </a:pPr>
                      <a:r>
                        <a:t>Gemini OlympusがDCOライセンス取得</a:t>
                      </a:r>
                    </a:p>
                  </a:txBody>
                  <a:tcPr>
                    <a:solidFill>
                      <a:srgbClr val="F0F7F4"/>
                    </a:solidFill>
                  </a:tcPr>
                </a:tc>
              </a:tr>
              <a:tr h="502920">
                <a:tc>
                  <a:txBody>
                    <a:bodyPr/>
                    <a:lstStyle/>
                    <a:p>
                      <a:pPr>
                        <a:defRPr sz="1200">
                          <a:solidFill>
                            <a:srgbClr val="121C1F"/>
                          </a:solidFill>
                          <a:latin typeface="Yu Gothic"/>
                        </a:defRPr>
                      </a:pPr>
                      <a:r>
                        <a:t>2026年8月24日</a:t>
                      </a:r>
                    </a:p>
                  </a:txBody>
                  <a:tcPr>
                    <a:solidFill>
                      <a:srgbClr val="FFFFFF"/>
                    </a:solidFill>
                  </a:tcPr>
                </a:tc>
                <a:tc>
                  <a:txBody>
                    <a:bodyPr/>
                    <a:lstStyle/>
                    <a:p>
                      <a:pPr>
                        <a:defRPr sz="1200">
                          <a:solidFill>
                            <a:srgbClr val="121C1F"/>
                          </a:solidFill>
                          <a:latin typeface="Yu Gothic"/>
                        </a:defRPr>
                      </a:pPr>
                      <a:r>
                        <a:t>Apexとの基本合意書締結を発表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独占カテゴリー vs 非独占カテゴリー</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独占(暗号資産イベント契約)</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Gemini Titanが唯一の規制対応先</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非独占(スポーツ・経済・金融市場)</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他社との協業の余地も残る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The Block等(2026-08-24)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2億2,500万件超の取引実績 Gemini×Apexの提携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Block(2026-08-24)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