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Nvidiaの決算発表を8月26日に控え、アナリスト予想が出そろっています。何が予想されているのか、出典付きで正確に整理してお届けします。あくまで予想であり、決算結果ではありません。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結論から確認します。市場アナリストのコンセンサス予想は、売上高約917億ドルです。あくまで予想であることを明記します。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今日は6つの流れでお伝えします。決算発表の基本情報からアナリスト予想、市場の注目点まで、正確に事実を引用しながら整理します。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このテーマを扱う理由です。決算発表を目前に控えたタイミングでの注目度の高さに着目しました。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決算発表の基本情報です。会社側のガイダンスは910億ドル前後としています。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アナリストコンセンサス予想とは何かを確認します。市場の期待値を示す指標です。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EPSのコンセンサス予想は約2.08ドルで、前年同期の実績から大幅な増加が見込まれています。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決算発表までの流れを図にしました。会社ガイダンスとアナリスト予想、両方を区別してお伝えします。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着手日時点の状況を3ステップで総括しました。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前年同期との比較です。予想どおりであれば大幅な増収増益となります。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コンセンサス予想どおりであれば、前年同期比で約80%という高い増収率になる見通しです。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予想数値の一覧です。主体ごとに異なる数字を明確に区別してお伝えします。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投資・市場動向を追う立場にとっての意味です。本テーマは投資助言ではありません。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市場が注目しているポイントです。データセンター部門の動向が特に注視されています。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会社側ガイダンスとアナリストコンセンサスを対比しました。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確認できなかったことを正直にお伝えします。あくまで予想段階の情報です。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複数の独立した情報源が概ね一致した予想数値を示していることを確認しています。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前年同期の実績売上高は467億ドルで、今回の予想と比較する基準となります。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BofAの強気予想についてです。あくまで個別アナリストの見解であり、投資助言ではありません。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アナリストコンセンサス予想には、903億〜967億ドルという幅があります。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決算発表情報をまとめました。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着手日時点で、決算発表まで残り2日というタイミングです。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情報源ごとの報道時期をまとめました。予想の集計時期と実際の発表日を区別します。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Nvidiaの決算は、AI業界全体の投資動向を占う指標として極めて高い注目度を集めています。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一般的な決算発表報道の傾向と、今回のNvidia決算を対比しました。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本編のまとめです。Nvidia決算発表を目前に控えたアナリスト予想について、出典付きで整理してお伝えしました。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Nvidia決算発表のアナリスト予想について、その中身を正確に整理してお伝えしました。予想と実績を区別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Nvidia決算、</a:t>
            </a:r>
          </a:p>
          <a:p>
            <a:pPr algn="l">
              <a:lnSpc>
                <a:spcPct val="115000"/>
              </a:lnSpc>
            </a:pPr>
            <a:r>
              <a:rPr sz="4200" b="1">
                <a:solidFill>
                  <a:srgbClr val="FFFFFF"/>
                </a:solidFill>
                <a:latin typeface="Yu Gothic"/>
              </a:rPr>
              <a:t>8月26日発表へ</a:t>
            </a:r>
          </a:p>
          <a:p>
            <a:pPr algn="l">
              <a:lnSpc>
                <a:spcPct val="115000"/>
              </a:lnSpc>
            </a:pPr>
            <a:r>
              <a:rPr sz="4200" b="1">
                <a:solidFill>
                  <a:srgbClr val="FFFFFF"/>
                </a:solidFill>
                <a:latin typeface="Yu Gothic"/>
              </a:rPr>
              <a:t>予想は920億ドル前後</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2026年8月24日時点——出典付きで整理する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Investing.com・Reuters(2026年8月)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約917億ドル 市場アナリストのコンセンサス売上高予想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前年同期比で約80%の増収となる見通し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Investing.com/Reuters(2026年8月)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決算発表の基本情報を確認する</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アナリスト予想の詳細を確認する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前年同期との比較を確認する</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市場が注目しているポイントを確認する</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着手日(2026年8月24日)時点で、決算発表を2日後に控えたタイミングでの注目度が高い話題である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約80%という高い増収率の予想で、数字のインパクトが大きい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AI業界を代表する企業の決算という、市場全体への影響度が大きい出来事である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複数の独立した情報源が概ね一致した予想数値を示しており、情報の一貫性を確認できた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Investing.com・Tickeron(2026年8月)</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決算発表の基本情報</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対象企業</a:t>
                      </a:r>
                    </a:p>
                  </a:txBody>
                  <a:tcPr>
                    <a:solidFill>
                      <a:srgbClr val="FFFFFF"/>
                    </a:solidFill>
                  </a:tcPr>
                </a:tc>
                <a:tc>
                  <a:txBody>
                    <a:bodyPr/>
                    <a:lstStyle/>
                    <a:p>
                      <a:pPr>
                        <a:defRPr sz="1200">
                          <a:solidFill>
                            <a:srgbClr val="1C1B33"/>
                          </a:solidFill>
                          <a:latin typeface="Yu Gothic"/>
                        </a:defRPr>
                      </a:pPr>
                      <a:r>
                        <a:t>Nvidia</a:t>
                      </a:r>
                    </a:p>
                  </a:txBody>
                  <a:tcPr>
                    <a:solidFill>
                      <a:srgbClr val="FFFFFF"/>
                    </a:solidFill>
                  </a:tcPr>
                </a:tc>
              </a:tr>
              <a:tr h="502920">
                <a:tc>
                  <a:txBody>
                    <a:bodyPr/>
                    <a:lstStyle/>
                    <a:p>
                      <a:pPr>
                        <a:defRPr sz="1200">
                          <a:solidFill>
                            <a:srgbClr val="1C1B33"/>
                          </a:solidFill>
                          <a:latin typeface="Yu Gothic"/>
                        </a:defRPr>
                      </a:pPr>
                      <a:r>
                        <a:t>決算発表予定日</a:t>
                      </a:r>
                    </a:p>
                  </a:txBody>
                  <a:tcPr>
                    <a:solidFill>
                      <a:srgbClr val="F4F3FC"/>
                    </a:solidFill>
                  </a:tcPr>
                </a:tc>
                <a:tc>
                  <a:txBody>
                    <a:bodyPr/>
                    <a:lstStyle/>
                    <a:p>
                      <a:pPr>
                        <a:defRPr sz="1200">
                          <a:solidFill>
                            <a:srgbClr val="1C1B33"/>
                          </a:solidFill>
                          <a:latin typeface="Yu Gothic"/>
                        </a:defRPr>
                      </a:pPr>
                      <a:r>
                        <a:t>2026年8月26日(市場引け後)</a:t>
                      </a:r>
                    </a:p>
                  </a:txBody>
                  <a:tcPr>
                    <a:solidFill>
                      <a:srgbClr val="F4F3FC"/>
                    </a:solidFill>
                  </a:tcPr>
                </a:tc>
              </a:tr>
              <a:tr h="502920">
                <a:tc>
                  <a:txBody>
                    <a:bodyPr/>
                    <a:lstStyle/>
                    <a:p>
                      <a:pPr>
                        <a:defRPr sz="1200">
                          <a:solidFill>
                            <a:srgbClr val="1C1B33"/>
                          </a:solidFill>
                          <a:latin typeface="Yu Gothic"/>
                        </a:defRPr>
                      </a:pPr>
                      <a:r>
                        <a:t>対象四半期</a:t>
                      </a:r>
                    </a:p>
                  </a:txBody>
                  <a:tcPr>
                    <a:solidFill>
                      <a:srgbClr val="FFFFFF"/>
                    </a:solidFill>
                  </a:tcPr>
                </a:tc>
                <a:tc>
                  <a:txBody>
                    <a:bodyPr/>
                    <a:lstStyle/>
                    <a:p>
                      <a:pPr>
                        <a:defRPr sz="1200">
                          <a:solidFill>
                            <a:srgbClr val="1C1B33"/>
                          </a:solidFill>
                          <a:latin typeface="Yu Gothic"/>
                        </a:defRPr>
                      </a:pPr>
                      <a:r>
                        <a:t>2027会計年度第2四半期</a:t>
                      </a:r>
                    </a:p>
                  </a:txBody>
                  <a:tcPr>
                    <a:solidFill>
                      <a:srgbClr val="FFFFFF"/>
                    </a:solidFill>
                  </a:tcPr>
                </a:tc>
              </a:tr>
              <a:tr h="502920">
                <a:tc>
                  <a:txBody>
                    <a:bodyPr/>
                    <a:lstStyle/>
                    <a:p>
                      <a:pPr>
                        <a:defRPr sz="1200">
                          <a:solidFill>
                            <a:srgbClr val="1C1B33"/>
                          </a:solidFill>
                          <a:latin typeface="Yu Gothic"/>
                        </a:defRPr>
                      </a:pPr>
                      <a:r>
                        <a:t>会社側ガイダンス</a:t>
                      </a:r>
                    </a:p>
                  </a:txBody>
                  <a:tcPr>
                    <a:solidFill>
                      <a:srgbClr val="F4F3FC"/>
                    </a:solidFill>
                  </a:tcPr>
                </a:tc>
                <a:tc>
                  <a:txBody>
                    <a:bodyPr/>
                    <a:lstStyle/>
                    <a:p>
                      <a:pPr>
                        <a:defRPr sz="1200">
                          <a:solidFill>
                            <a:srgbClr val="1C1B33"/>
                          </a:solidFill>
                          <a:latin typeface="Yu Gothic"/>
                        </a:defRPr>
                      </a:pPr>
                      <a:r>
                        <a:t>売上高910億ドル(プラスマイナス2%)</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Investing.com/Reuters(2026年8月)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「アナリストコンセンサス予想」とは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前提知識を確認します。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複数の証券アナリストが公表している業績予想の平均値・中央値を指す</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実際の決算発表前の市場の期待値を示す指標として用いられる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決算発表後、実際の数値がコンセンサスを上回る(ビート)か下回る(ミス)かが注目される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コンセンサスEPS予想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約2.08ドル 非GAAPベースの1株当たり利益(EPS)コンセンサス予想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前年同期の実績(0.91ドル)から大幅な増加見通し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Investing.com・Tickeron(2026年8月)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決算発表までの流れ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会社側がガイダンスを提示</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売上高910億ドル±2%</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アナリストがコンセンサス予想を集計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約917億ドル・EPS約2.08ドル</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8月26日、実際の決算発表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市場引け後に発表予定</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決算発表までの流れ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着手日時点の状況を3ステップで総括</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1. 会社側ガイダンス発表済み</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910億ドル±2%</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2. アナリストコンセンサス集計</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約917億ドル・EPS約2.08ドル</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3. 8月26日の発表を待つ段階</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本テーマ執筆時点では未発表</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前年同期との比較</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前年同期との比較を確認します。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前年同期(2026会計年度第2四半期)の売上高は467億ドルだった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コンセンサス予想どおりであれば、前年同期比で約80%の増収となる見通しである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前年同期のEPSは0.91ドルで、今回の予想EPS(約2.08ドル)は大幅な増加となる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Investing.com(2026年8月)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確定していること</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決算発表予定日(8月26日)・会社側ガイダンス</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アナリストコンセンサス予想の数値</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前年同期の実績数値</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実際の決算発表内容(本テーマ執筆時点で未発表)</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決算発表後の株価反応</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増収率の見通し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約80% コンセンサス予想どおりの場合の前年同期比増収率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467億ドルから約917億ドルへ</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Investing.com(2026年8月)</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予想数値の一覧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E2A72"/>
                    </a:solidFill>
                  </a:tcPr>
                </a:tc>
                <a:tc>
                  <a:txBody>
                    <a:bodyPr/>
                    <a:lstStyle/>
                    <a:p>
                      <a:pPr>
                        <a:defRPr sz="1300" b="1">
                          <a:solidFill>
                            <a:srgbClr val="FFFFFF"/>
                          </a:solidFill>
                          <a:latin typeface="Yu Gothic"/>
                        </a:defRPr>
                      </a:pPr>
                      <a:r>
                        <a:t>数値</a:t>
                      </a:r>
                    </a:p>
                  </a:txBody>
                  <a:tcPr>
                    <a:solidFill>
                      <a:srgbClr val="2E2A72"/>
                    </a:solidFill>
                  </a:tcPr>
                </a:tc>
              </a:tr>
              <a:tr h="502920">
                <a:tc>
                  <a:txBody>
                    <a:bodyPr/>
                    <a:lstStyle/>
                    <a:p>
                      <a:pPr>
                        <a:defRPr sz="1200">
                          <a:solidFill>
                            <a:srgbClr val="1C1B33"/>
                          </a:solidFill>
                          <a:latin typeface="Yu Gothic"/>
                        </a:defRPr>
                      </a:pPr>
                      <a:r>
                        <a:t>会社側ガイダンス(売上高)</a:t>
                      </a:r>
                    </a:p>
                  </a:txBody>
                  <a:tcPr>
                    <a:solidFill>
                      <a:srgbClr val="FFFFFF"/>
                    </a:solidFill>
                  </a:tcPr>
                </a:tc>
                <a:tc>
                  <a:txBody>
                    <a:bodyPr/>
                    <a:lstStyle/>
                    <a:p>
                      <a:pPr>
                        <a:defRPr sz="1200">
                          <a:solidFill>
                            <a:srgbClr val="1C1B33"/>
                          </a:solidFill>
                          <a:latin typeface="Yu Gothic"/>
                        </a:defRPr>
                      </a:pPr>
                      <a:r>
                        <a:t>910億ドル±2%</a:t>
                      </a:r>
                    </a:p>
                  </a:txBody>
                  <a:tcPr>
                    <a:solidFill>
                      <a:srgbClr val="FFFFFF"/>
                    </a:solidFill>
                  </a:tcPr>
                </a:tc>
              </a:tr>
              <a:tr h="502920">
                <a:tc>
                  <a:txBody>
                    <a:bodyPr/>
                    <a:lstStyle/>
                    <a:p>
                      <a:pPr>
                        <a:defRPr sz="1200">
                          <a:solidFill>
                            <a:srgbClr val="1C1B33"/>
                          </a:solidFill>
                          <a:latin typeface="Yu Gothic"/>
                        </a:defRPr>
                      </a:pPr>
                      <a:r>
                        <a:t>コンセンサス予想(売上高)</a:t>
                      </a:r>
                    </a:p>
                  </a:txBody>
                  <a:tcPr>
                    <a:solidFill>
                      <a:srgbClr val="F4F3FC"/>
                    </a:solidFill>
                  </a:tcPr>
                </a:tc>
                <a:tc>
                  <a:txBody>
                    <a:bodyPr/>
                    <a:lstStyle/>
                    <a:p>
                      <a:pPr>
                        <a:defRPr sz="1200">
                          <a:solidFill>
                            <a:srgbClr val="1C1B33"/>
                          </a:solidFill>
                          <a:latin typeface="Yu Gothic"/>
                        </a:defRPr>
                      </a:pPr>
                      <a:r>
                        <a:t>約917億ドル</a:t>
                      </a:r>
                    </a:p>
                  </a:txBody>
                  <a:tcPr>
                    <a:solidFill>
                      <a:srgbClr val="F4F3FC"/>
                    </a:solidFill>
                  </a:tcPr>
                </a:tc>
              </a:tr>
              <a:tr h="502920">
                <a:tc>
                  <a:txBody>
                    <a:bodyPr/>
                    <a:lstStyle/>
                    <a:p>
                      <a:pPr>
                        <a:defRPr sz="1200">
                          <a:solidFill>
                            <a:srgbClr val="1C1B33"/>
                          </a:solidFill>
                          <a:latin typeface="Yu Gothic"/>
                        </a:defRPr>
                      </a:pPr>
                      <a:r>
                        <a:t>BofA強気予想(売上高)</a:t>
                      </a:r>
                    </a:p>
                  </a:txBody>
                  <a:tcPr>
                    <a:solidFill>
                      <a:srgbClr val="FFFFFF"/>
                    </a:solidFill>
                  </a:tcPr>
                </a:tc>
                <a:tc>
                  <a:txBody>
                    <a:bodyPr/>
                    <a:lstStyle/>
                    <a:p>
                      <a:pPr>
                        <a:defRPr sz="1200">
                          <a:solidFill>
                            <a:srgbClr val="1C1B33"/>
                          </a:solidFill>
                          <a:latin typeface="Yu Gothic"/>
                        </a:defRPr>
                      </a:pPr>
                      <a:r>
                        <a:t>940億〜950億ドル</a:t>
                      </a:r>
                    </a:p>
                  </a:txBody>
                  <a:tcPr>
                    <a:solidFill>
                      <a:srgbClr val="FFFFFF"/>
                    </a:solidFill>
                  </a:tcPr>
                </a:tc>
              </a:tr>
              <a:tr h="502920">
                <a:tc>
                  <a:txBody>
                    <a:bodyPr/>
                    <a:lstStyle/>
                    <a:p>
                      <a:pPr>
                        <a:defRPr sz="1200">
                          <a:solidFill>
                            <a:srgbClr val="1C1B33"/>
                          </a:solidFill>
                          <a:latin typeface="Yu Gothic"/>
                        </a:defRPr>
                      </a:pPr>
                      <a:r>
                        <a:t>コンセンサス予想(EPS)</a:t>
                      </a:r>
                    </a:p>
                  </a:txBody>
                  <a:tcPr>
                    <a:solidFill>
                      <a:srgbClr val="F4F3FC"/>
                    </a:solidFill>
                  </a:tcPr>
                </a:tc>
                <a:tc>
                  <a:txBody>
                    <a:bodyPr/>
                    <a:lstStyle/>
                    <a:p>
                      <a:pPr>
                        <a:defRPr sz="1200">
                          <a:solidFill>
                            <a:srgbClr val="1C1B33"/>
                          </a:solidFill>
                          <a:latin typeface="Yu Gothic"/>
                        </a:defRPr>
                      </a:pPr>
                      <a:r>
                        <a:t>約2.08ドル</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視聴者にとっての意味—投資・市場動向を追う立場として</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AI業界を代表する企業の決算予想を、具体的な数字とともに把握できる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会社ガイダンスとアナリスト予想の違いを理解する視点が役立つ</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予想と実際の決算結果を区別する視点が役立つ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市場が注目しているポイント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市場が注目しているポイントを確認します。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データセンター部門の売上高が特に注目されている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粗利益率の持続性も注目点とされている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ハイパースケーラー各社のAIインフラ投資が堅調に続いているかどうかの見極め材料とされている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Intellectia.ai(2026年8月)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会社側ガイダンス vs アナリストコンセンサス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会社側ガイダンス</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売上高910億ドル(プラスマイナス2%)</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アナリストコンセンサス</a:t>
            </a:r>
          </a:p>
        </p:txBody>
      </p:sp>
      <p:sp>
        <p:nvSpPr>
          <p:cNvPr id="14" name="Oval 13"/>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売上高約917億ドル</a:t>
            </a:r>
          </a:p>
        </p:txBody>
      </p:sp>
      <p:sp>
        <p:nvSpPr>
          <p:cNvPr id="16" name="Oval 15"/>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会社ガイダンスをやや上回る水準</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実際の決算発表内容は、本テーマ執筆時点では未発表であり確認できていない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全てのアナリストの個別予想の詳細は本テーマでは扱っていない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決算発表後の株価反応の予測は本テーマの範囲では行わない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主な情報源</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Investing.com/Reuters(2026年8月)</a:t>
                      </a:r>
                    </a:p>
                  </a:txBody>
                  <a:tcPr>
                    <a:solidFill>
                      <a:srgbClr val="FFFFFF"/>
                    </a:solidFill>
                  </a:tcPr>
                </a:tc>
                <a:tc>
                  <a:txBody>
                    <a:bodyPr/>
                    <a:lstStyle/>
                    <a:p>
                      <a:pPr>
                        <a:defRPr sz="1200">
                          <a:solidFill>
                            <a:srgbClr val="1C1B33"/>
                          </a:solidFill>
                          <a:latin typeface="Yu Gothic"/>
                        </a:defRPr>
                      </a:pPr>
                      <a:r>
                        <a:t>会社ガイダンス・決算日程</a:t>
                      </a:r>
                    </a:p>
                  </a:txBody>
                  <a:tcPr>
                    <a:solidFill>
                      <a:srgbClr val="FFFFFF"/>
                    </a:solidFill>
                  </a:tcPr>
                </a:tc>
              </a:tr>
              <a:tr h="502920">
                <a:tc>
                  <a:txBody>
                    <a:bodyPr/>
                    <a:lstStyle/>
                    <a:p>
                      <a:pPr>
                        <a:defRPr sz="1200">
                          <a:solidFill>
                            <a:srgbClr val="1C1B33"/>
                          </a:solidFill>
                          <a:latin typeface="Yu Gothic"/>
                        </a:defRPr>
                      </a:pPr>
                      <a:r>
                        <a:t>Tickeron(2026年8月)</a:t>
                      </a:r>
                    </a:p>
                  </a:txBody>
                  <a:tcPr>
                    <a:solidFill>
                      <a:srgbClr val="F4F3FC"/>
                    </a:solidFill>
                  </a:tcPr>
                </a:tc>
                <a:tc>
                  <a:txBody>
                    <a:bodyPr/>
                    <a:lstStyle/>
                    <a:p>
                      <a:pPr>
                        <a:defRPr sz="1200">
                          <a:solidFill>
                            <a:srgbClr val="1C1B33"/>
                          </a:solidFill>
                          <a:latin typeface="Yu Gothic"/>
                        </a:defRPr>
                      </a:pPr>
                      <a:r>
                        <a:t>コンセンサス予想の詳細</a:t>
                      </a:r>
                    </a:p>
                  </a:txBody>
                  <a:tcPr>
                    <a:solidFill>
                      <a:srgbClr val="F4F3FC"/>
                    </a:solidFill>
                  </a:tcPr>
                </a:tc>
              </a:tr>
              <a:tr h="502920">
                <a:tc>
                  <a:txBody>
                    <a:bodyPr/>
                    <a:lstStyle/>
                    <a:p>
                      <a:pPr>
                        <a:defRPr sz="1200">
                          <a:solidFill>
                            <a:srgbClr val="1C1B33"/>
                          </a:solidFill>
                          <a:latin typeface="Yu Gothic"/>
                        </a:defRPr>
                      </a:pPr>
                      <a:r>
                        <a:t>Intellectia.ai(2026年8月)</a:t>
                      </a:r>
                    </a:p>
                  </a:txBody>
                  <a:tcPr>
                    <a:solidFill>
                      <a:srgbClr val="FFFFFF"/>
                    </a:solidFill>
                  </a:tcPr>
                </a:tc>
                <a:tc>
                  <a:txBody>
                    <a:bodyPr/>
                    <a:lstStyle/>
                    <a:p>
                      <a:pPr>
                        <a:defRPr sz="1200">
                          <a:solidFill>
                            <a:srgbClr val="1C1B33"/>
                          </a:solidFill>
                          <a:latin typeface="Yu Gothic"/>
                        </a:defRPr>
                      </a:pPr>
                      <a:r>
                        <a:t>市場の注目点</a:t>
                      </a:r>
                    </a:p>
                  </a:txBody>
                  <a:tcPr>
                    <a:solidFill>
                      <a:srgbClr val="FFFFFF"/>
                    </a:solidFill>
                  </a:tcPr>
                </a:tc>
              </a:tr>
              <a:tr h="502920">
                <a:tc>
                  <a:txBody>
                    <a:bodyPr/>
                    <a:lstStyle/>
                    <a:p>
                      <a:pPr>
                        <a:defRPr sz="1200">
                          <a:solidFill>
                            <a:srgbClr val="1C1B33"/>
                          </a:solidFill>
                          <a:latin typeface="Yu Gothic"/>
                        </a:defRPr>
                      </a:pPr>
                      <a:r>
                        <a:t>BofA Global Research(2026年8月)</a:t>
                      </a:r>
                    </a:p>
                  </a:txBody>
                  <a:tcPr>
                    <a:solidFill>
                      <a:srgbClr val="F4F3FC"/>
                    </a:solidFill>
                  </a:tcPr>
                </a:tc>
                <a:tc>
                  <a:txBody>
                    <a:bodyPr/>
                    <a:lstStyle/>
                    <a:p>
                      <a:pPr>
                        <a:defRPr sz="1200">
                          <a:solidFill>
                            <a:srgbClr val="1C1B33"/>
                          </a:solidFill>
                          <a:latin typeface="Yu Gothic"/>
                        </a:defRPr>
                      </a:pPr>
                      <a:r>
                        <a:t>個別アナリスト予想</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投資・市場動向を追う立場として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AI業界代表企業の決算予想を具体的な数字とともに把握できる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AI業界動向を追う立場として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データセンター需要の動向を実例を通じて学べる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予想と実績を区別する視点が役立つ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前年同期の実績売上高</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467億ドル 2026会計年度第2四半期の実績売上高</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今回の予想(約917億ドル)との比較基準</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Investing.com(2026年8月)</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BofAの強気予想について</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個別アナリスト予想の一例を確認します。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BofA Global Researchは、Nvidia株を『Buy』と評価し、目標株価350ドルを設定している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売上高について、コンセンサスをやや上回る940億〜950億ドルという予想を示している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個別アナリストの予想であり、市場全体のコンセンサスとは異なる点に留意する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BofA Global Research(2026年8月)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コンセンサス予想の幅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903億〜967億ドル アナリストコンセンサス予想の下限〜上限の幅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複数アナリストの予想を集計した範囲</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Investing.com(2026年8月)</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決算発表情報まとめ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発表日</a:t>
                      </a:r>
                    </a:p>
                  </a:txBody>
                  <a:tcPr>
                    <a:solidFill>
                      <a:srgbClr val="FFFFFF"/>
                    </a:solidFill>
                  </a:tcPr>
                </a:tc>
                <a:tc>
                  <a:txBody>
                    <a:bodyPr/>
                    <a:lstStyle/>
                    <a:p>
                      <a:pPr>
                        <a:defRPr sz="1200">
                          <a:solidFill>
                            <a:srgbClr val="1C1B33"/>
                          </a:solidFill>
                          <a:latin typeface="Yu Gothic"/>
                        </a:defRPr>
                      </a:pPr>
                      <a:r>
                        <a:t>2026年8月26日(市場引け後)</a:t>
                      </a:r>
                    </a:p>
                  </a:txBody>
                  <a:tcPr>
                    <a:solidFill>
                      <a:srgbClr val="FFFFFF"/>
                    </a:solidFill>
                  </a:tcPr>
                </a:tc>
              </a:tr>
              <a:tr h="502920">
                <a:tc>
                  <a:txBody>
                    <a:bodyPr/>
                    <a:lstStyle/>
                    <a:p>
                      <a:pPr>
                        <a:defRPr sz="1200">
                          <a:solidFill>
                            <a:srgbClr val="1C1B33"/>
                          </a:solidFill>
                          <a:latin typeface="Yu Gothic"/>
                        </a:defRPr>
                      </a:pPr>
                      <a:r>
                        <a:t>対象四半期</a:t>
                      </a:r>
                    </a:p>
                  </a:txBody>
                  <a:tcPr>
                    <a:solidFill>
                      <a:srgbClr val="F4F3FC"/>
                    </a:solidFill>
                  </a:tcPr>
                </a:tc>
                <a:tc>
                  <a:txBody>
                    <a:bodyPr/>
                    <a:lstStyle/>
                    <a:p>
                      <a:pPr>
                        <a:defRPr sz="1200">
                          <a:solidFill>
                            <a:srgbClr val="1C1B33"/>
                          </a:solidFill>
                          <a:latin typeface="Yu Gothic"/>
                        </a:defRPr>
                      </a:pPr>
                      <a:r>
                        <a:t>2027会計年度第2四半期</a:t>
                      </a:r>
                    </a:p>
                  </a:txBody>
                  <a:tcPr>
                    <a:solidFill>
                      <a:srgbClr val="F4F3FC"/>
                    </a:solidFill>
                  </a:tcPr>
                </a:tc>
              </a:tr>
              <a:tr h="502920">
                <a:tc>
                  <a:txBody>
                    <a:bodyPr/>
                    <a:lstStyle/>
                    <a:p>
                      <a:pPr>
                        <a:defRPr sz="1200">
                          <a:solidFill>
                            <a:srgbClr val="1C1B33"/>
                          </a:solidFill>
                          <a:latin typeface="Yu Gothic"/>
                        </a:defRPr>
                      </a:pPr>
                      <a:r>
                        <a:t>コンセンサス売上高予想</a:t>
                      </a:r>
                    </a:p>
                  </a:txBody>
                  <a:tcPr>
                    <a:solidFill>
                      <a:srgbClr val="FFFFFF"/>
                    </a:solidFill>
                  </a:tcPr>
                </a:tc>
                <a:tc>
                  <a:txBody>
                    <a:bodyPr/>
                    <a:lstStyle/>
                    <a:p>
                      <a:pPr>
                        <a:defRPr sz="1200">
                          <a:solidFill>
                            <a:srgbClr val="1C1B33"/>
                          </a:solidFill>
                          <a:latin typeface="Yu Gothic"/>
                        </a:defRPr>
                      </a:pPr>
                      <a:r>
                        <a:t>約917億ドル(903億〜967億ドル)</a:t>
                      </a:r>
                    </a:p>
                  </a:txBody>
                  <a:tcPr>
                    <a:solidFill>
                      <a:srgbClr val="FFFFFF"/>
                    </a:solidFill>
                  </a:tcPr>
                </a:tc>
              </a:tr>
              <a:tr h="502920">
                <a:tc>
                  <a:txBody>
                    <a:bodyPr/>
                    <a:lstStyle/>
                    <a:p>
                      <a:pPr>
                        <a:defRPr sz="1200">
                          <a:solidFill>
                            <a:srgbClr val="1C1B33"/>
                          </a:solidFill>
                          <a:latin typeface="Yu Gothic"/>
                        </a:defRPr>
                      </a:pPr>
                      <a:r>
                        <a:t>コンセンサスEPS予想</a:t>
                      </a:r>
                    </a:p>
                  </a:txBody>
                  <a:tcPr>
                    <a:solidFill>
                      <a:srgbClr val="F4F3FC"/>
                    </a:solidFill>
                  </a:tcPr>
                </a:tc>
                <a:tc>
                  <a:txBody>
                    <a:bodyPr/>
                    <a:lstStyle/>
                    <a:p>
                      <a:pPr>
                        <a:defRPr sz="1200">
                          <a:solidFill>
                            <a:srgbClr val="1C1B33"/>
                          </a:solidFill>
                          <a:latin typeface="Yu Gothic"/>
                        </a:defRPr>
                      </a:pPr>
                      <a:r>
                        <a:t>約2.08ドル</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決算発表までの残り日数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2日 着手日から決算発表までの残り日数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8月24日時点、8月26日発表予定</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本調査による整理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情報源ごとの報道時期</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2E2A72"/>
                    </a:solidFill>
                  </a:tcPr>
                </a:tc>
                <a:tc>
                  <a:txBody>
                    <a:bodyPr/>
                    <a:lstStyle/>
                    <a:p>
                      <a:pPr>
                        <a:defRPr sz="1300" b="1">
                          <a:solidFill>
                            <a:srgbClr val="FFFFFF"/>
                          </a:solidFill>
                          <a:latin typeface="Yu Gothic"/>
                        </a:defRPr>
                      </a:pPr>
                      <a:r>
                        <a:t>情報源</a:t>
                      </a:r>
                    </a:p>
                  </a:txBody>
                  <a:tcPr>
                    <a:solidFill>
                      <a:srgbClr val="2E2A72"/>
                    </a:solidFill>
                  </a:tcPr>
                </a:tc>
              </a:tr>
              <a:tr h="502920">
                <a:tc>
                  <a:txBody>
                    <a:bodyPr/>
                    <a:lstStyle/>
                    <a:p>
                      <a:pPr>
                        <a:defRPr sz="1200">
                          <a:solidFill>
                            <a:srgbClr val="1C1B33"/>
                          </a:solidFill>
                          <a:latin typeface="Yu Gothic"/>
                        </a:defRPr>
                      </a:pPr>
                      <a:r>
                        <a:t>2026年8月時点</a:t>
                      </a:r>
                    </a:p>
                  </a:txBody>
                  <a:tcPr>
                    <a:solidFill>
                      <a:srgbClr val="FFFFFF"/>
                    </a:solidFill>
                  </a:tcPr>
                </a:tc>
                <a:tc>
                  <a:txBody>
                    <a:bodyPr/>
                    <a:lstStyle/>
                    <a:p>
                      <a:pPr>
                        <a:defRPr sz="1200">
                          <a:solidFill>
                            <a:srgbClr val="1C1B33"/>
                          </a:solidFill>
                          <a:latin typeface="Yu Gothic"/>
                        </a:defRPr>
                      </a:pPr>
                      <a:r>
                        <a:t>会社側ガイダンス発表</a:t>
                      </a:r>
                    </a:p>
                  </a:txBody>
                  <a:tcPr>
                    <a:solidFill>
                      <a:srgbClr val="FFFFFF"/>
                    </a:solidFill>
                  </a:tcPr>
                </a:tc>
              </a:tr>
              <a:tr h="502920">
                <a:tc>
                  <a:txBody>
                    <a:bodyPr/>
                    <a:lstStyle/>
                    <a:p>
                      <a:pPr>
                        <a:defRPr sz="1200">
                          <a:solidFill>
                            <a:srgbClr val="1C1B33"/>
                          </a:solidFill>
                          <a:latin typeface="Yu Gothic"/>
                        </a:defRPr>
                      </a:pPr>
                      <a:r>
                        <a:t>2026年8月24日時点</a:t>
                      </a:r>
                    </a:p>
                  </a:txBody>
                  <a:tcPr>
                    <a:solidFill>
                      <a:srgbClr val="F4F3FC"/>
                    </a:solidFill>
                  </a:tcPr>
                </a:tc>
                <a:tc>
                  <a:txBody>
                    <a:bodyPr/>
                    <a:lstStyle/>
                    <a:p>
                      <a:pPr>
                        <a:defRPr sz="1200">
                          <a:solidFill>
                            <a:srgbClr val="1C1B33"/>
                          </a:solidFill>
                          <a:latin typeface="Yu Gothic"/>
                        </a:defRPr>
                      </a:pPr>
                      <a:r>
                        <a:t>各アナリスト・情報サービスの予想集計</a:t>
                      </a:r>
                    </a:p>
                  </a:txBody>
                  <a:tcPr>
                    <a:solidFill>
                      <a:srgbClr val="F4F3FC"/>
                    </a:solidFill>
                  </a:tcPr>
                </a:tc>
              </a:tr>
              <a:tr h="502920">
                <a:tc>
                  <a:txBody>
                    <a:bodyPr/>
                    <a:lstStyle/>
                    <a:p>
                      <a:pPr>
                        <a:defRPr sz="1200">
                          <a:solidFill>
                            <a:srgbClr val="1C1B33"/>
                          </a:solidFill>
                          <a:latin typeface="Yu Gothic"/>
                        </a:defRPr>
                      </a:pPr>
                      <a:r>
                        <a:t>2026年8月26日(予定)</a:t>
                      </a:r>
                    </a:p>
                  </a:txBody>
                  <a:tcPr>
                    <a:solidFill>
                      <a:srgbClr val="FFFFFF"/>
                    </a:solidFill>
                  </a:tcPr>
                </a:tc>
                <a:tc>
                  <a:txBody>
                    <a:bodyPr/>
                    <a:lstStyle/>
                    <a:p>
                      <a:pPr>
                        <a:defRPr sz="1200">
                          <a:solidFill>
                            <a:srgbClr val="1C1B33"/>
                          </a:solidFill>
                          <a:latin typeface="Yu Gothic"/>
                        </a:defRPr>
                      </a:pPr>
                      <a:r>
                        <a:t>実際の決算発表</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AI業界全体への影響度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極めて高い 今回の決算がAI業界全体に与えるとされる注目度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ハイパースケーラー各社のAI投資動向の指標とされる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Intellectia.ai(2026年8月)</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一般的な決算発表報道 vs 今回のNvidia決算</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一般的な決算発表報道</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決算発表後の結果報道が中心となることが多い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今回のNvidia決算</a:t>
            </a:r>
          </a:p>
        </p:txBody>
      </p:sp>
      <p:sp>
        <p:nvSpPr>
          <p:cNvPr id="14" name="Oval 13"/>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発表前のアナリスト予想への注目度が極めて高い</a:t>
            </a:r>
          </a:p>
        </p:txBody>
      </p:sp>
      <p:sp>
        <p:nvSpPr>
          <p:cNvPr id="16" name="Oval 15"/>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AI業界全体の動向を占う指標とされている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今後注目される点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8月26日の実際の決算発表で、コンセンサス予想を上回るか下回るかに注目が集まる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データセンター部門の売上高・粗利益率の実績が特に注視される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具体的な決算結果・株価反応の予測は本テーマの範囲では断定せず、確認できた予想情報にとどめる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まとめ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本編のまとめです。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Nvidiaは2026年8月26日に2027会計年度第2四半期決算を発表する予定である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アナリストコンセンサス予想は売上高約917億ドル、前年同期比で約80%の増収となる見通しである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会社側ガイダンス(910億ドル±2%)とアナリストコンセンサス、BofAの強気予想など、複数の予想数値を区別して整理した</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実際の決算発表内容は本テーマ執筆時点では未発表であり、あくまで予想段階であることを明記した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Investing.com・Reuters等(2026年8月)</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Nvidia決算発表(8月26日)目前。アナリスト予想は売上高920億ドル前後。</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AI業界を代表するNvidiaの決算発表を目前に控え、アナリスト予想を出典付きで整理しました。あくまで予想であり、決算結果ではありません。</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