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本日はアメリカの当局NHTSAが許可した、ハンドルのないZoox車両の話題をお届けします。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今日は、何が発表されたのか、適用除外の詳細、Zooxとは何か、注目される理由、今後の見通しをお伝えします。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NHTSAが2026年7月31日、Zooxの自動運転車両に対し、連邦自動車安全基準8項目の適用除外を許可しました。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その数がこちら、連邦自動車安全基準のうち8項目です。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適用除外の概要をまとめると、この表の通りです。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許可までの流れを整理すると、この4ステップです。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Zooxは、Amazon傘下の自動運転タクシー企業です。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適用除外の内容を整理すると、この4分野8項目です。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従来の車はハンドル・運転席を前提に基準が設計されていますが、Zoox車両はそれらを持たない専用設計のため、一部基準の適用除外が必要になります。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商業展開できる台数は、年間最大2,500台までとされています。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この適用除外は、強化・適応型の監督体制のもとで運用され、有効期間も2年間に限定されています。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8項目を基準番号ごとに整理すると、この表の通りです。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この適用除外は、2026年7月31日から2028年7月31日までの2年間の時限的な措置です。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この話題が注目される理由は、ハンドルのない車が正式に走れるようになる点、政府による正式な許可という重みにあります。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一般的な自動運転車はハンドル・運転席を備えていますが、Zoox車両はそれらを持たない専用設計です。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一般的な自動運転車と比べると、Zoox車両はハンドル・運転席を持たない、より徹底した専用設計になっています。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確認できたことと確認できなかったことを正直に整理します。代替安全対策の技術詳細や、実際の展開時期・都市は確認できていません。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本テーマを総括します。NHTSAが安全基準8項目の適用除外を許可し、ハンドルのないZoox車両が正式に公道を走れるようになりました。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ここからは推測です。商業展開の本格化、他社への波及、安全性の検証が今後の焦点になりそうです。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業界への影響としては、規制のあり方や利用者の体験に変化をもたらす可能性があります。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本テーマでは数字の創作をせず、安全性についての断定的な評価も行っていません。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出典はこの表の通り、米国政府の官報という一次情報を中心に構成しています。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皆さんは、ハンドルのない車に乗ってみたいと思いますか。</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改めて確認します。8項目の適用除外により、年間最大2,500台まで商業展開が可能になりました。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商業展開までの流れを図で見ると、許可は確認済みですが、その先の展開準備・開始時期は未確認です。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この話題は、米国政府の官報を中心に一次情報が公開され、自動車・テック専門媒体でも報道されました。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数字で見ると、対象基準8項目、展開台数上限は年間最大2,500台、有効期間は2年間です。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改めて総括します。NHTSAの許可により、ハンドルのないZoox車両が公道を正式に走れるようになりました。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Zooxの商業展開の状況、そして自動運転専用の安全基準整備の動向に注目していきましょう。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今回もありがとうございました。ハンドルのないZoox車両の話題をお届けしました。次回もお楽しみに。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ハンドルのない車が、ついに公道を正式に走れるようになった。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NHTSA、ハンドル・運転席なしのZoox車両に連邦安全基準8項目の適用除外を許可</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Federal Register・NHTSA(2026-07-31) ※着手日の3日前の話題です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何が発表されたのか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適用除外の詳細</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Zooxとは</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なぜ注目されるのか</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今後の見通し</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何が発表されたのか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NHTSAが2026年7月31日、Zooxの自動運転車両に安全基準の適用除外を許可</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連邦自動車安全基準(FMVSS)のうち8項目が対象</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ハンドル・運転席を持たない設計の車両を商業展開できるようになる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Federal Register(2026-07-31)</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許可された適用除外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8項目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連邦自動車安全基準(FMVSS)のうち8項目が対象</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Federal Register(2026-07-31)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適用除外の概要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許可日</a:t>
                      </a:r>
                    </a:p>
                  </a:txBody>
                  <a:tcPr>
                    <a:solidFill>
                      <a:srgbClr val="FFFFFF"/>
                    </a:solidFill>
                  </a:tcPr>
                </a:tc>
                <a:tc>
                  <a:txBody>
                    <a:bodyPr/>
                    <a:lstStyle/>
                    <a:p>
                      <a:pPr>
                        <a:defRPr sz="1200">
                          <a:solidFill>
                            <a:srgbClr val="1C2230"/>
                          </a:solidFill>
                          <a:latin typeface="Yu Gothic"/>
                        </a:defRPr>
                      </a:pPr>
                      <a:r>
                        <a:t>2026年7月31日</a:t>
                      </a:r>
                    </a:p>
                  </a:txBody>
                  <a:tcPr>
                    <a:solidFill>
                      <a:srgbClr val="FFFFFF"/>
                    </a:solidFill>
                  </a:tcPr>
                </a:tc>
              </a:tr>
              <a:tr h="502920">
                <a:tc>
                  <a:txBody>
                    <a:bodyPr/>
                    <a:lstStyle/>
                    <a:p>
                      <a:pPr>
                        <a:defRPr sz="1200">
                          <a:solidFill>
                            <a:srgbClr val="1C2230"/>
                          </a:solidFill>
                          <a:latin typeface="Yu Gothic"/>
                        </a:defRPr>
                      </a:pPr>
                      <a:r>
                        <a:t>対象基準数</a:t>
                      </a:r>
                    </a:p>
                  </a:txBody>
                  <a:tcPr>
                    <a:solidFill>
                      <a:srgbClr val="F1F5FA"/>
                    </a:solidFill>
                  </a:tcPr>
                </a:tc>
                <a:tc>
                  <a:txBody>
                    <a:bodyPr/>
                    <a:lstStyle/>
                    <a:p>
                      <a:pPr>
                        <a:defRPr sz="1200">
                          <a:solidFill>
                            <a:srgbClr val="1C2230"/>
                          </a:solidFill>
                          <a:latin typeface="Yu Gothic"/>
                        </a:defRPr>
                      </a:pPr>
                      <a:r>
                        <a:t>FMVSS 8項目</a:t>
                      </a:r>
                    </a:p>
                  </a:txBody>
                  <a:tcPr>
                    <a:solidFill>
                      <a:srgbClr val="F1F5FA"/>
                    </a:solidFill>
                  </a:tcPr>
                </a:tc>
              </a:tr>
              <a:tr h="502920">
                <a:tc>
                  <a:txBody>
                    <a:bodyPr/>
                    <a:lstStyle/>
                    <a:p>
                      <a:pPr>
                        <a:defRPr sz="1200">
                          <a:solidFill>
                            <a:srgbClr val="1C2230"/>
                          </a:solidFill>
                          <a:latin typeface="Yu Gothic"/>
                        </a:defRPr>
                      </a:pPr>
                      <a:r>
                        <a:t>年間展開台数上限</a:t>
                      </a:r>
                    </a:p>
                  </a:txBody>
                  <a:tcPr>
                    <a:solidFill>
                      <a:srgbClr val="FFFFFF"/>
                    </a:solidFill>
                  </a:tcPr>
                </a:tc>
                <a:tc>
                  <a:txBody>
                    <a:bodyPr/>
                    <a:lstStyle/>
                    <a:p>
                      <a:pPr>
                        <a:defRPr sz="1200">
                          <a:solidFill>
                            <a:srgbClr val="1C2230"/>
                          </a:solidFill>
                          <a:latin typeface="Yu Gothic"/>
                        </a:defRPr>
                      </a:pPr>
                      <a:r>
                        <a:t>最大2,500台</a:t>
                      </a:r>
                    </a:p>
                  </a:txBody>
                  <a:tcPr>
                    <a:solidFill>
                      <a:srgbClr val="FFFFFF"/>
                    </a:solidFill>
                  </a:tcPr>
                </a:tc>
              </a:tr>
              <a:tr h="502920">
                <a:tc>
                  <a:txBody>
                    <a:bodyPr/>
                    <a:lstStyle/>
                    <a:p>
                      <a:pPr>
                        <a:defRPr sz="1200">
                          <a:solidFill>
                            <a:srgbClr val="1C2230"/>
                          </a:solidFill>
                          <a:latin typeface="Yu Gothic"/>
                        </a:defRPr>
                      </a:pPr>
                      <a:r>
                        <a:t>有効期間</a:t>
                      </a:r>
                    </a:p>
                  </a:txBody>
                  <a:tcPr>
                    <a:solidFill>
                      <a:srgbClr val="F1F5FA"/>
                    </a:solidFill>
                  </a:tcPr>
                </a:tc>
                <a:tc>
                  <a:txBody>
                    <a:bodyPr/>
                    <a:lstStyle/>
                    <a:p>
                      <a:pPr>
                        <a:defRPr sz="1200">
                          <a:solidFill>
                            <a:srgbClr val="1C2230"/>
                          </a:solidFill>
                          <a:latin typeface="Yu Gothic"/>
                        </a:defRPr>
                      </a:pPr>
                      <a:r>
                        <a:t>2026年7月31日〜2028年7月31日(2年間)</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許可までの流れ</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申請</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Zooxが適用除外を申請</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意見公募</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Federal Registerで意見公募が行われる</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審査</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NHTSAが安全性を審査</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許可</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2026年7月31日、適用除外が許可される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Zooxとは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親会社</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Amazon傘下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事業</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自動運転タクシー(ロボタクシー)</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車両の特徴</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ハンドル・運転席を持たない専用設計</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適用除外の内容詳細</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防曇・除霜装置、ワイパー・ウォッシャーに関する基準</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灯火・反射装置、後方視界に関する基準</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ブレーキシステム、車内衝突での乗員保護に関する基準</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ガラス材、乗員衝突保護に関する基準</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Federal Register(2026-07-31)</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車両設計の特徴</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従来の車</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ハンドル・運転席を前提に安全基準が設計されている</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Zoox車両</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ハンドル・運転席がない専用設計</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適用除外の必要性</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従来基準の一部が前提から外れるため除外が必要になる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年間展開台数の上限</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最大2,500台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適用除外のもとで商業展開できる年間台数の上限</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Federal Register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監督体制について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強化・適応型の監督体制のもとで運用される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NHTSAが継続的に安全性を監督する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有効期間は2年間に限定されている</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Federal Register(2026-07-31)</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適用除外された基準8項目</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基準番号</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FMVSS 103・104</a:t>
                      </a:r>
                    </a:p>
                  </a:txBody>
                  <a:tcPr>
                    <a:solidFill>
                      <a:srgbClr val="FFFFFF"/>
                    </a:solidFill>
                  </a:tcPr>
                </a:tc>
                <a:tc>
                  <a:txBody>
                    <a:bodyPr/>
                    <a:lstStyle/>
                    <a:p>
                      <a:pPr>
                        <a:defRPr sz="1200">
                          <a:solidFill>
                            <a:srgbClr val="1C2230"/>
                          </a:solidFill>
                          <a:latin typeface="Yu Gothic"/>
                        </a:defRPr>
                      </a:pPr>
                      <a:r>
                        <a:t>防曇・除霜、ワイパー・ウォッシャー</a:t>
                      </a:r>
                    </a:p>
                  </a:txBody>
                  <a:tcPr>
                    <a:solidFill>
                      <a:srgbClr val="FFFFFF"/>
                    </a:solidFill>
                  </a:tcPr>
                </a:tc>
              </a:tr>
              <a:tr h="502920">
                <a:tc>
                  <a:txBody>
                    <a:bodyPr/>
                    <a:lstStyle/>
                    <a:p>
                      <a:pPr>
                        <a:defRPr sz="1200">
                          <a:solidFill>
                            <a:srgbClr val="1C2230"/>
                          </a:solidFill>
                          <a:latin typeface="Yu Gothic"/>
                        </a:defRPr>
                      </a:pPr>
                      <a:r>
                        <a:t>FMVSS 108・111</a:t>
                      </a:r>
                    </a:p>
                  </a:txBody>
                  <a:tcPr>
                    <a:solidFill>
                      <a:srgbClr val="F1F5FA"/>
                    </a:solidFill>
                  </a:tcPr>
                </a:tc>
                <a:tc>
                  <a:txBody>
                    <a:bodyPr/>
                    <a:lstStyle/>
                    <a:p>
                      <a:pPr>
                        <a:defRPr sz="1200">
                          <a:solidFill>
                            <a:srgbClr val="1C2230"/>
                          </a:solidFill>
                          <a:latin typeface="Yu Gothic"/>
                        </a:defRPr>
                      </a:pPr>
                      <a:r>
                        <a:t>灯火・反射装置、後方視界</a:t>
                      </a:r>
                    </a:p>
                  </a:txBody>
                  <a:tcPr>
                    <a:solidFill>
                      <a:srgbClr val="F1F5FA"/>
                    </a:solidFill>
                  </a:tcPr>
                </a:tc>
              </a:tr>
              <a:tr h="502920">
                <a:tc>
                  <a:txBody>
                    <a:bodyPr/>
                    <a:lstStyle/>
                    <a:p>
                      <a:pPr>
                        <a:defRPr sz="1200">
                          <a:solidFill>
                            <a:srgbClr val="1C2230"/>
                          </a:solidFill>
                          <a:latin typeface="Yu Gothic"/>
                        </a:defRPr>
                      </a:pPr>
                      <a:r>
                        <a:t>FMVSS 135</a:t>
                      </a:r>
                    </a:p>
                  </a:txBody>
                  <a:tcPr>
                    <a:solidFill>
                      <a:srgbClr val="FFFFFF"/>
                    </a:solidFill>
                  </a:tcPr>
                </a:tc>
                <a:tc>
                  <a:txBody>
                    <a:bodyPr/>
                    <a:lstStyle/>
                    <a:p>
                      <a:pPr>
                        <a:defRPr sz="1200">
                          <a:solidFill>
                            <a:srgbClr val="1C2230"/>
                          </a:solidFill>
                          <a:latin typeface="Yu Gothic"/>
                        </a:defRPr>
                      </a:pPr>
                      <a:r>
                        <a:t>ブレーキシステム</a:t>
                      </a:r>
                    </a:p>
                  </a:txBody>
                  <a:tcPr>
                    <a:solidFill>
                      <a:srgbClr val="FFFFFF"/>
                    </a:solidFill>
                  </a:tcPr>
                </a:tc>
              </a:tr>
              <a:tr h="502920">
                <a:tc>
                  <a:txBody>
                    <a:bodyPr/>
                    <a:lstStyle/>
                    <a:p>
                      <a:pPr>
                        <a:defRPr sz="1200">
                          <a:solidFill>
                            <a:srgbClr val="1C2230"/>
                          </a:solidFill>
                          <a:latin typeface="Yu Gothic"/>
                        </a:defRPr>
                      </a:pPr>
                      <a:r>
                        <a:t>FMVSS 201・205・208</a:t>
                      </a:r>
                    </a:p>
                  </a:txBody>
                  <a:tcPr>
                    <a:solidFill>
                      <a:srgbClr val="F1F5FA"/>
                    </a:solidFill>
                  </a:tcPr>
                </a:tc>
                <a:tc>
                  <a:txBody>
                    <a:bodyPr/>
                    <a:lstStyle/>
                    <a:p>
                      <a:pPr>
                        <a:defRPr sz="1200">
                          <a:solidFill>
                            <a:srgbClr val="1C2230"/>
                          </a:solidFill>
                          <a:latin typeface="Yu Gothic"/>
                        </a:defRPr>
                      </a:pPr>
                      <a:r>
                        <a:t>車内衝突保護、ガラス材、乗員衝突保護</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適用除外の期間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2026年7月31日〜2028年7月31日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2年間の時限的な措置</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なぜこれが注目されるのか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『ハンドルのない車』が正式に公道を走れるようになる点</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米国政府による正式な許可という重み</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商業展開の規模(年間最大2,500台)の大きさ</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通常の自動運転車との違い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069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一般的な自動運転車</a:t>
            </a:r>
          </a:p>
        </p:txBody>
      </p:sp>
      <p:sp>
        <p:nvSpPr>
          <p:cNvPr id="9" name="TextBox 8"/>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ハンドル・運転席を備え、緊急時は人が操作可能</a:t>
            </a:r>
          </a:p>
        </p:txBody>
      </p:sp>
      <p:sp>
        <p:nvSpPr>
          <p:cNvPr id="10" name="Right Arrow 9"/>
          <p:cNvSpPr/>
          <p:nvPr/>
        </p:nvSpPr>
        <p:spPr>
          <a:xfrm>
            <a:off x="57575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073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Zoox車両</a:t>
            </a:r>
          </a:p>
        </p:txBody>
      </p:sp>
      <p:sp>
        <p:nvSpPr>
          <p:cNvPr id="14" name="TextBox 13"/>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ハンドル・運転席を持たない専用設計</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一般的な自動運転車との違い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一般的な自動運転車</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ハンドル・運転席を装備</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緊急時は人による操作を想定</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Zoox車両</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ハンドル・運転席を持たない専用設計</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自動運転を前提とした車内レイアウト</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確認できたこと・できなかったこと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確認済み: 適用除外の対象8項目・展開台数・有効期間</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確認済み: NHTSAによる許可日(2026年7月31日)</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未確認: 適用除外項目についての具体的な代替安全対策の技術詳細</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未確認: 実際の商業展開の開始時期・都市</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ハンドルのない車が、正式に公道へ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NHTSAが安全基準8項目の適用除外を許可した</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今後の見通し(ここからは推測)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商業展開の開始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有償ライドの提供が本格化する可能性</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他社への波及</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同様の適用除外を求める他社が現れる可能性</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安全性の検証</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実際の運用データによる安全性の検証が進む</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業界への影響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自動運転業界</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専用設計車両への規制のあり方に一石を投じる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規制当局</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AV(自動運転車)専用の安全基準の整備が進む可能性</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利用者</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ハンドルのない車という新しい体験が身近になる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リスク・配慮事項</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数字の創作はせず、Federal Register等の一次情報のみを扱う</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安全性についての断定的な評価は行わない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特定企業(Zoox・Amazon)の利用を強く推奨する結論にはしない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Federal Register</a:t>
                      </a:r>
                    </a:p>
                  </a:txBody>
                  <a:tcPr>
                    <a:solidFill>
                      <a:srgbClr val="FFFFFF"/>
                    </a:solidFill>
                  </a:tcPr>
                </a:tc>
                <a:tc>
                  <a:txBody>
                    <a:bodyPr/>
                    <a:lstStyle/>
                    <a:p>
                      <a:pPr>
                        <a:defRPr sz="1200">
                          <a:solidFill>
                            <a:srgbClr val="1C2230"/>
                          </a:solidFill>
                          <a:latin typeface="Yu Gothic"/>
                        </a:defRPr>
                      </a:pPr>
                      <a:r>
                        <a:t>適用除外の許可内容を公式に公開(一次情報)</a:t>
                      </a:r>
                    </a:p>
                  </a:txBody>
                  <a:tcPr>
                    <a:solidFill>
                      <a:srgbClr val="FFFFFF"/>
                    </a:solidFill>
                  </a:tcPr>
                </a:tc>
              </a:tr>
              <a:tr h="502920">
                <a:tc>
                  <a:txBody>
                    <a:bodyPr/>
                    <a:lstStyle/>
                    <a:p>
                      <a:pPr>
                        <a:defRPr sz="1200">
                          <a:solidFill>
                            <a:srgbClr val="1C2230"/>
                          </a:solidFill>
                          <a:latin typeface="Yu Gothic"/>
                        </a:defRPr>
                      </a:pPr>
                      <a:r>
                        <a:t>NHTSA公式</a:t>
                      </a:r>
                    </a:p>
                  </a:txBody>
                  <a:tcPr>
                    <a:solidFill>
                      <a:srgbClr val="F1F5FA"/>
                    </a:solidFill>
                  </a:tcPr>
                </a:tc>
                <a:tc>
                  <a:txBody>
                    <a:bodyPr/>
                    <a:lstStyle/>
                    <a:p>
                      <a:pPr>
                        <a:defRPr sz="1200">
                          <a:solidFill>
                            <a:srgbClr val="1C2230"/>
                          </a:solidFill>
                          <a:latin typeface="Yu Gothic"/>
                        </a:defRPr>
                      </a:pPr>
                      <a:r>
                        <a:t>プレスリリースで発表内容を説明</a:t>
                      </a:r>
                    </a:p>
                  </a:txBody>
                  <a:tcPr>
                    <a:solidFill>
                      <a:srgbClr val="F1F5FA"/>
                    </a:solidFill>
                  </a:tcPr>
                </a:tc>
              </a:tr>
              <a:tr h="502920">
                <a:tc>
                  <a:txBody>
                    <a:bodyPr/>
                    <a:lstStyle/>
                    <a:p>
                      <a:pPr>
                        <a:defRPr sz="1200">
                          <a:solidFill>
                            <a:srgbClr val="1C2230"/>
                          </a:solidFill>
                          <a:latin typeface="Yu Gothic"/>
                        </a:defRPr>
                      </a:pPr>
                      <a:r>
                        <a:t>auto connected car news</a:t>
                      </a:r>
                    </a:p>
                  </a:txBody>
                  <a:tcPr>
                    <a:solidFill>
                      <a:srgbClr val="FFFFFF"/>
                    </a:solidFill>
                  </a:tcPr>
                </a:tc>
                <a:tc>
                  <a:txBody>
                    <a:bodyPr/>
                    <a:lstStyle/>
                    <a:p>
                      <a:pPr>
                        <a:defRPr sz="1200">
                          <a:solidFill>
                            <a:srgbClr val="1C2230"/>
                          </a:solidFill>
                          <a:latin typeface="Yu Gothic"/>
                        </a:defRPr>
                      </a:pPr>
                      <a:r>
                        <a:t>詳細・背景を報道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視聴者への問いかけ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ハンドルのない車に、あなたは乗ってみたいと思いますか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自動運転専用の安全基準は、今後どう整備されるべきか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8項目の適用除外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年間最大2,500台まで商業展開可能</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2026年7月31日〜2028年7月31日の2年間</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商業展開までの流れ(推測含む)</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許可(2026年7月31日)</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確認済み</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展開準備</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推測</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有償ライド開始</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時期・都市は未確認</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この話題の広がり方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米国政府の官報を中心に一次情報が公開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自動車・テック専門媒体が報道</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SNSでも話題に</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数字で見るZoox車両の適用除外</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対象基準</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8項目</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展開台数上限</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年間最大2,500台</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有効期間</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2年間</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ハンドルのない車の、正式な商業展開へ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NHTSAの許可により、Zooxの専用設計車両が公道を走れるようになった</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続報にも注目です</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Zooxの商業展開の状況、自動運転専用の安全基準整備の動向に注目していきます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続報をお楽しみに</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NHTSAがZoox車両に安全基準8項目の適用除外を許可(2026年7月31日)</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ハンドル・運転席を持たない専用設計車両が年間最大2,500台まで商業展開可能に</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有効期間は2026年7月31日〜2028年7月31日の2年間</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Federal Register・NHTSA(2026-07-31)｜定期実行95本目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