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で最も使われるプログラミング言語の一つが、AIに「本文は書かせない」と宣言しました。Rustのコア開発リポジトリ『rust-lang/rust』の5つのチームが2026年8月5日、LLM(大規模言語モデル)の利用に関する公式ポリシーを採択したの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今日わかることは6つです。何が起きたのか、Rustとはどんな言語か、ポリシーの適用範囲、許可と禁止の線引き、方針の核心、そして確認できたこと・できなかったこと・鮮度についてです。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何が起きたのか整理します。Rustのコア開発リポジトリ『rust-lang/rust』内の5つのチームが、2026年8月5日、LLM利用に関する公式ポリシーを採択しました。許可と禁止が明確に線引きされている点が特徴です。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ポリシーが発表された日はこちら、2026年8月5日です。着手日と完全に同日という、このシリーズで可能な最高水準の鮮度でお届けしています。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今回のニュースの概要を表にまとめました。対象はrust-lang/rustというモノレポで、5つのチームが2026年8月5日にLLM利用ポリシーを採択しました。適用範囲はこのモノレポに限られる点がポイントです。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登場人物・関係者を整理します。対象リポジトリrust-lang/rust、採択した5つのチーム、提案者のjyn514氏、そして発表の場となったInside Rust Blogです。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初心者向けに説明します。Rustは安全性と処理速度を両立させることを目指したプログラミング言語で、世界中で使われています。そのコア部分を管理するのがrust-lang/rustリポジトリです。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なぜコア開発が重要なのかを示します。rust-lang/rustはRustそのものを管理するリポジトリであり、ここでのルールはRustを使うすべての開発者に影響するため、注目度が高いのです。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LLMは質問応答や文章生成ができるAI技術で、開発現場での活用が広がる中、コア開発でどこまで使ってよいかは多くのプロジェクトの悩みどころです。Rustの明文化が話題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このポリシーの適用範囲について、重要な注記です。今回のポリシーが適用されるのはrust-lang/rustというモノレポのみで、Rustプロジェクト全体としての統一見解ではありません。誤解しやすいポイントです。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LLM利用の許可と禁止を比較します。質問応答や非公開レビューは許可される一方、ドキュメントや安全性コメントの生成、LLMによるマージ可否の判断は禁止されています。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禁止されている具体的な内容です。個人アカウントでのLLM生成物、ドキュメント全般、安全性コメントや診断メッセージ、そしてLLMによるマージ可否の判断が禁止されています。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許可されている具体的な内容です。質問への回答やコード分析、非公開レビュー、改善案の提案は許可されており、開示を伴えば機械翻訳や些細な変更にも限定的に使えます。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LLMレビューは参考情報にとどまるという点を掘り下げます。LLMにレビューさせること自体は禁止されていませんが、マージするか拒否するかの最終判断は必ず人間が行います。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方針の核心です。『LLMは、より良く書くために使う。より速く書くためではない』。write better, not fasterという表現に、このポリシー全体の考え方が集約されています。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better, not fasterの意味を示します。人間の理解・著作・レビューを置き換えるのではなく、LLMを補助として使い、より良く書くための道具として位置づけているのです。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ポリシーが想定するLLM活用の流れです。分析・要約に使い、限定利用は開示し、人間が検証し、最終的に人間が判断する。この4ステップが一貫しています。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ポリシーを採択したチーム数はこちら、5つです。rust-lang/rust内の5つのチームが、このLLM利用ポリシーを採択しました。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出典一覧です。Rust公式Inside Rust Blog、Linuxiac、Socket.dev、そしてrust-lang/rust-forgeリポジトリのPull Request #1040という複数の独立した情報源で報じられています。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未確認事項を一覧にしました。Socket.dev見出しの『数か月』の具体的内容、他チームへの波及、執行方法など、いずれも本調査の範囲では確認できていません。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確認できたこと・できなかったことを正直に整理します。ポリシーの内容そのものは確認できていますが、背景事情や今後の波及、執行方法は確認できていません。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鮮度について開示します。発表は着手日と完全に同日であり、このシリーズで可能な最高水準の鮮度です。round82評価表ではスコア78/100で採用されました。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round82評価表からの開示です。評価スコアは78/100で、開発者コミュニティでの話題性と着手日当日という最高水準の鮮度が評価されました。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公平性・中立性について開示します。ポリシーの内容そのものを中立的に報告し、AI活用全般についての論評は行いません。実在人物名はテキストのみで扱っています。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既存テーマとの関係を確認しました。Rust・RustのLLMポリシーを主題とした既存テーマはなく、round82で挙がったCodebergの別候補とも組織・出来事が異なるため重複ではありません。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業界文脈です。ここからは推測になります。Rustの明文化は先行事例として注目されますが、他プロジェクトへの波及は確認できていません。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今回のニュースの3つのポイントです。許可と禁止の明確な線引き、本文はAIに書かせないという姿勢、そして最終判断は必ず人間が行うという原則です。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今分かっていることと、まだ分からないことを比較します。ポリシーの内容自体は確認できていますが、他プロジェクトへの波及は、まだ答えの出ていない開かれた問いです。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この動きは、他のオープンソースプロジェクトに何を示唆するのか。答えを断定せず、開かれた問いとして注目していきましょう。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Rustのコア開発リポジトリ内の5つのチームが、2026年8月5日、LLM利用に関する公式ポリシーを採択しました。今後の展開が未確認であること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世界で最も使われるプログラミング言語の一つが、AIに「本文は書かせない」と宣言した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Rustのコア開発リポジトリ「rust-lang/rust」、LLM利用に関する公式ポリシーを採択</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Rust公式Inside Rust Blog(2026-08-05)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初心者向け: Rustとはどんなプログラミング言語か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このポリシーはどこまでの範囲に適用されるのか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LLM利用の「許可」と「禁止」の具体的な線引き</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方針の核心「write better, not faster」とは何か</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Rustのコア開発リポジトリ「rust-lang/rust」内の5つのチームが、2026年8月5日、LLM利用に関する公式ポリシーを採択した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対象は、Rustのコンパイラ・言語本体を管理するモノレポ「rust-lang/rust」</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質問への回答・コード分析・非公開レビュー等にはLLM利用を認める一方、ドキュメントや安全性コメント等のLLM生成は禁止</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LLMによるレビューは参考情報にとどまり、マージ可否の判断には使えない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Rust公式Inside Rust Blog(2026-08-05)</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ポリシーが発表された日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2026年8月5日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rust-lang/rust内5チームが、LLM利用に関する公式ポリシーを採択</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Rust公式Inside Rust Blog(2026-08-05)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今回のニュースの概要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対象リポジトリ</a:t>
                      </a:r>
                    </a:p>
                  </a:txBody>
                  <a:tcPr>
                    <a:solidFill>
                      <a:srgbClr val="FFFFFF"/>
                    </a:solidFill>
                  </a:tcPr>
                </a:tc>
                <a:tc>
                  <a:txBody>
                    <a:bodyPr/>
                    <a:lstStyle/>
                    <a:p>
                      <a:pPr>
                        <a:defRPr sz="1200">
                          <a:solidFill>
                            <a:srgbClr val="1C2230"/>
                          </a:solidFill>
                          <a:latin typeface="Yu Gothic"/>
                        </a:defRPr>
                      </a:pPr>
                      <a:r>
                        <a:t>rust-lang/rust(Rustのコンパイラ・言語本体のモノレポ)</a:t>
                      </a:r>
                    </a:p>
                  </a:txBody>
                  <a:tcPr>
                    <a:solidFill>
                      <a:srgbClr val="FFFFFF"/>
                    </a:solidFill>
                  </a:tcPr>
                </a:tc>
              </a:tr>
              <a:tr h="502920">
                <a:tc>
                  <a:txBody>
                    <a:bodyPr/>
                    <a:lstStyle/>
                    <a:p>
                      <a:pPr>
                        <a:defRPr sz="1200">
                          <a:solidFill>
                            <a:srgbClr val="1C2230"/>
                          </a:solidFill>
                          <a:latin typeface="Yu Gothic"/>
                        </a:defRPr>
                      </a:pPr>
                      <a:r>
                        <a:t>採択したのは</a:t>
                      </a:r>
                    </a:p>
                  </a:txBody>
                  <a:tcPr>
                    <a:solidFill>
                      <a:srgbClr val="F1F5FA"/>
                    </a:solidFill>
                  </a:tcPr>
                </a:tc>
                <a:tc>
                  <a:txBody>
                    <a:bodyPr/>
                    <a:lstStyle/>
                    <a:p>
                      <a:pPr>
                        <a:defRPr sz="1200">
                          <a:solidFill>
                            <a:srgbClr val="1C2230"/>
                          </a:solidFill>
                          <a:latin typeface="Yu Gothic"/>
                        </a:defRPr>
                      </a:pPr>
                      <a:r>
                        <a:t>rust-lang/rust内の5つのチーム</a:t>
                      </a:r>
                    </a:p>
                  </a:txBody>
                  <a:tcPr>
                    <a:solidFill>
                      <a:srgbClr val="F1F5FA"/>
                    </a:solidFill>
                  </a:tcPr>
                </a:tc>
              </a:tr>
              <a:tr h="502920">
                <a:tc>
                  <a:txBody>
                    <a:bodyPr/>
                    <a:lstStyle/>
                    <a:p>
                      <a:pPr>
                        <a:defRPr sz="1200">
                          <a:solidFill>
                            <a:srgbClr val="1C2230"/>
                          </a:solidFill>
                          <a:latin typeface="Yu Gothic"/>
                        </a:defRPr>
                      </a:pPr>
                      <a:r>
                        <a:t>採択日</a:t>
                      </a:r>
                    </a:p>
                  </a:txBody>
                  <a:tcPr>
                    <a:solidFill>
                      <a:srgbClr val="FFFFFF"/>
                    </a:solidFill>
                  </a:tcPr>
                </a:tc>
                <a:tc>
                  <a:txBody>
                    <a:bodyPr/>
                    <a:lstStyle/>
                    <a:p>
                      <a:pPr>
                        <a:defRPr sz="1200">
                          <a:solidFill>
                            <a:srgbClr val="1C2230"/>
                          </a:solidFill>
                          <a:latin typeface="Yu Gothic"/>
                        </a:defRPr>
                      </a:pPr>
                      <a:r>
                        <a:t>2026年8月5日</a:t>
                      </a:r>
                    </a:p>
                  </a:txBody>
                  <a:tcPr>
                    <a:solidFill>
                      <a:srgbClr val="FFFFFF"/>
                    </a:solidFill>
                  </a:tcPr>
                </a:tc>
              </a:tr>
              <a:tr h="502920">
                <a:tc>
                  <a:txBody>
                    <a:bodyPr/>
                    <a:lstStyle/>
                    <a:p>
                      <a:pPr>
                        <a:defRPr sz="1200">
                          <a:solidFill>
                            <a:srgbClr val="1C2230"/>
                          </a:solidFill>
                          <a:latin typeface="Yu Gothic"/>
                        </a:defRPr>
                      </a:pPr>
                      <a:r>
                        <a:t>内容</a:t>
                      </a:r>
                    </a:p>
                  </a:txBody>
                  <a:tcPr>
                    <a:solidFill>
                      <a:srgbClr val="F1F5FA"/>
                    </a:solidFill>
                  </a:tcPr>
                </a:tc>
                <a:tc>
                  <a:txBody>
                    <a:bodyPr/>
                    <a:lstStyle/>
                    <a:p>
                      <a:pPr>
                        <a:defRPr sz="1200">
                          <a:solidFill>
                            <a:srgbClr val="1C2230"/>
                          </a:solidFill>
                          <a:latin typeface="Yu Gothic"/>
                        </a:defRPr>
                      </a:pPr>
                      <a:r>
                        <a:t>コア開発への貢献におけるLLM利用の可否を定めた公式ポリシー</a:t>
                      </a:r>
                    </a:p>
                  </a:txBody>
                  <a:tcPr>
                    <a:solidFill>
                      <a:srgbClr val="F1F5FA"/>
                    </a:solidFill>
                  </a:tcPr>
                </a:tc>
              </a:tr>
              <a:tr h="502920">
                <a:tc>
                  <a:txBody>
                    <a:bodyPr/>
                    <a:lstStyle/>
                    <a:p>
                      <a:pPr>
                        <a:defRPr sz="1200">
                          <a:solidFill>
                            <a:srgbClr val="1C2230"/>
                          </a:solidFill>
                          <a:latin typeface="Yu Gothic"/>
                        </a:defRPr>
                      </a:pPr>
                      <a:r>
                        <a:t>提案の一次情報</a:t>
                      </a:r>
                    </a:p>
                  </a:txBody>
                  <a:tcPr>
                    <a:solidFill>
                      <a:srgbClr val="FFFFFF"/>
                    </a:solidFill>
                  </a:tcPr>
                </a:tc>
                <a:tc>
                  <a:txBody>
                    <a:bodyPr/>
                    <a:lstStyle/>
                    <a:p>
                      <a:pPr>
                        <a:defRPr sz="1200">
                          <a:solidFill>
                            <a:srgbClr val="1C2230"/>
                          </a:solidFill>
                          <a:latin typeface="Yu Gothic"/>
                        </a:defRPr>
                      </a:pPr>
                      <a:r>
                        <a:t>rust-lang/rust-forgeリポジトリ Pull Request #1040(提案者: jyn514)</a:t>
                      </a:r>
                    </a:p>
                  </a:txBody>
                  <a:tcPr>
                    <a:solidFill>
                      <a:srgbClr val="FFFFFF"/>
                    </a:solidFill>
                  </a:tcPr>
                </a:tc>
              </a:tr>
              <a:tr h="502920">
                <a:tc>
                  <a:txBody>
                    <a:bodyPr/>
                    <a:lstStyle/>
                    <a:p>
                      <a:pPr>
                        <a:defRPr sz="1200">
                          <a:solidFill>
                            <a:srgbClr val="1C2230"/>
                          </a:solidFill>
                          <a:latin typeface="Yu Gothic"/>
                        </a:defRPr>
                      </a:pPr>
                      <a:r>
                        <a:t>適用範囲</a:t>
                      </a:r>
                    </a:p>
                  </a:txBody>
                  <a:tcPr>
                    <a:solidFill>
                      <a:srgbClr val="F1F5FA"/>
                    </a:solidFill>
                  </a:tcPr>
                </a:tc>
                <a:tc>
                  <a:txBody>
                    <a:bodyPr/>
                    <a:lstStyle/>
                    <a:p>
                      <a:pPr>
                        <a:defRPr sz="1200">
                          <a:solidFill>
                            <a:srgbClr val="1C2230"/>
                          </a:solidFill>
                          <a:latin typeface="Yu Gothic"/>
                        </a:defRPr>
                      </a:pPr>
                      <a:r>
                        <a:t>rust-lang/rustモノレポのみ(Rustプロジェクト全体の統一見解ではない)</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登場人物・関係者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rust-lang/rust</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Rustのコンパイラ・言語本体を管理するコアリポジトリ(モノレポ)</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5つのチーム</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rust-lang/rust内でポリシーを採択したチーム群</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jyn514氏</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Pull Request #1040でLLMポリシーを提案した人物</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Inside Rust Blog</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ポリシー採択を発表したRust公式ブログ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初心者向け: Rustとはどんなプログラミング言語か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Rustは、安全性と処理速度を両立させることを目指して開発されたプログラミング言語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OS・ブラウザ・組み込み機器など、幅広い分野のソフトウェア開発に使われている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世界中の開発者コミュニティによって、オープンソースとして共同開発が続けられている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そのコア部分(コンパイラ本体)を管理するのが、今回話題の「rust-lang/rust」リポジトリ</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なぜ「コア開発」が重要なのか(概念図)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rust-lang/rust</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Rustのコンパイラ・言語本体そのものを管理するリポジトリ</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世界中の開発者が利用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ここで決まる仕様・品質が、Rustを使うすべてのソフトウェアに影響する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だから注目度が高い</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コア開発でのLLM利用ルールは、開発者コミュニティ全体の関心事になる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初心者向け: なぜ「LLM利用ポリシー」が話題になるのか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LLM(大規模言語モデル)は、質問応答や文章生成ができるAI技術で、近年ソフトウェア開発の現場でも広く使われ始めている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コア開発の現場でAIをどこまで使ってよいかは、多くのオープンソースプロジェクトにとって共通の悩みどころ</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主要言語の一つであるRustが、具体的な線引きを公式ポリシーとして明文化した点が話題になっている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他のプロジェクトにとっても参考になりうる、先行事例として注目されている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このポリシーの適用範囲(重要な注記)</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rust-lang/rustモノレポ</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今回のポリシーが適用されるのは、このリポジトリのみ</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Rustプロジェクト全体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Rustプロジェクトとしての統一見解ではない(この点が誤解されやすい)</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他のRustチームは対象外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他のチームが同様のルールを採るかどうかは、本調査の範囲では確認できていない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LLM利用の「許可」と「禁止」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許可されている用途</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質問への回答・コードの分析・要約(非公開レビューメモ等)</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非公開でのコード/文章レビュー、改善案の提案</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開示付きなら: 機械翻訳・些細な変更・人間が検証したバグ発見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禁止されている用途</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個人アカウントでのLLM生成コメント・Issue本文・PR説明文</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ドキュメント・安全性コメント・診断メッセージのLLM生成</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LLMレビューでマージ可否を判断すること</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【禁止】具体的にダメなこと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個人アカウントでの生成物</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コメント・Issue本文・PR説明文が、元々LLM生成であること</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ドキュメント全般</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非自明なソースコメント・ドキュメントコメント・複数段落のコメント</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安全性コメント・診断メッセージ</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safetyコメントやコンパイラの診断メッセージのLLM生成</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LLMによるマージ判断</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LLMのレビューは参考情報のみ。マージ可否の判断には使えない</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【許可】具体的にOKなこと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質問への回答・コード分析</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LLMに質問して回答を得たり、コードを分析させることは許可</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要約・非公開レビュー</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私的なレビューメモの作成や、非公開でのコード/文章レビューへの利用は許可</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改善案の提案</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LLMに改善案を提案させること自体は許可されている</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開示付きの限定利用</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機械翻訳・些細な変更・人間検証済みのバグ発見は、開示すれば限定的に利用可</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LLMレビューは「参考情報」にとどまる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LLMにコードやプルリクエストをレビューさせること自体は禁止されていない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ただしLLMによるレビューは、あくまで advisory(参考情報)という位置づけ</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変更をマージするか拒否するかの最終判断は、必ず人間が行う</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つまりLLMがプルリクエストを「承認」「却下」することはできない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Rust公式Inside Rust Blog(2026-08-05)</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“LLMは、より良く書くために使う。より速く書くためではない。”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rust-lang/rust LLMポリシーの核心的な考え方(write better, not faster)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「write better, not faster」の意味(概念図)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人間の理解・著作・レビュー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これらをLLMで置き換えることはしない、というのが大前提</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LLMは補助として使う</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分析・要約・非公開レビュー等、人間の判断を助ける用途にとどめる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より良く書くために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速さではなく、質を高めるための道具としてLLMを位置づける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ポリシーが想定するLLM活用の流れ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1. 分析・要約</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LLMに質問したり、コードを分析・要約させて理解を助けてもらう</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 限定利用は開示</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翻訳・些細な変更・バグ発見に使う場合は、その旨を開示する</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3. 人間が検証</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LLMが見つけたバグ等は、必ず人間の貢献者が検証する</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4. 人間が最終判断</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マージするか拒否するかは、最終的に必ず人間が判断する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ポリシーを採択したチーム数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rust-lang/rust内の5つのチームが、このLLMポリシーを採択した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Rust公式Inside Rust Blog(2026-08-05)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日付</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Rust公式Inside Rust Blog</a:t>
                      </a:r>
                    </a:p>
                  </a:txBody>
                  <a:tcPr>
                    <a:solidFill>
                      <a:srgbClr val="FFFFFF"/>
                    </a:solidFill>
                  </a:tcPr>
                </a:tc>
                <a:tc>
                  <a:txBody>
                    <a:bodyPr/>
                    <a:lstStyle/>
                    <a:p>
                      <a:pPr>
                        <a:defRPr sz="1200">
                          <a:solidFill>
                            <a:srgbClr val="1C2230"/>
                          </a:solidFill>
                          <a:latin typeface="Yu Gothic"/>
                        </a:defRPr>
                      </a:pPr>
                      <a:r>
                        <a:t>2026-08-05</a:t>
                      </a:r>
                    </a:p>
                  </a:txBody>
                  <a:tcPr>
                    <a:solidFill>
                      <a:srgbClr val="FFFFFF"/>
                    </a:solidFill>
                  </a:tcPr>
                </a:tc>
                <a:tc>
                  <a:txBody>
                    <a:bodyPr/>
                    <a:lstStyle/>
                    <a:p>
                      <a:pPr>
                        <a:defRPr sz="1200">
                          <a:solidFill>
                            <a:srgbClr val="1C2230"/>
                          </a:solidFill>
                          <a:latin typeface="Yu Gothic"/>
                        </a:defRPr>
                      </a:pPr>
                      <a:r>
                        <a:t>ポリシー採択の発表(一次情報)</a:t>
                      </a:r>
                    </a:p>
                  </a:txBody>
                  <a:tcPr>
                    <a:solidFill>
                      <a:srgbClr val="FFFFFF"/>
                    </a:solidFill>
                  </a:tcPr>
                </a:tc>
              </a:tr>
              <a:tr h="502920">
                <a:tc>
                  <a:txBody>
                    <a:bodyPr/>
                    <a:lstStyle/>
                    <a:p>
                      <a:pPr>
                        <a:defRPr sz="1200">
                          <a:solidFill>
                            <a:srgbClr val="1C2230"/>
                          </a:solidFill>
                          <a:latin typeface="Yu Gothic"/>
                        </a:defRPr>
                      </a:pPr>
                      <a:r>
                        <a:t>Linuxiac</a:t>
                      </a:r>
                    </a:p>
                  </a:txBody>
                  <a:tcPr>
                    <a:solidFill>
                      <a:srgbClr val="F1F5FA"/>
                    </a:solidFill>
                  </a:tcPr>
                </a:tc>
                <a:tc>
                  <a:txBody>
                    <a:bodyPr/>
                    <a:lstStyle/>
                    <a:p>
                      <a:pPr>
                        <a:defRPr sz="1200">
                          <a:solidFill>
                            <a:srgbClr val="1C2230"/>
                          </a:solidFill>
                          <a:latin typeface="Yu Gothic"/>
                        </a:defRPr>
                      </a:pPr>
                      <a:r>
                        <a:t>(同ニュースの報道)</a:t>
                      </a:r>
                    </a:p>
                  </a:txBody>
                  <a:tcPr>
                    <a:solidFill>
                      <a:srgbClr val="F1F5FA"/>
                    </a:solidFill>
                  </a:tcPr>
                </a:tc>
                <a:tc>
                  <a:txBody>
                    <a:bodyPr/>
                    <a:lstStyle/>
                    <a:p>
                      <a:pPr>
                        <a:defRPr sz="1200">
                          <a:solidFill>
                            <a:srgbClr val="1C2230"/>
                          </a:solidFill>
                          <a:latin typeface="Yu Gothic"/>
                        </a:defRPr>
                      </a:pPr>
                      <a:r>
                        <a:t>Rust May Limit AI-Generated Work in Its Core Repository</a:t>
                      </a:r>
                    </a:p>
                  </a:txBody>
                  <a:tcPr>
                    <a:solidFill>
                      <a:srgbClr val="F1F5FA"/>
                    </a:solidFill>
                  </a:tcPr>
                </a:tc>
              </a:tr>
              <a:tr h="502920">
                <a:tc>
                  <a:txBody>
                    <a:bodyPr/>
                    <a:lstStyle/>
                    <a:p>
                      <a:pPr>
                        <a:defRPr sz="1200">
                          <a:solidFill>
                            <a:srgbClr val="1C2230"/>
                          </a:solidFill>
                          <a:latin typeface="Yu Gothic"/>
                        </a:defRPr>
                      </a:pPr>
                      <a:r>
                        <a:t>Socket.dev公式ブログ</a:t>
                      </a:r>
                    </a:p>
                  </a:txBody>
                  <a:tcPr>
                    <a:solidFill>
                      <a:srgbClr val="FFFFFF"/>
                    </a:solidFill>
                  </a:tcPr>
                </a:tc>
                <a:tc>
                  <a:txBody>
                    <a:bodyPr/>
                    <a:lstStyle/>
                    <a:p>
                      <a:pPr>
                        <a:defRPr sz="1200">
                          <a:solidFill>
                            <a:srgbClr val="1C2230"/>
                          </a:solidFill>
                          <a:latin typeface="Yu Gothic"/>
                        </a:defRPr>
                      </a:pPr>
                      <a:r>
                        <a:t>(同ニュースの報道)</a:t>
                      </a:r>
                    </a:p>
                  </a:txBody>
                  <a:tcPr>
                    <a:solidFill>
                      <a:srgbClr val="FFFFFF"/>
                    </a:solidFill>
                  </a:tcPr>
                </a:tc>
                <a:tc>
                  <a:txBody>
                    <a:bodyPr/>
                    <a:lstStyle/>
                    <a:p>
                      <a:pPr>
                        <a:defRPr sz="1200">
                          <a:solidFill>
                            <a:srgbClr val="1C2230"/>
                          </a:solidFill>
                          <a:latin typeface="Yu Gothic"/>
                        </a:defRPr>
                      </a:pPr>
                      <a:r>
                        <a:t>Rust Moves to Restrict LLM Use in Contributions After Months...</a:t>
                      </a:r>
                    </a:p>
                  </a:txBody>
                  <a:tcPr>
                    <a:solidFill>
                      <a:srgbClr val="FFFFFF"/>
                    </a:solidFill>
                  </a:tcPr>
                </a:tc>
              </a:tr>
              <a:tr h="502920">
                <a:tc>
                  <a:txBody>
                    <a:bodyPr/>
                    <a:lstStyle/>
                    <a:p>
                      <a:pPr>
                        <a:defRPr sz="1200">
                          <a:solidFill>
                            <a:srgbClr val="1C2230"/>
                          </a:solidFill>
                          <a:latin typeface="Yu Gothic"/>
                        </a:defRPr>
                      </a:pPr>
                      <a:r>
                        <a:t>rust-lang/rust-forge PR #1040</a:t>
                      </a:r>
                    </a:p>
                  </a:txBody>
                  <a:tcPr>
                    <a:solidFill>
                      <a:srgbClr val="F1F5FA"/>
                    </a:solidFill>
                  </a:tcPr>
                </a:tc>
                <a:tc>
                  <a:txBody>
                    <a:bodyPr/>
                    <a:lstStyle/>
                    <a:p>
                      <a:pPr>
                        <a:defRPr sz="1200">
                          <a:solidFill>
                            <a:srgbClr val="1C2230"/>
                          </a:solidFill>
                          <a:latin typeface="Yu Gothic"/>
                        </a:defRPr>
                      </a:pPr>
                      <a:r>
                        <a:t>(一次情報)</a:t>
                      </a:r>
                    </a:p>
                  </a:txBody>
                  <a:tcPr>
                    <a:solidFill>
                      <a:srgbClr val="F1F5FA"/>
                    </a:solidFill>
                  </a:tcPr>
                </a:tc>
                <a:tc>
                  <a:txBody>
                    <a:bodyPr/>
                    <a:lstStyle/>
                    <a:p>
                      <a:pPr>
                        <a:defRPr sz="1200">
                          <a:solidFill>
                            <a:srgbClr val="1C2230"/>
                          </a:solidFill>
                          <a:latin typeface="Yu Gothic"/>
                        </a:defRPr>
                      </a:pPr>
                      <a:r>
                        <a:t>提案者jyn514氏によるLLMポリシーの提案</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【重要】未確認事項一覧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Socket.dev見出しの「数か月」の具体的内容</a:t>
                      </a:r>
                    </a:p>
                  </a:txBody>
                  <a:tcPr>
                    <a:solidFill>
                      <a:srgbClr val="FFFFFF"/>
                    </a:solidFill>
                  </a:tcPr>
                </a:tc>
                <a:tc>
                  <a:txBody>
                    <a:bodyPr/>
                    <a:lstStyle/>
                    <a:p>
                      <a:pPr>
                        <a:defRPr sz="1200">
                          <a:solidFill>
                            <a:srgbClr val="1C2230"/>
                          </a:solidFill>
                          <a:latin typeface="Yu Gothic"/>
                        </a:defRPr>
                      </a:pPr>
                      <a:r>
                        <a:t>未確認(具体的な事案・インシデントは創作せず扱わない)</a:t>
                      </a:r>
                    </a:p>
                  </a:txBody>
                  <a:tcPr>
                    <a:solidFill>
                      <a:srgbClr val="FFFFFF"/>
                    </a:solidFill>
                  </a:tcPr>
                </a:tc>
              </a:tr>
              <a:tr h="502920">
                <a:tc>
                  <a:txBody>
                    <a:bodyPr/>
                    <a:lstStyle/>
                    <a:p>
                      <a:pPr>
                        <a:defRPr sz="1200">
                          <a:solidFill>
                            <a:srgbClr val="1C2230"/>
                          </a:solidFill>
                          <a:latin typeface="Yu Gothic"/>
                        </a:defRPr>
                      </a:pPr>
                      <a:r>
                        <a:t>このポリシーが特定の事案を機に採択されたか</a:t>
                      </a:r>
                    </a:p>
                  </a:txBody>
                  <a:tcPr>
                    <a:solidFill>
                      <a:srgbClr val="F1F5FA"/>
                    </a:solidFill>
                  </a:tcPr>
                </a:tc>
                <a:tc>
                  <a:txBody>
                    <a:bodyPr/>
                    <a:lstStyle/>
                    <a:p>
                      <a:pPr>
                        <a:defRPr sz="1200">
                          <a:solidFill>
                            <a:srgbClr val="1C2230"/>
                          </a:solidFill>
                          <a:latin typeface="Yu Gothic"/>
                        </a:defRPr>
                      </a:pPr>
                      <a:r>
                        <a:t>未確認</a:t>
                      </a:r>
                    </a:p>
                  </a:txBody>
                  <a:tcPr>
                    <a:solidFill>
                      <a:srgbClr val="F1F5FA"/>
                    </a:solidFill>
                  </a:tcPr>
                </a:tc>
              </a:tr>
              <a:tr h="502920">
                <a:tc>
                  <a:txBody>
                    <a:bodyPr/>
                    <a:lstStyle/>
                    <a:p>
                      <a:pPr>
                        <a:defRPr sz="1200">
                          <a:solidFill>
                            <a:srgbClr val="1C2230"/>
                          </a:solidFill>
                          <a:latin typeface="Yu Gothic"/>
                        </a:defRPr>
                      </a:pPr>
                      <a:r>
                        <a:t>他のRustチーム・Rust Foundation全体への波及</a:t>
                      </a:r>
                    </a:p>
                  </a:txBody>
                  <a:tcPr>
                    <a:solidFill>
                      <a:srgbClr val="FFFFFF"/>
                    </a:solidFill>
                  </a:tcPr>
                </a:tc>
                <a:tc>
                  <a:txBody>
                    <a:bodyPr/>
                    <a:lstStyle/>
                    <a:p>
                      <a:pPr>
                        <a:defRPr sz="1200">
                          <a:solidFill>
                            <a:srgbClr val="1C2230"/>
                          </a:solidFill>
                          <a:latin typeface="Yu Gothic"/>
                        </a:defRPr>
                      </a:pPr>
                      <a:r>
                        <a:t>未確認</a:t>
                      </a:r>
                    </a:p>
                  </a:txBody>
                  <a:tcPr>
                    <a:solidFill>
                      <a:srgbClr val="FFFFFF"/>
                    </a:solidFill>
                  </a:tcPr>
                </a:tc>
              </a:tr>
              <a:tr h="502920">
                <a:tc>
                  <a:txBody>
                    <a:bodyPr/>
                    <a:lstStyle/>
                    <a:p>
                      <a:pPr>
                        <a:defRPr sz="1200">
                          <a:solidFill>
                            <a:srgbClr val="1C2230"/>
                          </a:solidFill>
                          <a:latin typeface="Yu Gothic"/>
                        </a:defRPr>
                      </a:pPr>
                      <a:r>
                        <a:t>ポリシー違反時の具体的な執行方法・罰則</a:t>
                      </a:r>
                    </a:p>
                  </a:txBody>
                  <a:tcPr>
                    <a:solidFill>
                      <a:srgbClr val="F1F5FA"/>
                    </a:solidFill>
                  </a:tcPr>
                </a:tc>
                <a:tc>
                  <a:txBody>
                    <a:bodyPr/>
                    <a:lstStyle/>
                    <a:p>
                      <a:pPr>
                        <a:defRPr sz="1200">
                          <a:solidFill>
                            <a:srgbClr val="1C2230"/>
                          </a:solidFill>
                          <a:latin typeface="Yu Gothic"/>
                        </a:defRPr>
                      </a:pPr>
                      <a:r>
                        <a:t>未確認</a:t>
                      </a:r>
                    </a:p>
                  </a:txBody>
                  <a:tcPr>
                    <a:solidFill>
                      <a:srgbClr val="F1F5FA"/>
                    </a:solidFill>
                  </a:tcPr>
                </a:tc>
              </a:tr>
              <a:tr h="502920">
                <a:tc>
                  <a:txBody>
                    <a:bodyPr/>
                    <a:lstStyle/>
                    <a:p>
                      <a:pPr>
                        <a:defRPr sz="1200">
                          <a:solidFill>
                            <a:srgbClr val="1C2230"/>
                          </a:solidFill>
                          <a:latin typeface="Yu Gothic"/>
                        </a:defRPr>
                      </a:pPr>
                      <a:r>
                        <a:t>5チームの具体的な名称・採択に至る内部議論</a:t>
                      </a:r>
                    </a:p>
                  </a:txBody>
                  <a:tcPr>
                    <a:solidFill>
                      <a:srgbClr val="FFFFFF"/>
                    </a:solidFill>
                  </a:tcPr>
                </a:tc>
                <a:tc>
                  <a:txBody>
                    <a:bodyPr/>
                    <a:lstStyle/>
                    <a:p>
                      <a:pPr>
                        <a:defRPr sz="1200">
                          <a:solidFill>
                            <a:srgbClr val="1C2230"/>
                          </a:solidFill>
                          <a:latin typeface="Yu Gothic"/>
                        </a:defRPr>
                      </a:pPr>
                      <a:r>
                        <a:t>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採択日・対象リポジトリ・ポリシーの許可事項/禁止事項の具体的な内容は複数媒体の報道として確認できた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このポリシーが特定のインシデントを機に採択されたかどうかは確認できていない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他のRustチームやRust Foundation全体への今後の波及は確認できていない</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ポリシー違反時の執行方法・罰則の具体的な仕組みは確認できていない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Rust公式Inside Rust Blog(2026-08-05)ほか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鮮度についての開示(着手日と完全に同日)</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ポリシーの発表日は2026年8月5日、着手日(2026年8月5日)と完全に同日である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docs/06_Content_R&amp;D.mdの2026-08-05追記で厳格化された鮮度基準(着手日から2日以内)を、このシリーズで可能な最高水準の形で満たしている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round82評価表(2026-08-05)ではスコア78/100で採用された</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ただし鮮度の高さは、他チームへの波及や執行方法など確認できていない事項を補うものではない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round82評価表からの開示(スコア78/100)</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評価スコア</a:t>
                      </a:r>
                    </a:p>
                  </a:txBody>
                  <a:tcPr>
                    <a:solidFill>
                      <a:srgbClr val="FFFFFF"/>
                    </a:solidFill>
                  </a:tcPr>
                </a:tc>
                <a:tc>
                  <a:txBody>
                    <a:bodyPr/>
                    <a:lstStyle/>
                    <a:p>
                      <a:pPr>
                        <a:defRPr sz="1200">
                          <a:solidFill>
                            <a:srgbClr val="1C2230"/>
                          </a:solidFill>
                          <a:latin typeface="Yu Gothic"/>
                        </a:defRPr>
                      </a:pPr>
                      <a:r>
                        <a:t>78/100</a:t>
                      </a:r>
                    </a:p>
                  </a:txBody>
                  <a:tcPr>
                    <a:solidFill>
                      <a:srgbClr val="FFFFFF"/>
                    </a:solidFill>
                  </a:tcPr>
                </a:tc>
              </a:tr>
              <a:tr h="502920">
                <a:tc>
                  <a:txBody>
                    <a:bodyPr/>
                    <a:lstStyle/>
                    <a:p>
                      <a:pPr>
                        <a:defRPr sz="1200">
                          <a:solidFill>
                            <a:srgbClr val="1C2230"/>
                          </a:solidFill>
                          <a:latin typeface="Yu Gothic"/>
                        </a:defRPr>
                      </a:pPr>
                      <a:r>
                        <a:t>採用理由</a:t>
                      </a:r>
                    </a:p>
                  </a:txBody>
                  <a:tcPr>
                    <a:solidFill>
                      <a:srgbClr val="F1F5FA"/>
                    </a:solidFill>
                  </a:tcPr>
                </a:tc>
                <a:tc>
                  <a:txBody>
                    <a:bodyPr/>
                    <a:lstStyle/>
                    <a:p>
                      <a:pPr>
                        <a:defRPr sz="1200">
                          <a:solidFill>
                            <a:srgbClr val="1C2230"/>
                          </a:solidFill>
                          <a:latin typeface="Yu Gothic"/>
                        </a:defRPr>
                      </a:pPr>
                      <a:r>
                        <a:t>「大規模開発プロジェクトがAIにコードを書かせないと宣言した」という開発者コミュニティで話題性のあるフック、着手日当日という最高水準の鮮度</a:t>
                      </a:r>
                    </a:p>
                  </a:txBody>
                  <a:tcPr>
                    <a:solidFill>
                      <a:srgbClr val="F1F5FA"/>
                    </a:solidFill>
                  </a:tcPr>
                </a:tc>
              </a:tr>
              <a:tr h="502920">
                <a:tc>
                  <a:txBody>
                    <a:bodyPr/>
                    <a:lstStyle/>
                    <a:p>
                      <a:pPr>
                        <a:defRPr sz="1200">
                          <a:solidFill>
                            <a:srgbClr val="1C2230"/>
                          </a:solidFill>
                          <a:latin typeface="Yu Gothic"/>
                        </a:defRPr>
                      </a:pPr>
                      <a:r>
                        <a:t>新しい鮮度基準</a:t>
                      </a:r>
                    </a:p>
                  </a:txBody>
                  <a:tcPr>
                    <a:solidFill>
                      <a:srgbClr val="FFFFFF"/>
                    </a:solidFill>
                  </a:tcPr>
                </a:tc>
                <a:tc>
                  <a:txBody>
                    <a:bodyPr/>
                    <a:lstStyle/>
                    <a:p>
                      <a:pPr>
                        <a:defRPr sz="1200">
                          <a:solidFill>
                            <a:srgbClr val="1C2230"/>
                          </a:solidFill>
                          <a:latin typeface="Yu Gothic"/>
                        </a:defRPr>
                      </a:pPr>
                      <a:r>
                        <a:t>着手日から2日以内(2026-08-05に厳格化された基準を最高水準で満たす)</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本テーマは実在のオープンソースプロジェクトが採択した具体的なポリシーの内容を扱い、その内容を中立的に報告する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「AIコーディングツールは良いものか悪いものか」というAI活用全般についての論評は行わない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実在プロジェクト名・実在人物名(jyn514氏)はテキストとしてのみ使用し、ロゴ・写真は使用しない</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特定のAIツール・LLM製品を名指しで推奨・非推奨する結論にはしていない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Rust・RustのLLMポリシーを主題としたテーマ</a:t>
                      </a:r>
                    </a:p>
                  </a:txBody>
                  <a:tcPr>
                    <a:solidFill>
                      <a:srgbClr val="FFFFFF"/>
                    </a:solidFill>
                  </a:tcPr>
                </a:tc>
                <a:tc>
                  <a:txBody>
                    <a:bodyPr/>
                    <a:lstStyle/>
                    <a:p>
                      <a:pPr>
                        <a:defRPr sz="1200">
                          <a:solidFill>
                            <a:srgbClr val="1C2230"/>
                          </a:solidFill>
                          <a:latin typeface="Yu Gothic"/>
                        </a:defRPr>
                      </a:pPr>
                      <a:r>
                        <a:t>既存テーマになし</a:t>
                      </a:r>
                    </a:p>
                  </a:txBody>
                  <a:tcPr>
                    <a:solidFill>
                      <a:srgbClr val="FFFFFF"/>
                    </a:solidFill>
                  </a:tcPr>
                </a:tc>
              </a:tr>
              <a:tr h="502920">
                <a:tc>
                  <a:txBody>
                    <a:bodyPr/>
                    <a:lstStyle/>
                    <a:p>
                      <a:pPr>
                        <a:defRPr sz="1200">
                          <a:solidFill>
                            <a:srgbClr val="1C2230"/>
                          </a:solidFill>
                          <a:latin typeface="Yu Gothic"/>
                        </a:defRPr>
                      </a:pPr>
                      <a:r>
                        <a:t>Codeberg「AI生成コード主体プロジェクトのホスティング禁止」候補との関係</a:t>
                      </a:r>
                    </a:p>
                  </a:txBody>
                  <a:tcPr>
                    <a:solidFill>
                      <a:srgbClr val="F1F5FA"/>
                    </a:solidFill>
                  </a:tcPr>
                </a:tc>
                <a:tc>
                  <a:txBody>
                    <a:bodyPr/>
                    <a:lstStyle/>
                    <a:p>
                      <a:pPr>
                        <a:defRPr sz="1200">
                          <a:solidFill>
                            <a:srgbClr val="1C2230"/>
                          </a:solidFill>
                          <a:latin typeface="Yu Gothic"/>
                        </a:defRPr>
                      </a:pPr>
                      <a:r>
                        <a:t>全く別の組織・出来事であり、鮮度基準(2日以内)を満たさずround82でも不採用。重複ではない</a:t>
                      </a:r>
                    </a:p>
                  </a:txBody>
                  <a:tcPr>
                    <a:solidFill>
                      <a:srgbClr val="F1F5FA"/>
                    </a:solidFill>
                  </a:tcPr>
                </a:tc>
              </a:tr>
              <a:tr h="502920">
                <a:tc>
                  <a:txBody>
                    <a:bodyPr/>
                    <a:lstStyle/>
                    <a:p>
                      <a:pPr>
                        <a:defRPr sz="1200">
                          <a:solidFill>
                            <a:srgbClr val="1C2230"/>
                          </a:solidFill>
                          <a:latin typeface="Yu Gothic"/>
                        </a:defRPr>
                      </a:pPr>
                      <a:r>
                        <a:t>判定</a:t>
                      </a:r>
                    </a:p>
                  </a:txBody>
                  <a:tcPr>
                    <a:solidFill>
                      <a:srgbClr val="FFFFFF"/>
                    </a:solidFill>
                  </a:tcPr>
                </a:tc>
                <a:tc>
                  <a:txBody>
                    <a:bodyPr/>
                    <a:lstStyle/>
                    <a:p>
                      <a:pPr>
                        <a:defRPr sz="1200">
                          <a:solidFill>
                            <a:srgbClr val="1C2230"/>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業界文脈(ここからは一般的な推測、確定情報ではない)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オープンソースプロジェクトがLLM利用の明文化されたルールを定める動き自体は、今回の発表前から議論されつつあった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Rustのような主要言語のコア開発チームが具体的な線引きを公表したことは、他のプロジェクトにとっても参考になりうる先行事例として注目される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ただし他のRustチームや他のオープンソースプロジェクトが同様のルールを採るかどうかは、本調査の範囲では確認できていない</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ここからは一般的な業界文脈の推測であり、確定した情報ではない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今回のニュースの3つのポイント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1. 明確な線引き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許可される用途と禁止される用途を、具体的に文書化した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2. 本文はAIに書かせない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ドキュメント・安全性コメント・診断メッセージのLLM生成を禁止した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3. 最終判断は必ず人間</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LLMレビューは参考情報にとどまり、マージ可否は人間が判断する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今、分かっていること vs まだ分からないこと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今、分かっていること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rust-lang/rustの5チームが、LLM利用ポリシーを2026年8月5日に採択した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許可事項・禁止事項の具体的な内容</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まだ分からないこと(開かれた問い)</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他のRustチームやRust Foundation全体が同様のルールを採るかどうか</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他のオープンソースプロジェクトにこの動きが波及するかどうか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この動きは、他のオープンソースプロジェクトに何を示唆するのか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答えを断定せず、確認できたこと・できなかったことを区別しながら、開かれた問いとして注目していきましょう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Rustのコア開発リポジトリ「rust-lang/rust」内の5つのチームが、2026年8月5日、LLM利用に関する公式ポリシーを採択した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質問応答や非公開レビューは許可、ドキュメントや安全性コメントのLLM生成は禁止という明確な線引き</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方針の核心は「write better, not faster」— LLMは人間の理解・著作・レビューを代替しない</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他チームへの波及や執行方法などは未確認であることを正直に開示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Rust公式Inside Rust Blog(2026-08-05)ほか｜定期実行139本目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