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金額(百万ドル)</c:v>
                </c:pt>
              </c:strCache>
            </c:strRef>
          </c:tx>
          <c:spPr>
            <a:solidFill>
              <a:srgbClr val="1B2A2E"/>
            </a:solidFill>
          </c:spPr>
          <c:cat>
            <c:strRef>
              <c:f>Sheet1!$A$2:$A$5</c:f>
              <c:strCache>
                <c:ptCount val="4"/>
                <c:pt idx="0">
                  <c:v>シリーズA調達額</c:v>
                </c:pt>
                <c:pt idx="1">
                  <c:v>評価額</c:v>
                </c:pt>
                <c:pt idx="2">
                  <c:v>追加融資枠</c:v>
                </c:pt>
                <c:pt idx="3">
                  <c:v>契約(6年総額)</c:v>
                </c:pt>
              </c:strCache>
            </c:strRef>
          </c:cat>
          <c:val>
            <c:numRef>
              <c:f>Sheet1!$B$2:$B$5</c:f>
              <c:numCache>
                <c:formatCode>General</c:formatCode>
                <c:ptCount val="4"/>
                <c:pt idx="0">
                  <c:v>300</c:v>
                </c:pt>
                <c:pt idx="1">
                  <c:v>2400</c:v>
                </c:pt>
                <c:pt idx="2">
                  <c:v>5000</c:v>
                </c:pt>
                <c:pt idx="3">
                  <c:v>10000</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とマイケル・デル氏が24億ドル評価の新星に賭けました。しかも相手は100億ドル契約の謎の大手AI企業です。AIクラウドインフラ企業Voltaが、シリーズAで3億ドルを調達したと本日2026年8月4日、Bloombergが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Voltaとはどんな会社か、AIクラウドインフラとは何か、豪華な投資家陣、100億ドル契約の謎の相手についての確定事実と未確認情報の違い、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何が起きたのか整理します。AIクラウドインフラ企業Voltaが、シリーズAで3億ドルを調達したと発表しました。ラウンドはa16zとAltimeterが共同主導し、NVIDIA・Michael Dell氏個人も参加、評価額は24億ドルです。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今回調達した資金額はこちら、3億ドルです。転換優先株式によるシリーズAラウンドで、2026年8月4日に発表されました。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調達概要を表にまとめました。企業名はVolta AI Infra Holdings、事業領域はAIクラウドインフラ、調達額は3億ドル、評価額は24億ドル、共同主導はa16zとAltimeterです。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豪華な参加投資家陣です。a16zとAltimeterが共同主導し、NVIDIA Corporation、個人としてMichael Dell氏、そしてAzora・Matter Venture Partnersも参加しました。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Voltaとはどんな会社か紹介します。AIクラウドインフラ企業で、2026年に入ってから創業しました。法人名はVolta AI Infra Holdings Pte. Ltd.です。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AIモデルの学習・推論には大量のGPUと計算力が必要で、AIクラウドインフラとはその計算力をデータセンター等で用意し、AI開発企業に貸し出す事業です。Voltaはこの領域の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なぜAIチップの確保に巨額の資金が必要かを概要で示します。AI開発企業の計算資源需要が急増し、最新AIチップは高額なため、Voltaのような企業が出資や融資枠でチップアクセスを広げようとしています。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従来型クラウドとAIクラウドインフラを比較します。従来型は汎用的な計算資源を提供しますが、Voltaが手がけるAIクラウドインフラは、AIモデル向けに特化した計算力とチップアクセスの提供が中心です。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資金調達の全体像です。シリーズAで3億ドルを調達し、追加で50億ドル相当の融資枠を確保、そして大手AI開発企業と6年100億ドル規模のクラウド計算力契約を締結しました。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3つの数字を混同しないよう整理します。3億ドルはエクイティ出資、50億ドルは融資枠、100億ドルは顧客との6年契約です。それぞれ性質が異なる数字であることに注意してください。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数字をグラフで比較します。シリーズA調達額300、評価額2,400、追加融資枠5,000、契約総額10,000(いずれも百万ドル)です。桁の違いに注目してください。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調達後評価額はこちら、24億ドルです。post-moneyの数字として発表されており、シリーズAとしては非常に高い評価額です。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初心者向けに説明します。AIチップは高額なため、出資だけでなく融資枠も使って調達力を高める動きがあります。Voltaも50億ドルの融資枠を確保しましたが、実際の利用状況は未確認です。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最も重要な注意点です。100億ドル契約を結んだ事実、そして相手企業名が非公開である事実は確定しています。一方、その相手がAnthropicだという情報は一部メディアの推測にとどまり、一次報道では確認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確認できたこと・できなかったことを正直に整理します。調達額や評価額、投資家陣、融資枠、契約の存在は確認できていますが、契約相手企業名や売上、技術的詳細は確認できていません。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未確認事項を一覧にしました。契約相手企業名、Anthropicとの関連、売上、顧客基盤、技術的詳細、融資枠の利用状況、いずれも本調査の範囲では確認できていません。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投資家について、分かっていることと分かっていないことを整理します。参加投資家の顔ぶれは分かっていますが、それぞれの出資額の内訳は分かっていません。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Voltaのビジネスモデル概要です。資金調達でAIチップへのアクセスを確保し、その計算力を大手AI開発企業向けに6年100億ドル規模の契約で提供する、という発表内容に基づく流れです。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エクイティ出資と融資枠の性質の違いを整理します。3億ドルは株式と引き換えの出資、50億ドルは必要に応じて借り入れる信用枠で、一般的に性質が異なります。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業界文脈です。ここからは推測になります。AI開発企業向けの計算力需要が急増する中での資金調達と位置づけられますが、Volta固有の市場シェアや競合比較は確認できていません。あくまで推測です。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今回のニュースの3つのポイントです。豪華すぎる投資家陣、3本立ての巨額な資金、そして100億ドル契約の相手企業名が非公開という謎です。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round80評価表からの開示です。評価スコアは85/100で、鮮度と規模感が評価された一方、契約相手企業名についての推測情報は一次報道で確認できていない点が懸念点として明記されています。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鮮度について開示します。本発表は着手日と同日であり、これまでのシリーズの中でも最高水準の鮮度です。ただし鮮度の高さは、契約相手の非公開という不確実性を補うものではありません。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公平性・中立性について開示します。実在企業名・人物名はテキストとしてのみ使用し、特定企業・製品の利用を強く推奨する結論にはしていません。未確認の推測情報も事実として断定していません。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出典一覧です。Bloomberg、MarketScreener、Yahoo Finance、TheNextWebという複数の独立した情報源で、本日2026年8月4日に報じられています。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既存テーマとの関係を確認しました。Voltaを主題とした既存テーマはなく、Gritt等のAIインフラ系テーマとも事業内容が異なるため重複ではありません。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24億ドル評価の新星が結んだ100億ドル契約、その謎の相手はいつ明かされるのでしょうか。Voltaの続報を、確認できたこと・できなかったことを区別しながら注目していきましょう。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Iクラウドインフラ企業Voltaが、シリーズAで3億ドルを調達したと本日発表しました。豪華な投資家陣と巨額の契約が話題ですが、契約相手企業名は非公開で、Anthropicとする情報は未確認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NVIDIAとマイケル・デル氏が24億ドル評価の新星に賭けた。しかも相手は100億ドル契約の“謎の大手AI企業”</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Volta AI Infra Holdings、シリーズAで3億ドル調達。NVIDIA・Michael Dell氏も出資、評価額24億ドル</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Bloomberg(2026-08-04)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何が起きたのか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Voltaとはどんな会社か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初心者向け: 「AIクラウドインフラ」とは何か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NVIDIA・Michael Dell氏らが参加した豪華な投資家陣</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100億ドル契約の“謎の相手”、確定事実と未確認情報の違い</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何が起きたのか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AIクラウドインフラ企業Volta AI Infra Holdingsが、シリーズAで3億ドル(転換優先株式)を調達したと発表</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ラウンドはAndreessen Horowitz(a16z)とAltimeter Capital Managementが共同主導</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NVIDIA・Michael Dell氏(個人)・Azora・Matter Venture Partnersも参加</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発表は2026年8月4日、調達後評価額(post-money)は24億ドル</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今回調達した資金額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3億ドル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シリーズA、転換優先株式による調達(2026年8月4日発表)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Bloomberg(2026-08-04)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調達概要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企業名</a:t>
                      </a:r>
                    </a:p>
                  </a:txBody>
                  <a:tcPr>
                    <a:solidFill>
                      <a:srgbClr val="FFFFFF"/>
                    </a:solidFill>
                  </a:tcPr>
                </a:tc>
                <a:tc>
                  <a:txBody>
                    <a:bodyPr/>
                    <a:lstStyle/>
                    <a:p>
                      <a:pPr>
                        <a:defRPr sz="1200">
                          <a:solidFill>
                            <a:srgbClr val="121C1F"/>
                          </a:solidFill>
                          <a:latin typeface="Yu Gothic"/>
                        </a:defRPr>
                      </a:pPr>
                      <a:r>
                        <a:t>Volta AI Infra Holdings Pte. Ltd.</a:t>
                      </a:r>
                    </a:p>
                  </a:txBody>
                  <a:tcPr>
                    <a:solidFill>
                      <a:srgbClr val="FFFFFF"/>
                    </a:solidFill>
                  </a:tcPr>
                </a:tc>
              </a:tr>
              <a:tr h="502920">
                <a:tc>
                  <a:txBody>
                    <a:bodyPr/>
                    <a:lstStyle/>
                    <a:p>
                      <a:pPr>
                        <a:defRPr sz="1200">
                          <a:solidFill>
                            <a:srgbClr val="121C1F"/>
                          </a:solidFill>
                          <a:latin typeface="Yu Gothic"/>
                        </a:defRPr>
                      </a:pPr>
                      <a:r>
                        <a:t>事業領域</a:t>
                      </a:r>
                    </a:p>
                  </a:txBody>
                  <a:tcPr>
                    <a:solidFill>
                      <a:srgbClr val="F0F7F4"/>
                    </a:solidFill>
                  </a:tcPr>
                </a:tc>
                <a:tc>
                  <a:txBody>
                    <a:bodyPr/>
                    <a:lstStyle/>
                    <a:p>
                      <a:pPr>
                        <a:defRPr sz="1200">
                          <a:solidFill>
                            <a:srgbClr val="121C1F"/>
                          </a:solidFill>
                          <a:latin typeface="Yu Gothic"/>
                        </a:defRPr>
                      </a:pPr>
                      <a:r>
                        <a:t>AIクラウドインフラ</a:t>
                      </a:r>
                    </a:p>
                  </a:txBody>
                  <a:tcPr>
                    <a:solidFill>
                      <a:srgbClr val="F0F7F4"/>
                    </a:solidFill>
                  </a:tcPr>
                </a:tc>
              </a:tr>
              <a:tr h="502920">
                <a:tc>
                  <a:txBody>
                    <a:bodyPr/>
                    <a:lstStyle/>
                    <a:p>
                      <a:pPr>
                        <a:defRPr sz="1200">
                          <a:solidFill>
                            <a:srgbClr val="121C1F"/>
                          </a:solidFill>
                          <a:latin typeface="Yu Gothic"/>
                        </a:defRPr>
                      </a:pPr>
                      <a:r>
                        <a:t>調達額</a:t>
                      </a:r>
                    </a:p>
                  </a:txBody>
                  <a:tcPr>
                    <a:solidFill>
                      <a:srgbClr val="FFFFFF"/>
                    </a:solidFill>
                  </a:tcPr>
                </a:tc>
                <a:tc>
                  <a:txBody>
                    <a:bodyPr/>
                    <a:lstStyle/>
                    <a:p>
                      <a:pPr>
                        <a:defRPr sz="1200">
                          <a:solidFill>
                            <a:srgbClr val="121C1F"/>
                          </a:solidFill>
                          <a:latin typeface="Yu Gothic"/>
                        </a:defRPr>
                      </a:pPr>
                      <a:r>
                        <a:t>3億ドル(シリーズA、転換優先株式)</a:t>
                      </a:r>
                    </a:p>
                  </a:txBody>
                  <a:tcPr>
                    <a:solidFill>
                      <a:srgbClr val="FFFFFF"/>
                    </a:solidFill>
                  </a:tcPr>
                </a:tc>
              </a:tr>
              <a:tr h="502920">
                <a:tc>
                  <a:txBody>
                    <a:bodyPr/>
                    <a:lstStyle/>
                    <a:p>
                      <a:pPr>
                        <a:defRPr sz="1200">
                          <a:solidFill>
                            <a:srgbClr val="121C1F"/>
                          </a:solidFill>
                          <a:latin typeface="Yu Gothic"/>
                        </a:defRPr>
                      </a:pPr>
                      <a:r>
                        <a:t>調達後評価額(post-money)</a:t>
                      </a:r>
                    </a:p>
                  </a:txBody>
                  <a:tcPr>
                    <a:solidFill>
                      <a:srgbClr val="F0F7F4"/>
                    </a:solidFill>
                  </a:tcPr>
                </a:tc>
                <a:tc>
                  <a:txBody>
                    <a:bodyPr/>
                    <a:lstStyle/>
                    <a:p>
                      <a:pPr>
                        <a:defRPr sz="1200">
                          <a:solidFill>
                            <a:srgbClr val="121C1F"/>
                          </a:solidFill>
                          <a:latin typeface="Yu Gothic"/>
                        </a:defRPr>
                      </a:pPr>
                      <a:r>
                        <a:t>24億ドル</a:t>
                      </a:r>
                    </a:p>
                  </a:txBody>
                  <a:tcPr>
                    <a:solidFill>
                      <a:srgbClr val="F0F7F4"/>
                    </a:solidFill>
                  </a:tcPr>
                </a:tc>
              </a:tr>
              <a:tr h="502920">
                <a:tc>
                  <a:txBody>
                    <a:bodyPr/>
                    <a:lstStyle/>
                    <a:p>
                      <a:pPr>
                        <a:defRPr sz="1200">
                          <a:solidFill>
                            <a:srgbClr val="121C1F"/>
                          </a:solidFill>
                          <a:latin typeface="Yu Gothic"/>
                        </a:defRPr>
                      </a:pPr>
                      <a:r>
                        <a:t>共同主導投資家</a:t>
                      </a:r>
                    </a:p>
                  </a:txBody>
                  <a:tcPr>
                    <a:solidFill>
                      <a:srgbClr val="FFFFFF"/>
                    </a:solidFill>
                  </a:tcPr>
                </a:tc>
                <a:tc>
                  <a:txBody>
                    <a:bodyPr/>
                    <a:lstStyle/>
                    <a:p>
                      <a:pPr>
                        <a:defRPr sz="1200">
                          <a:solidFill>
                            <a:srgbClr val="121C1F"/>
                          </a:solidFill>
                          <a:latin typeface="Yu Gothic"/>
                        </a:defRPr>
                      </a:pPr>
                      <a:r>
                        <a:t>Andreessen Horowitz(a16z)・Altimeter Capital Management</a:t>
                      </a:r>
                    </a:p>
                  </a:txBody>
                  <a:tcPr>
                    <a:solidFill>
                      <a:srgbClr val="FFFFFF"/>
                    </a:solidFill>
                  </a:tcPr>
                </a:tc>
              </a:tr>
              <a:tr h="502920">
                <a:tc>
                  <a:txBody>
                    <a:bodyPr/>
                    <a:lstStyle/>
                    <a:p>
                      <a:pPr>
                        <a:defRPr sz="1200">
                          <a:solidFill>
                            <a:srgbClr val="121C1F"/>
                          </a:solidFill>
                          <a:latin typeface="Yu Gothic"/>
                        </a:defRPr>
                      </a:pPr>
                      <a:r>
                        <a:t>発表日</a:t>
                      </a:r>
                    </a:p>
                  </a:txBody>
                  <a:tcPr>
                    <a:solidFill>
                      <a:srgbClr val="F0F7F4"/>
                    </a:solidFill>
                  </a:tcPr>
                </a:tc>
                <a:tc>
                  <a:txBody>
                    <a:bodyPr/>
                    <a:lstStyle/>
                    <a:p>
                      <a:pPr>
                        <a:defRPr sz="1200">
                          <a:solidFill>
                            <a:srgbClr val="121C1F"/>
                          </a:solidFill>
                          <a:latin typeface="Yu Gothic"/>
                        </a:defRPr>
                      </a:pPr>
                      <a:r>
                        <a:t>2026年8月4日</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豪華な参加投資家陣</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共同主導</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Andreessen Horowitz(a16z)・Altimeter Capital Management</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NVIDIA Corporation</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本ラウンドに出資参加</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Michael Dell氏</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個人(ファミリーオフィス)として出資参加</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その他</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Azora・Matter Venture Partnersも参加</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Voltaとは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事業内容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AIクラウドインフラ企業。AIチップへのアクセス・計算力を提供する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創業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2026年に入ってから創業(具体的な月は未確認)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法人名</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Volta AI Infra Holdings Pte. Ltd.</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初心者向け: 「AIクラウドインフラ」とは何か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AIモデルの学習・推論には大量のGPU(AIチップ)と計算力が必要</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「AIクラウドインフラ」とは、そうした計算力をデータセンター等で用意し、AI開発企業に貸し出す事業</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高性能AIチップは高額かつ調達が難しく、多額の資金調達が必要になる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Voltaはこの領域で活動するAIクラウドインフラ企業</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なぜAIチップの確保に巨額の資金が必要か(概要)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AIチップの需要急増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AI開発企業がGPU等の計算資源を大量に必要とする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高額な調達コスト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最新AIチップは高額で、大量調達には多額の資金が必要</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資金調達で対応</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Voltaのような企業が出資・融資枠を確保しチップアクセスを広げる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従来型クラウド vs AIクラウドインフラ(概念比較)</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従来型クラウド</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汎用サーバー・ストレージ中心の計算資源を提供</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幅広い用途向けの一般的な計算力が中心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AIクラウドインフラ(Voltaの領域)</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AIモデルの学習・推論向けに特化した計算力・チップアクセスを提供</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高額なAIチップの調達力そのものが価値の中心になる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資金調達の全体像</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エクイティ出資</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シリーズAで3億ドルを調達(転換優先株式)</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融資枠の確保</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追加で50億ドル相当の融資枠を確保、AIチップへのアクセス拡大が目的</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顧客との契約</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大手AI開発企業と6年・100億ドル規模のクラウド計算力契約を締結</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3つの数字を整理(混同しないための整理)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c>
                  <a:txBody>
                    <a:bodyPr/>
                    <a:lstStyle/>
                    <a:p>
                      <a:pPr>
                        <a:defRPr sz="1300" b="1">
                          <a:solidFill>
                            <a:srgbClr val="FFFFFF"/>
                          </a:solidFill>
                          <a:latin typeface="Yu Gothic"/>
                        </a:defRPr>
                      </a:pPr>
                      <a:r>
                        <a:t>性質</a:t>
                      </a:r>
                    </a:p>
                  </a:txBody>
                  <a:tcPr>
                    <a:solidFill>
                      <a:srgbClr val="1B2A2E"/>
                    </a:solidFill>
                  </a:tcPr>
                </a:tc>
              </a:tr>
              <a:tr h="502920">
                <a:tc>
                  <a:txBody>
                    <a:bodyPr/>
                    <a:lstStyle/>
                    <a:p>
                      <a:pPr>
                        <a:defRPr sz="1200">
                          <a:solidFill>
                            <a:srgbClr val="121C1F"/>
                          </a:solidFill>
                          <a:latin typeface="Yu Gothic"/>
                        </a:defRPr>
                      </a:pPr>
                      <a:r>
                        <a:t>シリーズA調達額</a:t>
                      </a:r>
                    </a:p>
                  </a:txBody>
                  <a:tcPr>
                    <a:solidFill>
                      <a:srgbClr val="FFFFFF"/>
                    </a:solidFill>
                  </a:tcPr>
                </a:tc>
                <a:tc>
                  <a:txBody>
                    <a:bodyPr/>
                    <a:lstStyle/>
                    <a:p>
                      <a:pPr>
                        <a:defRPr sz="1200">
                          <a:solidFill>
                            <a:srgbClr val="121C1F"/>
                          </a:solidFill>
                          <a:latin typeface="Yu Gothic"/>
                        </a:defRPr>
                      </a:pPr>
                      <a:r>
                        <a:t>3億ドル</a:t>
                      </a:r>
                    </a:p>
                  </a:txBody>
                  <a:tcPr>
                    <a:solidFill>
                      <a:srgbClr val="FFFFFF"/>
                    </a:solidFill>
                  </a:tcPr>
                </a:tc>
                <a:tc>
                  <a:txBody>
                    <a:bodyPr/>
                    <a:lstStyle/>
                    <a:p>
                      <a:pPr>
                        <a:defRPr sz="1200">
                          <a:solidFill>
                            <a:srgbClr val="121C1F"/>
                          </a:solidFill>
                          <a:latin typeface="Yu Gothic"/>
                        </a:defRPr>
                      </a:pPr>
                      <a:r>
                        <a:t>エクイティ(転換優先株式)による調達</a:t>
                      </a:r>
                    </a:p>
                  </a:txBody>
                  <a:tcPr>
                    <a:solidFill>
                      <a:srgbClr val="FFFFFF"/>
                    </a:solidFill>
                  </a:tcPr>
                </a:tc>
              </a:tr>
              <a:tr h="502920">
                <a:tc>
                  <a:txBody>
                    <a:bodyPr/>
                    <a:lstStyle/>
                    <a:p>
                      <a:pPr>
                        <a:defRPr sz="1200">
                          <a:solidFill>
                            <a:srgbClr val="121C1F"/>
                          </a:solidFill>
                          <a:latin typeface="Yu Gothic"/>
                        </a:defRPr>
                      </a:pPr>
                      <a:r>
                        <a:t>追加融資枠</a:t>
                      </a:r>
                    </a:p>
                  </a:txBody>
                  <a:tcPr>
                    <a:solidFill>
                      <a:srgbClr val="F0F7F4"/>
                    </a:solidFill>
                  </a:tcPr>
                </a:tc>
                <a:tc>
                  <a:txBody>
                    <a:bodyPr/>
                    <a:lstStyle/>
                    <a:p>
                      <a:pPr>
                        <a:defRPr sz="1200">
                          <a:solidFill>
                            <a:srgbClr val="121C1F"/>
                          </a:solidFill>
                          <a:latin typeface="Yu Gothic"/>
                        </a:defRPr>
                      </a:pPr>
                      <a:r>
                        <a:t>50億ドル相当</a:t>
                      </a:r>
                    </a:p>
                  </a:txBody>
                  <a:tcPr>
                    <a:solidFill>
                      <a:srgbClr val="F0F7F4"/>
                    </a:solidFill>
                  </a:tcPr>
                </a:tc>
                <a:tc>
                  <a:txBody>
                    <a:bodyPr/>
                    <a:lstStyle/>
                    <a:p>
                      <a:pPr>
                        <a:defRPr sz="1200">
                          <a:solidFill>
                            <a:srgbClr val="121C1F"/>
                          </a:solidFill>
                          <a:latin typeface="Yu Gothic"/>
                        </a:defRPr>
                      </a:pPr>
                      <a:r>
                        <a:t>融資・信用枠(チップ調達コストへの備え)</a:t>
                      </a:r>
                    </a:p>
                  </a:txBody>
                  <a:tcPr>
                    <a:solidFill>
                      <a:srgbClr val="F0F7F4"/>
                    </a:solidFill>
                  </a:tcPr>
                </a:tc>
              </a:tr>
              <a:tr h="502920">
                <a:tc>
                  <a:txBody>
                    <a:bodyPr/>
                    <a:lstStyle/>
                    <a:p>
                      <a:pPr>
                        <a:defRPr sz="1200">
                          <a:solidFill>
                            <a:srgbClr val="121C1F"/>
                          </a:solidFill>
                          <a:latin typeface="Yu Gothic"/>
                        </a:defRPr>
                      </a:pPr>
                      <a:r>
                        <a:t>クラウド計算力契約</a:t>
                      </a:r>
                    </a:p>
                  </a:txBody>
                  <a:tcPr>
                    <a:solidFill>
                      <a:srgbClr val="FFFFFF"/>
                    </a:solidFill>
                  </a:tcPr>
                </a:tc>
                <a:tc>
                  <a:txBody>
                    <a:bodyPr/>
                    <a:lstStyle/>
                    <a:p>
                      <a:pPr>
                        <a:defRPr sz="1200">
                          <a:solidFill>
                            <a:srgbClr val="121C1F"/>
                          </a:solidFill>
                          <a:latin typeface="Yu Gothic"/>
                        </a:defRPr>
                      </a:pPr>
                      <a:r>
                        <a:t>6年間・100億ドル規模</a:t>
                      </a:r>
                    </a:p>
                  </a:txBody>
                  <a:tcPr>
                    <a:solidFill>
                      <a:srgbClr val="FFFFFF"/>
                    </a:solidFill>
                  </a:tcPr>
                </a:tc>
                <a:tc>
                  <a:txBody>
                    <a:bodyPr/>
                    <a:lstStyle/>
                    <a:p>
                      <a:pPr>
                        <a:defRPr sz="1200">
                          <a:solidFill>
                            <a:srgbClr val="121C1F"/>
                          </a:solidFill>
                          <a:latin typeface="Yu Gothic"/>
                        </a:defRPr>
                      </a:pPr>
                      <a:r>
                        <a:t>顧客との商業契約(出資・融資ではない)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数字の比較(百万ドル、出典に基づく数字)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調達後評価額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post-money valuation(2026年8月4日発表)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Bloomberg(2026-08-04)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初心者向け: なぜ「融資枠」まで確保するのか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AIチップ(GPU等)は非常に高額で、現金だけでなく融資枠も使って調達力を高める企業が増えている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Voltaは出資による3億ドルに加え、別途50億ドル相当の融資・信用枠を確保したと発表</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この融資枠が実際にどれだけ引き出されている(使われている)かは非公表・未確認</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出資と融資枠は性質が異なる資金であることに注意</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【重要】確定事実と未確認の推測情報を区別する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確定事実(Bloomberg報道)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Voltaは大手AI開発企業と6年・100億ドル規模のクラウド計算力契約を締結したと発表。ただし相手企業名の開示は避けている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未確認の推測情報</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一部メディア(Inc.com)はこの契約相手をAnthropicと推測して報じているが、Bloomberg等の一次報道では確認されていない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本テーマの扱い方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相手企業名は「非公開」という事実のみを断定的に扱い、Anthropicとの関連は「未確認の推測」として明確に区別する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調達額(3億ドル)・評価額(24億ドル)・投資家陣・融資枠(50億ドル)・契約(100億ドル)は一次報道として確認</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契約相手企業の名前は非公開であることのみ確認、Anthropicとする情報は未確認</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売上・顧客基盤(契約先以外)・インフラの技術的詳細は確認できていない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融資枠の実際の利用状況・投資家別の出資額内訳は確認できていない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未確認事項一覧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100億ドル契約の相手企業名</a:t>
                      </a:r>
                    </a:p>
                  </a:txBody>
                  <a:tcPr>
                    <a:solidFill>
                      <a:srgbClr val="FFFFFF"/>
                    </a:solidFill>
                  </a:tcPr>
                </a:tc>
                <a:tc>
                  <a:txBody>
                    <a:bodyPr/>
                    <a:lstStyle/>
                    <a:p>
                      <a:pPr>
                        <a:defRPr sz="1200">
                          <a:solidFill>
                            <a:srgbClr val="121C1F"/>
                          </a:solidFill>
                          <a:latin typeface="Yu Gothic"/>
                        </a:defRPr>
                      </a:pPr>
                      <a:r>
                        <a:t>非公開(Volta側が開示を避けている)</a:t>
                      </a:r>
                    </a:p>
                  </a:txBody>
                  <a:tcPr>
                    <a:solidFill>
                      <a:srgbClr val="FFFFFF"/>
                    </a:solidFill>
                  </a:tcPr>
                </a:tc>
              </a:tr>
              <a:tr h="502920">
                <a:tc>
                  <a:txBody>
                    <a:bodyPr/>
                    <a:lstStyle/>
                    <a:p>
                      <a:pPr>
                        <a:defRPr sz="1200">
                          <a:solidFill>
                            <a:srgbClr val="121C1F"/>
                          </a:solidFill>
                          <a:latin typeface="Yu Gothic"/>
                        </a:defRPr>
                      </a:pPr>
                      <a:r>
                        <a:t>契約相手がAnthropicか</a:t>
                      </a:r>
                    </a:p>
                  </a:txBody>
                  <a:tcPr>
                    <a:solidFill>
                      <a:srgbClr val="F0F7F4"/>
                    </a:solidFill>
                  </a:tcPr>
                </a:tc>
                <a:tc>
                  <a:txBody>
                    <a:bodyPr/>
                    <a:lstStyle/>
                    <a:p>
                      <a:pPr>
                        <a:defRPr sz="1200">
                          <a:solidFill>
                            <a:srgbClr val="121C1F"/>
                          </a:solidFill>
                          <a:latin typeface="Yu Gothic"/>
                        </a:defRPr>
                      </a:pPr>
                      <a:r>
                        <a:t>未確認(一部メディアの推測のみ、一次報道では確認できず)</a:t>
                      </a:r>
                    </a:p>
                  </a:txBody>
                  <a:tcPr>
                    <a:solidFill>
                      <a:srgbClr val="F0F7F4"/>
                    </a:solidFill>
                  </a:tcPr>
                </a:tc>
              </a:tr>
              <a:tr h="502920">
                <a:tc>
                  <a:txBody>
                    <a:bodyPr/>
                    <a:lstStyle/>
                    <a:p>
                      <a:pPr>
                        <a:defRPr sz="1200">
                          <a:solidFill>
                            <a:srgbClr val="121C1F"/>
                          </a:solidFill>
                          <a:latin typeface="Yu Gothic"/>
                        </a:defRPr>
                      </a:pPr>
                      <a:r>
                        <a:t>Voltaの売上・収益</a:t>
                      </a:r>
                    </a:p>
                  </a:txBody>
                  <a:tcPr>
                    <a:solidFill>
                      <a:srgbClr val="FFFFFF"/>
                    </a:solidFill>
                  </a:tcPr>
                </a:tc>
                <a:tc>
                  <a:txBody>
                    <a:bodyPr/>
                    <a:lstStyle/>
                    <a:p>
                      <a:pPr>
                        <a:defRPr sz="1200">
                          <a:solidFill>
                            <a:srgbClr val="121C1F"/>
                          </a:solidFill>
                          <a:latin typeface="Yu Gothic"/>
                        </a:defRPr>
                      </a:pPr>
                      <a:r>
                        <a:t>未確認</a:t>
                      </a:r>
                    </a:p>
                  </a:txBody>
                  <a:tcPr>
                    <a:solidFill>
                      <a:srgbClr val="FFFFFF"/>
                    </a:solidFill>
                  </a:tcPr>
                </a:tc>
              </a:tr>
              <a:tr h="502920">
                <a:tc>
                  <a:txBody>
                    <a:bodyPr/>
                    <a:lstStyle/>
                    <a:p>
                      <a:pPr>
                        <a:defRPr sz="1200">
                          <a:solidFill>
                            <a:srgbClr val="121C1F"/>
                          </a:solidFill>
                          <a:latin typeface="Yu Gothic"/>
                        </a:defRPr>
                      </a:pPr>
                      <a:r>
                        <a:t>契約先以外の顧客基盤</a:t>
                      </a:r>
                    </a:p>
                  </a:txBody>
                  <a:tcPr>
                    <a:solidFill>
                      <a:srgbClr val="F0F7F4"/>
                    </a:solidFill>
                  </a:tcPr>
                </a:tc>
                <a:tc>
                  <a:txBody>
                    <a:bodyPr/>
                    <a:lstStyle/>
                    <a:p>
                      <a:pPr>
                        <a:defRPr sz="1200">
                          <a:solidFill>
                            <a:srgbClr val="121C1F"/>
                          </a:solidFill>
                          <a:latin typeface="Yu Gothic"/>
                        </a:defRPr>
                      </a:pPr>
                      <a:r>
                        <a:t>未確認</a:t>
                      </a:r>
                    </a:p>
                  </a:txBody>
                  <a:tcPr>
                    <a:solidFill>
                      <a:srgbClr val="F0F7F4"/>
                    </a:solidFill>
                  </a:tcPr>
                </a:tc>
              </a:tr>
              <a:tr h="502920">
                <a:tc>
                  <a:txBody>
                    <a:bodyPr/>
                    <a:lstStyle/>
                    <a:p>
                      <a:pPr>
                        <a:defRPr sz="1200">
                          <a:solidFill>
                            <a:srgbClr val="121C1F"/>
                          </a:solidFill>
                          <a:latin typeface="Yu Gothic"/>
                        </a:defRPr>
                      </a:pPr>
                      <a:r>
                        <a:t>インフラの技術的詳細・チップ導入タイムライン</a:t>
                      </a:r>
                    </a:p>
                  </a:txBody>
                  <a:tcPr>
                    <a:solidFill>
                      <a:srgbClr val="FFFFFF"/>
                    </a:solidFill>
                  </a:tcPr>
                </a:tc>
                <a:tc>
                  <a:txBody>
                    <a:bodyPr/>
                    <a:lstStyle/>
                    <a:p>
                      <a:pPr>
                        <a:defRPr sz="1200">
                          <a:solidFill>
                            <a:srgbClr val="121C1F"/>
                          </a:solidFill>
                          <a:latin typeface="Yu Gothic"/>
                        </a:defRPr>
                      </a:pPr>
                      <a:r>
                        <a:t>未確認</a:t>
                      </a:r>
                    </a:p>
                  </a:txBody>
                  <a:tcPr>
                    <a:solidFill>
                      <a:srgbClr val="FFFFFF"/>
                    </a:solidFill>
                  </a:tcPr>
                </a:tc>
              </a:tr>
              <a:tr h="502920">
                <a:tc>
                  <a:txBody>
                    <a:bodyPr/>
                    <a:lstStyle/>
                    <a:p>
                      <a:pPr>
                        <a:defRPr sz="1200">
                          <a:solidFill>
                            <a:srgbClr val="121C1F"/>
                          </a:solidFill>
                          <a:latin typeface="Yu Gothic"/>
                        </a:defRPr>
                      </a:pPr>
                      <a:r>
                        <a:t>50億ドルの融資枠の実際の利用状況</a:t>
                      </a:r>
                    </a:p>
                  </a:txBody>
                  <a:tcPr>
                    <a:solidFill>
                      <a:srgbClr val="F0F7F4"/>
                    </a:solidFill>
                  </a:tcPr>
                </a:tc>
                <a:tc>
                  <a:txBody>
                    <a:bodyPr/>
                    <a:lstStyle/>
                    <a:p>
                      <a:pPr>
                        <a:defRPr sz="1200">
                          <a:solidFill>
                            <a:srgbClr val="121C1F"/>
                          </a:solidFill>
                          <a:latin typeface="Yu Gothic"/>
                        </a:defRPr>
                      </a:pPr>
                      <a:r>
                        <a:t>未確認</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投資家について、分かっていること・分かっていないこと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共同主導はa16zとAltimeter、NVIDIA・Michael Dell氏(個人)・Azora・Matter Venture Partnersが参加</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各投資家の具体的な出資額の内訳</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Michael Dell氏の位置づけ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個人(ファミリーオフィス)としての参加と報じられている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Voltaのビジネスモデル概要(発表内容に基づく)</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資金調達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シリーズA3億ドル+融資枠50億ドルでAIチップへのアクセスを確保</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チップ・計算力の確保</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確保した資金・融資枠でAIチップ等の計算資源を調達</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顧客への計算力提供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大手AI開発企業向けに6年100億ドル規模の契約でクラウド計算力を提供</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エクイティ出資 vs 融資枠(性質の違い)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エクイティ出資(3億ドル)</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株式(転換優先株式)と引き換えに資金を得る</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一般に返済義務を伴わない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融資枠(50億ドル相当)</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信用枠として確保し、必要に応じて借り入れる</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一般に借り入れた分は返済義務が伴う</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業界文脈(ここからは推測、確定情報ではない)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AI開発企業向けの計算力需要が急増する中での資金調達と位置づけられる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巨大テック企業・著名投資家がAIインフラ企業に出資する動きが目立っている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ただしVolta固有の市場シェア・競合比較は本調査の範囲では確認できていない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ここからは一般的な業界文脈の推測であり、確定した情報ではない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今回のニュースの3つのポイント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1. 豪華すぎる投資家陣</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NVIDIA・Michael Dell氏(個人)が参加</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2. 3本立ての資金</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3億ドル調達+50億ドル融資枠+100億ドル契約、評価額24億ドル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3. 契約相手は“謎”</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100億ドル契約の相手企業名は非公開、Anthropic説は未確認</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round80評価表からの開示(スコア85/100)</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評価スコア</a:t>
                      </a:r>
                    </a:p>
                  </a:txBody>
                  <a:tcPr>
                    <a:solidFill>
                      <a:srgbClr val="FFFFFF"/>
                    </a:solidFill>
                  </a:tcPr>
                </a:tc>
                <a:tc>
                  <a:txBody>
                    <a:bodyPr/>
                    <a:lstStyle/>
                    <a:p>
                      <a:pPr>
                        <a:defRPr sz="1200">
                          <a:solidFill>
                            <a:srgbClr val="121C1F"/>
                          </a:solidFill>
                          <a:latin typeface="Yu Gothic"/>
                        </a:defRPr>
                      </a:pPr>
                      <a:r>
                        <a:t>85/100(このシリーズで高評価水準)</a:t>
                      </a:r>
                    </a:p>
                  </a:txBody>
                  <a:tcPr>
                    <a:solidFill>
                      <a:srgbClr val="FFFFFF"/>
                    </a:solidFill>
                  </a:tcPr>
                </a:tc>
              </a:tr>
              <a:tr h="502920">
                <a:tc>
                  <a:txBody>
                    <a:bodyPr/>
                    <a:lstStyle/>
                    <a:p>
                      <a:pPr>
                        <a:defRPr sz="1200">
                          <a:solidFill>
                            <a:srgbClr val="121C1F"/>
                          </a:solidFill>
                          <a:latin typeface="Yu Gothic"/>
                        </a:defRPr>
                      </a:pPr>
                      <a:r>
                        <a:t>採用理由</a:t>
                      </a:r>
                    </a:p>
                  </a:txBody>
                  <a:tcPr>
                    <a:solidFill>
                      <a:srgbClr val="F0F7F4"/>
                    </a:solidFill>
                  </a:tcPr>
                </a:tc>
                <a:tc>
                  <a:txBody>
                    <a:bodyPr/>
                    <a:lstStyle/>
                    <a:p>
                      <a:pPr>
                        <a:defRPr sz="1200">
                          <a:solidFill>
                            <a:srgbClr val="121C1F"/>
                          </a:solidFill>
                          <a:latin typeface="Yu Gothic"/>
                        </a:defRPr>
                      </a:pPr>
                      <a:r>
                        <a:t>着手日当日という最高水準の鮮度、NVIDIA・Michael Dell氏という知名度、24億ドル評価額と100億ドル契約という規模感</a:t>
                      </a:r>
                    </a:p>
                  </a:txBody>
                  <a:tcPr>
                    <a:solidFill>
                      <a:srgbClr val="F0F7F4"/>
                    </a:solidFill>
                  </a:tcPr>
                </a:tc>
              </a:tr>
              <a:tr h="502920">
                <a:tc>
                  <a:txBody>
                    <a:bodyPr/>
                    <a:lstStyle/>
                    <a:p>
                      <a:pPr>
                        <a:defRPr sz="1200">
                          <a:solidFill>
                            <a:srgbClr val="121C1F"/>
                          </a:solidFill>
                          <a:latin typeface="Yu Gothic"/>
                        </a:defRPr>
                      </a:pPr>
                      <a:r>
                        <a:t>懸念点</a:t>
                      </a:r>
                    </a:p>
                  </a:txBody>
                  <a:tcPr>
                    <a:solidFill>
                      <a:srgbClr val="FFFFFF"/>
                    </a:solidFill>
                  </a:tcPr>
                </a:tc>
                <a:tc>
                  <a:txBody>
                    <a:bodyPr/>
                    <a:lstStyle/>
                    <a:p>
                      <a:pPr>
                        <a:defRPr sz="1200">
                          <a:solidFill>
                            <a:srgbClr val="121C1F"/>
                          </a:solidFill>
                          <a:latin typeface="Yu Gothic"/>
                        </a:defRPr>
                      </a:pPr>
                      <a:r>
                        <a:t>100億ドル契約の相手企業名がAnthropicとする情報は一部メディアの推測にとどまり、一次報道では確認できていない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鮮度についての開示(このシリーズで最高水準)</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本発表は2026年8月4日、着手日と同日である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docs/06_Content_R&amp;D.mdの鮮度基準(着手日の前日以内)を明確に満たしている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これまでこのシリーズで制作した全テーマの中でも最高水準の鮮度</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ただし鮮度の高さは、契約相手の非公開という不確実性を補うものではない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実在企業名・人物名(Volta・NVIDIA・Michael Dell氏・Ricard Boada氏・Sofia Gumuzio氏等)はテキストとしてのみ使用し、ロゴ・写真は使用しない</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特定企業・特定製品の利用を強く推奨する結論にはしていない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Anthropicとの関連を含め、未確認の推測情報を事実として断定していない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政治的・地政学的な論評は行っていない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日付</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Bloomberg</a:t>
                      </a:r>
                    </a:p>
                  </a:txBody>
                  <a:tcPr>
                    <a:solidFill>
                      <a:srgbClr val="FFFFFF"/>
                    </a:solidFill>
                  </a:tcPr>
                </a:tc>
                <a:tc>
                  <a:txBody>
                    <a:bodyPr/>
                    <a:lstStyle/>
                    <a:p>
                      <a:pPr>
                        <a:defRPr sz="1200">
                          <a:solidFill>
                            <a:srgbClr val="121C1F"/>
                          </a:solidFill>
                          <a:latin typeface="Yu Gothic"/>
                        </a:defRPr>
                      </a:pPr>
                      <a:r>
                        <a:t>2026-08-04</a:t>
                      </a:r>
                    </a:p>
                  </a:txBody>
                  <a:tcPr>
                    <a:solidFill>
                      <a:srgbClr val="FFFFFF"/>
                    </a:solidFill>
                  </a:tcPr>
                </a:tc>
                <a:tc>
                  <a:txBody>
                    <a:bodyPr/>
                    <a:lstStyle/>
                    <a:p>
                      <a:pPr>
                        <a:defRPr sz="1200">
                          <a:solidFill>
                            <a:srgbClr val="121C1F"/>
                          </a:solidFill>
                          <a:latin typeface="Yu Gothic"/>
                        </a:defRPr>
                      </a:pPr>
                      <a:r>
                        <a:t>3億ドル調達・24億ドル評価額・投資家陣・50億ドル融資枠・100億ドル契約(相手非公開)</a:t>
                      </a:r>
                    </a:p>
                  </a:txBody>
                  <a:tcPr>
                    <a:solidFill>
                      <a:srgbClr val="FFFFFF"/>
                    </a:solidFill>
                  </a:tcPr>
                </a:tc>
              </a:tr>
              <a:tr h="502920">
                <a:tc>
                  <a:txBody>
                    <a:bodyPr/>
                    <a:lstStyle/>
                    <a:p>
                      <a:pPr>
                        <a:defRPr sz="1200">
                          <a:solidFill>
                            <a:srgbClr val="121C1F"/>
                          </a:solidFill>
                          <a:latin typeface="Yu Gothic"/>
                        </a:defRPr>
                      </a:pPr>
                      <a:r>
                        <a:t>MarketScreener</a:t>
                      </a:r>
                    </a:p>
                  </a:txBody>
                  <a:tcPr>
                    <a:solidFill>
                      <a:srgbClr val="F0F7F4"/>
                    </a:solidFill>
                  </a:tcPr>
                </a:tc>
                <a:tc>
                  <a:txBody>
                    <a:bodyPr/>
                    <a:lstStyle/>
                    <a:p>
                      <a:pPr>
                        <a:defRPr sz="1200">
                          <a:solidFill>
                            <a:srgbClr val="121C1F"/>
                          </a:solidFill>
                          <a:latin typeface="Yu Gothic"/>
                        </a:defRPr>
                      </a:pPr>
                      <a:r>
                        <a:t>2026-08-04</a:t>
                      </a:r>
                    </a:p>
                  </a:txBody>
                  <a:tcPr>
                    <a:solidFill>
                      <a:srgbClr val="F0F7F4"/>
                    </a:solidFill>
                  </a:tcPr>
                </a:tc>
                <a:tc>
                  <a:txBody>
                    <a:bodyPr/>
                    <a:lstStyle/>
                    <a:p>
                      <a:pPr>
                        <a:defRPr sz="1200">
                          <a:solidFill>
                            <a:srgbClr val="121C1F"/>
                          </a:solidFill>
                          <a:latin typeface="Yu Gothic"/>
                        </a:defRPr>
                      </a:pPr>
                      <a:r>
                        <a:t>同ニュースの報道</a:t>
                      </a:r>
                    </a:p>
                  </a:txBody>
                  <a:tcPr>
                    <a:solidFill>
                      <a:srgbClr val="F0F7F4"/>
                    </a:solidFill>
                  </a:tcPr>
                </a:tc>
              </a:tr>
              <a:tr h="502920">
                <a:tc>
                  <a:txBody>
                    <a:bodyPr/>
                    <a:lstStyle/>
                    <a:p>
                      <a:pPr>
                        <a:defRPr sz="1200">
                          <a:solidFill>
                            <a:srgbClr val="121C1F"/>
                          </a:solidFill>
                          <a:latin typeface="Yu Gothic"/>
                        </a:defRPr>
                      </a:pPr>
                      <a:r>
                        <a:t>Yahoo Finance(Bloomberg配信)</a:t>
                      </a:r>
                    </a:p>
                  </a:txBody>
                  <a:tcPr>
                    <a:solidFill>
                      <a:srgbClr val="FFFFFF"/>
                    </a:solidFill>
                  </a:tcPr>
                </a:tc>
                <a:tc>
                  <a:txBody>
                    <a:bodyPr/>
                    <a:lstStyle/>
                    <a:p>
                      <a:pPr>
                        <a:defRPr sz="1200">
                          <a:solidFill>
                            <a:srgbClr val="121C1F"/>
                          </a:solidFill>
                          <a:latin typeface="Yu Gothic"/>
                        </a:defRPr>
                      </a:pPr>
                      <a:r>
                        <a:t>2026-08-04</a:t>
                      </a:r>
                    </a:p>
                  </a:txBody>
                  <a:tcPr>
                    <a:solidFill>
                      <a:srgbClr val="FFFFFF"/>
                    </a:solidFill>
                  </a:tcPr>
                </a:tc>
                <a:tc>
                  <a:txBody>
                    <a:bodyPr/>
                    <a:lstStyle/>
                    <a:p>
                      <a:pPr>
                        <a:defRPr sz="1200">
                          <a:solidFill>
                            <a:srgbClr val="121C1F"/>
                          </a:solidFill>
                          <a:latin typeface="Yu Gothic"/>
                        </a:defRPr>
                      </a:pPr>
                      <a:r>
                        <a:t>同ニュースの配信記事</a:t>
                      </a:r>
                    </a:p>
                  </a:txBody>
                  <a:tcPr>
                    <a:solidFill>
                      <a:srgbClr val="FFFFFF"/>
                    </a:solidFill>
                  </a:tcPr>
                </a:tc>
              </a:tr>
              <a:tr h="502920">
                <a:tc>
                  <a:txBody>
                    <a:bodyPr/>
                    <a:lstStyle/>
                    <a:p>
                      <a:pPr>
                        <a:defRPr sz="1200">
                          <a:solidFill>
                            <a:srgbClr val="121C1F"/>
                          </a:solidFill>
                          <a:latin typeface="Yu Gothic"/>
                        </a:defRPr>
                      </a:pPr>
                      <a:r>
                        <a:t>TheNextWeb</a:t>
                      </a:r>
                    </a:p>
                  </a:txBody>
                  <a:tcPr>
                    <a:solidFill>
                      <a:srgbClr val="F0F7F4"/>
                    </a:solidFill>
                  </a:tcPr>
                </a:tc>
                <a:tc>
                  <a:txBody>
                    <a:bodyPr/>
                    <a:lstStyle/>
                    <a:p>
                      <a:pPr>
                        <a:defRPr sz="1200">
                          <a:solidFill>
                            <a:srgbClr val="121C1F"/>
                          </a:solidFill>
                          <a:latin typeface="Yu Gothic"/>
                        </a:defRPr>
                      </a:pPr>
                      <a:r>
                        <a:t>2026-08-04</a:t>
                      </a:r>
                    </a:p>
                  </a:txBody>
                  <a:tcPr>
                    <a:solidFill>
                      <a:srgbClr val="F0F7F4"/>
                    </a:solidFill>
                  </a:tcPr>
                </a:tc>
                <a:tc>
                  <a:txBody>
                    <a:bodyPr/>
                    <a:lstStyle/>
                    <a:p>
                      <a:pPr>
                        <a:defRPr sz="1200">
                          <a:solidFill>
                            <a:srgbClr val="121C1F"/>
                          </a:solidFill>
                          <a:latin typeface="Yu Gothic"/>
                        </a:defRPr>
                      </a:pPr>
                      <a:r>
                        <a:t>同ニュースの報道</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B2A2E"/>
                    </a:solidFill>
                  </a:tcPr>
                </a:tc>
                <a:tc>
                  <a:txBody>
                    <a:bodyPr/>
                    <a:lstStyle/>
                    <a:p>
                      <a:pPr>
                        <a:defRPr sz="1300" b="1">
                          <a:solidFill>
                            <a:srgbClr val="FFFFFF"/>
                          </a:solidFill>
                          <a:latin typeface="Yu Gothic"/>
                        </a:defRPr>
                      </a:pPr>
                      <a:r>
                        <a:t>結果</a:t>
                      </a:r>
                    </a:p>
                  </a:txBody>
                  <a:tcPr>
                    <a:solidFill>
                      <a:srgbClr val="1B2A2E"/>
                    </a:solidFill>
                  </a:tcPr>
                </a:tc>
              </a:tr>
              <a:tr h="502920">
                <a:tc>
                  <a:txBody>
                    <a:bodyPr/>
                    <a:lstStyle/>
                    <a:p>
                      <a:pPr>
                        <a:defRPr sz="1200">
                          <a:solidFill>
                            <a:srgbClr val="121C1F"/>
                          </a:solidFill>
                          <a:latin typeface="Yu Gothic"/>
                        </a:defRPr>
                      </a:pPr>
                      <a:r>
                        <a:t>Voltaを主題としたテーマ</a:t>
                      </a:r>
                    </a:p>
                  </a:txBody>
                  <a:tcPr>
                    <a:solidFill>
                      <a:srgbClr val="FFFFFF"/>
                    </a:solidFill>
                  </a:tcPr>
                </a:tc>
                <a:tc>
                  <a:txBody>
                    <a:bodyPr/>
                    <a:lstStyle/>
                    <a:p>
                      <a:pPr>
                        <a:defRPr sz="1200">
                          <a:solidFill>
                            <a:srgbClr val="121C1F"/>
                          </a:solidFill>
                          <a:latin typeface="Yu Gothic"/>
                        </a:defRPr>
                      </a:pPr>
                      <a:r>
                        <a:t>既存テーマになし</a:t>
                      </a:r>
                    </a:p>
                  </a:txBody>
                  <a:tcPr>
                    <a:solidFill>
                      <a:srgbClr val="FFFFFF"/>
                    </a:solidFill>
                  </a:tcPr>
                </a:tc>
              </a:tr>
              <a:tr h="502920">
                <a:tc>
                  <a:txBody>
                    <a:bodyPr/>
                    <a:lstStyle/>
                    <a:p>
                      <a:pPr>
                        <a:defRPr sz="1200">
                          <a:solidFill>
                            <a:srgbClr val="121C1F"/>
                          </a:solidFill>
                          <a:latin typeface="Yu Gothic"/>
                        </a:defRPr>
                      </a:pPr>
                      <a:r>
                        <a:t>AIインフラ・クラウド系の既存テーマ(Gritt・NVIDIA-OpenAI等)との重複</a:t>
                      </a:r>
                    </a:p>
                  </a:txBody>
                  <a:tcPr>
                    <a:solidFill>
                      <a:srgbClr val="F0F7F4"/>
                    </a:solidFill>
                  </a:tcPr>
                </a:tc>
                <a:tc>
                  <a:txBody>
                    <a:bodyPr/>
                    <a:lstStyle/>
                    <a:p>
                      <a:pPr>
                        <a:defRPr sz="1200">
                          <a:solidFill>
                            <a:srgbClr val="121C1F"/>
                          </a:solidFill>
                          <a:latin typeface="Yu Gothic"/>
                        </a:defRPr>
                      </a:pPr>
                      <a:r>
                        <a:t>対象企業・事業内容(Volta固有の資金調達・投資家陣・契約)が異なり重複ではない</a:t>
                      </a:r>
                    </a:p>
                  </a:txBody>
                  <a:tcPr>
                    <a:solidFill>
                      <a:srgbClr val="F0F7F4"/>
                    </a:solidFill>
                  </a:tcPr>
                </a:tc>
              </a:tr>
              <a:tr h="502920">
                <a:tc>
                  <a:txBody>
                    <a:bodyPr/>
                    <a:lstStyle/>
                    <a:p>
                      <a:pPr>
                        <a:defRPr sz="1200">
                          <a:solidFill>
                            <a:srgbClr val="121C1F"/>
                          </a:solidFill>
                          <a:latin typeface="Yu Gothic"/>
                        </a:defRPr>
                      </a:pPr>
                      <a:r>
                        <a:t>判定</a:t>
                      </a:r>
                    </a:p>
                  </a:txBody>
                  <a:tcPr>
                    <a:solidFill>
                      <a:srgbClr val="FFFFFF"/>
                    </a:solidFill>
                  </a:tcPr>
                </a:tc>
                <a:tc>
                  <a:txBody>
                    <a:bodyPr/>
                    <a:lstStyle/>
                    <a:p>
                      <a:pPr>
                        <a:defRPr sz="1200">
                          <a:solidFill>
                            <a:srgbClr val="121C1F"/>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24億ドル評価の新星が結んだ100億ドル契約、“謎の相手” はいつ明かされるか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Voltaの続報を、確認できたこと・できなかったことを区別しながら注目していきましょう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AIクラウドインフラ企業Voltaが、シリーズAで3億ドルを調達したと2026年8月4日に発表</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NVIDIA・Michael Dell氏(個人)も参加、評価額24億ドル、追加融資枠50億ドルも確保</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6年100億ドル規模のクラウド契約も締結したが、相手企業名は非公開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Anthropicとする情報は一部メディアの推測にとどまり、一次報道では未確認である点を正直に開示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Bloomberg(2026-08-04)ほか｜定期実行135本目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