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冒頭で「AIをたくさん使った、は成果を約束しない」という具体的な問いを即座に提示する。挨拶や自己紹介は入れない。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結論を先に提示する。新しい技術の紹介ではなく、計測の話であることを最初に示す。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視聴者が得られるものを先に提示し、離脱を防ぐ。数字の確度も見る、と予告する。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最初に情報の確度を開示する。数字が主役のテーマなので、ここを飛ばさない。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起承転結を予告する。ここまでが入口、ここから中身、という区切りを作る。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専門知識のない視聴者のための前提スライド。この区別が分からないと本テーマの意味が伝わらない。特定の製品名は挙げず、ツール群一般として扱う。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4段階を図で示す。この流れの中で「tokenmaxxing」が生まれる、という構図を次のスライド以降で説明する。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本テーマの中心となる数字。ナレーションでは必ず「Weave社自身の発表」と添える。第三者による独立検証ではない。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数字の中身と、確認できていない部分を同じ表に並べる。都合の良いところだけ切り出さない。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発表そのものの骨子。資金調達額自体は業界的に大きな規模ではなく、問題提起の切り口が本テーマの主役であることを補足する。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特定個人の発言としてではなく、発表全体の趣旨の要約であることを明示する。宣伝文句としてではなく、問題提起の要約として扱う。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3ステップの役割分担。次のスライドで、この分析を支える投資家の顔ぶれを整理する。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投資家の顔ぶれをそのまま示す。各社の出資意図の詳細は確認できていない旨をノートで補う。</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技術方式ではなく評価方式の対比。Weaveが挑もうとしているのは右側の難しい計測である、という位置づけを示す。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本テーマの核心となる用語。一企業の宣伝文句ではなく、複数メディアが独自に取り上げ始めている概念であることを示す。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3段階の図で仕組みを示す。この整理は複数記事に共通する一般的な見立てであり、Weave社が明言した段階分けではない点をノートで補う。</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自社発表の数字を鵜呑みにせず、出所を明示する姿勢を見せる。検証できない数値は使わない、という一貫した方針の実践箇所。</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資金調達額と、自社にとっての意味は別軸であることを整理する。ここは一般的な整理であり、Weaveがそう述べたものではない。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数字の使いどころと使えないところを分ける。ここまでが中身、という区切りを置く。</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転の入り口。発表を成功物語として語らず、「そういう問題意識が資金を集め始めた」段階だと示す。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一方的に持ち上げない。確かなことと不確かなことを同じ大きさで並べる。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自社に当てはめるための実践手順。特定製品の導入を勧める結論にはしない。①は特に見落とされやすいため最初に入れている。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個人と企業の2つの視点を用意し、視聴者が自分の立場で受け取れるようにする。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推測であることをスライド上でもナレーションでも明示する。断定しない方針の実践箇所。</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個別ニュースを大きな流れの中に置く。この順番は解説者側の整理であり、公式な段階分けではない点をナレーションで補う。</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3つとも「発表はあるが、まだ検証や実績の面で確定していない」という共通点でまとめる。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不明点を隠さず表にする。ここを飛ばさずナレーションでも読み上げる。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制作過程そのものを開示する。使わなかった数字・混ぜなかった数字まで言うのは、信頼の担保として意味がある。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3枚のカードで全体を回収する。次のスライドで学びに変換する。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結のキーメッセージ。特定製品を勧めるのではなく、視聴者自身の行動を1つに絞る。誇張せず事実に基づいて締める。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「AIをたくさん使った」は、成果を約束しない</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AIコーディングの成果を計測する米スタートアップWeaveが、2026年7月29日にシリーズA 1,350万ドルの調達を発表した</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WebWire(プレスリリース) / TechStartups(2026-07-29)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今回の結論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何が分かったか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AIコーディングツールの利用量そのものを生産性の指標にする「tokenmaxxing」という問題に、専用の計測基盤で挑む企業が資金調達した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なぜ重要か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「AIをどれだけ使ったか」と「実際に成果が出たか」は別物であり、両者を混同すると投資判断を誤る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「tokenmaxxing」という現象が何を指すのかが分かる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Weaveの主張する数字がどこまで確かなのかを、出典付きで判断できる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自社のAI活用を振り返るための視点が持てる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根拠がある部分</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プレスリリースに加え、TechStartups・Diggという独立したメディアが同時期に同じ発表を報じている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限界がある部分</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7つの情報源すべてが本文取得403で、検索エンジンの要約経由の確認にとどまる。分析規模の数字はWeave社自身の発表である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起: 前提知識 + 何が発表されたか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承: 「tokenmaxxing」の中身と、どこまで確かなのか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転: これは何を意味するか・どう使えるか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結: 慎重に見る点・不明点・まとめ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前提知識: 「使った量」と「進んだ量」は別物</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AIコーディングツール</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AIが自律的にコードを書き進める、近年広がっているツール群の総称</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tokenmaxxing</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そうしたツールの利用量(処理量・呼び出し回数など)自体を、あたかも成果のように扱ってしまう傾向</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本テーマの核心</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利用量の多さは、バグが減ったか・顧客への価値が増えたかを保証しない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「使用量」が指標になっていく流れ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①普及</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AIコーディングツールが広がる</a:t>
            </a:r>
          </a:p>
        </p:txBody>
      </p:sp>
      <p:sp>
        <p:nvSpPr>
          <p:cNvPr id="10" name="Right Arrow 9"/>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②可視化</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利用量が数字として見える</a:t>
            </a:r>
          </a:p>
        </p:txBody>
      </p:sp>
      <p:sp>
        <p:nvSpPr>
          <p:cNvPr id="15" name="Right Arrow 14"/>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③比較</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社内で利用量が競われ始める</a:t>
            </a:r>
          </a:p>
        </p:txBody>
      </p:sp>
      <p:sp>
        <p:nvSpPr>
          <p:cNvPr id="20" name="Right Arrow 19"/>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④本末転倒</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量を追うこと自体が目的化する</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Weaveが分析したとするコード貢献の件数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200万件超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人間とAIによるコード貢献を200万件超、20,000人超のエンジニア・500社超にわたって分析したとされる(Weave社自身の発表)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TechStartups(検索結果の要約経由、2026-07-28)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この数字の中身</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分析対象</a:t>
                      </a:r>
                    </a:p>
                  </a:txBody>
                  <a:tcPr>
                    <a:solidFill>
                      <a:srgbClr val="FFFFFF"/>
                    </a:solidFill>
                  </a:tcPr>
                </a:tc>
                <a:tc>
                  <a:txBody>
                    <a:bodyPr/>
                    <a:lstStyle/>
                    <a:p>
                      <a:pPr>
                        <a:defRPr sz="1200">
                          <a:solidFill>
                            <a:srgbClr val="20261F"/>
                          </a:solidFill>
                          <a:latin typeface="Yu Gothic"/>
                        </a:defRPr>
                      </a:pPr>
                      <a:r>
                        <a:t>200万件超の人間・AIによるコード貢献</a:t>
                      </a:r>
                    </a:p>
                  </a:txBody>
                  <a:tcPr>
                    <a:solidFill>
                      <a:srgbClr val="FFFFFF"/>
                    </a:solidFill>
                  </a:tcPr>
                </a:tc>
              </a:tr>
              <a:tr h="502920">
                <a:tc>
                  <a:txBody>
                    <a:bodyPr/>
                    <a:lstStyle/>
                    <a:p>
                      <a:pPr>
                        <a:defRPr sz="1200">
                          <a:solidFill>
                            <a:srgbClr val="20261F"/>
                          </a:solidFill>
                          <a:latin typeface="Yu Gothic"/>
                        </a:defRPr>
                      </a:pPr>
                      <a:r>
                        <a:t>対象規模</a:t>
                      </a:r>
                    </a:p>
                  </a:txBody>
                  <a:tcPr>
                    <a:solidFill>
                      <a:srgbClr val="F4F1E6"/>
                    </a:solidFill>
                  </a:tcPr>
                </a:tc>
                <a:tc>
                  <a:txBody>
                    <a:bodyPr/>
                    <a:lstStyle/>
                    <a:p>
                      <a:pPr>
                        <a:defRPr sz="1200">
                          <a:solidFill>
                            <a:srgbClr val="20261F"/>
                          </a:solidFill>
                          <a:latin typeface="Yu Gothic"/>
                        </a:defRPr>
                      </a:pPr>
                      <a:r>
                        <a:t>500社超・エンジニア20,000人超</a:t>
                      </a:r>
                    </a:p>
                  </a:txBody>
                  <a:tcPr>
                    <a:solidFill>
                      <a:srgbClr val="F4F1E6"/>
                    </a:solidFill>
                  </a:tcPr>
                </a:tc>
              </a:tr>
              <a:tr h="502920">
                <a:tc>
                  <a:txBody>
                    <a:bodyPr/>
                    <a:lstStyle/>
                    <a:p>
                      <a:pPr>
                        <a:defRPr sz="1200">
                          <a:solidFill>
                            <a:srgbClr val="20261F"/>
                          </a:solidFill>
                          <a:latin typeface="Yu Gothic"/>
                        </a:defRPr>
                      </a:pPr>
                      <a:r>
                        <a:t>顧客の例</a:t>
                      </a:r>
                    </a:p>
                  </a:txBody>
                  <a:tcPr>
                    <a:solidFill>
                      <a:srgbClr val="FFFFFF"/>
                    </a:solidFill>
                  </a:tcPr>
                </a:tc>
                <a:tc>
                  <a:txBody>
                    <a:bodyPr/>
                    <a:lstStyle/>
                    <a:p>
                      <a:pPr>
                        <a:defRPr sz="1200">
                          <a:solidFill>
                            <a:srgbClr val="20261F"/>
                          </a:solidFill>
                          <a:latin typeface="Yu Gothic"/>
                        </a:defRPr>
                      </a:pPr>
                      <a:r>
                        <a:t>Robinhood・Reducto・PostHogの名前が挙げられている</a:t>
                      </a:r>
                    </a:p>
                  </a:txBody>
                  <a:tcPr>
                    <a:solidFill>
                      <a:srgbClr val="FFFFFF"/>
                    </a:solidFill>
                  </a:tcPr>
                </a:tc>
              </a:tr>
              <a:tr h="502920">
                <a:tc>
                  <a:txBody>
                    <a:bodyPr/>
                    <a:lstStyle/>
                    <a:p>
                      <a:pPr>
                        <a:defRPr sz="1200">
                          <a:solidFill>
                            <a:srgbClr val="20261F"/>
                          </a:solidFill>
                          <a:latin typeface="Yu Gothic"/>
                        </a:defRPr>
                      </a:pPr>
                      <a:r>
                        <a:t>確認できていないこと</a:t>
                      </a:r>
                    </a:p>
                  </a:txBody>
                  <a:tcPr>
                    <a:solidFill>
                      <a:srgbClr val="F4F1E6"/>
                    </a:solidFill>
                  </a:tcPr>
                </a:tc>
                <a:tc>
                  <a:txBody>
                    <a:bodyPr/>
                    <a:lstStyle/>
                    <a:p>
                      <a:pPr>
                        <a:defRPr sz="1200">
                          <a:solidFill>
                            <a:srgbClr val="20261F"/>
                          </a:solidFill>
                          <a:latin typeface="Yu Gothic"/>
                        </a:defRPr>
                      </a:pPr>
                      <a:r>
                        <a:t>この規模の数字の第三者による独立検証、企業評価額</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TechStartups / WebWire(検索結果の要約経由)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何が発表されたか(2026年7月29日)</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誰が</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Weave(「AI時代のエンジニアリング・インテリジェンス層」を自称する米スタートアップ)</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何を</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シリーズAで1,350万ドルを調達したと発表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リード投資家</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Standard Capital。Y Combinator・Moonfire・Burst Capital・IrregEx・Agent Fundも参加</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WebWire / TechStartups(2026-07-29)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“AIコーディングツールにどれだけ投資しても、それが人と同じように本当のエンジニアリングの進捗につながっているかどうかを、分けて見る必要がある。”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Weaveの発表内容を要約したもの(直接引用ではなく、発表内容のまとめ)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Weaveのプラットフォームがやろうとしていること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①集める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人間とAIによるコーディング活動のデータを集める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②つなげる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機械学習モデルで、活動と実際のビジネス上の進捗を結びつけて分析する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③可視化する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トークンや人件費という支出に対して、何が生まれたかを示す</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主要投資家(報道経由)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24523F"/>
                    </a:solidFill>
                  </a:tcPr>
                </a:tc>
                <a:tc>
                  <a:txBody>
                    <a:bodyPr/>
                    <a:lstStyle/>
                    <a:p>
                      <a:pPr>
                        <a:defRPr sz="1300" b="1">
                          <a:solidFill>
                            <a:srgbClr val="FFFFFF"/>
                          </a:solidFill>
                          <a:latin typeface="Yu Gothic"/>
                        </a:defRPr>
                      </a:pPr>
                      <a:r>
                        <a:t>位置づけ</a:t>
                      </a:r>
                    </a:p>
                  </a:txBody>
                  <a:tcPr>
                    <a:solidFill>
                      <a:srgbClr val="24523F"/>
                    </a:solidFill>
                  </a:tcPr>
                </a:tc>
              </a:tr>
              <a:tr h="502920">
                <a:tc>
                  <a:txBody>
                    <a:bodyPr/>
                    <a:lstStyle/>
                    <a:p>
                      <a:pPr>
                        <a:defRPr sz="1200">
                          <a:solidFill>
                            <a:srgbClr val="20261F"/>
                          </a:solidFill>
                          <a:latin typeface="Yu Gothic"/>
                        </a:defRPr>
                      </a:pPr>
                      <a:r>
                        <a:t>Standard Capital</a:t>
                      </a:r>
                    </a:p>
                  </a:txBody>
                  <a:tcPr>
                    <a:solidFill>
                      <a:srgbClr val="FFFFFF"/>
                    </a:solidFill>
                  </a:tcPr>
                </a:tc>
                <a:tc>
                  <a:txBody>
                    <a:bodyPr/>
                    <a:lstStyle/>
                    <a:p>
                      <a:pPr>
                        <a:defRPr sz="1200">
                          <a:solidFill>
                            <a:srgbClr val="20261F"/>
                          </a:solidFill>
                          <a:latin typeface="Yu Gothic"/>
                        </a:defRPr>
                      </a:pPr>
                      <a:r>
                        <a:t>リード投資家</a:t>
                      </a:r>
                    </a:p>
                  </a:txBody>
                  <a:tcPr>
                    <a:solidFill>
                      <a:srgbClr val="FFFFFF"/>
                    </a:solidFill>
                  </a:tcPr>
                </a:tc>
              </a:tr>
              <a:tr h="502920">
                <a:tc>
                  <a:txBody>
                    <a:bodyPr/>
                    <a:lstStyle/>
                    <a:p>
                      <a:pPr>
                        <a:defRPr sz="1200">
                          <a:solidFill>
                            <a:srgbClr val="20261F"/>
                          </a:solidFill>
                          <a:latin typeface="Yu Gothic"/>
                        </a:defRPr>
                      </a:pPr>
                      <a:r>
                        <a:t>Y Combinator</a:t>
                      </a:r>
                    </a:p>
                  </a:txBody>
                  <a:tcPr>
                    <a:solidFill>
                      <a:srgbClr val="F4F1E6"/>
                    </a:solidFill>
                  </a:tcPr>
                </a:tc>
                <a:tc>
                  <a:txBody>
                    <a:bodyPr/>
                    <a:lstStyle/>
                    <a:p>
                      <a:pPr>
                        <a:defRPr sz="1200">
                          <a:solidFill>
                            <a:srgbClr val="20261F"/>
                          </a:solidFill>
                          <a:latin typeface="Yu Gothic"/>
                        </a:defRPr>
                      </a:pPr>
                      <a:r>
                        <a:t>参加investor</a:t>
                      </a:r>
                    </a:p>
                  </a:txBody>
                  <a:tcPr>
                    <a:solidFill>
                      <a:srgbClr val="F4F1E6"/>
                    </a:solidFill>
                  </a:tcPr>
                </a:tc>
              </a:tr>
              <a:tr h="502920">
                <a:tc>
                  <a:txBody>
                    <a:bodyPr/>
                    <a:lstStyle/>
                    <a:p>
                      <a:pPr>
                        <a:defRPr sz="1200">
                          <a:solidFill>
                            <a:srgbClr val="20261F"/>
                          </a:solidFill>
                          <a:latin typeface="Yu Gothic"/>
                        </a:defRPr>
                      </a:pPr>
                      <a:r>
                        <a:t>Moonfire</a:t>
                      </a:r>
                    </a:p>
                  </a:txBody>
                  <a:tcPr>
                    <a:solidFill>
                      <a:srgbClr val="FFFFFF"/>
                    </a:solidFill>
                  </a:tcPr>
                </a:tc>
                <a:tc>
                  <a:txBody>
                    <a:bodyPr/>
                    <a:lstStyle/>
                    <a:p>
                      <a:pPr>
                        <a:defRPr sz="1200">
                          <a:solidFill>
                            <a:srgbClr val="20261F"/>
                          </a:solidFill>
                          <a:latin typeface="Yu Gothic"/>
                        </a:defRPr>
                      </a:pPr>
                      <a:r>
                        <a:t>参加investor</a:t>
                      </a:r>
                    </a:p>
                  </a:txBody>
                  <a:tcPr>
                    <a:solidFill>
                      <a:srgbClr val="FFFFFF"/>
                    </a:solidFill>
                  </a:tcPr>
                </a:tc>
              </a:tr>
              <a:tr h="502920">
                <a:tc>
                  <a:txBody>
                    <a:bodyPr/>
                    <a:lstStyle/>
                    <a:p>
                      <a:pPr>
                        <a:defRPr sz="1200">
                          <a:solidFill>
                            <a:srgbClr val="20261F"/>
                          </a:solidFill>
                          <a:latin typeface="Yu Gothic"/>
                        </a:defRPr>
                      </a:pPr>
                      <a:r>
                        <a:t>Burst Capital / IrregEx / Agent Fund</a:t>
                      </a:r>
                    </a:p>
                  </a:txBody>
                  <a:tcPr>
                    <a:solidFill>
                      <a:srgbClr val="F4F1E6"/>
                    </a:solidFill>
                  </a:tcPr>
                </a:tc>
                <a:tc>
                  <a:txBody>
                    <a:bodyPr/>
                    <a:lstStyle/>
                    <a:p>
                      <a:pPr>
                        <a:defRPr sz="1200">
                          <a:solidFill>
                            <a:srgbClr val="20261F"/>
                          </a:solidFill>
                          <a:latin typeface="Yu Gothic"/>
                        </a:defRPr>
                      </a:pPr>
                      <a:r>
                        <a:t>参加investor</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WebWire(検索結果の要約経由)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「使用量で測る」か「成果で測る」か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使用量で測る場合</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トークン消費量・呼び出し回数を指標にする</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「たくさん使った人」が評価されやすい</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計測は簡単だが、成果とは限らない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成果で測ろうとする場合</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コーディング活動とビジネス上の進捗を結びつける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バグの減少・価値提供の増加を見ようとする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計測は難しいが、本来問いたいことに近い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「tokenmaxxing」とは何か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AIコーディングツールの利用量を最大化すること自体が目的化する現象を指す</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長いプロンプト・多くのエージェント実行・重いやり取りなどが「使っている証拠」として競われる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IBM・Built In等、Weave社以前から複数の独立したメディアがこの言葉を取り上げている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IBM / Built In / Inc.com / The Pragmatic Engineer(検索結果経由)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tokenmaxxingが起きる仕組み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ツールの普及</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AIが自律的にコードを書き続けられるようになる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利用量の可視化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誰がどれだけ使ったかが数字で見える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競争的な指標化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「AIを使いこなしている」証明として量が競われる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似た数字への向き合い方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今回使った数字</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200万件・20,000人・500社というWeave社自身の発表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使わなかった情報</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企業評価額は確認できず、成果物では扱っていない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この動画での扱い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自社発表として明示し、第三者検証の有無が不明であることも併記する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資金調達のニュースと、現場での実感は別の話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資金調達のニュースで見えること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投資家がこの問題領域に価値があると判断したこと</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会社が主張する規模の数字</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現場で問われること</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自社のAI活用が実際に成果につながっているか</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計測の仕組みを入れる価値が自社にあるか</a:t>
            </a:r>
          </a:p>
        </p:txBody>
      </p:sp>
      <p:sp>
        <p:nvSpPr>
          <p:cNvPr id="20" name="Oval 19"/>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特定の1社を導入することの是非</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この数字をどう読むか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強い点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プレスリリースだけでなく独立したメディアが同じ発表を報じている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弱い点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分析規模の数字はWeave社自身の発表であり、独立した第三者による検証結果ではない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結論</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問題提起としては参考になるが、Weave社固有の数字を自社の判断材料にそのまま使うべきではない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つまり、何が起きているのか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関心の移動</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「AIをどれだけ使ったか」から「AIの活用が何を生んだか」へ、問いの立て方が変わりつつある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お金の向き先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AIコーディングツールそのものだけでなく、その効果を計測する仕組みにも投資が向き始めている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ただし</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計測サービスが登場したことと、計測が簡単になったことは別である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この話をどう受け取るか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確かだと言えること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プレスリリースがあり、複数メディアが報じている</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「tokenmaxxing」はWeave社以前から複数メディアが取り上げている概念</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「使用量と成果は別」という論点自体は妥当性が高い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慎重に見るべきこと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分析規模の数字はWeave社自身の発表であり第三者検証は未確認</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企業評価額は不明</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顧客事例の詳細(契約規模・導入時期)は不明</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自社のAI活用で確認したいこと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①指標を疑う</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「AIをどれだけ使ったか」を評価指標にしていないか確認する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②成果を先に定義する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バグの減少・顧客への価値提供など、見たい成果を先に言葉にする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③計測の必要性を検討する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自社の規模で、専用の計測の仕組みを入れる価値があるかを考える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これで何が変わるか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個人にとって</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AIツールを使う際、「使った量」ではなく「何が生まれたか」を自分に問うようになる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企業にとって</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AI活用の評価基準に、利用量だけでなく成果への接続という視点が加わる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仕事への影響(ここからは推測)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AI活用の「量」を管理する仕事より、「質」を計測する仕事の重要度が上がるかもしれない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計測の仕組みそのものが、他分野のAI活用評価にも広がる可能性がある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ただしこれは推測であり、実際にどうなるかはまだ分からない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エンジニアに問われることの変化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量をこなす</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AIをどれだけ使ったかを示す</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質を説明する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何が改善したかを言葉にする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計測を疑う</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その計測方法自体が正しいかを考える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冷静に見る点、3つ</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1,350万ドルという調達額自体は、業界的に突出して大きな規模ではない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分析規模の数字(200万件・20,000人・500社)はWeave社自身の発表である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「tokenmaxxingが解消される」ことを裏付ける独立した効果検証はまだない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企業評価額</a:t>
                      </a:r>
                    </a:p>
                  </a:txBody>
                  <a:tcPr>
                    <a:solidFill>
                      <a:srgbClr val="FFFFFF"/>
                    </a:solidFill>
                  </a:tcPr>
                </a:tc>
                <a:tc>
                  <a:txBody>
                    <a:bodyPr/>
                    <a:lstStyle/>
                    <a:p>
                      <a:pPr>
                        <a:defRPr sz="1200">
                          <a:solidFill>
                            <a:srgbClr val="20261F"/>
                          </a:solidFill>
                          <a:latin typeface="Yu Gothic"/>
                        </a:defRPr>
                      </a:pPr>
                      <a:r>
                        <a:t>確認できなかった</a:t>
                      </a:r>
                    </a:p>
                  </a:txBody>
                  <a:tcPr>
                    <a:solidFill>
                      <a:srgbClr val="FFFFFF"/>
                    </a:solidFill>
                  </a:tcPr>
                </a:tc>
              </a:tr>
              <a:tr h="502920">
                <a:tc>
                  <a:txBody>
                    <a:bodyPr/>
                    <a:lstStyle/>
                    <a:p>
                      <a:pPr>
                        <a:defRPr sz="1200">
                          <a:solidFill>
                            <a:srgbClr val="20261F"/>
                          </a:solidFill>
                          <a:latin typeface="Yu Gothic"/>
                        </a:defRPr>
                      </a:pPr>
                      <a:r>
                        <a:t>記事本文</a:t>
                      </a:r>
                    </a:p>
                  </a:txBody>
                  <a:tcPr>
                    <a:solidFill>
                      <a:srgbClr val="F4F1E6"/>
                    </a:solidFill>
                  </a:tcPr>
                </a:tc>
                <a:tc>
                  <a:txBody>
                    <a:bodyPr/>
                    <a:lstStyle/>
                    <a:p>
                      <a:pPr>
                        <a:defRPr sz="1200">
                          <a:solidFill>
                            <a:srgbClr val="20261F"/>
                          </a:solidFill>
                          <a:latin typeface="Yu Gothic"/>
                        </a:defRPr>
                      </a:pPr>
                      <a:r>
                        <a:t>7つの情報源すべてがHTTP 403で、本調査環境から本文を取得できなかった</a:t>
                      </a:r>
                    </a:p>
                  </a:txBody>
                  <a:tcPr>
                    <a:solidFill>
                      <a:srgbClr val="F4F1E6"/>
                    </a:solidFill>
                  </a:tcPr>
                </a:tc>
              </a:tr>
              <a:tr h="502920">
                <a:tc>
                  <a:txBody>
                    <a:bodyPr/>
                    <a:lstStyle/>
                    <a:p>
                      <a:pPr>
                        <a:defRPr sz="1200">
                          <a:solidFill>
                            <a:srgbClr val="20261F"/>
                          </a:solidFill>
                          <a:latin typeface="Yu Gothic"/>
                        </a:defRPr>
                      </a:pPr>
                      <a:r>
                        <a:t>分析規模の第三者検証</a:t>
                      </a:r>
                    </a:p>
                  </a:txBody>
                  <a:tcPr>
                    <a:solidFill>
                      <a:srgbClr val="FFFFFF"/>
                    </a:solidFill>
                  </a:tcPr>
                </a:tc>
                <a:tc>
                  <a:txBody>
                    <a:bodyPr/>
                    <a:lstStyle/>
                    <a:p>
                      <a:pPr>
                        <a:defRPr sz="1200">
                          <a:solidFill>
                            <a:srgbClr val="20261F"/>
                          </a:solidFill>
                          <a:latin typeface="Yu Gothic"/>
                        </a:defRPr>
                      </a:pPr>
                      <a:r>
                        <a:t>200万件・20,000人・500社はWeave社自身の発表であり、独立した検証は確認できていない</a:t>
                      </a:r>
                    </a:p>
                  </a:txBody>
                  <a:tcPr>
                    <a:solidFill>
                      <a:srgbClr val="FFFFFF"/>
                    </a:solidFill>
                  </a:tcPr>
                </a:tc>
              </a:tr>
              <a:tr h="502920">
                <a:tc>
                  <a:txBody>
                    <a:bodyPr/>
                    <a:lstStyle/>
                    <a:p>
                      <a:pPr>
                        <a:defRPr sz="1200">
                          <a:solidFill>
                            <a:srgbClr val="20261F"/>
                          </a:solidFill>
                          <a:latin typeface="Yu Gothic"/>
                        </a:defRPr>
                      </a:pPr>
                      <a:r>
                        <a:t>顧客事例の詳細</a:t>
                      </a:r>
                    </a:p>
                  </a:txBody>
                  <a:tcPr>
                    <a:solidFill>
                      <a:srgbClr val="F4F1E6"/>
                    </a:solidFill>
                  </a:tcPr>
                </a:tc>
                <a:tc>
                  <a:txBody>
                    <a:bodyPr/>
                    <a:lstStyle/>
                    <a:p>
                      <a:pPr>
                        <a:defRPr sz="1200">
                          <a:solidFill>
                            <a:srgbClr val="20261F"/>
                          </a:solidFill>
                          <a:latin typeface="Yu Gothic"/>
                        </a:defRPr>
                      </a:pPr>
                      <a:r>
                        <a:t>Robinhood・Reducto・PostHogとの契約規模・導入時期は公表されていない</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この動画の作り方について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鮮度</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発表は着手日当日の2026年7月29日</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使わなかった情報</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企業評価額は確認できず、成果物では使っていない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混ぜなかった数字</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Weave社の自社発表の規模数字と、第三者による検証結果を区別し、後者が存在しないことを明示している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今日の要点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起きたこと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AIコーディングの「使用量」ではなく「成果」を計測しようとする企業が資金調達した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見どころ</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「tokenmaxxing」という、使用量が目的化してしまう現象への問題提起</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持ち帰ること</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自社のAI活用を「どれだけ使ったか」ではなく「何が生まれたか」で振り返ってみる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「使った量」ではなく「生まれた成果」を先に言葉にする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計測の仕組みより先に、何を見たいかを決めておく</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自分やチームのAI活用について、成果をどう定義しているか1枚に書き出してみる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