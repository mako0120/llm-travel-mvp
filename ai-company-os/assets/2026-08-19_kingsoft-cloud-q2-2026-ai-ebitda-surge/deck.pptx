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中国のクラウドインフラ企業Kingsoft Cloudが2026年8月19日、2026年第2四半期決算を発表しました。AI需要の拡大により、非GAAP調整後EBITDAマージンが前年同期から大幅に改善しています。今日はこの決算の中身を出典付きで整理してお届けします。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結論から確認します。総売上高は前年比30.8%増、非GAAP調整後EBITDAマージンは35.8%です。1株あたり純損失も大幅に縮小しました。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今日は6つの流れでお伝えします。決算の主要指標から、AI関連事業の成長、収益性改善の状況まで、正確に数字を引用しながら整理します。誇張せず、確認できなかったことは正直にお伝えします。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このテーマを扱う理由です。着手日当日という高い鮮度に加え、EBITDAマージンの大幅改善という具体的な数字、AI需要拡大という関心の高さに注目しました。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Kingsoft CloudはNASDAQと香港証取に上場する中国のクラウドインフラ企業です。近年はAIクラウド事業を拡大しています。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2026年Q2の主要指標です。総売上高は前年比30.8%増、EBITDAマージンは35.8%と大幅に改善しています。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1株あたり純損失はRMB0.11からRMB0.02へ大幅に縮小しました。依然として赤字ですが、黒字化に向けて着実に前進しています。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1株あたり純損失は前年同期のRMB0.11から0.02へ、大幅に縮小しました。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AI事業収入はQ1時点で前年比91%増、トークンサービス収入は1月から4月で53倍に達したと報じられています。ただしこれらはQ1時点の情報であり、Q2の更新値は確認できていません。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Q1時点の情報とQ2の確定数値を区別しました。AI事業の急成長という文脈は継続しているとみられますが、Q2固有の内訳数値は確認できていません。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EBITDAの四半期推移です。前年同期・前四半期のいずれと比較しても大幅に拡大しており、着実な改善トレンドがうかがえます。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AI関連需要の急拡大が業績改善の主因とされていますが、Q1時点の粗利益率低下との関係は確認できていません。断定的な説明は避けます。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EBITDAマージンは35.8%まで改善しました。AI関連需要の拡大が主因として報じられています。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Q2の設備投資はRMB33億元で、通期ではRMB150億〜200億元が計画されているとされます。AI関連インフラへの投資が続いているとみられます。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Q2の設備投資はRMB33億元でした。通期ではRMB150億〜200億元が計画されているとされています。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今回の決算の要点をまとめました。売上高の伸び、EBITDAマージンの改善、純損失の縮小、そして設備投資という4点です。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中国のAIクラウドインフラ企業として、AI需要拡大の恩恵を受けている構図がうかがえます。ただし同業他社との比較は行っていません。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収益性改善の流れを図にしました。AI需要の拡大、積極的な設備投資、そしてEBITDAマージンの改善という流れです。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今回の決算を3ステップで総括しました。売上高の伸び、EBITDAマージンの大幅改善、そして純損失の縮小という流れです。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純損失は縮小していますが依然として赤字です。黒字化の具体的な時期については経営陣の言及を確認できていません。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総売上高は前四半期比でも13.6%増と、成長が加速していることを示しています。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決算発表は8月19日で、同日に他の中国関連企業も決算を発表しており、決算発表が集中する日程でした。本テーマではKingsoft Cloud固有の数字を扱っています。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改善している点と、依然として残る課題を対比しました。着実な改善は見られますが、黒字化にはまだ至っていません。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1株あたり純損失の比較です。前年同期から大幅に縮小しています。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確認できなかったことを正直にお伝えします。AI事業収入のQ2内訳、粗利益率の具体的数値、黒字化の見通しは確認できていません。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2026年通期の設備投資計画はRMB150億〜200億元とQ1時点で報じられています。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売上高の伸びと収益性の改善を対比しました。EBITDAマージンの改善幅は売上高の伸び率を上回っており、収益構造自体の改善もうかがえます。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まとめです。売上高・EBITDAマージンともに大幅改善しましたが、依然として赤字である点、Q2固有のAI事業内訳が未確認である点を正直にお伝えしました。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このニュースが読者にとって意味することをまとめました。AI・クラウドインフラ業界の動向を追う立場、中国テック企業の動向を追う立場、投資を検討する立場、それぞれで意識したい視点です。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本編は以上です。今回はKingsoft Cloudの2026年Q2決算について、AI需要拡大による収益性改善と、依然として残る赤字まで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赤字は縮小、</a:t>
            </a:r>
          </a:p>
          <a:p>
            <a:pPr algn="l">
              <a:lnSpc>
                <a:spcPct val="115000"/>
              </a:lnSpc>
            </a:pPr>
            <a:r>
              <a:rPr sz="4200" b="1">
                <a:solidFill>
                  <a:srgbClr val="FFFFFF"/>
                </a:solidFill>
                <a:latin typeface="Yu Gothic"/>
              </a:rPr>
              <a:t>EBITDAマージンは</a:t>
            </a:r>
          </a:p>
          <a:p>
            <a:pPr algn="l">
              <a:lnSpc>
                <a:spcPct val="115000"/>
              </a:lnSpc>
            </a:pPr>
            <a:r>
              <a:rPr sz="4200" b="1">
                <a:solidFill>
                  <a:srgbClr val="FFFFFF"/>
                </a:solidFill>
                <a:latin typeface="Yu Gothic"/>
              </a:rPr>
              <a:t>前年の3倍近くに急拡大</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2026年8月19日発表——Kingsoft Cloud、AI需要が収益性改善を牽引</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PR Newswire・TipRanks・Investing.com(2026年8月19日)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総売上高+30.8%、EBITDAマージン35.8%</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1株あたり純損失はRMB0.11→0.02へ大幅縮小</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PR Newswire(2026-08-19)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Kingsoft Cloudとは・基礎知識</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決算の主要指標を確認する</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AI関連事業の成長を確認する</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収益性改善・設備投資の状況を確認する</a:t>
            </a:r>
          </a:p>
        </p:txBody>
      </p:sp>
      <p:sp>
        <p:nvSpPr>
          <p:cNvPr id="15" name="Oval 14"/>
          <p:cNvSpPr/>
          <p:nvPr/>
        </p:nvSpPr>
        <p:spPr>
          <a:xfrm>
            <a:off x="548640" y="58064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E7DCC2"/>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着手日当日(2026年8月19日)発表という最も高い鮮度の話題である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EBITDAマージンが前年同期から2.7倍以上に拡大するという、収益性改善の具体的な数字である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AI関連需要の急拡大というAI業界の関心が高いテーマである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複数の独立した情報源(PR Newswire・TipRanks・Investing.com等)で確認できる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PR Newswire・TipRanks(2026-08-19)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Newswire・TipRanks・Investing.com(2026-08-19)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Kingsoft Cloudとは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基礎知識を簡単に整理します。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中国のクラウドインフラ企業(NASDAQ: KC、香港証取: 3896)</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パブリッククラウド・エンタープライズクラウドサービスを展開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近年はAIクラウド(AI関連の計算資源提供)事業を拡大</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Kingsoft(金山軟件)グループの一員</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PR Newswire・複数報道(2026-08-19)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Newswire・TipRanks・Investing.com(2026-08-19)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2026年Q2 主要指標</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指標</a:t>
                      </a:r>
                    </a:p>
                  </a:txBody>
                  <a:tcPr>
                    <a:solidFill>
                      <a:srgbClr val="24523F"/>
                    </a:solidFill>
                  </a:tcPr>
                </a:tc>
                <a:tc>
                  <a:txBody>
                    <a:bodyPr/>
                    <a:lstStyle/>
                    <a:p>
                      <a:pPr>
                        <a:defRPr sz="1300" b="1">
                          <a:solidFill>
                            <a:srgbClr val="FFFFFF"/>
                          </a:solidFill>
                          <a:latin typeface="Yu Gothic"/>
                        </a:defRPr>
                      </a:pPr>
                      <a:r>
                        <a:t>2026年Q2(前年同期比・前四半期比)</a:t>
                      </a:r>
                    </a:p>
                  </a:txBody>
                  <a:tcPr>
                    <a:solidFill>
                      <a:srgbClr val="24523F"/>
                    </a:solidFill>
                  </a:tcPr>
                </a:tc>
              </a:tr>
              <a:tr h="502920">
                <a:tc>
                  <a:txBody>
                    <a:bodyPr/>
                    <a:lstStyle/>
                    <a:p>
                      <a:pPr>
                        <a:defRPr sz="1200">
                          <a:solidFill>
                            <a:srgbClr val="20261F"/>
                          </a:solidFill>
                          <a:latin typeface="Yu Gothic"/>
                        </a:defRPr>
                      </a:pPr>
                      <a:r>
                        <a:t>総売上高</a:t>
                      </a:r>
                    </a:p>
                  </a:txBody>
                  <a:tcPr>
                    <a:solidFill>
                      <a:srgbClr val="FFFFFF"/>
                    </a:solidFill>
                  </a:tcPr>
                </a:tc>
                <a:tc>
                  <a:txBody>
                    <a:bodyPr/>
                    <a:lstStyle/>
                    <a:p>
                      <a:pPr>
                        <a:defRPr sz="1200">
                          <a:solidFill>
                            <a:srgbClr val="20261F"/>
                          </a:solidFill>
                          <a:latin typeface="Yu Gothic"/>
                        </a:defRPr>
                      </a:pPr>
                      <a:r>
                        <a:t>RMB30億7,200万元、前年比+30.8%、前四半期比+13.6%</a:t>
                      </a:r>
                    </a:p>
                  </a:txBody>
                  <a:tcPr>
                    <a:solidFill>
                      <a:srgbClr val="FFFFFF"/>
                    </a:solidFill>
                  </a:tcPr>
                </a:tc>
              </a:tr>
              <a:tr h="502920">
                <a:tc>
                  <a:txBody>
                    <a:bodyPr/>
                    <a:lstStyle/>
                    <a:p>
                      <a:pPr>
                        <a:defRPr sz="1200">
                          <a:solidFill>
                            <a:srgbClr val="20261F"/>
                          </a:solidFill>
                          <a:latin typeface="Yu Gothic"/>
                        </a:defRPr>
                      </a:pPr>
                      <a:r>
                        <a:t>1株あたり純損失</a:t>
                      </a:r>
                    </a:p>
                  </a:txBody>
                  <a:tcPr>
                    <a:solidFill>
                      <a:srgbClr val="F4F1E6"/>
                    </a:solidFill>
                  </a:tcPr>
                </a:tc>
                <a:tc>
                  <a:txBody>
                    <a:bodyPr/>
                    <a:lstStyle/>
                    <a:p>
                      <a:pPr>
                        <a:defRPr sz="1200">
                          <a:solidFill>
                            <a:srgbClr val="20261F"/>
                          </a:solidFill>
                          <a:latin typeface="Yu Gothic"/>
                        </a:defRPr>
                      </a:pPr>
                      <a:r>
                        <a:t>RMB0.02(前年同期RMB0.11から大幅縮小)</a:t>
                      </a:r>
                    </a:p>
                  </a:txBody>
                  <a:tcPr>
                    <a:solidFill>
                      <a:srgbClr val="F4F1E6"/>
                    </a:solidFill>
                  </a:tcPr>
                </a:tc>
              </a:tr>
              <a:tr h="502920">
                <a:tc>
                  <a:txBody>
                    <a:bodyPr/>
                    <a:lstStyle/>
                    <a:p>
                      <a:pPr>
                        <a:defRPr sz="1200">
                          <a:solidFill>
                            <a:srgbClr val="20261F"/>
                          </a:solidFill>
                          <a:latin typeface="Yu Gothic"/>
                        </a:defRPr>
                      </a:pPr>
                      <a:r>
                        <a:t>非GAAP調整後EBITDA</a:t>
                      </a:r>
                    </a:p>
                  </a:txBody>
                  <a:tcPr>
                    <a:solidFill>
                      <a:srgbClr val="FFFFFF"/>
                    </a:solidFill>
                  </a:tcPr>
                </a:tc>
                <a:tc>
                  <a:txBody>
                    <a:bodyPr/>
                    <a:lstStyle/>
                    <a:p>
                      <a:pPr>
                        <a:defRPr sz="1200">
                          <a:solidFill>
                            <a:srgbClr val="20261F"/>
                          </a:solidFill>
                          <a:latin typeface="Yu Gothic"/>
                        </a:defRPr>
                      </a:pPr>
                      <a:r>
                        <a:t>RMB11億500万元</a:t>
                      </a:r>
                    </a:p>
                  </a:txBody>
                  <a:tcPr>
                    <a:solidFill>
                      <a:srgbClr val="FFFFFF"/>
                    </a:solidFill>
                  </a:tcPr>
                </a:tc>
              </a:tr>
              <a:tr h="502920">
                <a:tc>
                  <a:txBody>
                    <a:bodyPr/>
                    <a:lstStyle/>
                    <a:p>
                      <a:pPr>
                        <a:defRPr sz="1200">
                          <a:solidFill>
                            <a:srgbClr val="20261F"/>
                          </a:solidFill>
                          <a:latin typeface="Yu Gothic"/>
                        </a:defRPr>
                      </a:pPr>
                      <a:r>
                        <a:t>非GAAP調整後EBITDAマージン</a:t>
                      </a:r>
                    </a:p>
                  </a:txBody>
                  <a:tcPr>
                    <a:solidFill>
                      <a:srgbClr val="F4F1E6"/>
                    </a:solidFill>
                  </a:tcPr>
                </a:tc>
                <a:tc>
                  <a:txBody>
                    <a:bodyPr/>
                    <a:lstStyle/>
                    <a:p>
                      <a:pPr>
                        <a:defRPr sz="1200">
                          <a:solidFill>
                            <a:srgbClr val="20261F"/>
                          </a:solidFill>
                          <a:latin typeface="Yu Gothic"/>
                        </a:defRPr>
                      </a:pPr>
                      <a:r>
                        <a:t>35.8%</a:t>
                      </a:r>
                    </a:p>
                  </a:txBody>
                  <a:tcPr>
                    <a:solidFill>
                      <a:srgbClr val="F4F1E6"/>
                    </a:solidFill>
                  </a:tcPr>
                </a:tc>
              </a:tr>
              <a:tr h="502920">
                <a:tc>
                  <a:txBody>
                    <a:bodyPr/>
                    <a:lstStyle/>
                    <a:p>
                      <a:pPr>
                        <a:defRPr sz="1200">
                          <a:solidFill>
                            <a:srgbClr val="20261F"/>
                          </a:solidFill>
                          <a:latin typeface="Yu Gothic"/>
                        </a:defRPr>
                      </a:pPr>
                      <a:r>
                        <a:t>設備投資(CapEx)</a:t>
                      </a:r>
                    </a:p>
                  </a:txBody>
                  <a:tcPr>
                    <a:solidFill>
                      <a:srgbClr val="FFFFFF"/>
                    </a:solidFill>
                  </a:tcPr>
                </a:tc>
                <a:tc>
                  <a:txBody>
                    <a:bodyPr/>
                    <a:lstStyle/>
                    <a:p>
                      <a:pPr>
                        <a:defRPr sz="1200">
                          <a:solidFill>
                            <a:srgbClr val="20261F"/>
                          </a:solidFill>
                          <a:latin typeface="Yu Gothic"/>
                        </a:defRPr>
                      </a:pPr>
                      <a:r>
                        <a:t>RMB33億元</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PR Newswire(2026-08-19)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Newswire・TipRanks・Investing.com(2026-08-19)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純損失の縮小</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赤字幅の変化です。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1株あたり純損失はRMB0.02で、前年同期のRMB0.11から大幅に縮小</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依然として赤字である点は正直に開示する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黒字化に向けて着実に前進している状況がうかがえる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黒字化の具体的な見通し・時期は本調査の範囲では確認できていない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PR Newswire(2026-08-19)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Newswire・TipRanks・Investing.com(2026-08-19)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純損失の縮小幅</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RMB0.11→0.02(1株あたり)</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前年同期比で大幅に赤字幅が縮小</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PR Newswire(2026-08-19)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AI関連事業の成長(Q1時点の文脈)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直近四半期のAI事業に関する情報です。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2026年Q1時点の情報として、AI事業収入は前年比91%増のRMB9億9,800万元に達したと報じられている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Q1時点でAI事業収入がパブリッククラウド収入の過半を占めるまでに成長したとされる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CEOのZou Tao氏はQ1決算コールで『2026年4月のトークンサービス収入は1月の53倍』とAIエージェント需要の急増に言及したとされる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Q2時点でのAI事業収入の具体的な内訳・伸び率は本調査の範囲では確認できておらず、Q1時点の情報として区別して扱う</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Yahoo Finance・Investing.com(2026年Q1決算関連報道)</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Newswire・TipRanks・Investing.com(2026-08-19)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Q1時点の情報 vs Q2の確定数値</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Q1時点の情報(参考)</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AI事業収入+91%(前年比)</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トークンサービス収入が1月比53倍(4月時点)</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AI事業がパブリッククラウド収入の過半を占める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Q2の確定数値</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総売上高+30.8%(前年比)</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EBITDAマージン35.8%</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AI事業単体の内訳は非開示</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Newswire・TipRanks・Investing.com(2026-08-19)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EBITDAの四半期推移</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時点</a:t>
                      </a:r>
                    </a:p>
                  </a:txBody>
                  <a:tcPr>
                    <a:solidFill>
                      <a:srgbClr val="24523F"/>
                    </a:solidFill>
                  </a:tcPr>
                </a:tc>
                <a:tc>
                  <a:txBody>
                    <a:bodyPr/>
                    <a:lstStyle/>
                    <a:p>
                      <a:pPr>
                        <a:defRPr sz="1300" b="1">
                          <a:solidFill>
                            <a:srgbClr val="FFFFFF"/>
                          </a:solidFill>
                          <a:latin typeface="Yu Gothic"/>
                        </a:defRPr>
                      </a:pPr>
                      <a:r>
                        <a:t>非GAAP調整後EBITDA</a:t>
                      </a:r>
                    </a:p>
                  </a:txBody>
                  <a:tcPr>
                    <a:solidFill>
                      <a:srgbClr val="24523F"/>
                    </a:solidFill>
                  </a:tcPr>
                </a:tc>
              </a:tr>
              <a:tr h="502920">
                <a:tc>
                  <a:txBody>
                    <a:bodyPr/>
                    <a:lstStyle/>
                    <a:p>
                      <a:pPr>
                        <a:defRPr sz="1200">
                          <a:solidFill>
                            <a:srgbClr val="20261F"/>
                          </a:solidFill>
                          <a:latin typeface="Yu Gothic"/>
                        </a:defRPr>
                      </a:pPr>
                      <a:r>
                        <a:t>2025年Q2(前年同期)</a:t>
                      </a:r>
                    </a:p>
                  </a:txBody>
                  <a:tcPr>
                    <a:solidFill>
                      <a:srgbClr val="FFFFFF"/>
                    </a:solidFill>
                  </a:tcPr>
                </a:tc>
                <a:tc>
                  <a:txBody>
                    <a:bodyPr/>
                    <a:lstStyle/>
                    <a:p>
                      <a:pPr>
                        <a:defRPr sz="1200">
                          <a:solidFill>
                            <a:srgbClr val="20261F"/>
                          </a:solidFill>
                          <a:latin typeface="Yu Gothic"/>
                        </a:defRPr>
                      </a:pPr>
                      <a:r>
                        <a:t>RMB4億600万元</a:t>
                      </a:r>
                    </a:p>
                  </a:txBody>
                  <a:tcPr>
                    <a:solidFill>
                      <a:srgbClr val="FFFFFF"/>
                    </a:solidFill>
                  </a:tcPr>
                </a:tc>
              </a:tr>
              <a:tr h="502920">
                <a:tc>
                  <a:txBody>
                    <a:bodyPr/>
                    <a:lstStyle/>
                    <a:p>
                      <a:pPr>
                        <a:defRPr sz="1200">
                          <a:solidFill>
                            <a:srgbClr val="20261F"/>
                          </a:solidFill>
                          <a:latin typeface="Yu Gothic"/>
                        </a:defRPr>
                      </a:pPr>
                      <a:r>
                        <a:t>2026年Q1(前四半期)</a:t>
                      </a:r>
                    </a:p>
                  </a:txBody>
                  <a:tcPr>
                    <a:solidFill>
                      <a:srgbClr val="F4F1E6"/>
                    </a:solidFill>
                  </a:tcPr>
                </a:tc>
                <a:tc>
                  <a:txBody>
                    <a:bodyPr/>
                    <a:lstStyle/>
                    <a:p>
                      <a:pPr>
                        <a:defRPr sz="1200">
                          <a:solidFill>
                            <a:srgbClr val="20261F"/>
                          </a:solidFill>
                          <a:latin typeface="Yu Gothic"/>
                        </a:defRPr>
                      </a:pPr>
                      <a:r>
                        <a:t>RMB7億4,750万元</a:t>
                      </a:r>
                    </a:p>
                  </a:txBody>
                  <a:tcPr>
                    <a:solidFill>
                      <a:srgbClr val="F4F1E6"/>
                    </a:solidFill>
                  </a:tcPr>
                </a:tc>
              </a:tr>
              <a:tr h="502920">
                <a:tc>
                  <a:txBody>
                    <a:bodyPr/>
                    <a:lstStyle/>
                    <a:p>
                      <a:pPr>
                        <a:defRPr sz="1200">
                          <a:solidFill>
                            <a:srgbClr val="20261F"/>
                          </a:solidFill>
                          <a:latin typeface="Yu Gothic"/>
                        </a:defRPr>
                      </a:pPr>
                      <a:r>
                        <a:t>2026年Q2(今回)</a:t>
                      </a:r>
                    </a:p>
                  </a:txBody>
                  <a:tcPr>
                    <a:solidFill>
                      <a:srgbClr val="FFFFFF"/>
                    </a:solidFill>
                  </a:tcPr>
                </a:tc>
                <a:tc>
                  <a:txBody>
                    <a:bodyPr/>
                    <a:lstStyle/>
                    <a:p>
                      <a:pPr>
                        <a:defRPr sz="1200">
                          <a:solidFill>
                            <a:srgbClr val="20261F"/>
                          </a:solidFill>
                          <a:latin typeface="Yu Gothic"/>
                        </a:defRPr>
                      </a:pPr>
                      <a:r>
                        <a:t>RMB11億500万元</a:t>
                      </a:r>
                    </a:p>
                  </a:txBody>
                  <a:tcPr>
                    <a:solidFill>
                      <a:srgbClr val="FFFFFF"/>
                    </a:solidFill>
                  </a:tcPr>
                </a:tc>
              </a:tr>
              <a:tr h="502920">
                <a:tc>
                  <a:txBody>
                    <a:bodyPr/>
                    <a:lstStyle/>
                    <a:p>
                      <a:pPr>
                        <a:defRPr sz="1200">
                          <a:solidFill>
                            <a:srgbClr val="20261F"/>
                          </a:solidFill>
                          <a:latin typeface="Yu Gothic"/>
                        </a:defRPr>
                      </a:pPr>
                      <a:r>
                        <a:t>伸び率(前年同期比)</a:t>
                      </a:r>
                    </a:p>
                  </a:txBody>
                  <a:tcPr>
                    <a:solidFill>
                      <a:srgbClr val="F4F1E6"/>
                    </a:solidFill>
                  </a:tcPr>
                </a:tc>
                <a:tc>
                  <a:txBody>
                    <a:bodyPr/>
                    <a:lstStyle/>
                    <a:p>
                      <a:pPr>
                        <a:defRPr sz="1200">
                          <a:solidFill>
                            <a:srgbClr val="20261F"/>
                          </a:solidFill>
                          <a:latin typeface="Yu Gothic"/>
                        </a:defRPr>
                      </a:pPr>
                      <a:r>
                        <a:t>約2.7倍</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PR Newswire(2026-08-19)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Newswire・TipRanks・Investing.com(2026-08-19)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収益性改善の背景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EBITDAマージン改善の背景です。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AI関連需要の急拡大が業績改善の主因として報じられている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Q1時点では調整後粗利益率がサーバーコスト増加等により17%から13%へ低下したと報じられていた</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Q2でのEBITDAベースでの収益性改善が、Q1の粗利益率低下とどう関係するかは本調査の範囲では確認できていない</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断定的な因果関係の説明は避け、確認できる範囲の事実のみを紹介する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Investing.com・Yahoo Finance(2026年)</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Newswire・TipRanks・Investing.com(2026-08-19)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EBITDAマージンの改善幅</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35.8%(前年同期は推定17%台)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AI関連需要の拡大が主因として報じられている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Investing.com・PR Newswire(2026-08-19)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設備投資の状況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AIインフラへの投資状況です。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Q2の設備投資(リース資産計上分含む)はRMB33億元</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2026年通期の設備投資計画はRMB150億〜200億元と、Q1時点の報道で言及されている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AI関連インフラ(GPUサーバー等)への積極投資が続いているとみられる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具体的な投資対象の内訳は本調査の範囲では確認できていない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PR Newswire・Investing.com(2026年)</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Newswire・TipRanks・Investing.com(2026-08-19)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Q2の設備投資額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RMB33億元</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通期計画はRMB150億〜200億元(Q1時点の報道)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PR Newswire(2026-08-19)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今回の決算の要点まとめ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総売上高</a:t>
                      </a:r>
                    </a:p>
                  </a:txBody>
                  <a:tcPr>
                    <a:solidFill>
                      <a:srgbClr val="FFFFFF"/>
                    </a:solidFill>
                  </a:tcPr>
                </a:tc>
                <a:tc>
                  <a:txBody>
                    <a:bodyPr/>
                    <a:lstStyle/>
                    <a:p>
                      <a:pPr>
                        <a:defRPr sz="1200">
                          <a:solidFill>
                            <a:srgbClr val="20261F"/>
                          </a:solidFill>
                          <a:latin typeface="Yu Gothic"/>
                        </a:defRPr>
                      </a:pPr>
                      <a:r>
                        <a:t>RMB30億7,200万元(+30.8%)</a:t>
                      </a:r>
                    </a:p>
                  </a:txBody>
                  <a:tcPr>
                    <a:solidFill>
                      <a:srgbClr val="FFFFFF"/>
                    </a:solidFill>
                  </a:tcPr>
                </a:tc>
              </a:tr>
              <a:tr h="502920">
                <a:tc>
                  <a:txBody>
                    <a:bodyPr/>
                    <a:lstStyle/>
                    <a:p>
                      <a:pPr>
                        <a:defRPr sz="1200">
                          <a:solidFill>
                            <a:srgbClr val="20261F"/>
                          </a:solidFill>
                          <a:latin typeface="Yu Gothic"/>
                        </a:defRPr>
                      </a:pPr>
                      <a:r>
                        <a:t>EBITDAマージン</a:t>
                      </a:r>
                    </a:p>
                  </a:txBody>
                  <a:tcPr>
                    <a:solidFill>
                      <a:srgbClr val="F4F1E6"/>
                    </a:solidFill>
                  </a:tcPr>
                </a:tc>
                <a:tc>
                  <a:txBody>
                    <a:bodyPr/>
                    <a:lstStyle/>
                    <a:p>
                      <a:pPr>
                        <a:defRPr sz="1200">
                          <a:solidFill>
                            <a:srgbClr val="20261F"/>
                          </a:solidFill>
                          <a:latin typeface="Yu Gothic"/>
                        </a:defRPr>
                      </a:pPr>
                      <a:r>
                        <a:t>35.8%(前年から大幅改善)</a:t>
                      </a:r>
                    </a:p>
                  </a:txBody>
                  <a:tcPr>
                    <a:solidFill>
                      <a:srgbClr val="F4F1E6"/>
                    </a:solidFill>
                  </a:tcPr>
                </a:tc>
              </a:tr>
              <a:tr h="502920">
                <a:tc>
                  <a:txBody>
                    <a:bodyPr/>
                    <a:lstStyle/>
                    <a:p>
                      <a:pPr>
                        <a:defRPr sz="1200">
                          <a:solidFill>
                            <a:srgbClr val="20261F"/>
                          </a:solidFill>
                          <a:latin typeface="Yu Gothic"/>
                        </a:defRPr>
                      </a:pPr>
                      <a:r>
                        <a:t>1株あたり純損失</a:t>
                      </a:r>
                    </a:p>
                  </a:txBody>
                  <a:tcPr>
                    <a:solidFill>
                      <a:srgbClr val="FFFFFF"/>
                    </a:solidFill>
                  </a:tcPr>
                </a:tc>
                <a:tc>
                  <a:txBody>
                    <a:bodyPr/>
                    <a:lstStyle/>
                    <a:p>
                      <a:pPr>
                        <a:defRPr sz="1200">
                          <a:solidFill>
                            <a:srgbClr val="20261F"/>
                          </a:solidFill>
                          <a:latin typeface="Yu Gothic"/>
                        </a:defRPr>
                      </a:pPr>
                      <a:r>
                        <a:t>RMB0.02(前年RMB0.11から縮小)</a:t>
                      </a:r>
                    </a:p>
                  </a:txBody>
                  <a:tcPr>
                    <a:solidFill>
                      <a:srgbClr val="FFFFFF"/>
                    </a:solidFill>
                  </a:tcPr>
                </a:tc>
              </a:tr>
              <a:tr h="502920">
                <a:tc>
                  <a:txBody>
                    <a:bodyPr/>
                    <a:lstStyle/>
                    <a:p>
                      <a:pPr>
                        <a:defRPr sz="1200">
                          <a:solidFill>
                            <a:srgbClr val="20261F"/>
                          </a:solidFill>
                          <a:latin typeface="Yu Gothic"/>
                        </a:defRPr>
                      </a:pPr>
                      <a:r>
                        <a:t>設備投資(Q2)</a:t>
                      </a:r>
                    </a:p>
                  </a:txBody>
                  <a:tcPr>
                    <a:solidFill>
                      <a:srgbClr val="F4F1E6"/>
                    </a:solidFill>
                  </a:tcPr>
                </a:tc>
                <a:tc>
                  <a:txBody>
                    <a:bodyPr/>
                    <a:lstStyle/>
                    <a:p>
                      <a:pPr>
                        <a:defRPr sz="1200">
                          <a:solidFill>
                            <a:srgbClr val="20261F"/>
                          </a:solidFill>
                          <a:latin typeface="Yu Gothic"/>
                        </a:defRPr>
                      </a:pPr>
                      <a:r>
                        <a:t>RMB33億元</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PR Newswire(2026-08-19)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Newswire・TipRanks・Investing.com(2026-08-19)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AI業界における位置づけ</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業界内での本決算の意味です。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中国のAIクラウドインフラ企業として、AI需要拡大の恩恵を受けている構図がうかがえる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赤字自体は残っているが、縮小傾向が続いていることは前向きな材料として扱える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AIインフラ投資の規模(通期RMB150億〜200億元)は、業界内でも積極的な部類に入るとみられる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同業他社との比較は本調査の範囲では行っていない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Newswire・TipRanks・Investing.com(2026-08-19)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収益性改善の流れ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AI関連需要の急拡大</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トークンサービス等の需要増(Q1時点の報道)</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積極的な設備投資</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Q2でRMB33億元、通期150億〜200億元計画</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EBITDAマージン35.8%へ改善</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純損失も大幅縮小</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AI需要拡大から収益性改善までの流れ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PR Newswire・Investing.com(2026年)</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Newswire・TipRanks・Investing.com(2026-08-19)</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今回の決算の3ステップ総括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1. 総売上高+30.8%</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前四半期比でも+13.6%と加速</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 EBITDAマージン35.8%</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前年同期から2.7倍以上に拡大</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3. 純損失は縮小も継続</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黒字化にはまだ至っていない</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Newswire・TipRanks・Investing.com(2026-08-19)</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黒字化への道筋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今後の見通しに関する留保です。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1株あたり純損失は着実に縮小しているが、依然として赤字である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EBITDAベースでは大幅な改善を示しているが、最終利益ベースでの黒字化時期は不明</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AI関連の設備投資が続く中、償却費等のコスト構造がどう推移するかは今後の焦点となる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経営陣による黒字化時期の具体的な言及は本調査の範囲では確認できていない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Newswire・TipRanks・Investing.com(2026-08-19)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売上高の四半期比伸び率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前四半期比+13.6%</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前年比+30.8%に加え、直近四半期比でも加速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PR Newswire(2026-08-19)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決算発表の位置づけ</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発表のタイミングに関する補足です。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決算発表は2026年8月19日(米国東部時間、市場寄り付き前)</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同日に取締役会・決算コールも実施されたと報じられている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他の中国関連企業(Weibo・Full Truck Alliance等)も同日に決算を発表しており、この日は中国企業の決算発表が集中する日程だった</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各社の決算内容自体は独立しており、本テーマではKingsoft Cloud固有の数字のみを扱う</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TipRanks・複数報道(2026-08-19)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Newswire・TipRanks・Investing.com(2026-08-19)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赤字幅の縮小 vs 依然として残る赤字</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改善している点</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1株あたり純損失はRMB0.11→0.02へ縮小</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EBITDAマージンは35.8%まで改善</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売上高の伸びも加速</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依然として残る課題</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純損失自体はまだ解消されていない</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黒字化の具体的な時期は不明</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積極的な設備投資が続き、コスト負担も大きい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Newswire・TipRanks・Investing.com(2026-08-19)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収益性指標の比較(前年同期・前四半期・今回)</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時点</a:t>
                      </a:r>
                    </a:p>
                  </a:txBody>
                  <a:tcPr>
                    <a:solidFill>
                      <a:srgbClr val="24523F"/>
                    </a:solidFill>
                  </a:tcPr>
                </a:tc>
                <a:tc>
                  <a:txBody>
                    <a:bodyPr/>
                    <a:lstStyle/>
                    <a:p>
                      <a:pPr>
                        <a:defRPr sz="1300" b="1">
                          <a:solidFill>
                            <a:srgbClr val="FFFFFF"/>
                          </a:solidFill>
                          <a:latin typeface="Yu Gothic"/>
                        </a:defRPr>
                      </a:pPr>
                      <a:r>
                        <a:t>1株あたり純損失</a:t>
                      </a:r>
                    </a:p>
                  </a:txBody>
                  <a:tcPr>
                    <a:solidFill>
                      <a:srgbClr val="24523F"/>
                    </a:solidFill>
                  </a:tcPr>
                </a:tc>
              </a:tr>
              <a:tr h="502920">
                <a:tc>
                  <a:txBody>
                    <a:bodyPr/>
                    <a:lstStyle/>
                    <a:p>
                      <a:pPr>
                        <a:defRPr sz="1200">
                          <a:solidFill>
                            <a:srgbClr val="20261F"/>
                          </a:solidFill>
                          <a:latin typeface="Yu Gothic"/>
                        </a:defRPr>
                      </a:pPr>
                      <a:r>
                        <a:t>2025年Q2(前年同期)</a:t>
                      </a:r>
                    </a:p>
                  </a:txBody>
                  <a:tcPr>
                    <a:solidFill>
                      <a:srgbClr val="FFFFFF"/>
                    </a:solidFill>
                  </a:tcPr>
                </a:tc>
                <a:tc>
                  <a:txBody>
                    <a:bodyPr/>
                    <a:lstStyle/>
                    <a:p>
                      <a:pPr>
                        <a:defRPr sz="1200">
                          <a:solidFill>
                            <a:srgbClr val="20261F"/>
                          </a:solidFill>
                          <a:latin typeface="Yu Gothic"/>
                        </a:defRPr>
                      </a:pPr>
                      <a:r>
                        <a:t>RMB0.11</a:t>
                      </a:r>
                    </a:p>
                  </a:txBody>
                  <a:tcPr>
                    <a:solidFill>
                      <a:srgbClr val="FFFFFF"/>
                    </a:solidFill>
                  </a:tcPr>
                </a:tc>
              </a:tr>
              <a:tr h="502920">
                <a:tc>
                  <a:txBody>
                    <a:bodyPr/>
                    <a:lstStyle/>
                    <a:p>
                      <a:pPr>
                        <a:defRPr sz="1200">
                          <a:solidFill>
                            <a:srgbClr val="20261F"/>
                          </a:solidFill>
                          <a:latin typeface="Yu Gothic"/>
                        </a:defRPr>
                      </a:pPr>
                      <a:r>
                        <a:t>2026年Q2(今回)</a:t>
                      </a:r>
                    </a:p>
                  </a:txBody>
                  <a:tcPr>
                    <a:solidFill>
                      <a:srgbClr val="F4F1E6"/>
                    </a:solidFill>
                  </a:tcPr>
                </a:tc>
                <a:tc>
                  <a:txBody>
                    <a:bodyPr/>
                    <a:lstStyle/>
                    <a:p>
                      <a:pPr>
                        <a:defRPr sz="1200">
                          <a:solidFill>
                            <a:srgbClr val="20261F"/>
                          </a:solidFill>
                          <a:latin typeface="Yu Gothic"/>
                        </a:defRPr>
                      </a:pPr>
                      <a:r>
                        <a:t>RMB0.02</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PR Newswire(2026-08-19)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Newswire・TipRanks・Investing.com(2026-08-19)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正直にお伝えする留保事項です。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Q2時点でのAI事業収入の具体的な内訳・伸び率</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Q2の調整後粗利益率の具体的な数値</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黒字化の具体的な時期・経営陣の見通し</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本テーマは特定企業(Kingsoft Cloud)の株式購入・投資を推奨するものではなく、報じられた経営指標の紹介にとどめる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Newswire・TipRanks・Investing.com(2026-08-19)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設備投資の通期計画(参考)</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RMB150億〜200億元</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Q1時点の報道による、2026年通期の計画額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Investing.com(2026年Q1決算関連報道)</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売上高の伸び vs 収益性の改善(どちらが主導か)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売上高の伸び</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前年比+30.8%</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前四半期比+13.6%</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AI需要拡大が背景とされる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収益性の改善</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EBITDAマージン35.8%へ改善</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純損失も大幅縮小</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売上高の伸び以上のペースで改善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Newswire・TipRanks・Investing.com(2026-08-19)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本編のまとめです。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Kingsoft Cloudの2026年Q2決算は、総売上高+30.8%、EBITDAマージン35.8%と、AI需要拡大を背景に大きく改善した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1株あたり純損失もRMB0.11からRMB0.02へ大幅に縮小したが、依然として赤字である点は正直に開示した</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AI事業収入のQ2固有の内訳は確認できておらず、Q1時点の情報と区別して扱った</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積極的な設備投資が続く中、黒字化への道筋は今後の決算で引き続き確認する必要がある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Newswire・TipRanks・Investing.com(2026-08-19)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AI・クラウドインフラ業界の動向を追う立場として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AI需要拡大がクラウド企業の収益構造に与える影響の事例として参考になる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中国テック企業の動向を追う立場として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赤字が続く中での収益性改善という段階的な変化を追う視点が役立つ</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投資を検討する立場として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EBITDAベースの改善と最終黒字化はまだ別段階であることを区別して見る必要がある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PR Newswire・TipRanks・Investing.com(2026-08-19)</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赤字は残る。でも、その縮小幅がすごい。</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Kingsoft Cloudの2026年Q2決算は、AI需要拡大を背景に総売上高+30.8%、EBITDAマージン35.8%まで改善しました。1株あたり純損失も大幅に縮小しましたが、依然として赤字である点まで、出典付きで正直に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