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SlackにAIコーディングエージェントを組み込む新機能が発表されました。何が起きたのか、出典付きで正確に整理してお届けします。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結論から確認します。SalesforceがSlack上でAIコーディングエージェントとチームが共同作業できる新機能「Slack Code」を発表しました。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本日の流れです。今回の発表から仕組み、そして確認できなかったことまで整理します。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複数の大手AIコーディングエージェントを同時に統合するという、注目度の高い発表です。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今回の発表は2026年8月20日で、着手日から5日前の情報であることを正直に開示します。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今回の発表では、Slack Codeがいずれのプランでも即日利用可能であることが明らかにされました。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今回の発表概要です。エージェント自体のライセンスは顧客が別途保有する必要があります。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対応するエージェントは、Claude Code・Devin・GitHub Copilot・Vercelのエージェントの4つです。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業界を代表する4つのAIコーディングエージェントが、横断的に統合されています。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会話中でエージェントをタグ付けすると、専用のコードチャンネルが自動的に立ち上がる仕組みです。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コードチャンネルには、会話・プラン・コード差分・ライブプレビューの4つのタブが用意されています。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エンジニアに限らず、非技術者も含めたチーム全員が同じワークスペースで参加できます。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業界で「バイブコーディング」と呼ばれる開発スタイルを、チーム向けに製品化したものとされています。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タグ付けから承認、出荷、アーカイブまでの流れを整理します。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「バイブコーディング」は、自然な言葉でAIに指示を出しながら開発する手法の通称です。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コードは、チャンネル内の人間が承認するまでは出荷されない設計です。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従来の個人単位のやり取りと比べ、チーム全員が同じ場で作業を追える点が特徴です。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Slack Code自体はいずれのプランでも利用できますが、連携する各エージェントのライセンスは別途必要です。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複数の独立した海外メディアで同一の内容を確認しています。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Slack Code自体の利用可否と、各エージェントのライセンス条件は異なる種類の話として区別する必要があります。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タスクが完了するとチャンネルは自動的にアーカイブされ、記録は監査ログとして残ります。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本テーマは、チーム開発とAIエージェントが融合していく業界トレンドの一例として整理しています。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発表から複数メディアでの報道までのタイムラインです。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今後、対応エージェントの拡大や具体的な導入事例が注目されます。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Salesforceは、4つのAIコーディングエージェントをSlackに統合する「Slack Code」を発表しました。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コードチャンネルの主な機能を一覧にまとめました。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本日は「Slack Code」の発表についてお届けしました。確認できなかったことは正直に開示しています。次回もお楽しみに。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あなたのSlackが</a:t>
            </a:r>
          </a:p>
          <a:p>
            <a:pPr algn="l">
              <a:lnSpc>
                <a:spcPct val="115000"/>
              </a:lnSpc>
            </a:pPr>
            <a:r>
              <a:rPr sz="4200" b="1">
                <a:solidFill>
                  <a:srgbClr val="FFFFFF"/>
                </a:solidFill>
                <a:latin typeface="Yu Gothic"/>
              </a:rPr>
              <a:t>開発現場になる</a:t>
            </a:r>
          </a:p>
          <a:p>
            <a:pPr algn="l">
              <a:lnSpc>
                <a:spcPct val="115000"/>
              </a:lnSpc>
            </a:pPr>
            <a:r>
              <a:rPr sz="4200" b="1">
                <a:solidFill>
                  <a:srgbClr val="FFFFFF"/>
                </a:solidFill>
                <a:latin typeface="Yu Gothic"/>
              </a:rPr>
              <a:t>「Slack Code」始動</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Claude Code・DevinらをチームのSlackチャンネルへ——出典付きで整理する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Salesforce公式(2026年8月20日)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4つのAIエージェントがSlackに統合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「Slack Code」発表(Salesforce公式)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Salesforce公式(2026-08-20)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今回の発表を確認する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対応するAIエージェントを確認する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「バイブコーディング」の製品化を確認する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業界最大手クラスのAIコーディングエージェント4つを同時統合</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複数の独立した海外メディアが継続的に報道</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「バイブコーディング」をチーム開発として製品化した初の試み</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2026年8月20日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Salesforce(Slack)が公式発表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Salesforce公式(2026-08-20)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今回の発表の内容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AIコーディングエージェントをSlackチャンネルに直接組み込む新機能</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会話中にエージェントをタグ付けすると専用チャンネルが立ち上がる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発表と同日から、いずれのSlackプランでも利用可能</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機能名</a:t>
                      </a:r>
                    </a:p>
                  </a:txBody>
                  <a:tcPr>
                    <a:solidFill>
                      <a:srgbClr val="FFFFFF"/>
                    </a:solidFill>
                  </a:tcPr>
                </a:tc>
                <a:tc>
                  <a:txBody>
                    <a:bodyPr/>
                    <a:lstStyle/>
                    <a:p>
                      <a:pPr>
                        <a:defRPr sz="1200">
                          <a:solidFill>
                            <a:srgbClr val="2A1712"/>
                          </a:solidFill>
                          <a:latin typeface="Yu Gothic"/>
                        </a:defRPr>
                      </a:pPr>
                      <a:r>
                        <a:t>Slack Code</a:t>
                      </a:r>
                    </a:p>
                  </a:txBody>
                  <a:tcPr>
                    <a:solidFill>
                      <a:srgbClr val="FFFFFF"/>
                    </a:solidFill>
                  </a:tcPr>
                </a:tc>
              </a:tr>
              <a:tr h="502920">
                <a:tc>
                  <a:txBody>
                    <a:bodyPr/>
                    <a:lstStyle/>
                    <a:p>
                      <a:pPr>
                        <a:defRPr sz="1200">
                          <a:solidFill>
                            <a:srgbClr val="2A1712"/>
                          </a:solidFill>
                          <a:latin typeface="Yu Gothic"/>
                        </a:defRPr>
                      </a:pPr>
                      <a:r>
                        <a:t>提供元</a:t>
                      </a:r>
                    </a:p>
                  </a:txBody>
                  <a:tcPr>
                    <a:solidFill>
                      <a:srgbClr val="FBF3E6"/>
                    </a:solidFill>
                  </a:tcPr>
                </a:tc>
                <a:tc>
                  <a:txBody>
                    <a:bodyPr/>
                    <a:lstStyle/>
                    <a:p>
                      <a:pPr>
                        <a:defRPr sz="1200">
                          <a:solidFill>
                            <a:srgbClr val="2A1712"/>
                          </a:solidFill>
                          <a:latin typeface="Yu Gothic"/>
                        </a:defRPr>
                      </a:pPr>
                      <a:r>
                        <a:t>Salesforce(Slack)</a:t>
                      </a:r>
                    </a:p>
                  </a:txBody>
                  <a:tcPr>
                    <a:solidFill>
                      <a:srgbClr val="FBF3E6"/>
                    </a:solidFill>
                  </a:tcPr>
                </a:tc>
              </a:tr>
              <a:tr h="502920">
                <a:tc>
                  <a:txBody>
                    <a:bodyPr/>
                    <a:lstStyle/>
                    <a:p>
                      <a:pPr>
                        <a:defRPr sz="1200">
                          <a:solidFill>
                            <a:srgbClr val="2A1712"/>
                          </a:solidFill>
                          <a:latin typeface="Yu Gothic"/>
                        </a:defRPr>
                      </a:pPr>
                      <a:r>
                        <a:t>利用開始</a:t>
                      </a:r>
                    </a:p>
                  </a:txBody>
                  <a:tcPr>
                    <a:solidFill>
                      <a:srgbClr val="FFFFFF"/>
                    </a:solidFill>
                  </a:tcPr>
                </a:tc>
                <a:tc>
                  <a:txBody>
                    <a:bodyPr/>
                    <a:lstStyle/>
                    <a:p>
                      <a:pPr>
                        <a:defRPr sz="1200">
                          <a:solidFill>
                            <a:srgbClr val="2A1712"/>
                          </a:solidFill>
                          <a:latin typeface="Yu Gothic"/>
                        </a:defRPr>
                      </a:pPr>
                      <a:r>
                        <a:t>発表と同日、いずれのSlackプランでも利用可能</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対応するAIコーディングエージェント4つ</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Anthropicの「Claude Code」</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Cognitionの「Devin」</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GitHub Copilot、Vercelのエージェント</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対応エージェント数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4つのAIコーディングエージェント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業界大手を横断して統合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Salesforce公式(2026-08-20)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使い方の仕組み(概念図)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会話でエージェントをタグ付け</a:t>
            </a:r>
          </a:p>
        </p:txBody>
      </p:sp>
      <p:sp>
        <p:nvSpPr>
          <p:cNvPr id="9" name="Right Arrow 8"/>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専用コードチャンネルが自動生成</a:t>
            </a:r>
          </a:p>
        </p:txBody>
      </p:sp>
      <p:sp>
        <p:nvSpPr>
          <p:cNvPr id="13" name="Right Arrow 12"/>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チーム全員で確認・承認</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タグ付けから承認まで、チーム全員が同じ場で作業する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コードチャンネルの4つのタブ</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タブ</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会話</a:t>
                      </a:r>
                    </a:p>
                  </a:txBody>
                  <a:tcPr>
                    <a:solidFill>
                      <a:srgbClr val="FFFFFF"/>
                    </a:solidFill>
                  </a:tcPr>
                </a:tc>
                <a:tc>
                  <a:txBody>
                    <a:bodyPr/>
                    <a:lstStyle/>
                    <a:p>
                      <a:pPr>
                        <a:defRPr sz="1200">
                          <a:solidFill>
                            <a:srgbClr val="2A1712"/>
                          </a:solidFill>
                          <a:latin typeface="Yu Gothic"/>
                        </a:defRPr>
                      </a:pPr>
                      <a:r>
                        <a:t>エージェントとのやり取り</a:t>
                      </a:r>
                    </a:p>
                  </a:txBody>
                  <a:tcPr>
                    <a:solidFill>
                      <a:srgbClr val="FFFFFF"/>
                    </a:solidFill>
                  </a:tcPr>
                </a:tc>
              </a:tr>
              <a:tr h="502920">
                <a:tc>
                  <a:txBody>
                    <a:bodyPr/>
                    <a:lstStyle/>
                    <a:p>
                      <a:pPr>
                        <a:defRPr sz="1200">
                          <a:solidFill>
                            <a:srgbClr val="2A1712"/>
                          </a:solidFill>
                          <a:latin typeface="Yu Gothic"/>
                        </a:defRPr>
                      </a:pPr>
                      <a:r>
                        <a:t>プラン</a:t>
                      </a:r>
                    </a:p>
                  </a:txBody>
                  <a:tcPr>
                    <a:solidFill>
                      <a:srgbClr val="FBF3E6"/>
                    </a:solidFill>
                  </a:tcPr>
                </a:tc>
                <a:tc>
                  <a:txBody>
                    <a:bodyPr/>
                    <a:lstStyle/>
                    <a:p>
                      <a:pPr>
                        <a:defRPr sz="1200">
                          <a:solidFill>
                            <a:srgbClr val="2A1712"/>
                          </a:solidFill>
                          <a:latin typeface="Yu Gothic"/>
                        </a:defRPr>
                      </a:pPr>
                      <a:r>
                        <a:t>実装計画</a:t>
                      </a:r>
                    </a:p>
                  </a:txBody>
                  <a:tcPr>
                    <a:solidFill>
                      <a:srgbClr val="FBF3E6"/>
                    </a:solidFill>
                  </a:tcPr>
                </a:tc>
              </a:tr>
              <a:tr h="502920">
                <a:tc>
                  <a:txBody>
                    <a:bodyPr/>
                    <a:lstStyle/>
                    <a:p>
                      <a:pPr>
                        <a:defRPr sz="1200">
                          <a:solidFill>
                            <a:srgbClr val="2A1712"/>
                          </a:solidFill>
                          <a:latin typeface="Yu Gothic"/>
                        </a:defRPr>
                      </a:pPr>
                      <a:r>
                        <a:t>コード差分/ライブプレビュー</a:t>
                      </a:r>
                    </a:p>
                  </a:txBody>
                  <a:tcPr>
                    <a:solidFill>
                      <a:srgbClr val="FFFFFF"/>
                    </a:solidFill>
                  </a:tcPr>
                </a:tc>
                <a:tc>
                  <a:txBody>
                    <a:bodyPr/>
                    <a:lstStyle/>
                    <a:p>
                      <a:pPr>
                        <a:defRPr sz="1200">
                          <a:solidFill>
                            <a:srgbClr val="2A1712"/>
                          </a:solidFill>
                          <a:latin typeface="Yu Gothic"/>
                        </a:defRPr>
                      </a:pPr>
                      <a:r>
                        <a:t>変更内容の確認・動作確認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誰が参加できるか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エンジニアだけでなく、プロダクトマネージャーも参加可能</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デザイナー・非技術者のチームメンバーも同じ場で作業</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全員がエージェントの作業を追いながら意見を出せる設計</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製品化されたスタイル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「バイブコーディング」を製品化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業界用語をチーム開発の形に落とし込む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 Ben(2026-08-21)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利用の流れ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タグ付け</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会話中でコーディングエージェントをタグ付け</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チャンネル生成〜承認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専用チャンネルで差分を確認し、人間が承認</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出荷〜アーカイブ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承認後に出荷、タスク完了後は自動アーカイブ</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「バイブコーディング」とは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自然な言葉でAIに指示を出しながらソフトウェアを作る開発スタイルの通称</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近年、個人開発者の間で広がってきた手法とされる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本テーマでは、これをチーム単位に拡張した点が特徴</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確定</a:t>
                      </a:r>
                    </a:p>
                  </a:txBody>
                  <a:tcPr>
                    <a:solidFill>
                      <a:srgbClr val="FFFFFF"/>
                    </a:solidFill>
                  </a:tcPr>
                </a:tc>
                <a:tc>
                  <a:txBody>
                    <a:bodyPr/>
                    <a:lstStyle/>
                    <a:p>
                      <a:pPr>
                        <a:defRPr sz="1200">
                          <a:solidFill>
                            <a:srgbClr val="2A1712"/>
                          </a:solidFill>
                          <a:latin typeface="Yu Gothic"/>
                        </a:defRPr>
                      </a:pPr>
                      <a:r>
                        <a:t>発表日・対応エージェント・利用開始プラン</a:t>
                      </a:r>
                    </a:p>
                  </a:txBody>
                  <a:tcPr>
                    <a:solidFill>
                      <a:srgbClr val="FFFFFF"/>
                    </a:solidFill>
                  </a:tcPr>
                </a:tc>
              </a:tr>
              <a:tr h="502920">
                <a:tc>
                  <a:txBody>
                    <a:bodyPr/>
                    <a:lstStyle/>
                    <a:p>
                      <a:pPr>
                        <a:defRPr sz="1200">
                          <a:solidFill>
                            <a:srgbClr val="2A1712"/>
                          </a:solidFill>
                          <a:latin typeface="Yu Gothic"/>
                        </a:defRPr>
                      </a:pPr>
                      <a:r>
                        <a:t>確定</a:t>
                      </a:r>
                    </a:p>
                  </a:txBody>
                  <a:tcPr>
                    <a:solidFill>
                      <a:srgbClr val="FBF3E6"/>
                    </a:solidFill>
                  </a:tcPr>
                </a:tc>
                <a:tc>
                  <a:txBody>
                    <a:bodyPr/>
                    <a:lstStyle/>
                    <a:p>
                      <a:pPr>
                        <a:defRPr sz="1200">
                          <a:solidFill>
                            <a:srgbClr val="2A1712"/>
                          </a:solidFill>
                          <a:latin typeface="Yu Gothic"/>
                        </a:defRPr>
                      </a:pPr>
                      <a:r>
                        <a:t>チャンネルの仕組み・承認の制御ポイント</a:t>
                      </a:r>
                    </a:p>
                  </a:txBody>
                  <a:tcPr>
                    <a:solidFill>
                      <a:srgbClr val="FBF3E6"/>
                    </a:solidFill>
                  </a:tcPr>
                </a:tc>
              </a:tr>
              <a:tr h="502920">
                <a:tc>
                  <a:txBody>
                    <a:bodyPr/>
                    <a:lstStyle/>
                    <a:p>
                      <a:pPr>
                        <a:defRPr sz="1200">
                          <a:solidFill>
                            <a:srgbClr val="2A1712"/>
                          </a:solidFill>
                          <a:latin typeface="Yu Gothic"/>
                        </a:defRPr>
                      </a:pPr>
                      <a:r>
                        <a:t>未確認</a:t>
                      </a:r>
                    </a:p>
                  </a:txBody>
                  <a:tcPr>
                    <a:solidFill>
                      <a:srgbClr val="FFFFFF"/>
                    </a:solidFill>
                  </a:tcPr>
                </a:tc>
                <a:tc>
                  <a:txBody>
                    <a:bodyPr/>
                    <a:lstStyle/>
                    <a:p>
                      <a:pPr>
                        <a:defRPr sz="1200">
                          <a:solidFill>
                            <a:srgbClr val="2A1712"/>
                          </a:solidFill>
                          <a:latin typeface="Yu Gothic"/>
                        </a:defRPr>
                      </a:pPr>
                      <a:r>
                        <a:t>追加課金の有無・具体的な導入企業数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Slack Code経由でのAIエージェント利用に伴う追加課金の有無</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発表時点での具体的な導入企業数・利用実績</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規制業界向けのセキュリティ・コンプライアンス対応の詳細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制御ポイント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人間の承認なしに出荷なし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承認が唯一の制御ポイントとされる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Salesforce公式(2026-08-20)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従来型 vs Slack Codeのチーム型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従来の1人の開発者×1エージェント</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個人のターミナル上でのやり取りが中心</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Slack Codeのチーム型</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チーム全員が同じチャンネルで作業を追う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利用可能プラン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発表と同日から、いずれのSlackプランでも利用可能</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各AIコーディングエージェント自体の利用ライセンスは顧客側で別途保有する必要がある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特定のエージェント・製品利用を強く推奨する意図はない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主要出典の一覧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7A1F2B"/>
                    </a:solidFill>
                  </a:tcPr>
                </a:tc>
                <a:tc>
                  <a:txBody>
                    <a:bodyPr/>
                    <a:lstStyle/>
                    <a:p>
                      <a:pPr>
                        <a:defRPr sz="1300" b="1">
                          <a:solidFill>
                            <a:srgbClr val="FFFFFF"/>
                          </a:solidFill>
                          <a:latin typeface="Yu Gothic"/>
                        </a:defRPr>
                      </a:pPr>
                      <a:r>
                        <a:t>発表日</a:t>
                      </a:r>
                    </a:p>
                  </a:txBody>
                  <a:tcPr>
                    <a:solidFill>
                      <a:srgbClr val="7A1F2B"/>
                    </a:solidFill>
                  </a:tcPr>
                </a:tc>
              </a:tr>
              <a:tr h="502920">
                <a:tc>
                  <a:txBody>
                    <a:bodyPr/>
                    <a:lstStyle/>
                    <a:p>
                      <a:pPr>
                        <a:defRPr sz="1200">
                          <a:solidFill>
                            <a:srgbClr val="2A1712"/>
                          </a:solidFill>
                          <a:latin typeface="Yu Gothic"/>
                        </a:defRPr>
                      </a:pPr>
                      <a:r>
                        <a:t>Salesforce公式</a:t>
                      </a:r>
                    </a:p>
                  </a:txBody>
                  <a:tcPr>
                    <a:solidFill>
                      <a:srgbClr val="FFFFFF"/>
                    </a:solidFill>
                  </a:tcPr>
                </a:tc>
                <a:tc>
                  <a:txBody>
                    <a:bodyPr/>
                    <a:lstStyle/>
                    <a:p>
                      <a:pPr>
                        <a:defRPr sz="1200">
                          <a:solidFill>
                            <a:srgbClr val="2A1712"/>
                          </a:solidFill>
                          <a:latin typeface="Yu Gothic"/>
                        </a:defRPr>
                      </a:pPr>
                      <a:r>
                        <a:t>2026年8月20日</a:t>
                      </a:r>
                    </a:p>
                  </a:txBody>
                  <a:tcPr>
                    <a:solidFill>
                      <a:srgbClr val="FFFFFF"/>
                    </a:solidFill>
                  </a:tcPr>
                </a:tc>
              </a:tr>
              <a:tr h="502920">
                <a:tc>
                  <a:txBody>
                    <a:bodyPr/>
                    <a:lstStyle/>
                    <a:p>
                      <a:pPr>
                        <a:defRPr sz="1200">
                          <a:solidFill>
                            <a:srgbClr val="2A1712"/>
                          </a:solidFill>
                          <a:latin typeface="Yu Gothic"/>
                        </a:defRPr>
                      </a:pPr>
                      <a:r>
                        <a:t>VentureBeat / Computerworld / Salesforce Ben</a:t>
                      </a:r>
                    </a:p>
                  </a:txBody>
                  <a:tcPr>
                    <a:solidFill>
                      <a:srgbClr val="FBF3E6"/>
                    </a:solidFill>
                  </a:tcPr>
                </a:tc>
                <a:tc>
                  <a:txBody>
                    <a:bodyPr/>
                    <a:lstStyle/>
                    <a:p>
                      <a:pPr>
                        <a:defRPr sz="1200">
                          <a:solidFill>
                            <a:srgbClr val="2A1712"/>
                          </a:solidFill>
                          <a:latin typeface="Yu Gothic"/>
                        </a:defRPr>
                      </a:pPr>
                      <a:r>
                        <a:t>2026年8月20日〜21日</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Slack Code自体の利用可否 vs 各エージェントのライセンス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Slack Code自体</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いずれのSlackプランでも利用可能</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連携する各AIエージェント</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顧客が別途ライセンス・アクセス権を保有する必要</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タスク完了後の扱い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自動アーカイブ+監査ログ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作業記録が監査ログとして残る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Salesforce公式(2026-08-20)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今回の発表の3つの注目ポイント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業界大手4つのAIエージェントを同時統合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非技術者も含めたチーム全員で共同作業</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人間の承認が唯一の出荷制御ポイント</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AIを使った開発の効率化に関心があるビジネスパーソンに関係する情報</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チーム開発とAIエージェントの融合という業界トレンドの一例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タイムライン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7A1F2B"/>
                    </a:solidFill>
                  </a:tcPr>
                </a:tc>
                <a:tc>
                  <a:txBody>
                    <a:bodyPr/>
                    <a:lstStyle/>
                    <a:p>
                      <a:pPr>
                        <a:defRPr sz="1300" b="1">
                          <a:solidFill>
                            <a:srgbClr val="FFFFFF"/>
                          </a:solidFill>
                          <a:latin typeface="Yu Gothic"/>
                        </a:defRPr>
                      </a:pPr>
                      <a:r>
                        <a:t>できごと</a:t>
                      </a:r>
                    </a:p>
                  </a:txBody>
                  <a:tcPr>
                    <a:solidFill>
                      <a:srgbClr val="7A1F2B"/>
                    </a:solidFill>
                  </a:tcPr>
                </a:tc>
              </a:tr>
              <a:tr h="502920">
                <a:tc>
                  <a:txBody>
                    <a:bodyPr/>
                    <a:lstStyle/>
                    <a:p>
                      <a:pPr>
                        <a:defRPr sz="1200">
                          <a:solidFill>
                            <a:srgbClr val="2A1712"/>
                          </a:solidFill>
                          <a:latin typeface="Yu Gothic"/>
                        </a:defRPr>
                      </a:pPr>
                      <a:r>
                        <a:t>2026年8月20日</a:t>
                      </a:r>
                    </a:p>
                  </a:txBody>
                  <a:tcPr>
                    <a:solidFill>
                      <a:srgbClr val="FFFFFF"/>
                    </a:solidFill>
                  </a:tcPr>
                </a:tc>
                <a:tc>
                  <a:txBody>
                    <a:bodyPr/>
                    <a:lstStyle/>
                    <a:p>
                      <a:pPr>
                        <a:defRPr sz="1200">
                          <a:solidFill>
                            <a:srgbClr val="2A1712"/>
                          </a:solidFill>
                          <a:latin typeface="Yu Gothic"/>
                        </a:defRPr>
                      </a:pPr>
                      <a:r>
                        <a:t>Salesforceが「Slack Code」を発表・提供開始</a:t>
                      </a:r>
                    </a:p>
                  </a:txBody>
                  <a:tcPr>
                    <a:solidFill>
                      <a:srgbClr val="FFFFFF"/>
                    </a:solidFill>
                  </a:tcPr>
                </a:tc>
              </a:tr>
              <a:tr h="502920">
                <a:tc>
                  <a:txBody>
                    <a:bodyPr/>
                    <a:lstStyle/>
                    <a:p>
                      <a:pPr>
                        <a:defRPr sz="1200">
                          <a:solidFill>
                            <a:srgbClr val="2A1712"/>
                          </a:solidFill>
                          <a:latin typeface="Yu Gothic"/>
                        </a:defRPr>
                      </a:pPr>
                      <a:r>
                        <a:t>発表直後</a:t>
                      </a:r>
                    </a:p>
                  </a:txBody>
                  <a:tcPr>
                    <a:solidFill>
                      <a:srgbClr val="FBF3E6"/>
                    </a:solidFill>
                  </a:tcPr>
                </a:tc>
                <a:tc>
                  <a:txBody>
                    <a:bodyPr/>
                    <a:lstStyle/>
                    <a:p>
                      <a:pPr>
                        <a:defRPr sz="1200">
                          <a:solidFill>
                            <a:srgbClr val="2A1712"/>
                          </a:solidFill>
                          <a:latin typeface="Yu Gothic"/>
                        </a:defRPr>
                      </a:pPr>
                      <a:r>
                        <a:t>VentureBeat・Computerworld等が報道</a:t>
                      </a:r>
                    </a:p>
                  </a:txBody>
                  <a:tcPr>
                    <a:solidFill>
                      <a:srgbClr val="FBF3E6"/>
                    </a:solidFill>
                  </a:tcPr>
                </a:tc>
              </a:tr>
              <a:tr h="502920">
                <a:tc>
                  <a:txBody>
                    <a:bodyPr/>
                    <a:lstStyle/>
                    <a:p>
                      <a:pPr>
                        <a:defRPr sz="1200">
                          <a:solidFill>
                            <a:srgbClr val="2A1712"/>
                          </a:solidFill>
                          <a:latin typeface="Yu Gothic"/>
                        </a:defRPr>
                      </a:pPr>
                      <a:r>
                        <a:t>2026年8月21日</a:t>
                      </a:r>
                    </a:p>
                  </a:txBody>
                  <a:tcPr>
                    <a:solidFill>
                      <a:srgbClr val="FFFFFF"/>
                    </a:solidFill>
                  </a:tcPr>
                </a:tc>
                <a:tc>
                  <a:txBody>
                    <a:bodyPr/>
                    <a:lstStyle/>
                    <a:p>
                      <a:pPr>
                        <a:defRPr sz="1200">
                          <a:solidFill>
                            <a:srgbClr val="2A1712"/>
                          </a:solidFill>
                          <a:latin typeface="Yu Gothic"/>
                        </a:defRPr>
                      </a:pPr>
                      <a:r>
                        <a:t>Salesforce Benが詳細解説を公開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他のAIコーディングエージェントの対応拡大の有無</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具体的な企業導入事例の公表</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4つのAIエージェントがSlackに統合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「Slack Code」が発表と同日から利用可能に(2026年8月20日)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Salesforce公式(2026-08-20)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コードチャンネルの機能一覧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会話タブ</a:t>
                      </a:r>
                    </a:p>
                  </a:txBody>
                  <a:tcPr>
                    <a:solidFill>
                      <a:srgbClr val="FFFFFF"/>
                    </a:solidFill>
                  </a:tcPr>
                </a:tc>
                <a:tc>
                  <a:txBody>
                    <a:bodyPr/>
                    <a:lstStyle/>
                    <a:p>
                      <a:pPr>
                        <a:defRPr sz="1200">
                          <a:solidFill>
                            <a:srgbClr val="2A1712"/>
                          </a:solidFill>
                          <a:latin typeface="Yu Gothic"/>
                        </a:defRPr>
                      </a:pPr>
                      <a:r>
                        <a:t>エージェントとの対話</a:t>
                      </a:r>
                    </a:p>
                  </a:txBody>
                  <a:tcPr>
                    <a:solidFill>
                      <a:srgbClr val="FFFFFF"/>
                    </a:solidFill>
                  </a:tcPr>
                </a:tc>
              </a:tr>
              <a:tr h="502920">
                <a:tc>
                  <a:txBody>
                    <a:bodyPr/>
                    <a:lstStyle/>
                    <a:p>
                      <a:pPr>
                        <a:defRPr sz="1200">
                          <a:solidFill>
                            <a:srgbClr val="2A1712"/>
                          </a:solidFill>
                          <a:latin typeface="Yu Gothic"/>
                        </a:defRPr>
                      </a:pPr>
                      <a:r>
                        <a:t>プラン/差分/プレビュータブ</a:t>
                      </a:r>
                    </a:p>
                  </a:txBody>
                  <a:tcPr>
                    <a:solidFill>
                      <a:srgbClr val="FBF3E6"/>
                    </a:solidFill>
                  </a:tcPr>
                </a:tc>
                <a:tc>
                  <a:txBody>
                    <a:bodyPr/>
                    <a:lstStyle/>
                    <a:p>
                      <a:pPr>
                        <a:defRPr sz="1200">
                          <a:solidFill>
                            <a:srgbClr val="2A1712"/>
                          </a:solidFill>
                          <a:latin typeface="Yu Gothic"/>
                        </a:defRPr>
                      </a:pPr>
                      <a:r>
                        <a:t>計画確認・変更内容確認・動作確認</a:t>
                      </a:r>
                    </a:p>
                  </a:txBody>
                  <a:tcPr>
                    <a:solidFill>
                      <a:srgbClr val="FBF3E6"/>
                    </a:solidFill>
                  </a:tcPr>
                </a:tc>
              </a:tr>
              <a:tr h="502920">
                <a:tc>
                  <a:txBody>
                    <a:bodyPr/>
                    <a:lstStyle/>
                    <a:p>
                      <a:pPr>
                        <a:defRPr sz="1200">
                          <a:solidFill>
                            <a:srgbClr val="2A1712"/>
                          </a:solidFill>
                          <a:latin typeface="Yu Gothic"/>
                        </a:defRPr>
                      </a:pPr>
                      <a:r>
                        <a:t>承認・アーカイブ</a:t>
                      </a:r>
                    </a:p>
                  </a:txBody>
                  <a:tcPr>
                    <a:solidFill>
                      <a:srgbClr val="FFFFFF"/>
                    </a:solidFill>
                  </a:tcPr>
                </a:tc>
                <a:tc>
                  <a:txBody>
                    <a:bodyPr/>
                    <a:lstStyle/>
                    <a:p>
                      <a:pPr>
                        <a:defRPr sz="1200">
                          <a:solidFill>
                            <a:srgbClr val="2A1712"/>
                          </a:solidFill>
                          <a:latin typeface="Yu Gothic"/>
                        </a:defRPr>
                      </a:pPr>
                      <a:r>
                        <a:t>人間の承認後に出荷、完了後は自動アーカイブ</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Salesforce公式(2026-08-20)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Salesforce公式等(2026-08-20)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