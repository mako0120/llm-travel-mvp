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フィジカルAI向けデータ企業「覓蜂科技」が、中国電信主導の資金調達を発表しました。何が起きたのか、出典付きで正確に整理してお届けします。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結論から確認します。フィジカルAI向けデータプラットフォーム企業の覓蜂科技が、中国電信主導で数億元を調達しました。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本日の流れです。今回の調達から企業概要、技術内容、そして確認できなかったことまで整理します。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大手通信キャリアが主導する調達という、注目度の高い話題です。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今回のラウンドは、中国電信がリード投資家となりました。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今回の調達には、中国電信をはじめ既存株主も増資に応じました。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今回のラウンド概要です。既存株主も含めた幅広い参加が特徴です。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覓蜂科技は2026年初めの設立から、半年で複数回の資金調達を連続して完了しています。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覓蜂科技は2026年初めに設立された、比較的新しい企業です。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データ収集からガバナンスまでを一気通貫で担う仕組みを構築しています。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調達資金は、データ基盤構築や製品量産の拡大に充てられます。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データガバナンスサービス「MEgo Engine」は、複数の工程を自動化ループとして実現しています。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「MEgo Engine」により、データ処理効率は従来の人手作業と比べ10倍以上向上しているとされています。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設立から半年の間に、複数回の資金調達を連続して完了させています。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フィジカルAIの開発には大量の実世界データが必要とされ、データ不足が業界共通の課題です。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今回の発表は2026年8月17日で、着手日から8日前の情報であることを正直に開示します。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従来型のデータ収集と比べ、無本体での自動採集を志向している点が特徴です。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具身智能(エンボディドインテリジェンス)分野への投資が世界的に拡大しています。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複数の独立した中国語メディアが同一の調達内容を報じており、内容としての一貫性を確認しています。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調達金額とデータ処理効率の改善は、異なる種類の数字として区別する必要があります。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既存株主の紅杉中国・元啓創新も、今回のラウンドで追加出資を行いました。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本テーマは、フィジカルAI分野におけるデータ基盤企業の資金調達動向として整理しています。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設立から今回の発表までのタイムラインです。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今後、製品の量産規模拡大や調達金額の開示が注目されます。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覓蜂科技は、中国電信主導のもと、設立から半年で複数回の資金調達を完了しています。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中国電信のリードのもと、既存株主を含む複数の投資家が今回のラウンドに参加しました。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本日は覓蜂科技の資金調達についてお届けしました。確認できなかったことは正直に開示しています。次回もお楽しみに。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データの砂漠を</a:t>
            </a:r>
          </a:p>
          <a:p>
            <a:pPr algn="l">
              <a:lnSpc>
                <a:spcPct val="115000"/>
              </a:lnSpc>
            </a:pPr>
            <a:r>
              <a:rPr sz="4200" b="1">
                <a:solidFill>
                  <a:srgbClr val="FFFFFF"/>
                </a:solidFill>
                <a:latin typeface="Yu Gothic"/>
              </a:rPr>
              <a:t>突破せよ</a:t>
            </a:r>
          </a:p>
          <a:p>
            <a:pPr algn="l">
              <a:lnSpc>
                <a:spcPct val="115000"/>
              </a:lnSpc>
            </a:pPr>
            <a:r>
              <a:rPr sz="4200" b="1">
                <a:solidFill>
                  <a:srgbClr val="FFFFFF"/>
                </a:solidFill>
                <a:latin typeface="Yu Gothic"/>
              </a:rPr>
              <a:t>覓蜂科技が資金調達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身体性AIを支えるデータ基盤——出典付きで整理する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网易/163.com(2026年8月17日)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中国電信主導で数億元調達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覓蜂科技、半年で複数回の調達を継続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今回の調達を確認する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覓蜂科技という企業を確認する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技術内容を確認する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複数の独立した中国語メディアが継続的に報道</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大手通信キャリアが主導する大型調達という話題性</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半年間で複数回の調達という急成長ペース</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リード投資家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中国電信(チャイナテレコム)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張江集団も追加出資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今回の調達の内容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2026年8月17日、新たな資金調達ラウンドを発表</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調達額は数億元人民元(具体的な金額は非公開)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既存株主の紅杉中国・元啓創新なども増資</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今回のラウンド概要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調達額</a:t>
                      </a:r>
                    </a:p>
                  </a:txBody>
                  <a:tcPr>
                    <a:solidFill>
                      <a:srgbClr val="FFFFFF"/>
                    </a:solidFill>
                  </a:tcPr>
                </a:tc>
                <a:tc>
                  <a:txBody>
                    <a:bodyPr/>
                    <a:lstStyle/>
                    <a:p>
                      <a:pPr>
                        <a:defRPr sz="1200">
                          <a:solidFill>
                            <a:srgbClr val="16202E"/>
                          </a:solidFill>
                          <a:latin typeface="Yu Gothic"/>
                        </a:defRPr>
                      </a:pPr>
                      <a:r>
                        <a:t>数億元人民元(正確な金額は非公開)</a:t>
                      </a:r>
                    </a:p>
                  </a:txBody>
                  <a:tcPr>
                    <a:solidFill>
                      <a:srgbClr val="FFFFFF"/>
                    </a:solidFill>
                  </a:tcPr>
                </a:tc>
              </a:tr>
              <a:tr h="502920">
                <a:tc>
                  <a:txBody>
                    <a:bodyPr/>
                    <a:lstStyle/>
                    <a:p>
                      <a:pPr>
                        <a:defRPr sz="1200">
                          <a:solidFill>
                            <a:srgbClr val="16202E"/>
                          </a:solidFill>
                          <a:latin typeface="Yu Gothic"/>
                        </a:defRPr>
                      </a:pPr>
                      <a:r>
                        <a:t>リード投資家</a:t>
                      </a:r>
                    </a:p>
                  </a:txBody>
                  <a:tcPr>
                    <a:solidFill>
                      <a:srgbClr val="F2F6FA"/>
                    </a:solidFill>
                  </a:tcPr>
                </a:tc>
                <a:tc>
                  <a:txBody>
                    <a:bodyPr/>
                    <a:lstStyle/>
                    <a:p>
                      <a:pPr>
                        <a:defRPr sz="1200">
                          <a:solidFill>
                            <a:srgbClr val="16202E"/>
                          </a:solidFill>
                          <a:latin typeface="Yu Gothic"/>
                        </a:defRPr>
                      </a:pPr>
                      <a:r>
                        <a:t>中国電信</a:t>
                      </a:r>
                    </a:p>
                  </a:txBody>
                  <a:tcPr>
                    <a:solidFill>
                      <a:srgbClr val="F2F6FA"/>
                    </a:solidFill>
                  </a:tcPr>
                </a:tc>
              </a:tr>
              <a:tr h="502920">
                <a:tc>
                  <a:txBody>
                    <a:bodyPr/>
                    <a:lstStyle/>
                    <a:p>
                      <a:pPr>
                        <a:defRPr sz="1200">
                          <a:solidFill>
                            <a:srgbClr val="16202E"/>
                          </a:solidFill>
                          <a:latin typeface="Yu Gothic"/>
                        </a:defRPr>
                      </a:pPr>
                      <a:r>
                        <a:t>その他参加者</a:t>
                      </a:r>
                    </a:p>
                  </a:txBody>
                  <a:tcPr>
                    <a:solidFill>
                      <a:srgbClr val="FFFFFF"/>
                    </a:solidFill>
                  </a:tcPr>
                </a:tc>
                <a:tc>
                  <a:txBody>
                    <a:bodyPr/>
                    <a:lstStyle/>
                    <a:p>
                      <a:pPr>
                        <a:defRPr sz="1200">
                          <a:solidFill>
                            <a:srgbClr val="16202E"/>
                          </a:solidFill>
                          <a:latin typeface="Yu Gothic"/>
                        </a:defRPr>
                      </a:pPr>
                      <a:r>
                        <a:t>張江集団・紅杉中国・元啓創新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覓蜂科技という企業</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フィジカルAI(身体性AI)向けデータサービスプラットフォーム</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2026年初めに設立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半年間で複数回の資金調達ラウンドを連続して完了</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設立時期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2026年初め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半年で複数回の資金調達を完了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事業の仕組み(概念図)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MEgoシリーズ(無本体データ採集)</a:t>
            </a:r>
          </a:p>
        </p:txBody>
      </p:sp>
      <p:sp>
        <p:nvSpPr>
          <p:cNvPr id="9" name="Right Arrow 8"/>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MEgo Engine(データガバナンス)</a:t>
            </a:r>
          </a:p>
        </p:txBody>
      </p:sp>
      <p:sp>
        <p:nvSpPr>
          <p:cNvPr id="13" name="Right Arrow 12"/>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具身智能向けデータ基盤</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データ収集からガバナンスまで一気通貫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資金の使い道</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データ基盤構築</a:t>
                      </a:r>
                    </a:p>
                  </a:txBody>
                  <a:tcPr>
                    <a:solidFill>
                      <a:srgbClr val="FFFFFF"/>
                    </a:solidFill>
                  </a:tcPr>
                </a:tc>
                <a:tc>
                  <a:txBody>
                    <a:bodyPr/>
                    <a:lstStyle/>
                    <a:p>
                      <a:pPr>
                        <a:defRPr sz="1200">
                          <a:solidFill>
                            <a:srgbClr val="16202E"/>
                          </a:solidFill>
                          <a:latin typeface="Yu Gothic"/>
                        </a:defRPr>
                      </a:pPr>
                      <a:r>
                        <a:t>具身智能向けプラットフォーム型供給インフラ</a:t>
                      </a:r>
                    </a:p>
                  </a:txBody>
                  <a:tcPr>
                    <a:solidFill>
                      <a:srgbClr val="FFFFFF"/>
                    </a:solidFill>
                  </a:tcPr>
                </a:tc>
              </a:tr>
              <a:tr h="502920">
                <a:tc>
                  <a:txBody>
                    <a:bodyPr/>
                    <a:lstStyle/>
                    <a:p>
                      <a:pPr>
                        <a:defRPr sz="1200">
                          <a:solidFill>
                            <a:srgbClr val="16202E"/>
                          </a:solidFill>
                          <a:latin typeface="Yu Gothic"/>
                        </a:defRPr>
                      </a:pPr>
                      <a:r>
                        <a:t>製品量産</a:t>
                      </a:r>
                    </a:p>
                  </a:txBody>
                  <a:tcPr>
                    <a:solidFill>
                      <a:srgbClr val="F2F6FA"/>
                    </a:solidFill>
                  </a:tcPr>
                </a:tc>
                <a:tc>
                  <a:txBody>
                    <a:bodyPr/>
                    <a:lstStyle/>
                    <a:p>
                      <a:pPr>
                        <a:defRPr sz="1200">
                          <a:solidFill>
                            <a:srgbClr val="16202E"/>
                          </a:solidFill>
                          <a:latin typeface="Yu Gothic"/>
                        </a:defRPr>
                      </a:pPr>
                      <a:r>
                        <a:t>「MEgoシリーズ」の量産規模拡大</a:t>
                      </a:r>
                    </a:p>
                  </a:txBody>
                  <a:tcPr>
                    <a:solidFill>
                      <a:srgbClr val="F2F6FA"/>
                    </a:solidFill>
                  </a:tcPr>
                </a:tc>
              </a:tr>
              <a:tr h="502920">
                <a:tc>
                  <a:txBody>
                    <a:bodyPr/>
                    <a:lstStyle/>
                    <a:p>
                      <a:pPr>
                        <a:defRPr sz="1200">
                          <a:solidFill>
                            <a:srgbClr val="16202E"/>
                          </a:solidFill>
                          <a:latin typeface="Yu Gothic"/>
                        </a:defRPr>
                      </a:pPr>
                      <a:r>
                        <a:t>全工程能力強化</a:t>
                      </a:r>
                    </a:p>
                  </a:txBody>
                  <a:tcPr>
                    <a:solidFill>
                      <a:srgbClr val="FFFFFF"/>
                    </a:solidFill>
                  </a:tcPr>
                </a:tc>
                <a:tc>
                  <a:txBody>
                    <a:bodyPr/>
                    <a:lstStyle/>
                    <a:p>
                      <a:pPr>
                        <a:defRPr sz="1200">
                          <a:solidFill>
                            <a:srgbClr val="16202E"/>
                          </a:solidFill>
                          <a:latin typeface="Yu Gothic"/>
                        </a:defRPr>
                      </a:pPr>
                      <a:r>
                        <a:t>データ収集・ガバナンス・評価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「MEgo Engine」の特徴</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前処理・空間再構築・マルチモーダルアノテーションを自動化</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品質評価まで含めた自動化ループを実現</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データ処理効率は従来比10倍以上とされる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データ処理効率の改善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従来比10倍以上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「MEgo Engine」による改善(同社発表)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覓蜂科技の展開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2026年初め</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設立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半年間</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複数回の資金調達を連続完了</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2026年8月17日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中国電信主導の新ラウンド発表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フィジカルAIとは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ロボット等、物理世界で動作するAIの総称</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大量の実世界データが学習に必要とされる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データ不足が業界共通の課題とされる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確定</a:t>
                      </a:r>
                    </a:p>
                  </a:txBody>
                  <a:tcPr>
                    <a:solidFill>
                      <a:srgbClr val="FFFFFF"/>
                    </a:solidFill>
                  </a:tcPr>
                </a:tc>
                <a:tc>
                  <a:txBody>
                    <a:bodyPr/>
                    <a:lstStyle/>
                    <a:p>
                      <a:pPr>
                        <a:defRPr sz="1200">
                          <a:solidFill>
                            <a:srgbClr val="16202E"/>
                          </a:solidFill>
                          <a:latin typeface="Yu Gothic"/>
                        </a:defRPr>
                      </a:pPr>
                      <a:r>
                        <a:t>リード投資家・設立時期・技術内容</a:t>
                      </a:r>
                    </a:p>
                  </a:txBody>
                  <a:tcPr>
                    <a:solidFill>
                      <a:srgbClr val="FFFFFF"/>
                    </a:solidFill>
                  </a:tcPr>
                </a:tc>
              </a:tr>
              <a:tr h="502920">
                <a:tc>
                  <a:txBody>
                    <a:bodyPr/>
                    <a:lstStyle/>
                    <a:p>
                      <a:pPr>
                        <a:defRPr sz="1200">
                          <a:solidFill>
                            <a:srgbClr val="16202E"/>
                          </a:solidFill>
                          <a:latin typeface="Yu Gothic"/>
                        </a:defRPr>
                      </a:pPr>
                      <a:r>
                        <a:t>確定</a:t>
                      </a:r>
                    </a:p>
                  </a:txBody>
                  <a:tcPr>
                    <a:solidFill>
                      <a:srgbClr val="F2F6FA"/>
                    </a:solidFill>
                  </a:tcPr>
                </a:tc>
                <a:tc>
                  <a:txBody>
                    <a:bodyPr/>
                    <a:lstStyle/>
                    <a:p>
                      <a:pPr>
                        <a:defRPr sz="1200">
                          <a:solidFill>
                            <a:srgbClr val="16202E"/>
                          </a:solidFill>
                          <a:latin typeface="Yu Gothic"/>
                        </a:defRPr>
                      </a:pPr>
                      <a:r>
                        <a:t>資金の使い道</a:t>
                      </a:r>
                    </a:p>
                  </a:txBody>
                  <a:tcPr>
                    <a:solidFill>
                      <a:srgbClr val="F2F6FA"/>
                    </a:solidFill>
                  </a:tcPr>
                </a:tc>
              </a:tr>
              <a:tr h="502920">
                <a:tc>
                  <a:txBody>
                    <a:bodyPr/>
                    <a:lstStyle/>
                    <a:p>
                      <a:pPr>
                        <a:defRPr sz="1200">
                          <a:solidFill>
                            <a:srgbClr val="16202E"/>
                          </a:solidFill>
                          <a:latin typeface="Yu Gothic"/>
                        </a:defRPr>
                      </a:pPr>
                      <a:r>
                        <a:t>未確認</a:t>
                      </a:r>
                    </a:p>
                  </a:txBody>
                  <a:tcPr>
                    <a:solidFill>
                      <a:srgbClr val="FFFFFF"/>
                    </a:solidFill>
                  </a:tcPr>
                </a:tc>
                <a:tc>
                  <a:txBody>
                    <a:bodyPr/>
                    <a:lstStyle/>
                    <a:p>
                      <a:pPr>
                        <a:defRPr sz="1200">
                          <a:solidFill>
                            <a:srgbClr val="16202E"/>
                          </a:solidFill>
                          <a:latin typeface="Yu Gothic"/>
                        </a:defRPr>
                      </a:pPr>
                      <a:r>
                        <a:t>今回のラウンドの具体的な調達金額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今回のラウンドにおける具体的な調達金額・企業評価額</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これまでに完了した資金調達ラウンドの正確な回数・詳細</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「MEgoシリーズ」製品の具体的な販売実績・導入企業数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2026年8月17日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着手日から8日前の情報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従来のデータ収集 vs MEgoシリーズ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従来の一般的なデータ収集</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人手による作業が中心になりやすい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MEgoシリーズ(覓蜂科技)</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無本体での自動データ採集を志向</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具身智能業界の背景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ロボット・自律システムへの投資が世界的に拡大</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データ基盤への投資家の関心が高まる</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特定企業の株式購入を推奨する意図はない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主要出典の一覧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報道日</a:t>
                      </a:r>
                    </a:p>
                  </a:txBody>
                  <a:tcPr>
                    <a:solidFill>
                      <a:srgbClr val="1B3A5C"/>
                    </a:solidFill>
                  </a:tcPr>
                </a:tc>
              </a:tr>
              <a:tr h="502920">
                <a:tc>
                  <a:txBody>
                    <a:bodyPr/>
                    <a:lstStyle/>
                    <a:p>
                      <a:pPr>
                        <a:defRPr sz="1200">
                          <a:solidFill>
                            <a:srgbClr val="16202E"/>
                          </a:solidFill>
                          <a:latin typeface="Yu Gothic"/>
                        </a:defRPr>
                      </a:pPr>
                      <a:r>
                        <a:t>网易/163.com</a:t>
                      </a:r>
                    </a:p>
                  </a:txBody>
                  <a:tcPr>
                    <a:solidFill>
                      <a:srgbClr val="FFFFFF"/>
                    </a:solidFill>
                  </a:tcPr>
                </a:tc>
                <a:tc>
                  <a:txBody>
                    <a:bodyPr/>
                    <a:lstStyle/>
                    <a:p>
                      <a:pPr>
                        <a:defRPr sz="1200">
                          <a:solidFill>
                            <a:srgbClr val="16202E"/>
                          </a:solidFill>
                          <a:latin typeface="Yu Gothic"/>
                        </a:defRPr>
                      </a:pPr>
                      <a:r>
                        <a:t>2026年8月17日</a:t>
                      </a:r>
                    </a:p>
                  </a:txBody>
                  <a:tcPr>
                    <a:solidFill>
                      <a:srgbClr val="FFFFFF"/>
                    </a:solidFill>
                  </a:tcPr>
                </a:tc>
              </a:tr>
              <a:tr h="502920">
                <a:tc>
                  <a:txBody>
                    <a:bodyPr/>
                    <a:lstStyle/>
                    <a:p>
                      <a:pPr>
                        <a:defRPr sz="1200">
                          <a:solidFill>
                            <a:srgbClr val="16202E"/>
                          </a:solidFill>
                          <a:latin typeface="Yu Gothic"/>
                        </a:defRPr>
                      </a:pPr>
                      <a:r>
                        <a:t>新浪科技/財経</a:t>
                      </a:r>
                    </a:p>
                  </a:txBody>
                  <a:tcPr>
                    <a:solidFill>
                      <a:srgbClr val="F2F6FA"/>
                    </a:solidFill>
                  </a:tcPr>
                </a:tc>
                <a:tc>
                  <a:txBody>
                    <a:bodyPr/>
                    <a:lstStyle/>
                    <a:p>
                      <a:pPr>
                        <a:defRPr sz="1200">
                          <a:solidFill>
                            <a:srgbClr val="16202E"/>
                          </a:solidFill>
                          <a:latin typeface="Yu Gothic"/>
                        </a:defRPr>
                      </a:pPr>
                      <a:r>
                        <a:t>2026年8月17日</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調達金額 vs データ処理効率</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今回の調達額</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数億元(正確な金額は非公開)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データ処理効率の改善</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従来比10倍以上(同社発表)</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既存株主の対応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紅杉中国・元啓創新も増資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既存投資家が追加出資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今回の調達の3つの注目ポイント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大手通信キャリアが主導する大型調達</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半年で複数回という急成長ペース</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3A5C"/>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データ処理効率10倍以上を掲げる技術</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フィジカルAI・ロボティクスに関心がある層に関係する情報</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中国発のデータ基盤スタートアップの成長事例としての価値</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タイムライン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3A5C"/>
                    </a:solidFill>
                  </a:tcPr>
                </a:tc>
                <a:tc>
                  <a:txBody>
                    <a:bodyPr/>
                    <a:lstStyle/>
                    <a:p>
                      <a:pPr>
                        <a:defRPr sz="1300" b="1">
                          <a:solidFill>
                            <a:srgbClr val="FFFFFF"/>
                          </a:solidFill>
                          <a:latin typeface="Yu Gothic"/>
                        </a:defRPr>
                      </a:pPr>
                      <a:r>
                        <a:t>できごと</a:t>
                      </a:r>
                    </a:p>
                  </a:txBody>
                  <a:tcPr>
                    <a:solidFill>
                      <a:srgbClr val="1B3A5C"/>
                    </a:solidFill>
                  </a:tcPr>
                </a:tc>
              </a:tr>
              <a:tr h="502920">
                <a:tc>
                  <a:txBody>
                    <a:bodyPr/>
                    <a:lstStyle/>
                    <a:p>
                      <a:pPr>
                        <a:defRPr sz="1200">
                          <a:solidFill>
                            <a:srgbClr val="16202E"/>
                          </a:solidFill>
                          <a:latin typeface="Yu Gothic"/>
                        </a:defRPr>
                      </a:pPr>
                      <a:r>
                        <a:t>2026年初め</a:t>
                      </a:r>
                    </a:p>
                  </a:txBody>
                  <a:tcPr>
                    <a:solidFill>
                      <a:srgbClr val="FFFFFF"/>
                    </a:solidFill>
                  </a:tcPr>
                </a:tc>
                <a:tc>
                  <a:txBody>
                    <a:bodyPr/>
                    <a:lstStyle/>
                    <a:p>
                      <a:pPr>
                        <a:defRPr sz="1200">
                          <a:solidFill>
                            <a:srgbClr val="16202E"/>
                          </a:solidFill>
                          <a:latin typeface="Yu Gothic"/>
                        </a:defRPr>
                      </a:pPr>
                      <a:r>
                        <a:t>覓蜂科技設立</a:t>
                      </a:r>
                    </a:p>
                  </a:txBody>
                  <a:tcPr>
                    <a:solidFill>
                      <a:srgbClr val="FFFFFF"/>
                    </a:solidFill>
                  </a:tcPr>
                </a:tc>
              </a:tr>
              <a:tr h="502920">
                <a:tc>
                  <a:txBody>
                    <a:bodyPr/>
                    <a:lstStyle/>
                    <a:p>
                      <a:pPr>
                        <a:defRPr sz="1200">
                          <a:solidFill>
                            <a:srgbClr val="16202E"/>
                          </a:solidFill>
                          <a:latin typeface="Yu Gothic"/>
                        </a:defRPr>
                      </a:pPr>
                      <a:r>
                        <a:t>設立後半年</a:t>
                      </a:r>
                    </a:p>
                  </a:txBody>
                  <a:tcPr>
                    <a:solidFill>
                      <a:srgbClr val="F2F6FA"/>
                    </a:solidFill>
                  </a:tcPr>
                </a:tc>
                <a:tc>
                  <a:txBody>
                    <a:bodyPr/>
                    <a:lstStyle/>
                    <a:p>
                      <a:pPr>
                        <a:defRPr sz="1200">
                          <a:solidFill>
                            <a:srgbClr val="16202E"/>
                          </a:solidFill>
                          <a:latin typeface="Yu Gothic"/>
                        </a:defRPr>
                      </a:pPr>
                      <a:r>
                        <a:t>複数回の資金調達を連続完了</a:t>
                      </a:r>
                    </a:p>
                  </a:txBody>
                  <a:tcPr>
                    <a:solidFill>
                      <a:srgbClr val="F2F6FA"/>
                    </a:solidFill>
                  </a:tcPr>
                </a:tc>
              </a:tr>
              <a:tr h="502920">
                <a:tc>
                  <a:txBody>
                    <a:bodyPr/>
                    <a:lstStyle/>
                    <a:p>
                      <a:pPr>
                        <a:defRPr sz="1200">
                          <a:solidFill>
                            <a:srgbClr val="16202E"/>
                          </a:solidFill>
                          <a:latin typeface="Yu Gothic"/>
                        </a:defRPr>
                      </a:pPr>
                      <a:r>
                        <a:t>2026年8月17日</a:t>
                      </a:r>
                    </a:p>
                  </a:txBody>
                  <a:tcPr>
                    <a:solidFill>
                      <a:srgbClr val="FFFFFF"/>
                    </a:solidFill>
                  </a:tcPr>
                </a:tc>
                <a:tc>
                  <a:txBody>
                    <a:bodyPr/>
                    <a:lstStyle/>
                    <a:p>
                      <a:pPr>
                        <a:defRPr sz="1200">
                          <a:solidFill>
                            <a:srgbClr val="16202E"/>
                          </a:solidFill>
                          <a:latin typeface="Yu Gothic"/>
                        </a:defRPr>
                      </a:pPr>
                      <a:r>
                        <a:t>中国電信主導の新ラウンド発表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今後注目される点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「MEgoシリーズ」の量産規模拡大の進捗</a:t>
            </a:r>
          </a:p>
        </p:txBody>
      </p:sp>
      <p:sp>
        <p:nvSpPr>
          <p:cNvPr id="8" name="Oval 7"/>
          <p:cNvSpPr/>
          <p:nvPr/>
        </p:nvSpPr>
        <p:spPr>
          <a:xfrm>
            <a:off x="457200" y="225856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今回の調達金額の今後の開示</a:t>
            </a:r>
          </a:p>
        </p:txBody>
      </p:sp>
      <p:sp>
        <p:nvSpPr>
          <p:cNvPr id="10" name="Oval 9"/>
          <p:cNvSpPr/>
          <p:nvPr/>
        </p:nvSpPr>
        <p:spPr>
          <a:xfrm>
            <a:off x="457200" y="30358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中国電信主導で数億元調達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覓蜂科技、半年で複数回の資金調達(2026年8月17日)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网易/163.com(2026-08-17)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参加投資家の一覧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投資家</a:t>
                      </a:r>
                    </a:p>
                  </a:txBody>
                  <a:tcPr>
                    <a:solidFill>
                      <a:srgbClr val="1B3A5C"/>
                    </a:solidFill>
                  </a:tcPr>
                </a:tc>
                <a:tc>
                  <a:txBody>
                    <a:bodyPr/>
                    <a:lstStyle/>
                    <a:p>
                      <a:pPr>
                        <a:defRPr sz="1300" b="1">
                          <a:solidFill>
                            <a:srgbClr val="FFFFFF"/>
                          </a:solidFill>
                          <a:latin typeface="Yu Gothic"/>
                        </a:defRPr>
                      </a:pPr>
                      <a:r>
                        <a:t>位置づけ</a:t>
                      </a:r>
                    </a:p>
                  </a:txBody>
                  <a:tcPr>
                    <a:solidFill>
                      <a:srgbClr val="1B3A5C"/>
                    </a:solidFill>
                  </a:tcPr>
                </a:tc>
              </a:tr>
              <a:tr h="502920">
                <a:tc>
                  <a:txBody>
                    <a:bodyPr/>
                    <a:lstStyle/>
                    <a:p>
                      <a:pPr>
                        <a:defRPr sz="1200">
                          <a:solidFill>
                            <a:srgbClr val="16202E"/>
                          </a:solidFill>
                          <a:latin typeface="Yu Gothic"/>
                        </a:defRPr>
                      </a:pPr>
                      <a:r>
                        <a:t>中国電信</a:t>
                      </a:r>
                    </a:p>
                  </a:txBody>
                  <a:tcPr>
                    <a:solidFill>
                      <a:srgbClr val="FFFFFF"/>
                    </a:solidFill>
                  </a:tcPr>
                </a:tc>
                <a:tc>
                  <a:txBody>
                    <a:bodyPr/>
                    <a:lstStyle/>
                    <a:p>
                      <a:pPr>
                        <a:defRPr sz="1200">
                          <a:solidFill>
                            <a:srgbClr val="16202E"/>
                          </a:solidFill>
                          <a:latin typeface="Yu Gothic"/>
                        </a:defRPr>
                      </a:pPr>
                      <a:r>
                        <a:t>今回のラウンドをリード</a:t>
                      </a:r>
                    </a:p>
                  </a:txBody>
                  <a:tcPr>
                    <a:solidFill>
                      <a:srgbClr val="FFFFFF"/>
                    </a:solidFill>
                  </a:tcPr>
                </a:tc>
              </a:tr>
              <a:tr h="502920">
                <a:tc>
                  <a:txBody>
                    <a:bodyPr/>
                    <a:lstStyle/>
                    <a:p>
                      <a:pPr>
                        <a:defRPr sz="1200">
                          <a:solidFill>
                            <a:srgbClr val="16202E"/>
                          </a:solidFill>
                          <a:latin typeface="Yu Gothic"/>
                        </a:defRPr>
                      </a:pPr>
                      <a:r>
                        <a:t>張江集団</a:t>
                      </a:r>
                    </a:p>
                  </a:txBody>
                  <a:tcPr>
                    <a:solidFill>
                      <a:srgbClr val="F2F6FA"/>
                    </a:solidFill>
                  </a:tcPr>
                </a:tc>
                <a:tc>
                  <a:txBody>
                    <a:bodyPr/>
                    <a:lstStyle/>
                    <a:p>
                      <a:pPr>
                        <a:defRPr sz="1200">
                          <a:solidFill>
                            <a:srgbClr val="16202E"/>
                          </a:solidFill>
                          <a:latin typeface="Yu Gothic"/>
                        </a:defRPr>
                      </a:pPr>
                      <a:r>
                        <a:t>追加出資</a:t>
                      </a:r>
                    </a:p>
                  </a:txBody>
                  <a:tcPr>
                    <a:solidFill>
                      <a:srgbClr val="F2F6FA"/>
                    </a:solidFill>
                  </a:tcPr>
                </a:tc>
              </a:tr>
              <a:tr h="502920">
                <a:tc>
                  <a:txBody>
                    <a:bodyPr/>
                    <a:lstStyle/>
                    <a:p>
                      <a:pPr>
                        <a:defRPr sz="1200">
                          <a:solidFill>
                            <a:srgbClr val="16202E"/>
                          </a:solidFill>
                          <a:latin typeface="Yu Gothic"/>
                        </a:defRPr>
                      </a:pPr>
                      <a:r>
                        <a:t>紅杉中国・元啓創新</a:t>
                      </a:r>
                    </a:p>
                  </a:txBody>
                  <a:tcPr>
                    <a:solidFill>
                      <a:srgbClr val="FFFFFF"/>
                    </a:solidFill>
                  </a:tcPr>
                </a:tc>
                <a:tc>
                  <a:txBody>
                    <a:bodyPr/>
                    <a:lstStyle/>
                    <a:p>
                      <a:pPr>
                        <a:defRPr sz="1200">
                          <a:solidFill>
                            <a:srgbClr val="16202E"/>
                          </a:solidFill>
                          <a:latin typeface="Yu Gothic"/>
                        </a:defRPr>
                      </a:pPr>
                      <a:r>
                        <a:t>既存株主として増資</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网易/163.com(2026-08-17)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网易/163.com等(2026-08-17)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