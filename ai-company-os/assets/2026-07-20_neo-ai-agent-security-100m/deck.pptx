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AIエージェントが暴走する前に。セキュリティ界の精鋭が、1億ドルで挑みます。AIセキュリティ企業Neoが、資金調達を発表しました。今日はこの話題をお届けします。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今日わかることは6つです。何が起きたのか、Neoとはどんな会社か、AIエージェントの新しいセキュリティ課題、資金調達の内訳、確認できたこと・できなかったこと、そして今後の見通しです。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何が起きたのか整理します。Neoが2026年7月20日、ステルスを脱し1億ドルの資金調達を発表しました。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調達額はこちら、1億ドルです。AIセキュリティ分野への注目度の高さがうかがえます。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調達概要を表にまとめました。企業名はNeo、調達額は1億ドルです。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Neoとはどんな会社か紹介します。元SentinelOne幹部らが創業し、AIエージェントの普及によるセキュリティ課題の解決を目指しています。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AIエージェント普及の背景を概要で紹介します。AIエージェントの利用拡大とともに、新しいセキュリティリスクが生まれているとされています。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創業チームの経歴を見ていきます。SentinelOneやWiz、Palo Alto Networksといった著名サイバーセキュリティ企業出身者で構成されています。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資金調達の構成です。2025年の非公開シード2,500万ドルと、今回のシリーズA7,500万ドルを合わせて1億ドルとなります。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参加した投資家です。Andreessen HorowitzとBessemer Venture Partnersが主導しています。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改めて数字を確認します。シリーズAの調達額は7,500万ドルです。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AIエージェントの新しいセキュリティ課題を報道から整理します。自律的な行動、権限管理の複雑化が課題として挙げられています。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ここで確認できたこと・できなかったことを正直に整理します。調達額等は複数媒体で一致していますが、製品機能の詳細は確認できていません。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Neoの創業から資金調達までの流れです。2025年の非公開シードから、2026年7月のステルス脱却へとつながっています。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鮮度について正直に開示します。本発表は着手日の約2週間前であり、鮮度基準を厳密には満たしていませんが、以前のラウンドと比べ改善しています。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シード調達額を確認します。2025年に完了していた非公開のシードは2,500万ドルです。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AIセキュリティ企業の系譜を概要で紹介します。従来型セキュリティ企業出身者が、AIエージェント専用の新企業を創業する動きが見られます。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初心者向けにAIエージェントセキュリティを説明します。自律的に動くAIエージェント特有のリスクを管理する技術です。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出典一覧です。Calcalistech・Ynetnews・Yahoo Finance・citybizという、独立した複数の技術・金融専門媒体です。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調達概要を再確認します。Neoが、合計1億ドルを調達しました。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既存テーマとの関係を確認しました。Neoを主題として扱った既存テーマはなく、重複ではありません。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ここからは推測です。AIエージェントセキュリティ分野への投資がさらに拡大する可能性があります。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創業チームの出身企業数を確認します。SentinelOne・Wiz・Palo Alto Networksという、3社以上の著名企業出身者が集まっています。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従来型セキュリティとAIエージェントセキュリティの違いを概要で比較します。自律的に動くAIエージェント特有のリスク管理が求められています。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今後の展開を概要で示します。製品開発の継続、顧客開拓を経て、業界内での評価が注目されます。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リスクと課題を正直に開示します。具体的な製品機能・技術詳細は確認できていません。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本テーマで大切にしたことを紹介します。出典の明記、正直な開示、中立性の3点です。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主導投資家数を確認します。Andreessen HorowitzとBessemer Venture Partnersの2社が主導しています。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皆さんはこのAIエージェントセキュリティ、どう見ますか。AIエージェント時代のセキュリティ対策、今後も注目していきましょう。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まとめです。Neoが2026年7月20日、1億ドルの資金調達を発表しました。今回もご視聴ありがとうございました。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AIエージェントが暴走する前に。セキュリティ界の精鋭が1億ドルで挑む</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Neo、AIエージェントセキュリティで1億ドルを調達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Calcalistech・Ynetnews ほか(2026-07-20)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Neoとはどんな会社か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AIエージェントの新しいセキュリティ課題</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資金調達の内訳</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確認できたこと・できなかったこと</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Neoが2026年7月20日、ステルスを脱し1億ドルの資金調達を発表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創業者は元SentinelOne幹部のニック・ウォーカー氏・シュロミ・サレム氏ら</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企業内でのAIエージェントの急速な普及を背景にしたセキュリティ企業</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シリーズA7,500万ドル+シード2,500万ドルで構成</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Calcalistech(2026-07-20)</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シリーズA+シードの合計(2026年7月20日発表)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Ynetnews(2026-07)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調達概要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企業名</a:t>
                      </a:r>
                    </a:p>
                  </a:txBody>
                  <a:tcPr>
                    <a:solidFill>
                      <a:srgbClr val="FFFFFF"/>
                    </a:solidFill>
                  </a:tcPr>
                </a:tc>
                <a:tc>
                  <a:txBody>
                    <a:bodyPr/>
                    <a:lstStyle/>
                    <a:p>
                      <a:pPr>
                        <a:defRPr sz="1200">
                          <a:solidFill>
                            <a:srgbClr val="1A1A2E"/>
                          </a:solidFill>
                          <a:latin typeface="Yu Gothic"/>
                        </a:defRPr>
                      </a:pPr>
                      <a:r>
                        <a:t>Neo</a:t>
                      </a:r>
                    </a:p>
                  </a:txBody>
                  <a:tcPr>
                    <a:solidFill>
                      <a:srgbClr val="FFFFFF"/>
                    </a:solidFill>
                  </a:tcPr>
                </a:tc>
              </a:tr>
              <a:tr h="502920">
                <a:tc>
                  <a:txBody>
                    <a:bodyPr/>
                    <a:lstStyle/>
                    <a:p>
                      <a:pPr>
                        <a:defRPr sz="1200">
                          <a:solidFill>
                            <a:srgbClr val="1A1A2E"/>
                          </a:solidFill>
                          <a:latin typeface="Yu Gothic"/>
                        </a:defRPr>
                      </a:pPr>
                      <a:r>
                        <a:t>調達額</a:t>
                      </a:r>
                    </a:p>
                  </a:txBody>
                  <a:tcPr>
                    <a:solidFill>
                      <a:srgbClr val="F3F6FC"/>
                    </a:solidFill>
                  </a:tcPr>
                </a:tc>
                <a:tc>
                  <a:txBody>
                    <a:bodyPr/>
                    <a:lstStyle/>
                    <a:p>
                      <a:pPr>
                        <a:defRPr sz="1200">
                          <a:solidFill>
                            <a:srgbClr val="1A1A2E"/>
                          </a:solidFill>
                          <a:latin typeface="Yu Gothic"/>
                        </a:defRPr>
                      </a:pPr>
                      <a:r>
                        <a:t>1億ドル(シリーズA7,500万ドル+シード2,500万ドル)</a:t>
                      </a:r>
                    </a:p>
                  </a:txBody>
                  <a:tcPr>
                    <a:solidFill>
                      <a:srgbClr val="F3F6FC"/>
                    </a:solidFill>
                  </a:tcPr>
                </a:tc>
              </a:tr>
              <a:tr h="502920">
                <a:tc>
                  <a:txBody>
                    <a:bodyPr/>
                    <a:lstStyle/>
                    <a:p>
                      <a:pPr>
                        <a:defRPr sz="1200">
                          <a:solidFill>
                            <a:srgbClr val="1A1A2E"/>
                          </a:solidFill>
                          <a:latin typeface="Yu Gothic"/>
                        </a:defRPr>
                      </a:pPr>
                      <a:r>
                        <a:t>主導投資家</a:t>
                      </a:r>
                    </a:p>
                  </a:txBody>
                  <a:tcPr>
                    <a:solidFill>
                      <a:srgbClr val="FFFFFF"/>
                    </a:solidFill>
                  </a:tcPr>
                </a:tc>
                <a:tc>
                  <a:txBody>
                    <a:bodyPr/>
                    <a:lstStyle/>
                    <a:p>
                      <a:pPr>
                        <a:defRPr sz="1200">
                          <a:solidFill>
                            <a:srgbClr val="1A1A2E"/>
                          </a:solidFill>
                          <a:latin typeface="Yu Gothic"/>
                        </a:defRPr>
                      </a:pPr>
                      <a:r>
                        <a:t>Andreessen Horowitz・Bessemer Venture Partners</a:t>
                      </a:r>
                    </a:p>
                  </a:txBody>
                  <a:tcPr>
                    <a:solidFill>
                      <a:srgbClr val="FFFFFF"/>
                    </a:solidFill>
                  </a:tcPr>
                </a:tc>
              </a:tr>
              <a:tr h="502920">
                <a:tc>
                  <a:txBody>
                    <a:bodyPr/>
                    <a:lstStyle/>
                    <a:p>
                      <a:pPr>
                        <a:defRPr sz="1200">
                          <a:solidFill>
                            <a:srgbClr val="1A1A2E"/>
                          </a:solidFill>
                          <a:latin typeface="Yu Gothic"/>
                        </a:defRPr>
                      </a:pPr>
                      <a:r>
                        <a:t>発表日</a:t>
                      </a:r>
                    </a:p>
                  </a:txBody>
                  <a:tcPr>
                    <a:solidFill>
                      <a:srgbClr val="F3F6FC"/>
                    </a:solidFill>
                  </a:tcPr>
                </a:tc>
                <a:tc>
                  <a:txBody>
                    <a:bodyPr/>
                    <a:lstStyle/>
                    <a:p>
                      <a:pPr>
                        <a:defRPr sz="1200">
                          <a:solidFill>
                            <a:srgbClr val="1A1A2E"/>
                          </a:solidFill>
                          <a:latin typeface="Yu Gothic"/>
                        </a:defRPr>
                      </a:pPr>
                      <a:r>
                        <a:t>2026年7月20日</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Neoとは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創業の背景</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元SentinelOne幹部ニック・ウォーカー氏・シュロミ・サレム氏らが創業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解決する課題</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企業内でのAIエージェントの急速な普及によるセキュリティ課題</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チーム構成</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Wiz・Palo Alto Networks出身のメンバーも参加</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AIエージェント普及の背景(概要)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AIエージェントの導入拡大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企業内でAIエージェントの利用が急速に拡大</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新しいセキュリティリスク</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従来のセキュリティ対策では対応しきれない課題が発生</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専用セキュリティ企業の登場</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AIエージェント専用のセキュリティ対策企業が増加</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創業チームの経歴</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ニック・ウォーカー氏: 元SentinelOne幹部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シュロミ・サレム氏: 元SentinelOne幹部</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エラン・シラジ氏: EasySend共同創業者</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チームにはWiz・Palo Alto Networks出身のメンバーも含まれる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Calcalistech</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資金調達の構成</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シード(2025年)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2,500万ドル(非公開で完了)</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シリーズA(2026年)</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7,500万ドル、a16z・Bessemer主導</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合計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1億ドル</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参加した投資家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1E2761"/>
                    </a:solidFill>
                  </a:tcPr>
                </a:tc>
                <a:tc>
                  <a:txBody>
                    <a:bodyPr/>
                    <a:lstStyle/>
                    <a:p>
                      <a:pPr>
                        <a:defRPr sz="1300" b="1">
                          <a:solidFill>
                            <a:srgbClr val="FFFFFF"/>
                          </a:solidFill>
                          <a:latin typeface="Yu Gothic"/>
                        </a:defRPr>
                      </a:pPr>
                      <a:r>
                        <a:t>役割</a:t>
                      </a:r>
                    </a:p>
                  </a:txBody>
                  <a:tcPr>
                    <a:solidFill>
                      <a:srgbClr val="1E2761"/>
                    </a:solidFill>
                  </a:tcPr>
                </a:tc>
              </a:tr>
              <a:tr h="502920">
                <a:tc>
                  <a:txBody>
                    <a:bodyPr/>
                    <a:lstStyle/>
                    <a:p>
                      <a:pPr>
                        <a:defRPr sz="1200">
                          <a:solidFill>
                            <a:srgbClr val="1A1A2E"/>
                          </a:solidFill>
                          <a:latin typeface="Yu Gothic"/>
                        </a:defRPr>
                      </a:pPr>
                      <a:r>
                        <a:t>Andreessen Horowitz</a:t>
                      </a:r>
                    </a:p>
                  </a:txBody>
                  <a:tcPr>
                    <a:solidFill>
                      <a:srgbClr val="FFFFFF"/>
                    </a:solidFill>
                  </a:tcPr>
                </a:tc>
                <a:tc>
                  <a:txBody>
                    <a:bodyPr/>
                    <a:lstStyle/>
                    <a:p>
                      <a:pPr>
                        <a:defRPr sz="1200">
                          <a:solidFill>
                            <a:srgbClr val="1A1A2E"/>
                          </a:solidFill>
                          <a:latin typeface="Yu Gothic"/>
                        </a:defRPr>
                      </a:pPr>
                      <a:r>
                        <a:t>シリーズA主導</a:t>
                      </a:r>
                    </a:p>
                  </a:txBody>
                  <a:tcPr>
                    <a:solidFill>
                      <a:srgbClr val="FFFFFF"/>
                    </a:solidFill>
                  </a:tcPr>
                </a:tc>
              </a:tr>
              <a:tr h="502920">
                <a:tc>
                  <a:txBody>
                    <a:bodyPr/>
                    <a:lstStyle/>
                    <a:p>
                      <a:pPr>
                        <a:defRPr sz="1200">
                          <a:solidFill>
                            <a:srgbClr val="1A1A2E"/>
                          </a:solidFill>
                          <a:latin typeface="Yu Gothic"/>
                        </a:defRPr>
                      </a:pPr>
                      <a:r>
                        <a:t>Bessemer Venture Partners</a:t>
                      </a:r>
                    </a:p>
                  </a:txBody>
                  <a:tcPr>
                    <a:solidFill>
                      <a:srgbClr val="F3F6FC"/>
                    </a:solidFill>
                  </a:tcPr>
                </a:tc>
                <a:tc>
                  <a:txBody>
                    <a:bodyPr/>
                    <a:lstStyle/>
                    <a:p>
                      <a:pPr>
                        <a:defRPr sz="1200">
                          <a:solidFill>
                            <a:srgbClr val="1A1A2E"/>
                          </a:solidFill>
                          <a:latin typeface="Yu Gothic"/>
                        </a:defRPr>
                      </a:pPr>
                      <a:r>
                        <a:t>シリーズA主導</a:t>
                      </a:r>
                    </a:p>
                  </a:txBody>
                  <a:tcPr>
                    <a:solidFill>
                      <a:srgbClr val="F3F6FC"/>
                    </a:solidFill>
                  </a:tcPr>
                </a:tc>
              </a:tr>
              <a:tr h="502920">
                <a:tc>
                  <a:txBody>
                    <a:bodyPr/>
                    <a:lstStyle/>
                    <a:p>
                      <a:pPr>
                        <a:defRPr sz="1200">
                          <a:solidFill>
                            <a:srgbClr val="1A1A2E"/>
                          </a:solidFill>
                          <a:latin typeface="Yu Gothic"/>
                        </a:defRPr>
                      </a:pPr>
                      <a:r>
                        <a:t>Craft Ventures</a:t>
                      </a:r>
                    </a:p>
                  </a:txBody>
                  <a:tcPr>
                    <a:solidFill>
                      <a:srgbClr val="FFFFFF"/>
                    </a:solidFill>
                  </a:tcPr>
                </a:tc>
                <a:tc>
                  <a:txBody>
                    <a:bodyPr/>
                    <a:lstStyle/>
                    <a:p>
                      <a:pPr>
                        <a:defRPr sz="1200">
                          <a:solidFill>
                            <a:srgbClr val="1A1A2E"/>
                          </a:solidFill>
                          <a:latin typeface="Yu Gothic"/>
                        </a:defRPr>
                      </a:pPr>
                      <a:r>
                        <a:t>参加</a:t>
                      </a:r>
                    </a:p>
                  </a:txBody>
                  <a:tcPr>
                    <a:solidFill>
                      <a:srgbClr val="FFFFFF"/>
                    </a:solidFill>
                  </a:tcPr>
                </a:tc>
              </a:tr>
              <a:tr h="502920">
                <a:tc>
                  <a:txBody>
                    <a:bodyPr/>
                    <a:lstStyle/>
                    <a:p>
                      <a:pPr>
                        <a:defRPr sz="1200">
                          <a:solidFill>
                            <a:srgbClr val="1A1A2E"/>
                          </a:solidFill>
                          <a:latin typeface="Yu Gothic"/>
                        </a:defRPr>
                      </a:pPr>
                      <a:r>
                        <a:t>Merlin Ventures</a:t>
                      </a:r>
                    </a:p>
                  </a:txBody>
                  <a:tcPr>
                    <a:solidFill>
                      <a:srgbClr val="F3F6FC"/>
                    </a:solidFill>
                  </a:tcPr>
                </a:tc>
                <a:tc>
                  <a:txBody>
                    <a:bodyPr/>
                    <a:lstStyle/>
                    <a:p>
                      <a:pPr>
                        <a:defRPr sz="1200">
                          <a:solidFill>
                            <a:srgbClr val="1A1A2E"/>
                          </a:solidFill>
                          <a:latin typeface="Yu Gothic"/>
                        </a:defRPr>
                      </a:pPr>
                      <a:r>
                        <a:t>参加</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シリーズA調達額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7,500万ドル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Andreessen Horowitz・Bessemer Venture Partners主導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Calcalistech(2026-07-20)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AIエージェントの新しいセキュリティ課題(報道からの整理)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自律的な行動</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AIエージェントが人手を介さず自律的にタスクを実行する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権限管理の複雑化</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エージェントに与える権限の管理が新たな課題となる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従来対策との違い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従来の人間向けセキュリティ対策では対応しきれない部分がある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調達額・投資家・創業者の経歴は複数媒体で一致</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Neoの具体的な製品機能・技術詳細は確認できていない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現在の導入実績・顧客数は確認できていない</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Neo公式プレスリリース原文全体までは確認できていない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Neoの創業から資金調達までの流れ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2025年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非公開シード2,500万ドル完了</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2026年7月20日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ステルスを脱しシリーズA発表</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合計1億ドル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AIエージェントセキュリティ市場に参入</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鮮度についての正直な開示(重要)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本発表は着手日の約2週間前(2026年7月20日)である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`docs/06_Content_R&amp;D.md`の鮮度基準(着手日の前日以内)を厳密には満たしていない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ただしround72(約40日前)と比べると鮮度は大きく改善している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シード調達額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2,500万ドル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2025年に完了していた非公開シード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Calcalistech(2026-07-20)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AIセキュリティ企業の系譜(概要)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従来型セキュリティ企業</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SentinelOne等が人間向けの脅威検知を提供</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AIエージェント時代の到来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企業内でAIエージェントの利用が拡大</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専門企業の独立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元幹部らがAIエージェント専用のセキュリティ企業を創業</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 AIエージェントセキュリティとは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AIエージェント</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人間の指示なしに自律的にタスクを実行するAIプログラム</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セキュリティ課題</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権限の悪用・誤動作等のリスクが新たに生じる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Neoの役割</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こうしたリスクを管理・防止する技術を提供する企業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日付</a:t>
                      </a:r>
                    </a:p>
                  </a:txBody>
                  <a:tcPr>
                    <a:solidFill>
                      <a:srgbClr val="1E2761"/>
                    </a:solidFill>
                  </a:tcPr>
                </a:tc>
              </a:tr>
              <a:tr h="502920">
                <a:tc>
                  <a:txBody>
                    <a:bodyPr/>
                    <a:lstStyle/>
                    <a:p>
                      <a:pPr>
                        <a:defRPr sz="1200">
                          <a:solidFill>
                            <a:srgbClr val="1A1A2E"/>
                          </a:solidFill>
                          <a:latin typeface="Yu Gothic"/>
                        </a:defRPr>
                      </a:pPr>
                      <a:r>
                        <a:t>Calcalistech</a:t>
                      </a:r>
                    </a:p>
                  </a:txBody>
                  <a:tcPr>
                    <a:solidFill>
                      <a:srgbClr val="FFFFFF"/>
                    </a:solidFill>
                  </a:tcPr>
                </a:tc>
                <a:tc>
                  <a:txBody>
                    <a:bodyPr/>
                    <a:lstStyle/>
                    <a:p>
                      <a:pPr>
                        <a:defRPr sz="1200">
                          <a:solidFill>
                            <a:srgbClr val="1A1A2E"/>
                          </a:solidFill>
                          <a:latin typeface="Yu Gothic"/>
                        </a:defRPr>
                      </a:pPr>
                      <a:r>
                        <a:t>2026-07-20</a:t>
                      </a:r>
                    </a:p>
                  </a:txBody>
                  <a:tcPr>
                    <a:solidFill>
                      <a:srgbClr val="FFFFFF"/>
                    </a:solidFill>
                  </a:tcPr>
                </a:tc>
              </a:tr>
              <a:tr h="502920">
                <a:tc>
                  <a:txBody>
                    <a:bodyPr/>
                    <a:lstStyle/>
                    <a:p>
                      <a:pPr>
                        <a:defRPr sz="1200">
                          <a:solidFill>
                            <a:srgbClr val="1A1A2E"/>
                          </a:solidFill>
                          <a:latin typeface="Yu Gothic"/>
                        </a:defRPr>
                      </a:pPr>
                      <a:r>
                        <a:t>Ynetnews</a:t>
                      </a:r>
                    </a:p>
                  </a:txBody>
                  <a:tcPr>
                    <a:solidFill>
                      <a:srgbClr val="F3F6FC"/>
                    </a:solidFill>
                  </a:tcPr>
                </a:tc>
                <a:tc>
                  <a:txBody>
                    <a:bodyPr/>
                    <a:lstStyle/>
                    <a:p>
                      <a:pPr>
                        <a:defRPr sz="1200">
                          <a:solidFill>
                            <a:srgbClr val="1A1A2E"/>
                          </a:solidFill>
                          <a:latin typeface="Yu Gothic"/>
                        </a:defRPr>
                      </a:pPr>
                      <a:r>
                        <a:t>2026-07</a:t>
                      </a:r>
                    </a:p>
                  </a:txBody>
                  <a:tcPr>
                    <a:solidFill>
                      <a:srgbClr val="F3F6FC"/>
                    </a:solidFill>
                  </a:tcPr>
                </a:tc>
              </a:tr>
              <a:tr h="502920">
                <a:tc>
                  <a:txBody>
                    <a:bodyPr/>
                    <a:lstStyle/>
                    <a:p>
                      <a:pPr>
                        <a:defRPr sz="1200">
                          <a:solidFill>
                            <a:srgbClr val="1A1A2E"/>
                          </a:solidFill>
                          <a:latin typeface="Yu Gothic"/>
                        </a:defRPr>
                      </a:pPr>
                      <a:r>
                        <a:t>Yahoo Finance</a:t>
                      </a:r>
                    </a:p>
                  </a:txBody>
                  <a:tcPr>
                    <a:solidFill>
                      <a:srgbClr val="FFFFFF"/>
                    </a:solidFill>
                  </a:tcPr>
                </a:tc>
                <a:tc>
                  <a:txBody>
                    <a:bodyPr/>
                    <a:lstStyle/>
                    <a:p>
                      <a:pPr>
                        <a:defRPr sz="1200">
                          <a:solidFill>
                            <a:srgbClr val="1A1A2E"/>
                          </a:solidFill>
                          <a:latin typeface="Yu Gothic"/>
                        </a:defRPr>
                      </a:pPr>
                      <a:r>
                        <a:t>2026-07-29</a:t>
                      </a:r>
                    </a:p>
                  </a:txBody>
                  <a:tcPr>
                    <a:solidFill>
                      <a:srgbClr val="FFFFFF"/>
                    </a:solidFill>
                  </a:tcPr>
                </a:tc>
              </a:tr>
              <a:tr h="502920">
                <a:tc>
                  <a:txBody>
                    <a:bodyPr/>
                    <a:lstStyle/>
                    <a:p>
                      <a:pPr>
                        <a:defRPr sz="1200">
                          <a:solidFill>
                            <a:srgbClr val="1A1A2E"/>
                          </a:solidFill>
                          <a:latin typeface="Yu Gothic"/>
                        </a:defRPr>
                      </a:pPr>
                      <a:r>
                        <a:t>citybiz</a:t>
                      </a:r>
                    </a:p>
                  </a:txBody>
                  <a:tcPr>
                    <a:solidFill>
                      <a:srgbClr val="F3F6FC"/>
                    </a:solidFill>
                  </a:tcPr>
                </a:tc>
                <a:tc>
                  <a:txBody>
                    <a:bodyPr/>
                    <a:lstStyle/>
                    <a:p>
                      <a:pPr>
                        <a:defRPr sz="1200">
                          <a:solidFill>
                            <a:srgbClr val="1A1A2E"/>
                          </a:solidFill>
                          <a:latin typeface="Yu Gothic"/>
                        </a:defRPr>
                      </a:pPr>
                      <a:r>
                        <a:t>2026-07</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調達概要の再確認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企業名: Neo</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調達額: 1億ドル(シリーズA7,500万ドル+シード2,500万ドル)</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主導投資家: Andreessen Horowitz・Bessemer Venture Partners</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発表日: 2026年7月20日</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Neoを主題としたテーマ</a:t>
                      </a:r>
                    </a:p>
                  </a:txBody>
                  <a:tcPr>
                    <a:solidFill>
                      <a:srgbClr val="FFFFFF"/>
                    </a:solidFill>
                  </a:tcPr>
                </a:tc>
                <a:tc>
                  <a:txBody>
                    <a:bodyPr/>
                    <a:lstStyle/>
                    <a:p>
                      <a:pPr>
                        <a:defRPr sz="1200">
                          <a:solidFill>
                            <a:srgbClr val="1A1A2E"/>
                          </a:solidFill>
                          <a:latin typeface="Yu Gothic"/>
                        </a:defRPr>
                      </a:pPr>
                      <a:r>
                        <a:t>既存121テーマになし</a:t>
                      </a:r>
                    </a:p>
                  </a:txBody>
                  <a:tcPr>
                    <a:solidFill>
                      <a:srgbClr val="FFFFFF"/>
                    </a:solidFill>
                  </a:tcPr>
                </a:tc>
              </a:tr>
              <a:tr h="502920">
                <a:tc>
                  <a:txBody>
                    <a:bodyPr/>
                    <a:lstStyle/>
                    <a:p>
                      <a:pPr>
                        <a:defRPr sz="1200">
                          <a:solidFill>
                            <a:srgbClr val="1A1A2E"/>
                          </a:solidFill>
                          <a:latin typeface="Yu Gothic"/>
                        </a:defRPr>
                      </a:pPr>
                      <a:r>
                        <a:t>判定</a:t>
                      </a:r>
                    </a:p>
                  </a:txBody>
                  <a:tcPr>
                    <a:solidFill>
                      <a:srgbClr val="F3F6FC"/>
                    </a:solidFill>
                  </a:tcPr>
                </a:tc>
                <a:tc>
                  <a:txBody>
                    <a:bodyPr/>
                    <a:lstStyle/>
                    <a:p>
                      <a:pPr>
                        <a:defRPr sz="1200">
                          <a:solidFill>
                            <a:srgbClr val="1A1A2E"/>
                          </a:solidFill>
                          <a:latin typeface="Yu Gothic"/>
                        </a:defRPr>
                      </a:pPr>
                      <a:r>
                        <a:t>重複ではない</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ここからは推測ですが、AIエージェントセキュリティ分野への投資がさらに拡大する可能性がある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従来型セキュリティ企業出身者による新興企業の設立が続く可能性がある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企業向けAIエージェント導入の安全性への関心が高まると見られる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創業チームの出身企業数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3社以上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SentinelOne・Wiz・Palo Alto Networks</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Calcalistech(2026-07-20)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従来型セキュリティとAIエージェントセキュリティの違い(概要)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従来型セキュリティ</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人間のユーザーの行動を監視・防御</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既知の脅威パターンへの対応が中心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AIエージェントセキュリティ</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自律的に動くAIエージェントの権限・行動を管理</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新しい種類のリスクへの対応が求められる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今後の展開(概要)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製品開発の継続</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AIエージェントセキュリティ技術の磨き込み</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顧客開拓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企業向けセキュリティ製品の展開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業界での評価</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著名投資家の支援を受けた注目企業として</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リスクと課題(正直な開示)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具体的な製品機能・技術詳細は確認できていない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現在の導入実績・顧客数は未確認</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鮮度が基準を厳密には満たさない点を正直に開示している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出典の明記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複数の独立した技術・金融専門媒体の情報のみを使用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正直な開示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鮮度がやや劣る点も含め、確認できなかったことを明記</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中立性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特定企業・特定製品の利用を強く推奨する結論にはしていない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主導投資家数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Andreessen Horowitz・Bessemer Venture Partners</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Calcalistech(2026-07-20)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あなたはこのAIエージェントセキュリティ、どう見ますか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AIエージェント時代のセキュリティ対策、今後も注目していきましょう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Neoが2026年7月20日、ステルスを脱し1億ドルの資金調達を発表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元SentinelOne幹部らが創業したAIエージェントセキュリティ企業</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企業内でのAIエージェント普及による新しいセキュリティ課題に対応</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発表から約2週間が経過している点を正直に開示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Calcalistech・Ynetnews ほか(2026-07-20)｜定期実行122本目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