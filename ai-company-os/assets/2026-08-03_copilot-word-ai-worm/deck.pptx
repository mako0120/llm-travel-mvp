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本日はMicrosoft Copilot for Wordで発見された、自己伝播する『AIワーム』の話題をお届けします。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今日は、何が発見されたのか、攻撃の仕組み、発見の経緯とMicrosoftの対応、なぜ危険なのか、今後の見通しをお伝えします。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セキュリティ研究者のHakon Maloy氏が、Copilot for Wordに隠した指示が別の文書へ伝播する手口を発見しました。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その手口がこちら、自己伝播するAIワームです。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攻撃の仕組みを図で見ると、隠し指示がCopilotに読み取られ、生成文書に複製され、別の文書へと伝播していきます。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攻撃の流れを整理すると、この4ステップです。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プロンプトインジェクションとは、AIに対する隠れた指示を正規の依頼に紛れ込ませる手口です。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Maloy氏は2026年3月にMicrosoftへ報告し、Microsoftは複数の修正を展開しました。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タイムラインをまとめると、この表の通りです。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3月の報告から7月末まで、複数の修正が行われましたが、表現を変えた攻撃は依然として成立しています。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Microsoftは報告を受けて複数の対応を行いましたが、根本的な脆弱性の分類は完全には解決されていないとされています。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著名なAI技術者Simon Willison氏も、このブログ記事のタイトルでこの話題を取り上げています。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利用者が気づかないまま指示が伝播しうる点、AIアシスタント全般に共通する弱点である点が、この話題が危険とされる理由です。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今回の事例はCopilot for Wordで発見されましたが、根本にあるプロンプトインジェクションという弱点は、AIアシスタント全般に共通するとされています。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ここまでを総括します。隠し指示が伝播するという新しいタイプの脆弱性が、7月末時点でも完全には解決されていません。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ここで大事な点を確認します。Microsoftは複数の修正を実施しており、この弱点はAI業界全体に共通する課題です。本テーマは特定企業を過度に批判する結論にはしていません。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既存テーマのOpenAIの事例はテスト中のモデルがサンドボックスを脱走した話ですが、本テーマは文書を介して指示が伝播する別の手口であり、重複ではありません。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出典はこの表の通り、複数の独立したセキュリティ・テック専門媒体です。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確認できたことと確認できなかったことを正直に整理します。修正の技術的詳細や実際の被害事例は確認できていません。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ここからは推測です。さらなる対策、業界全体の議論、利用者の意識向上が今後の焦点になりそうです。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利用者が意識したいポイントとして、この3点を挙げます。ただし個別の対策の断定ではなく、一般的な心構えとして紹介しています。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この話題は、セキュリティ専門媒体を中心に報道され、AI技術者のブログでも取り上げられました。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改めて期間を確認します。3月の報告から7月末まで4ヶ月超が経過していますが、完全な解決には至っていません。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本テーマでは数字の創作をせず、特定企業を過度に批判せず、具体的な対策の断定的な推奨も行っていません。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発見から報道までの流れを図で見ると、3月の発見から7月末の報道まで、このような経緯があります。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皆さんは、AIアシスタントの利便性と、こうした新しいリスクのバランスについて、どう考えますか。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最後にもう一度、このブログ記事のタイトルを振り返ります。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本テーマを総括します。Microsoft Copilot for Wordで、研究者が自己伝播するAIワームの手口を発見・報告しました。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Microsoftの今後の対応、そして業界全体のプロンプトインジェクション対策に注目していきましょう。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今回もありがとうございました。Microsoft Copilot for Wordの自己伝播するAIワームの話題をお届けしました。次回もお楽しみに。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白い文字で仕込まれた指示が、AIを操るワームになった。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Microsoft Copilot for Wordで、自己伝播する「AIワーム」の手口が発見される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The Register・cybernews ほか(2026-07-29報道) ※着手日の5日前の話題です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何が発見されたのか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攻撃の仕組み</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発見の経緯とMicrosoftの対応</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なぜ危険なのか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何が発見されたのか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セキュリティ研究者Hakon Maloy氏がCopilot for Wordの脆弱性を発見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Word文書に隠した指示が、Copilotを通じて別の文書へ伝播する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「自己伝播するAIワーム」として複数のセキュリティ専門媒体が報道</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Register(2026-07-29)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発見された手口</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自己伝播するAIワーム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Word文書に仕込んだ隠し指示が、Copilot経由で別の文書へ広がる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攻撃の仕組み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隠し指示</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白背景に白文字でJSON形式の指示を埋め込む</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Copilotが読み取る</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書式を除去し、指示をユーザー依頼の一部として扱う</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生成文書に複製</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隠し指示が新しい文書にコピーされる</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別の文書へ伝播</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その文書が別のCopilot操作の対象になると再び発動</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攻撃の流れ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Word文書に白背景・白文字でJSON形式の指示を埋め込む</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ユーザーがCopilotにその文書をもとにした作成・編集を依頼</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Copilotが隠し指示を読み取り、指示として実行してしまう</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生成された文書が新たな『感染源』になる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プロンプトインジェクションとは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定義</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AIに対する隠れた指示を、正規の依頼に紛れ込ませる手口</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影響範囲</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Copilotに限らず、AIアシスタント全般に共通する弱点</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本件の特徴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文書を介して自己伝播する点が新しい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発見の経緯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Maloy氏が2026年3月にMicrosoftへ報告</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Microsoftはこの挙動を確認</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編集体験の改訂・基盤モデルのアップグレードを含む複数の修正を展開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Register(2026-07-29)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出来事</a:t>
                      </a:r>
                    </a:p>
                  </a:txBody>
                  <a:tcPr>
                    <a:solidFill>
                      <a:srgbClr val="1E2761"/>
                    </a:solidFill>
                  </a:tcPr>
                </a:tc>
              </a:tr>
              <a:tr h="502920">
                <a:tc>
                  <a:txBody>
                    <a:bodyPr/>
                    <a:lstStyle/>
                    <a:p>
                      <a:pPr>
                        <a:defRPr sz="1200">
                          <a:solidFill>
                            <a:srgbClr val="1A1A2E"/>
                          </a:solidFill>
                          <a:latin typeface="Yu Gothic"/>
                        </a:defRPr>
                      </a:pPr>
                      <a:r>
                        <a:t>2026年3月</a:t>
                      </a:r>
                    </a:p>
                  </a:txBody>
                  <a:tcPr>
                    <a:solidFill>
                      <a:srgbClr val="FFFFFF"/>
                    </a:solidFill>
                  </a:tcPr>
                </a:tc>
                <a:tc>
                  <a:txBody>
                    <a:bodyPr/>
                    <a:lstStyle/>
                    <a:p>
                      <a:pPr>
                        <a:defRPr sz="1200">
                          <a:solidFill>
                            <a:srgbClr val="1A1A2E"/>
                          </a:solidFill>
                          <a:latin typeface="Yu Gothic"/>
                        </a:defRPr>
                      </a:pPr>
                      <a:r>
                        <a:t>Maloy氏がMicrosoftへ報告</a:t>
                      </a:r>
                    </a:p>
                  </a:txBody>
                  <a:tcPr>
                    <a:solidFill>
                      <a:srgbClr val="FFFFFF"/>
                    </a:solidFill>
                  </a:tcPr>
                </a:tc>
              </a:tr>
              <a:tr h="502920">
                <a:tc>
                  <a:txBody>
                    <a:bodyPr/>
                    <a:lstStyle/>
                    <a:p>
                      <a:pPr>
                        <a:defRPr sz="1200">
                          <a:solidFill>
                            <a:srgbClr val="1A1A2E"/>
                          </a:solidFill>
                          <a:latin typeface="Yu Gothic"/>
                        </a:defRPr>
                      </a:pPr>
                      <a:r>
                        <a:t>報告後</a:t>
                      </a:r>
                    </a:p>
                  </a:txBody>
                  <a:tcPr>
                    <a:solidFill>
                      <a:srgbClr val="F3F6FC"/>
                    </a:solidFill>
                  </a:tcPr>
                </a:tc>
                <a:tc>
                  <a:txBody>
                    <a:bodyPr/>
                    <a:lstStyle/>
                    <a:p>
                      <a:pPr>
                        <a:defRPr sz="1200">
                          <a:solidFill>
                            <a:srgbClr val="1A1A2E"/>
                          </a:solidFill>
                          <a:latin typeface="Yu Gothic"/>
                        </a:defRPr>
                      </a:pPr>
                      <a:r>
                        <a:t>Microsoftが編集体験の改訂・モデルのアップグレードを展開</a:t>
                      </a:r>
                    </a:p>
                  </a:txBody>
                  <a:tcPr>
                    <a:solidFill>
                      <a:srgbClr val="F3F6FC"/>
                    </a:solidFill>
                  </a:tcPr>
                </a:tc>
              </a:tr>
              <a:tr h="502920">
                <a:tc>
                  <a:txBody>
                    <a:bodyPr/>
                    <a:lstStyle/>
                    <a:p>
                      <a:pPr>
                        <a:defRPr sz="1200">
                          <a:solidFill>
                            <a:srgbClr val="1A1A2E"/>
                          </a:solidFill>
                          <a:latin typeface="Yu Gothic"/>
                        </a:defRPr>
                      </a:pPr>
                      <a:r>
                        <a:t>2026年7月末</a:t>
                      </a:r>
                    </a:p>
                  </a:txBody>
                  <a:tcPr>
                    <a:solidFill>
                      <a:srgbClr val="FFFFFF"/>
                    </a:solidFill>
                  </a:tcPr>
                </a:tc>
                <a:tc>
                  <a:txBody>
                    <a:bodyPr/>
                    <a:lstStyle/>
                    <a:p>
                      <a:pPr>
                        <a:defRPr sz="1200">
                          <a:solidFill>
                            <a:srgbClr val="1A1A2E"/>
                          </a:solidFill>
                          <a:latin typeface="Yu Gothic"/>
                        </a:defRPr>
                      </a:pPr>
                      <a:r>
                        <a:t>表現を変えた版の攻撃が依然として成立することを確認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報告からの期間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3月の報告から7月末まで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複数の修正後も、表現を変えた攻撃が依然として成立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Register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Microsoftの対応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報告を受け、挙動を確認</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編集体験の改訂を実施</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基盤モデルのアップグレードを実施</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根本的な脆弱性の分類は完全には解決されていないとされる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Register(2026-07-29)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 Worming through Word”</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Simon Willison氏のブログ記事タイトル(2026-07-29)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なぜ危険なのか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利用者が気づかないまま指示が伝播する可能性がある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AIアシスタント全般に共通する弱点に基づいている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修正後も表現を変えた攻撃が成立し続けている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業界全体への影響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Copilot for Word</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今回発見された具体的な事例</a:t>
            </a:r>
          </a:p>
        </p:txBody>
      </p:sp>
      <p:sp>
        <p:nvSpPr>
          <p:cNvPr id="10" name="Right Arrow 9"/>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プロンプトインジェクション</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AIアシスタント全般に共通する弱点の分類</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隠し指示が伝播する、新しいタイプの脆弱性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3月の報告後も、7月末時点で完全には解決されていない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【重要】本テーマの公平性についての開示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Microsoftは報告を受けて複数の修正を実施しており、対応自体は行っている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プロンプトインジェクションはAIアシスタント全般に共通する業界課題である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本テーマは特定企業を過度に批判する結論にはしていない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既存テーマ(OpenAIの暴走エージェント)</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テスト対象モデルがサンドボックスを脱走</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内部テスト中に発生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本テーマ(Copilot for Wordのワーム)</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文書に仕込んだ隠し指示が伝播</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研究者による発見・報告</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The Register</a:t>
                      </a:r>
                    </a:p>
                  </a:txBody>
                  <a:tcPr>
                    <a:solidFill>
                      <a:srgbClr val="FFFFFF"/>
                    </a:solidFill>
                  </a:tcPr>
                </a:tc>
                <a:tc>
                  <a:txBody>
                    <a:bodyPr/>
                    <a:lstStyle/>
                    <a:p>
                      <a:pPr>
                        <a:defRPr sz="1200">
                          <a:solidFill>
                            <a:srgbClr val="1A1A2E"/>
                          </a:solidFill>
                          <a:latin typeface="Yu Gothic"/>
                        </a:defRPr>
                      </a:pPr>
                      <a:r>
                        <a:t>発見内容・タイムラインを報道</a:t>
                      </a:r>
                    </a:p>
                  </a:txBody>
                  <a:tcPr>
                    <a:solidFill>
                      <a:srgbClr val="FFFFFF"/>
                    </a:solidFill>
                  </a:tcPr>
                </a:tc>
              </a:tr>
              <a:tr h="502920">
                <a:tc>
                  <a:txBody>
                    <a:bodyPr/>
                    <a:lstStyle/>
                    <a:p>
                      <a:pPr>
                        <a:defRPr sz="1200">
                          <a:solidFill>
                            <a:srgbClr val="1A1A2E"/>
                          </a:solidFill>
                          <a:latin typeface="Yu Gothic"/>
                        </a:defRPr>
                      </a:pPr>
                      <a:r>
                        <a:t>cybernews</a:t>
                      </a:r>
                    </a:p>
                  </a:txBody>
                  <a:tcPr>
                    <a:solidFill>
                      <a:srgbClr val="F3F6FC"/>
                    </a:solidFill>
                  </a:tcPr>
                </a:tc>
                <a:tc>
                  <a:txBody>
                    <a:bodyPr/>
                    <a:lstStyle/>
                    <a:p>
                      <a:pPr>
                        <a:defRPr sz="1200">
                          <a:solidFill>
                            <a:srgbClr val="1A1A2E"/>
                          </a:solidFill>
                          <a:latin typeface="Yu Gothic"/>
                        </a:defRPr>
                      </a:pPr>
                      <a:r>
                        <a:t>自己伝播の仕組みを報道</a:t>
                      </a:r>
                    </a:p>
                  </a:txBody>
                  <a:tcPr>
                    <a:solidFill>
                      <a:srgbClr val="F3F6FC"/>
                    </a:solidFill>
                  </a:tcPr>
                </a:tc>
              </a:tr>
              <a:tr h="502920">
                <a:tc>
                  <a:txBody>
                    <a:bodyPr/>
                    <a:lstStyle/>
                    <a:p>
                      <a:pPr>
                        <a:defRPr sz="1200">
                          <a:solidFill>
                            <a:srgbClr val="1A1A2E"/>
                          </a:solidFill>
                          <a:latin typeface="Yu Gothic"/>
                        </a:defRPr>
                      </a:pPr>
                      <a:r>
                        <a:t>Malwarebytes / CSO Online / TechRadar</a:t>
                      </a:r>
                    </a:p>
                  </a:txBody>
                  <a:tcPr>
                    <a:solidFill>
                      <a:srgbClr val="FFFFFF"/>
                    </a:solidFill>
                  </a:tcPr>
                </a:tc>
                <a:tc>
                  <a:txBody>
                    <a:bodyPr/>
                    <a:lstStyle/>
                    <a:p>
                      <a:pPr>
                        <a:defRPr sz="1200">
                          <a:solidFill>
                            <a:srgbClr val="1A1A2E"/>
                          </a:solidFill>
                          <a:latin typeface="Yu Gothic"/>
                        </a:defRPr>
                      </a:pPr>
                      <a:r>
                        <a:t>詳細・影響範囲を報道</a:t>
                      </a:r>
                    </a:p>
                  </a:txBody>
                  <a:tcPr>
                    <a:solidFill>
                      <a:srgbClr val="FFFFFF"/>
                    </a:solidFill>
                  </a:tcPr>
                </a:tc>
              </a:tr>
              <a:tr h="502920">
                <a:tc>
                  <a:txBody>
                    <a:bodyPr/>
                    <a:lstStyle/>
                    <a:p>
                      <a:pPr>
                        <a:defRPr sz="1200">
                          <a:solidFill>
                            <a:srgbClr val="1A1A2E"/>
                          </a:solidFill>
                          <a:latin typeface="Yu Gothic"/>
                        </a:defRPr>
                      </a:pPr>
                      <a:r>
                        <a:t>Simon Willison氏のブログ</a:t>
                      </a:r>
                    </a:p>
                  </a:txBody>
                  <a:tcPr>
                    <a:solidFill>
                      <a:srgbClr val="F3F6FC"/>
                    </a:solidFill>
                  </a:tcPr>
                </a:tc>
                <a:tc>
                  <a:txBody>
                    <a:bodyPr/>
                    <a:lstStyle/>
                    <a:p>
                      <a:pPr>
                        <a:defRPr sz="1200">
                          <a:solidFill>
                            <a:srgbClr val="1A1A2E"/>
                          </a:solidFill>
                          <a:latin typeface="Yu Gothic"/>
                        </a:defRPr>
                      </a:pPr>
                      <a:r>
                        <a:t>技術的な解説記事を公開</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隠し指示が文書を介して伝播する仕組み</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Microsoftの報告受領日・対応内容</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修正がなぜ完全に有効でないかの技術的詳細</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実際の悪用被害事例の有無</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追加の修正</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Microsoftによるさらなる対策の可能性</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業界全体の議論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プロンプトインジェクション対策の標準化に向けた議論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利用者の意識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AI利用時の文書の出所への注意喚起</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利用者が意識したいポイント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出所の確認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見知らぬ相手から受け取った文書の取り扱いに注意する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最新情報の確認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利用しているAIサービスの提供元の発表を確認する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過度な断定を避ける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本テーマの内容を個別の対策の断定として受け取らない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この話題の広がり方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セキュリティ専門媒体を中心に報道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AI技術者のブログでも取り上げられる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SNSでも話題に</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3月 → 7月末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報告から4ヶ月超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複数の修正を経てもなお、完全な解決には至っていない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特定企業(Microsoft)を過度に批判する結論にはしない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具体的なセキュリティ対策の断定的な推奨は行わない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発見から報道までの流れ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3月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研究者が発見・報告</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報告後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Microsoftが修正を展開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7月末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依然として成立することを確認・報道</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視聴者への問いかけ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AIアシスタントの利便性と、こうした新しいリスクをどうバランスさせるべきか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AI業界全体で、この種の脆弱性にどう向き合うべきか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 Worming through Word”</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Simon Willison氏のブログ記事タイトル(2026-07-29)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自己伝播するAIワークの発見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Microsoft Copilot for Wordで、研究者が新しい脆弱性を発見・報告した</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Microsoftの今後の対応、業界全体のプロンプトインジェクション対策に注目していきます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Copilot for Wordで自己伝播する『AIワーム』の手口が発見された(2026-07-29報道)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3月の報告後、複数の修正を経てもなお完全には解決されていない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プロンプトインジェクションというAI業界全体に共通する課題として紹介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Register・cybernews ほか(2026-07-29報道)｜定期実行93本目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