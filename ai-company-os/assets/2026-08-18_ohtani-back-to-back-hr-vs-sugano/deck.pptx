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最終得点</c:v>
                </c:pt>
              </c:strCache>
            </c:strRef>
          </c:tx>
          <c:spPr>
            <a:solidFill>
              <a:srgbClr val="1E2761"/>
            </a:solidFill>
          </c:spPr>
          <c:cat>
            <c:strRef>
              <c:f>Sheet1!$A$2:$A$3</c:f>
              <c:strCache>
                <c:ptCount val="2"/>
                <c:pt idx="0">
                  <c:v>ドジャース</c:v>
                </c:pt>
                <c:pt idx="1">
                  <c:v>ロッキーズ</c:v>
                </c:pt>
              </c:strCache>
            </c:strRef>
          </c:cat>
          <c:val>
            <c:numRef>
              <c:f>Sheet1!$B$2:$B$3</c:f>
              <c:numCache>
                <c:formatCode>General</c:formatCode>
                <c:ptCount val="2"/>
                <c:pt idx="0">
                  <c:v>11</c:v>
                </c:pt>
                <c:pt idx="1">
                  <c:v>5</c:v>
                </c:pt>
              </c:numCache>
            </c:numRef>
          </c:val>
        </c:ser>
        <c:dLbls>
          <c:numFmt formatCode="#,##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クアーズ・フィールドで行われたロッキーズ対ドジャース戦で、ドジャースが11-5で大勝しました。大谷翔平選手は1番・指名打者で先発出場し、5打数4安打3打点。5回に同郷の菅野智之投手から28号、6回に救援メヒアから29号と、2打席連続本塁打を放っています。今日はこの結果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結論から確認します。大谷選手が2打席連続本塁打(28号・29号)を放ち、ドジャースはロッキーズに11-5で大勝しました。ここから数字と経過を1つずつ出典付きで見ていきます。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今日は6つの流れでお伝えします。試合の経緯から28号・29号の内容、確認できなかったことまで、出典付きで正確に整理します。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このテーマを扱う理由です。試合当日に近い新しさに加え、2打席連続本塁打でチームの大勝に貢献したという活躍、そして同郷の菅野投手との対戦という文脈があります。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本題に入る前に基礎知識を確認します。1番・指名打者は先頭打者かつ打撃専念の起用、カットボールとスイーパーはどちらも変化球の一種です。『号』はシーズン通算本塁打の通し番号を指します。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大谷選手・菅野投手それぞれの背景を確認します。両選手とも日本出身で、今回は同郷対決という文脈があります。菅野投手への論評は確認できた事実の範囲にとどめます。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試合の流れを、判明している範囲で整理しました。5回に菅野投手から28号、6回に救援メヒアから29号を放ち、ドジャースが11-5で大勝しました。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本塁打のサマリーを、判明している範囲で一覧にしました。5回の28号は菅野投手のカットボール、6回の29号は救援メヒアのスイーパーから生まれています。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最終スコアです。ドジャースはロッキーズに11-5で大勝しました。大谷選手の2打席連続本塁打が、この大勝を支えた形です。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最終スコアをグラフにしました。ドジャースが11点、ロッキーズが5点です。大谷選手の一発を含む攻撃陣の活躍が、そのままスコアに表れています。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大谷選手のこの試合の成績です。5打数4安打3打点、1番・指名打者で先発出場しました。28号・29号以外の2安打の内容は、本調査の範囲では確認できていません。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5回の一発を確認します。同郷の菅野智之投手が投じた2球目のカットボールを捉えた、飛距離428フィート・約130.5メートルの28号ソロでした。5試合ぶりの本塁打です。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28号の内訳です。相手は同郷の菅野智之投手、2球目のカットボールを捉え、飛距離428フィート・約130.5メートル。5試合ぶりの本塁打でした。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6回の一発を確認します。救援メヒア投手のスイーパーを捉え、飛距離452フィート・約137.7メートル。ドジャースのブルペンに飛び込む29号2ランでした。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29号の内訳です。相手は救援メヒア投手、スイーパーを捉え、飛距離452フィート・約137.7メートル。ドジャースのブルペンに飛び込む2ランでした。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2打席連続本塁打に至るプロセスを図にしました。5回に菅野投手のカットボールを、6回にメヒアのスイーパーを、それぞれ捉えたことが11-5の大勝を支えました。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28号と29号を比べます。相手投手・球種・飛距離のいずれも異なり、同じ投手から2本ではなく、異なる投手・異なる球種を連続で捉えた点がポイントです。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2本の飛距離を改めて確認します。28号が約130.5メートル、29号が約137.7メートル。いずれも大きな飛距離の一発でした。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この試合の記録を一覧にしました。5打数4安打3打点、28号・29号の内容に加え、1試合2本塁打は今季2度目、4安打は今季初、シーズン30本塁打まではあと1本という記録も確認できています。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同郷対決についての整理です。菅野投手も日本出身であり、本テーマでは事実の範囲で正確に扱い、敬意を欠く表現は使いません。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その他の記録です。1試合2本塁打は今季2度目、4安打は今季初、シーズン30本塁打まではあと1本に迫りました。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節目に迫る記録です。この試合終了時点で29号に到達し、6年連続シーズン30本塁打まであと1本に迫りました。30号自体はまだ打っておらず、達成が確実とは断定しません。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確認できていないことを正直にお伝えします。大谷選手・菅野投手いずれの次戦の予定も、シーズン最終盤までの目標本塁打数設定の有無も、本調査時点では確認できていません。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ここで事実と推測を分けます。最終スコア・大谷選手の成績・28号と29号の内容はすべて出典で確認できた事実です。次戦の予定やシーズン目標は不明として明確に分けています。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視聴者にとっての実践的な示唆をまとめました。野球ファンとして、同郷選手を応援する立場として、情報を発信する立場として、それぞれで意識したい点です。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このニュースが読者にとって何を意味するかを整理します。この試合限りの結果として位置づけ、確認できていない要因を推測で埋めない視点が役立ちます。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この先の展開を確認します。30本塁打まであと1本に迫りましたが、次戦の予定やシーズン目標については、本調査の範囲では確認できていません。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事実確認の状況を一覧にしました。最終スコア・大谷選手の成績・28号と29号の内容は複数媒体で確認できていますが、次戦の予定とシーズン目標は未確認です。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大谷翔平選手が同郷の菅野智之投手から28号、救援メヒアから29号を放ち、ドジャースが11-5で大勝した件をお伝えしました。2打席連続本塁打の内容を軸に、確認できなかったことも正直にお伝えしました。数字は正確に引用し、菅野投手への配慮も忘れずに構成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まさかの2打席連続弾。大谷翔平、28号・29号で大勝に貢献</a:t>
            </a:r>
          </a:p>
          <a:p>
            <a:pPr algn="l">
              <a:lnSpc>
                <a:spcPct val="115000"/>
              </a:lnSpc>
            </a:pPr>
            <a:r>
              <a:rPr sz="4200" b="1">
                <a:solidFill>
                  <a:srgbClr val="FFFFFF"/>
                </a:solidFill>
                <a:latin typeface="Yu Gothic"/>
              </a:rPr>
              <a:t>同郷・菅野智之投手から先制弾</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2026年8月18日、クアーズ・フィールド――ドジャースが11-5で大勝した一戦を、出典付きで正確に整理してお届けします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NHKニュース・共同通信(Yahoo!ニュース)・Full-Count(Yahoo!ニュース)・SPREAD・岩手日報オンライン(2026年8月18日時点)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28号・29号で11-5の大勝に貢献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大谷翔平選手が5回に菅野智之投手から28号、6回に救援メヒアから29号を放ち、ドジャースがロッキーズに11-5で大勝した(2026年8月18日)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NHKニュース・共同通信・Full-Count・SPREAD・岩手日報オンライン(2026-08-18)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基礎知識(指名打者・カットボール・スイーパー)</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大谷選手・菅野投手それぞれの背景</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試合の経緯を時系列で確認する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28号・29号を数字で深掘りする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確認できていないこと・出典一覧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試合は着手日(2026年8月19日)の前日という、鮮度基準を満たす新しさである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2打席連続本塁打(28号・29号)でドジャースの大勝(11-5)に貢献するという明快な活躍である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同郷の菅野智之投手からの一発という『同郷対決』の文脈があり、複数の独立したメディアが一致して報じている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基礎知識(初心者向け)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『1番・指名打者(DH)』は打順1番(先頭打者)かつ、投手に代わって打撃に専念する選手としての出場を指す</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『カットボール』は打者の近くで小さく変化する速い変化球。捉えられると長打になりやすい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『スイーパー』は横方向に大きく曲がる変化球で、近年MLBで多用される球種の一つ</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『号』はその選手のシーズン通算本塁打数を示す通し番号である(28号は28本目、29号は29本目)</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大谷選手・菅野投手それぞれの背景(初心者向け)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もう一つの前提を確認します。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大谷翔平選手(ドジャース)は日本出身の選手で、投打二刀流の活躍で知られる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菅野智之投手(ロッキーズ)も日本出身の投手であり、本テーマでは『同郷対決』という文脈で扱う</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本テーマでは菅野投手個人への論評は確認できた事実の範囲にとどめ、敬意を欠く表現は使わない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試合の流れ(判明している範囲)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序盤</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大谷選手が先発出場(1番・指名打者)</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5回</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菅野投手の2球目カットボールを捉え28号ソロ</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6回</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救援メヒアのスイーパーを捉え29号2ラン</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試合終了</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ドジャースが11-5で大勝</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大谷選手の本塁打サマリー(判明している範囲)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打席</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5回</a:t>
                      </a:r>
                    </a:p>
                  </a:txBody>
                  <a:tcPr>
                    <a:solidFill>
                      <a:srgbClr val="FFFFFF"/>
                    </a:solidFill>
                  </a:tcPr>
                </a:tc>
                <a:tc>
                  <a:txBody>
                    <a:bodyPr/>
                    <a:lstStyle/>
                    <a:p>
                      <a:pPr>
                        <a:defRPr sz="1200">
                          <a:solidFill>
                            <a:srgbClr val="1A1A2E"/>
                          </a:solidFill>
                          <a:latin typeface="Yu Gothic"/>
                        </a:defRPr>
                      </a:pPr>
                      <a:r>
                        <a:t>菅野智之投手の2球目カットボールを捉え28号ソロ(飛距離428フィート/約130.5メートル)</a:t>
                      </a:r>
                    </a:p>
                  </a:txBody>
                  <a:tcPr>
                    <a:solidFill>
                      <a:srgbClr val="FFFFFF"/>
                    </a:solidFill>
                  </a:tcPr>
                </a:tc>
              </a:tr>
              <a:tr h="502920">
                <a:tc>
                  <a:txBody>
                    <a:bodyPr/>
                    <a:lstStyle/>
                    <a:p>
                      <a:pPr>
                        <a:defRPr sz="1200">
                          <a:solidFill>
                            <a:srgbClr val="1A1A2E"/>
                          </a:solidFill>
                          <a:latin typeface="Yu Gothic"/>
                        </a:defRPr>
                      </a:pPr>
                      <a:r>
                        <a:t>6回</a:t>
                      </a:r>
                    </a:p>
                  </a:txBody>
                  <a:tcPr>
                    <a:solidFill>
                      <a:srgbClr val="F3F6FC"/>
                    </a:solidFill>
                  </a:tcPr>
                </a:tc>
                <a:tc>
                  <a:txBody>
                    <a:bodyPr/>
                    <a:lstStyle/>
                    <a:p>
                      <a:pPr>
                        <a:defRPr sz="1200">
                          <a:solidFill>
                            <a:srgbClr val="1A1A2E"/>
                          </a:solidFill>
                          <a:latin typeface="Yu Gothic"/>
                        </a:defRPr>
                      </a:pPr>
                      <a:r>
                        <a:t>救援メヒアのスイーパーを捉え29号2ラン(飛距離452フィート/約137.7メートル)</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11-5でドジャース大勝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ドジャースがロッキーズに11-5で大勝した(2026年8月18日、クアーズ・フィールド)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NHKニュース・共同通信・Full-Count・SPREAD・岩手日報オンライン(2026-08-18)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最終スコアを数字で見る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大谷選手のこの試合の成績</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5打数4安打</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打撃成績</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高い打率でこの試合を終えた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3打点</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打点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28号・29号を含む活躍で打点を稼いだ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1番・指名打者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起用</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先頭打者かつ打撃専念で先発出場した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5回の一発</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28号ソロ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菅野智之投手の2球目カットボールを捉えた、飛距離428フィート(約130.5メートル)の一発。5試合ぶりの本塁打だった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NHKニュース・共同通信・Full-Count・SPREAD・岩手日報オンライン(2026-08-18)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28号の内訳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菅野智之投手</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相手投手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ロッキーズ先発、同郷の投手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2球目</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球数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カットボールを捉えた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428フィート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飛距離</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約130.5メートル、5試合ぶりの一発</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6回の一発</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29号2ラン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救援メヒアのスイーパーを捉えた、飛距離452フィート(約137.7メートル)。ドジャースのブルペンに飛び込んだ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NHKニュース・共同通信・Full-Count・SPREAD・岩手日報オンライン(2026-08-18)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29号の内訳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メヒア</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相手投手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ロッキーズの救援投手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スイーパー</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球種</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横に大きく曲がる変化球を捉えた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452フィート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飛距離</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約137.7メートル、ブルペンに飛び込んだ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2打席連続本塁打に至るプロセス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5回、菅野投手から28号</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2球目のカットボールを捉える</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6回、メヒアから29号</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スイーパーを捉えブルペンへ</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11-5でドジャース大勝</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2打席連続本塁打がチームの大勝を支えた</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異なる投手・異なる球種を連続で捉えたことが、大勝につながった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28号と29号、異なる投手・異なる球種</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28号(5回)</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相手: 菅野智之投手(先発)</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球種: カットボール(2球目)</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飛距離: 428フィート(約130.5メートル)</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29号(6回)</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相手: メヒア(救援)</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球種: スイーパー</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飛距離: 452フィート(約137.7メートル)</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2本合計の飛距離感覚</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428ft・452ft</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28号は約130.5メートル、29号は約137.7メートル。いずれも大きな飛距離の一発だった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NHKニュース・共同通信・Full-Count・SPREAD・岩手日報オンライン(2026-08-18)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大谷選手のこの試合の記録一覧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数値</a:t>
                      </a:r>
                    </a:p>
                  </a:txBody>
                  <a:tcPr>
                    <a:solidFill>
                      <a:srgbClr val="1E2761"/>
                    </a:solidFill>
                  </a:tcPr>
                </a:tc>
              </a:tr>
              <a:tr h="502920">
                <a:tc>
                  <a:txBody>
                    <a:bodyPr/>
                    <a:lstStyle/>
                    <a:p>
                      <a:pPr>
                        <a:defRPr sz="1200">
                          <a:solidFill>
                            <a:srgbClr val="1A1A2E"/>
                          </a:solidFill>
                          <a:latin typeface="Yu Gothic"/>
                        </a:defRPr>
                      </a:pPr>
                      <a:r>
                        <a:t>打撃成績</a:t>
                      </a:r>
                    </a:p>
                  </a:txBody>
                  <a:tcPr>
                    <a:solidFill>
                      <a:srgbClr val="FFFFFF"/>
                    </a:solidFill>
                  </a:tcPr>
                </a:tc>
                <a:tc>
                  <a:txBody>
                    <a:bodyPr/>
                    <a:lstStyle/>
                    <a:p>
                      <a:pPr>
                        <a:defRPr sz="1200">
                          <a:solidFill>
                            <a:srgbClr val="1A1A2E"/>
                          </a:solidFill>
                          <a:latin typeface="Yu Gothic"/>
                        </a:defRPr>
                      </a:pPr>
                      <a:r>
                        <a:t>5打数4安打3打点</a:t>
                      </a:r>
                    </a:p>
                  </a:txBody>
                  <a:tcPr>
                    <a:solidFill>
                      <a:srgbClr val="FFFFFF"/>
                    </a:solidFill>
                  </a:tcPr>
                </a:tc>
              </a:tr>
              <a:tr h="502920">
                <a:tc>
                  <a:txBody>
                    <a:bodyPr/>
                    <a:lstStyle/>
                    <a:p>
                      <a:pPr>
                        <a:defRPr sz="1200">
                          <a:solidFill>
                            <a:srgbClr val="1A1A2E"/>
                          </a:solidFill>
                          <a:latin typeface="Yu Gothic"/>
                        </a:defRPr>
                      </a:pPr>
                      <a:r>
                        <a:t>28号(5回)</a:t>
                      </a:r>
                    </a:p>
                  </a:txBody>
                  <a:tcPr>
                    <a:solidFill>
                      <a:srgbClr val="F3F6FC"/>
                    </a:solidFill>
                  </a:tcPr>
                </a:tc>
                <a:tc>
                  <a:txBody>
                    <a:bodyPr/>
                    <a:lstStyle/>
                    <a:p>
                      <a:pPr>
                        <a:defRPr sz="1200">
                          <a:solidFill>
                            <a:srgbClr val="1A1A2E"/>
                          </a:solidFill>
                          <a:latin typeface="Yu Gothic"/>
                        </a:defRPr>
                      </a:pPr>
                      <a:r>
                        <a:t>菅野智之投手のカットボール、428フィート(約130.5メートル)</a:t>
                      </a:r>
                    </a:p>
                  </a:txBody>
                  <a:tcPr>
                    <a:solidFill>
                      <a:srgbClr val="F3F6FC"/>
                    </a:solidFill>
                  </a:tcPr>
                </a:tc>
              </a:tr>
              <a:tr h="502920">
                <a:tc>
                  <a:txBody>
                    <a:bodyPr/>
                    <a:lstStyle/>
                    <a:p>
                      <a:pPr>
                        <a:defRPr sz="1200">
                          <a:solidFill>
                            <a:srgbClr val="1A1A2E"/>
                          </a:solidFill>
                          <a:latin typeface="Yu Gothic"/>
                        </a:defRPr>
                      </a:pPr>
                      <a:r>
                        <a:t>29号(6回)</a:t>
                      </a:r>
                    </a:p>
                  </a:txBody>
                  <a:tcPr>
                    <a:solidFill>
                      <a:srgbClr val="FFFFFF"/>
                    </a:solidFill>
                  </a:tcPr>
                </a:tc>
                <a:tc>
                  <a:txBody>
                    <a:bodyPr/>
                    <a:lstStyle/>
                    <a:p>
                      <a:pPr>
                        <a:defRPr sz="1200">
                          <a:solidFill>
                            <a:srgbClr val="1A1A2E"/>
                          </a:solidFill>
                          <a:latin typeface="Yu Gothic"/>
                        </a:defRPr>
                      </a:pPr>
                      <a:r>
                        <a:t>救援メヒアのスイーパー、452フィート(約137.7メートル)</a:t>
                      </a:r>
                    </a:p>
                  </a:txBody>
                  <a:tcPr>
                    <a:solidFill>
                      <a:srgbClr val="FFFFFF"/>
                    </a:solidFill>
                  </a:tcPr>
                </a:tc>
              </a:tr>
              <a:tr h="502920">
                <a:tc>
                  <a:txBody>
                    <a:bodyPr/>
                    <a:lstStyle/>
                    <a:p>
                      <a:pPr>
                        <a:defRPr sz="1200">
                          <a:solidFill>
                            <a:srgbClr val="1A1A2E"/>
                          </a:solidFill>
                          <a:latin typeface="Yu Gothic"/>
                        </a:defRPr>
                      </a:pPr>
                      <a:r>
                        <a:t>1試合2本塁打</a:t>
                      </a:r>
                    </a:p>
                  </a:txBody>
                  <a:tcPr>
                    <a:solidFill>
                      <a:srgbClr val="F3F6FC"/>
                    </a:solidFill>
                  </a:tcPr>
                </a:tc>
                <a:tc>
                  <a:txBody>
                    <a:bodyPr/>
                    <a:lstStyle/>
                    <a:p>
                      <a:pPr>
                        <a:defRPr sz="1200">
                          <a:solidFill>
                            <a:srgbClr val="1A1A2E"/>
                          </a:solidFill>
                          <a:latin typeface="Yu Gothic"/>
                        </a:defRPr>
                      </a:pPr>
                      <a:r>
                        <a:t>今季2度目</a:t>
                      </a:r>
                    </a:p>
                  </a:txBody>
                  <a:tcPr>
                    <a:solidFill>
                      <a:srgbClr val="F3F6FC"/>
                    </a:solidFill>
                  </a:tcPr>
                </a:tc>
              </a:tr>
              <a:tr h="502920">
                <a:tc>
                  <a:txBody>
                    <a:bodyPr/>
                    <a:lstStyle/>
                    <a:p>
                      <a:pPr>
                        <a:defRPr sz="1200">
                          <a:solidFill>
                            <a:srgbClr val="1A1A2E"/>
                          </a:solidFill>
                          <a:latin typeface="Yu Gothic"/>
                        </a:defRPr>
                      </a:pPr>
                      <a:r>
                        <a:t>4安打</a:t>
                      </a:r>
                    </a:p>
                  </a:txBody>
                  <a:tcPr>
                    <a:solidFill>
                      <a:srgbClr val="FFFFFF"/>
                    </a:solidFill>
                  </a:tcPr>
                </a:tc>
                <a:tc>
                  <a:txBody>
                    <a:bodyPr/>
                    <a:lstStyle/>
                    <a:p>
                      <a:pPr>
                        <a:defRPr sz="1200">
                          <a:solidFill>
                            <a:srgbClr val="1A1A2E"/>
                          </a:solidFill>
                          <a:latin typeface="Yu Gothic"/>
                        </a:defRPr>
                      </a:pPr>
                      <a:r>
                        <a:t>今季初</a:t>
                      </a:r>
                    </a:p>
                  </a:txBody>
                  <a:tcPr>
                    <a:solidFill>
                      <a:srgbClr val="FFFFFF"/>
                    </a:solidFill>
                  </a:tcPr>
                </a:tc>
              </a:tr>
              <a:tr h="502920">
                <a:tc>
                  <a:txBody>
                    <a:bodyPr/>
                    <a:lstStyle/>
                    <a:p>
                      <a:pPr>
                        <a:defRPr sz="1200">
                          <a:solidFill>
                            <a:srgbClr val="1A1A2E"/>
                          </a:solidFill>
                          <a:latin typeface="Yu Gothic"/>
                        </a:defRPr>
                      </a:pPr>
                      <a:r>
                        <a:t>シーズン30本塁打まで</a:t>
                      </a:r>
                    </a:p>
                  </a:txBody>
                  <a:tcPr>
                    <a:solidFill>
                      <a:srgbClr val="F3F6FC"/>
                    </a:solidFill>
                  </a:tcPr>
                </a:tc>
                <a:tc>
                  <a:txBody>
                    <a:bodyPr/>
                    <a:lstStyle/>
                    <a:p>
                      <a:pPr>
                        <a:defRPr sz="1200">
                          <a:solidFill>
                            <a:srgbClr val="1A1A2E"/>
                          </a:solidFill>
                          <a:latin typeface="Yu Gothic"/>
                        </a:defRPr>
                      </a:pPr>
                      <a:r>
                        <a:t>あと1本(6年連続の到達に迫る)</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同郷対決についての整理(本テーマ固有)</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本テーマで大切にしている点です。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菅野智之投手も日本出身であり、大谷選手との対戦は『同郷対決』として報じられている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菅野投手個人への論評は、確認できた事実(2球目のカットボールを本塁打にされた)の範囲にとどめる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『格の違い』『一蹴』等、菅野投手への敬意を欠く煽情的な表現は使わない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その他の記録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今季2度目</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1試合2本塁打</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この試合が今季2度目の記録</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今季初</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4安打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1試合4安打はこの試合が今季初</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あと1本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シーズン30本塁打まで</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6年連続シーズン30本塁打の到達に迫る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節目に迫る記録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30本塁打まであと1本</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大谷選手は6年連続シーズン30本塁打の到達まで、あと1本に迫った(この試合終了時点で29号)</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NHKニュース・共同通信・Full-Count・SPREAD・岩手日報オンライン(2026-08-18)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確認できていないこと(次戦の予定・シーズン目標)</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大谷選手・菅野投手いずれの次戦の登板・出場予定も、本調査時点では確認できていない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シーズン最終盤までの目標本塁打数設定の有無も、本調査時点では確認できていない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推測で予定・目標を補わず、この試合で確認できた事実のみを扱う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最終スコア11-5・大谷選手の成績(5打数4安打3打点)・28号(菅野投手)と29号(メヒア)の内容</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なし(本成果物では推測に基づく評価をほぼ用いず、事実の整理を優先している)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不明: 次戦の登板・出場予定、シーズン最終盤までの目標本塁打数設定の有無、28号・29号以外の2安打の内容</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本塁打の飛距離・相手投手・球種を確認できた範囲の事実で正確に追うと理解が深まる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同郷選手を応援する立場として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大谷選手・菅野投手いずれにも敬意を持ち、一方の活躍が他方を貶める形にしない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未確認の詳細(次戦の予定・シーズン目標)を推測で補わず、正確に伝える姿勢が信頼につながる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2打席連続本塁打・大勝への貢献は、この試合限りの結果として位置づけられる(必ず勝つという一般化はしない)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本塁打という結果と、なぜ実現できたかという要因は別物であり、確認できていない要因を推測で埋めない視点が役立つ</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シーズン30本塁打まであと1本という記録は、本調査時点の情報として扱う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この先の展開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30本塁打まであと1本</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次戦の登板・出場予定、シーズン最終盤までの目標本塁打数設定の有無は本調査の範囲では確認できていない(本調査時点の情報)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NHKニュース・共同通信・Full-Count・SPREAD・岩手日報オンライン(2026-08-18)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事実確認の一覧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状態</a:t>
                      </a:r>
                    </a:p>
                  </a:txBody>
                  <a:tcPr>
                    <a:solidFill>
                      <a:srgbClr val="1E2761"/>
                    </a:solidFill>
                  </a:tcPr>
                </a:tc>
              </a:tr>
              <a:tr h="502920">
                <a:tc>
                  <a:txBody>
                    <a:bodyPr/>
                    <a:lstStyle/>
                    <a:p>
                      <a:pPr>
                        <a:defRPr sz="1200">
                          <a:solidFill>
                            <a:srgbClr val="1A1A2E"/>
                          </a:solidFill>
                          <a:latin typeface="Yu Gothic"/>
                        </a:defRPr>
                      </a:pPr>
                      <a:r>
                        <a:t>最終スコア(11-5)</a:t>
                      </a:r>
                    </a:p>
                  </a:txBody>
                  <a:tcPr>
                    <a:solidFill>
                      <a:srgbClr val="FFFFFF"/>
                    </a:solidFill>
                  </a:tcPr>
                </a:tc>
                <a:tc>
                  <a:txBody>
                    <a:bodyPr/>
                    <a:lstStyle/>
                    <a:p>
                      <a:pPr>
                        <a:defRPr sz="1200">
                          <a:solidFill>
                            <a:srgbClr val="1A1A2E"/>
                          </a:solidFill>
                          <a:latin typeface="Yu Gothic"/>
                        </a:defRPr>
                      </a:pPr>
                      <a:r>
                        <a:t>確認済み(複数媒体一致)</a:t>
                      </a:r>
                    </a:p>
                  </a:txBody>
                  <a:tcPr>
                    <a:solidFill>
                      <a:srgbClr val="FFFFFF"/>
                    </a:solidFill>
                  </a:tcPr>
                </a:tc>
              </a:tr>
              <a:tr h="502920">
                <a:tc>
                  <a:txBody>
                    <a:bodyPr/>
                    <a:lstStyle/>
                    <a:p>
                      <a:pPr>
                        <a:defRPr sz="1200">
                          <a:solidFill>
                            <a:srgbClr val="1A1A2E"/>
                          </a:solidFill>
                          <a:latin typeface="Yu Gothic"/>
                        </a:defRPr>
                      </a:pPr>
                      <a:r>
                        <a:t>大谷選手の成績(5打数4安打3打点)</a:t>
                      </a:r>
                    </a:p>
                  </a:txBody>
                  <a:tcPr>
                    <a:solidFill>
                      <a:srgbClr val="F3F6FC"/>
                    </a:solidFill>
                  </a:tcPr>
                </a:tc>
                <a:tc>
                  <a:txBody>
                    <a:bodyPr/>
                    <a:lstStyle/>
                    <a:p>
                      <a:pPr>
                        <a:defRPr sz="1200">
                          <a:solidFill>
                            <a:srgbClr val="1A1A2E"/>
                          </a:solidFill>
                          <a:latin typeface="Yu Gothic"/>
                        </a:defRPr>
                      </a:pPr>
                      <a:r>
                        <a:t>確認済み(複数媒体一致)</a:t>
                      </a:r>
                    </a:p>
                  </a:txBody>
                  <a:tcPr>
                    <a:solidFill>
                      <a:srgbClr val="F3F6FC"/>
                    </a:solidFill>
                  </a:tcPr>
                </a:tc>
              </a:tr>
              <a:tr h="502920">
                <a:tc>
                  <a:txBody>
                    <a:bodyPr/>
                    <a:lstStyle/>
                    <a:p>
                      <a:pPr>
                        <a:defRPr sz="1200">
                          <a:solidFill>
                            <a:srgbClr val="1A1A2E"/>
                          </a:solidFill>
                          <a:latin typeface="Yu Gothic"/>
                        </a:defRPr>
                      </a:pPr>
                      <a:r>
                        <a:t>28号・29号の内容(相手投手・球種・飛距離)</a:t>
                      </a:r>
                    </a:p>
                  </a:txBody>
                  <a:tcPr>
                    <a:solidFill>
                      <a:srgbClr val="FFFFFF"/>
                    </a:solidFill>
                  </a:tcPr>
                </a:tc>
                <a:tc>
                  <a:txBody>
                    <a:bodyPr/>
                    <a:lstStyle/>
                    <a:p>
                      <a:pPr>
                        <a:defRPr sz="1200">
                          <a:solidFill>
                            <a:srgbClr val="1A1A2E"/>
                          </a:solidFill>
                          <a:latin typeface="Yu Gothic"/>
                        </a:defRPr>
                      </a:pPr>
                      <a:r>
                        <a:t>確認済み(複数媒体一致)</a:t>
                      </a:r>
                    </a:p>
                  </a:txBody>
                  <a:tcPr>
                    <a:solidFill>
                      <a:srgbClr val="FFFFFF"/>
                    </a:solidFill>
                  </a:tcPr>
                </a:tc>
              </a:tr>
              <a:tr h="502920">
                <a:tc>
                  <a:txBody>
                    <a:bodyPr/>
                    <a:lstStyle/>
                    <a:p>
                      <a:pPr>
                        <a:defRPr sz="1200">
                          <a:solidFill>
                            <a:srgbClr val="1A1A2E"/>
                          </a:solidFill>
                          <a:latin typeface="Yu Gothic"/>
                        </a:defRPr>
                      </a:pPr>
                      <a:r>
                        <a:t>次戦の登板・出場予定</a:t>
                      </a:r>
                    </a:p>
                  </a:txBody>
                  <a:tcPr>
                    <a:solidFill>
                      <a:srgbClr val="F3F6FC"/>
                    </a:solidFill>
                  </a:tcPr>
                </a:tc>
                <a:tc>
                  <a:txBody>
                    <a:bodyPr/>
                    <a:lstStyle/>
                    <a:p>
                      <a:pPr>
                        <a:defRPr sz="1200">
                          <a:solidFill>
                            <a:srgbClr val="1A1A2E"/>
                          </a:solidFill>
                          <a:latin typeface="Yu Gothic"/>
                        </a:defRPr>
                      </a:pPr>
                      <a:r>
                        <a:t>未確認</a:t>
                      </a:r>
                    </a:p>
                  </a:txBody>
                  <a:tcPr>
                    <a:solidFill>
                      <a:srgbClr val="F3F6FC"/>
                    </a:solidFill>
                  </a:tcPr>
                </a:tc>
              </a:tr>
              <a:tr h="502920">
                <a:tc>
                  <a:txBody>
                    <a:bodyPr/>
                    <a:lstStyle/>
                    <a:p>
                      <a:pPr>
                        <a:defRPr sz="1200">
                          <a:solidFill>
                            <a:srgbClr val="1A1A2E"/>
                          </a:solidFill>
                          <a:latin typeface="Yu Gothic"/>
                        </a:defRPr>
                      </a:pPr>
                      <a:r>
                        <a:t>シーズン最終盤までの目標本塁打数設定の有無</a:t>
                      </a:r>
                    </a:p>
                  </a:txBody>
                  <a:tcPr>
                    <a:solidFill>
                      <a:srgbClr val="FFFFFF"/>
                    </a:solidFill>
                  </a:tcPr>
                </a:tc>
                <a:tc>
                  <a:txBody>
                    <a:bodyPr/>
                    <a:lstStyle/>
                    <a:p>
                      <a:pPr>
                        <a:defRPr sz="1200">
                          <a:solidFill>
                            <a:srgbClr val="1A1A2E"/>
                          </a:solidFill>
                          <a:latin typeface="Yu Gothic"/>
                        </a:defRPr>
                      </a:pPr>
                      <a:r>
                        <a:t>未確認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NHKニュース・共同通信・Full-Count・SPREAD・岩手日報オンライン(2026-08-18)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NHKニュース</a:t>
                      </a:r>
                    </a:p>
                  </a:txBody>
                  <a:tcPr>
                    <a:solidFill>
                      <a:srgbClr val="FFFFFF"/>
                    </a:solidFill>
                  </a:tcPr>
                </a:tc>
                <a:tc>
                  <a:txBody>
                    <a:bodyPr/>
                    <a:lstStyle/>
                    <a:p>
                      <a:pPr>
                        <a:defRPr sz="1200">
                          <a:solidFill>
                            <a:srgbClr val="1A1A2E"/>
                          </a:solidFill>
                          <a:latin typeface="Yu Gothic"/>
                        </a:defRPr>
                      </a:pPr>
                      <a:r>
                        <a:t>試合結果・本塁打内容の報道(2026-08-18)</a:t>
                      </a:r>
                    </a:p>
                  </a:txBody>
                  <a:tcPr>
                    <a:solidFill>
                      <a:srgbClr val="FFFFFF"/>
                    </a:solidFill>
                  </a:tcPr>
                </a:tc>
              </a:tr>
              <a:tr h="502920">
                <a:tc>
                  <a:txBody>
                    <a:bodyPr/>
                    <a:lstStyle/>
                    <a:p>
                      <a:pPr>
                        <a:defRPr sz="1200">
                          <a:solidFill>
                            <a:srgbClr val="1A1A2E"/>
                          </a:solidFill>
                          <a:latin typeface="Yu Gothic"/>
                        </a:defRPr>
                      </a:pPr>
                      <a:r>
                        <a:t>共同通信(Yahoo!ニュース)</a:t>
                      </a:r>
                    </a:p>
                  </a:txBody>
                  <a:tcPr>
                    <a:solidFill>
                      <a:srgbClr val="F3F6FC"/>
                    </a:solidFill>
                  </a:tcPr>
                </a:tc>
                <a:tc>
                  <a:txBody>
                    <a:bodyPr/>
                    <a:lstStyle/>
                    <a:p>
                      <a:pPr>
                        <a:defRPr sz="1200">
                          <a:solidFill>
                            <a:srgbClr val="1A1A2E"/>
                          </a:solidFill>
                          <a:latin typeface="Yu Gothic"/>
                        </a:defRPr>
                      </a:pPr>
                      <a:r>
                        <a:t>試合結果・成績の確認(2026-08-18)</a:t>
                      </a:r>
                    </a:p>
                  </a:txBody>
                  <a:tcPr>
                    <a:solidFill>
                      <a:srgbClr val="F3F6FC"/>
                    </a:solidFill>
                  </a:tcPr>
                </a:tc>
              </a:tr>
              <a:tr h="502920">
                <a:tc>
                  <a:txBody>
                    <a:bodyPr/>
                    <a:lstStyle/>
                    <a:p>
                      <a:pPr>
                        <a:defRPr sz="1200">
                          <a:solidFill>
                            <a:srgbClr val="1A1A2E"/>
                          </a:solidFill>
                          <a:latin typeface="Yu Gothic"/>
                        </a:defRPr>
                      </a:pPr>
                      <a:r>
                        <a:t>Full-Count(Yahoo!ニュース)</a:t>
                      </a:r>
                    </a:p>
                  </a:txBody>
                  <a:tcPr>
                    <a:solidFill>
                      <a:srgbClr val="FFFFFF"/>
                    </a:solidFill>
                  </a:tcPr>
                </a:tc>
                <a:tc>
                  <a:txBody>
                    <a:bodyPr/>
                    <a:lstStyle/>
                    <a:p>
                      <a:pPr>
                        <a:defRPr sz="1200">
                          <a:solidFill>
                            <a:srgbClr val="1A1A2E"/>
                          </a:solidFill>
                          <a:latin typeface="Yu Gothic"/>
                        </a:defRPr>
                      </a:pPr>
                      <a:r>
                        <a:t>本塁打データ・飛距離の確認(2026-08-18)</a:t>
                      </a:r>
                    </a:p>
                  </a:txBody>
                  <a:tcPr>
                    <a:solidFill>
                      <a:srgbClr val="FFFFFF"/>
                    </a:solidFill>
                  </a:tcPr>
                </a:tc>
              </a:tr>
              <a:tr h="502920">
                <a:tc>
                  <a:txBody>
                    <a:bodyPr/>
                    <a:lstStyle/>
                    <a:p>
                      <a:pPr>
                        <a:defRPr sz="1200">
                          <a:solidFill>
                            <a:srgbClr val="1A1A2E"/>
                          </a:solidFill>
                          <a:latin typeface="Yu Gothic"/>
                        </a:defRPr>
                      </a:pPr>
                      <a:r>
                        <a:t>SPREAD</a:t>
                      </a:r>
                    </a:p>
                  </a:txBody>
                  <a:tcPr>
                    <a:solidFill>
                      <a:srgbClr val="F3F6FC"/>
                    </a:solidFill>
                  </a:tcPr>
                </a:tc>
                <a:tc>
                  <a:txBody>
                    <a:bodyPr/>
                    <a:lstStyle/>
                    <a:p>
                      <a:pPr>
                        <a:defRPr sz="1200">
                          <a:solidFill>
                            <a:srgbClr val="1A1A2E"/>
                          </a:solidFill>
                          <a:latin typeface="Yu Gothic"/>
                        </a:defRPr>
                      </a:pPr>
                      <a:r>
                        <a:t>試合結果の確認(2026-08-18)</a:t>
                      </a:r>
                    </a:p>
                  </a:txBody>
                  <a:tcPr>
                    <a:solidFill>
                      <a:srgbClr val="F3F6FC"/>
                    </a:solidFill>
                  </a:tcPr>
                </a:tc>
              </a:tr>
              <a:tr h="502920">
                <a:tc>
                  <a:txBody>
                    <a:bodyPr/>
                    <a:lstStyle/>
                    <a:p>
                      <a:pPr>
                        <a:defRPr sz="1200">
                          <a:solidFill>
                            <a:srgbClr val="1A1A2E"/>
                          </a:solidFill>
                          <a:latin typeface="Yu Gothic"/>
                        </a:defRPr>
                      </a:pPr>
                      <a:r>
                        <a:t>岩手日報オンライン</a:t>
                      </a:r>
                    </a:p>
                  </a:txBody>
                  <a:tcPr>
                    <a:solidFill>
                      <a:srgbClr val="FFFFFF"/>
                    </a:solidFill>
                  </a:tcPr>
                </a:tc>
                <a:tc>
                  <a:txBody>
                    <a:bodyPr/>
                    <a:lstStyle/>
                    <a:p>
                      <a:pPr>
                        <a:defRPr sz="1200">
                          <a:solidFill>
                            <a:srgbClr val="1A1A2E"/>
                          </a:solidFill>
                          <a:latin typeface="Yu Gothic"/>
                        </a:defRPr>
                      </a:pPr>
                      <a:r>
                        <a:t>菅野投手との対戦内容の確認(2026-08-18)</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NHKニュース・共同通信(Yahoo!ニュース)・Full-Count(Yahoo!ニュース)・SPREAD・岩手日報オンライン(2026年8月18日時点)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28号・29号の2打席連続弾で大勝に貢献。同郷対決も正確に整理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11-5という結果と、28号・29号それぞれの内容を、出典付きで正確に整理してお届けしました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