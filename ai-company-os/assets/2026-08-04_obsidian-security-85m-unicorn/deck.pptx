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社数(以上、単位:社)</c:v>
                </c:pt>
              </c:strCache>
            </c:strRef>
          </c:tx>
          <c:spPr>
            <a:solidFill>
              <a:srgbClr val="C81E1E"/>
            </a:solidFill>
          </c:spPr>
          <c:cat>
            <c:strRef>
              <c:f>Sheet1!$A$2:$A$4</c:f>
              <c:strCache>
                <c:ptCount val="3"/>
                <c:pt idx="0">
                  <c:v>年間10万ドル超顧客</c:v>
                </c:pt>
                <c:pt idx="1">
                  <c:v>年間100万ドル超顧客</c:v>
                </c:pt>
                <c:pt idx="2">
                  <c:v>Fortune 500顧客</c:v>
                </c:pt>
              </c:strCache>
            </c:strRef>
          </c:cat>
          <c:val>
            <c:numRef>
              <c:f>Sheet1!$B$2:$B$4</c:f>
              <c:numCache>
                <c:formatCode>General</c:formatCode>
                <c:ptCount val="3"/>
                <c:pt idx="0">
                  <c:v>100</c:v>
                </c:pt>
                <c:pt idx="1">
                  <c:v>14</c:v>
                </c:pt>
                <c:pt idx="2">
                  <c:v>60</c:v>
                </c:pt>
              </c:numCache>
            </c:numRef>
          </c:val>
        </c:ser>
        <c:dLbls>
          <c:numFmt formatCode="#,##0" sourceLinked="0"/>
          <c:txPr>
            <a:bodyPr/>
            <a:lstStyle/>
            <a:p>
              <a:pPr>
                <a:defRPr sz="1200" b="1">
                  <a:solidFill>
                    <a:srgbClr val="C81E1E"/>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社内でAIエージェントが勝手に動き回る時代、その見張り役企業が評価額11億ドルのユニコーンになりました。非人間IDとAIエージェントのセキュリティを手がけるObsidian Securityが、シリーズDで8,500万ドルを調達したと、2026年8月4日、複数メディアが報じました。</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今日わかることは6つです。何が起きたのか、非人間IDとは何か、Obsidian Securityとはどんな会社か、顧客動向、創業者・経営陣について、そして確認できたこと・できなかったこと・鮮度についてです。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何が起きたのか整理します。Obsidian Securityが、シリーズDで8,500万ドルを調達したと発表しました。評価額は11億ドルに到達しユニコーン企業となり、ラウンドはCrescent Cove Advisorsが主導、既存投資家のGreylockとMenlo Venturesも参加しました。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今回調達した資金額はこちら、8,500万ドルです。シリーズDラウンドで調達され、2026年8月4日に発表されました。一部媒体は8月5日表記です。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調達概要を表にまとめました。企業名はObsidian Security、事業領域は非人間ID・AIエージェントのセキュリティ、調達額は8,500万ドル、評価額は11億ドル、主導はCrescent Cove Advisorsです。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投資家陣です。Crescent Cove Advisorsが今回のラウンドを主導し、既存投資家のGreylock PartnersとMenlo Venturesも参加しました。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調達後評価額はこちら、11億ドルです。今回のシリーズDラウンドで、Obsidian Securityは評価額10億ドルを超えるユニコーン企業に到達しました。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初心者向けに説明します。非人間IDとは、人間ではなくAIエージェントやAPIキーなどシステムが持つ身元のことです。企業がClaudeやChatGPT、Copilot Studioなどを業務に導入する動きが広がる中、Obsidian Securityはこうしたエージェントの挙動監視やガバナンスを手がけています。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エージェント普及の流れを概要図で示します。企業がAIエージェントを業務システムに組み込み、サードパーティアプリの中で自律的に動作するようになったことで、非人間IDの挙動監視という新しいセキュリティリスクが生ま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Obsidian Securityとはどんな会社か紹介します。非人間ID・AIエージェントのセキュリティを手がける米セキュリティ企業で、現CEOはHasan Imam氏、会長兼チーフプロダクトオフィサーは共同創業者のGlenn Chisholm氏です。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従来型のID管理と、非人間ID・AIエージェント管理の違いを整理します。従来型は人間の従業員アカウントが中心ですが、Obsidianの領域はAIエージェントやAPIキーなど人間以外の身元を対象にします。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顧客動向として公表されている数字です。年間10万ドル超を支払う顧客が100社超、年間100万ドル超を支払う顧客が14社超、Fortune 500企業60社が顧客に含まれると公表されています。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顧客数の数字を整理しました。年間10万ドル超が100社超、年間100万ドル超が14社超、Fortune 500企業は60社です。いずれも「以上」を示す公表値である点にご注意ください。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顧客層の数字をグラフで比較します。年間10万ドル超顧客が100社超、年間100万ドル超顧客が14社超、Fortune 500顧客が60社です。桁の違いに注目してください。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顧客に含まれるFortune 500企業はこちら、60社です。金融・SNS・通信業界の企業が含まれると公表されています。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創業者・経営陣について紹介します。共同創業者のGlenn Chisholm氏は現在、会長兼チーフプロダクトオフィサー、現CEOはHasan Imam氏です。Chisholm氏は前職、Cylance社のCTOでした。</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Glenn Chisholm氏の経歴です。前職はCylance社のCTOで、自律型機械学習によるマルウェア対策ソリューションを主導しました。Cylanceは後にBlackBerryに14億ドルで買収されています。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資金使途の全体像です。研究開発の拡大、Fortune 500企業への導入拡大、そしてGlobal 2000企業へのさらなる導入拡大に使う方針と発表されています。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なぜAIエージェントが新しい攻撃対象面になるかを概要で示します。自律稼働・権限拡大・監視の空白という流れで、人間中心の従来型セキュリティでは捕捉しにくい挙動が生まれるとされています。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確定事実と未確認情報を区別します。調達額や評価額、投資家陣、顧客数、創業者経歴は複数媒体で確認できていますが、検知アルゴリズムの詳細や競合関係、日本展開、累計調達額は未確認です。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確認できたこと・できなかったことを正直に整理します。調達額や評価額、投資家陣、顧客数、創業者経歴は確認できていますが、検知アルゴリズムの詳細や競合関係、日本展開は確認できていません。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未確認事項を一覧にしました。検知アルゴリズムの詳細、競合他社との関係、日本市場での展開、累計調達額、いずれも本調査の範囲では確認できていません。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業界文脈です。ここからは推測になります。AIエージェント導入が広がる中で非人間ID管理への関心が高まっていると考えられますが、Obsidian固有の市場シェアは確認できていません。本テーマは事実の紹介に留め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採用理由と評価スコアを開示します。スコアは80/100で、良好な鮮度と複数媒体での事実の一致が評価された一方、累計調達額や技術的詳細が未確認である点が懸念点として明記されています。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鮮度について開示します。本発表は2026年8月4日で、一部媒体は8月5日表記です。着手日から2日以内という基準を満たしていますが、この鮮度の良さは未確認事項を補うものではありません。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公平性・中立性について開示します。実在企業名・人物名はテキストとしてのみ使用し、特定企業・製品の利用を強く推奨する結論にはしていません。政治的中立性も保っています。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出典一覧です。SiliconANGLE、Pulse2、SecurityWeek、Unite.AI、citybiz、FinSMEs、そしてYahoo Financeという複数の独立した媒体で、2026年8月4日から5日にかけて報じられています。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既存テーマとの関係を確認しました。Obsidian Securityを主題とした既存テーマはなく、Zenity等のAIエージェントセキュリティ系テーマとも対象企業・調達内容が異なるため重複ではありません。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社内で動くAIエージェント、その見張り役は今後どう増えていくのでしょうか。Obsidian Securityの続報を、確定事実と未確認情報を区別しながら注目していきましょう。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まとめです。非人間ID・AIエージェントのセキュリティを手がけるObsidian Securityが、シリーズDで8,500万ドルを調達し、評価額11億ドルのユニコーン企業になったと発表しました。一方で検知アルゴリズムの詳細や競合関係、日本展開、累計調達額は未確認であることも正直にお伝えしました。今回もご視聴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3A0A0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FE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社内でAIエージェントが勝手に動き回る時代、その“見張り役”企業が評価額11億ドルのユニコーンになった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FFD400"/>
                </a:solidFill>
                <a:latin typeface="Yu Gothic"/>
              </a:rPr>
              <a:t>Obsidian Security、シリーズDで8,500万ドル調達(2026年8月4日発表、一部媒体は8月5日表記)</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FFE873"/>
                </a:solidFill>
                <a:latin typeface="Yu Gothic"/>
              </a:rPr>
              <a:t>出典: SiliconANGLE(2026-08-04)ほか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3A0A0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FE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今日わかること</a:t>
            </a:r>
          </a:p>
        </p:txBody>
      </p:sp>
      <p:sp>
        <p:nvSpPr>
          <p:cNvPr id="5" name="Oval 4"/>
          <p:cNvSpPr/>
          <p:nvPr/>
        </p:nvSpPr>
        <p:spPr>
          <a:xfrm>
            <a:off x="548640" y="1920240"/>
            <a:ext cx="548640" cy="5486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FFD400"/>
                </a:solidFill>
                <a:latin typeface="Yu Gothic"/>
              </a:rPr>
              <a:t>何が起きたのか</a:t>
            </a:r>
          </a:p>
        </p:txBody>
      </p:sp>
      <p:sp>
        <p:nvSpPr>
          <p:cNvPr id="7" name="Oval 6"/>
          <p:cNvSpPr/>
          <p:nvPr/>
        </p:nvSpPr>
        <p:spPr>
          <a:xfrm>
            <a:off x="548640" y="2697480"/>
            <a:ext cx="548640" cy="5486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FFD400"/>
                </a:solidFill>
                <a:latin typeface="Yu Gothic"/>
              </a:rPr>
              <a:t>初心者向け: 「非人間ID」とは何か</a:t>
            </a:r>
          </a:p>
        </p:txBody>
      </p:sp>
      <p:sp>
        <p:nvSpPr>
          <p:cNvPr id="9" name="Oval 8"/>
          <p:cNvSpPr/>
          <p:nvPr/>
        </p:nvSpPr>
        <p:spPr>
          <a:xfrm>
            <a:off x="548640" y="3474720"/>
            <a:ext cx="548640" cy="5486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FFD400"/>
                </a:solidFill>
                <a:latin typeface="Yu Gothic"/>
              </a:rPr>
              <a:t>Obsidian Securityとはどんな会社か</a:t>
            </a:r>
          </a:p>
        </p:txBody>
      </p:sp>
      <p:sp>
        <p:nvSpPr>
          <p:cNvPr id="11" name="Oval 10"/>
          <p:cNvSpPr/>
          <p:nvPr/>
        </p:nvSpPr>
        <p:spPr>
          <a:xfrm>
            <a:off x="548640" y="4251960"/>
            <a:ext cx="548640" cy="5486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FFD400"/>
                </a:solidFill>
                <a:latin typeface="Yu Gothic"/>
              </a:rPr>
              <a:t>顧客動向として公表されている数字</a:t>
            </a:r>
          </a:p>
        </p:txBody>
      </p:sp>
      <p:sp>
        <p:nvSpPr>
          <p:cNvPr id="13" name="Oval 12"/>
          <p:cNvSpPr/>
          <p:nvPr/>
        </p:nvSpPr>
        <p:spPr>
          <a:xfrm>
            <a:off x="548640" y="5029200"/>
            <a:ext cx="548640" cy="5486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FFD400"/>
                </a:solidFill>
                <a:latin typeface="Yu Gothic"/>
              </a:rPr>
              <a:t>創業者・経営陣について</a:t>
            </a:r>
          </a:p>
        </p:txBody>
      </p:sp>
      <p:sp>
        <p:nvSpPr>
          <p:cNvPr id="15" name="Oval 14"/>
          <p:cNvSpPr/>
          <p:nvPr/>
        </p:nvSpPr>
        <p:spPr>
          <a:xfrm>
            <a:off x="548640" y="5806440"/>
            <a:ext cx="548640" cy="5486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FFD400"/>
                </a:solidFill>
                <a:latin typeface="Yu Gothic"/>
              </a:rPr>
              <a:t>確認できたこと・できなかったこと・鮮度について</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FE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C81E1E"/>
                </a:solidFill>
                <a:latin typeface="Yu Gothic"/>
              </a:rPr>
              <a:t>何が起きたのか</a:t>
            </a:r>
          </a:p>
        </p:txBody>
      </p:sp>
      <p:sp>
        <p:nvSpPr>
          <p:cNvPr id="5" name="Rectangle 4"/>
          <p:cNvSpPr/>
          <p:nvPr/>
        </p:nvSpPr>
        <p:spPr>
          <a:xfrm>
            <a:off x="457200" y="1188720"/>
            <a:ext cx="502920" cy="54864"/>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Obsidian Securityが2026年8月4日、シリーズDで8,500万ドルの資金調達を発表(一部媒体は8月5日表記)</a:t>
            </a:r>
          </a:p>
        </p:txBody>
      </p:sp>
      <p:sp>
        <p:nvSpPr>
          <p:cNvPr id="8" name="Oval 7"/>
          <p:cNvSpPr/>
          <p:nvPr/>
        </p:nvSpPr>
        <p:spPr>
          <a:xfrm>
            <a:off x="457200" y="2258568"/>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今回のラウンドで評価額11億ドルに到達し、ユニコーン企業となった</a:t>
            </a:r>
          </a:p>
        </p:txBody>
      </p:sp>
      <p:sp>
        <p:nvSpPr>
          <p:cNvPr id="10" name="Oval 9"/>
          <p:cNvSpPr/>
          <p:nvPr/>
        </p:nvSpPr>
        <p:spPr>
          <a:xfrm>
            <a:off x="457200" y="3035808"/>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ラウンドはCrescent Cove Advisorsが主導。既存投資家のGreylock Partners・Menlo Venturesも参加</a:t>
            </a:r>
          </a:p>
        </p:txBody>
      </p:sp>
      <p:sp>
        <p:nvSpPr>
          <p:cNvPr id="12" name="Oval 11"/>
          <p:cNvSpPr/>
          <p:nvPr/>
        </p:nvSpPr>
        <p:spPr>
          <a:xfrm>
            <a:off x="457200" y="3813048"/>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資金は研究開発の拡大と、Fortune 500・Global 2000企業への導入拡大に使う方針</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F2B705"/>
                </a:solidFill>
                <a:latin typeface="Yu Gothic"/>
              </a:rPr>
              <a:t>出典: SiliconANGLE(2026-08-04)ほか</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F2B705"/>
                </a:solidFill>
                <a:latin typeface="Yu Gothic"/>
              </a:rPr>
              <a:t>AI Company OS｜出典: SiliconANGLE(2026-08-04)ほか｜定期実行141本目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F2B705"/>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3A0A0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FE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FD400"/>
                </a:solidFill>
                <a:latin typeface="Yu Gothic"/>
              </a:rPr>
              <a:t>今回調達した資金額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FFD400"/>
                </a:solidFill>
                <a:latin typeface="Yu Gothic"/>
              </a:rPr>
              <a:t>8,500万ドル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シリーズDラウンドで調達(2026年8月4日発表、一部媒体は8月5日表記)</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FFE873"/>
                </a:solidFill>
                <a:latin typeface="Yu Gothic"/>
              </a:rPr>
              <a:t>出典: SiliconANGLE(2026-08-04)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FE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C81E1E"/>
                </a:solidFill>
                <a:latin typeface="Yu Gothic"/>
              </a:rPr>
              <a:t>調達概要</a:t>
            </a:r>
          </a:p>
        </p:txBody>
      </p:sp>
      <p:sp>
        <p:nvSpPr>
          <p:cNvPr id="5" name="Rectangle 4"/>
          <p:cNvSpPr/>
          <p:nvPr/>
        </p:nvSpPr>
        <p:spPr>
          <a:xfrm>
            <a:off x="457200" y="1188720"/>
            <a:ext cx="502920" cy="54864"/>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40233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C81E1E"/>
                    </a:solidFill>
                  </a:tcPr>
                </a:tc>
                <a:tc>
                  <a:txBody>
                    <a:bodyPr/>
                    <a:lstStyle/>
                    <a:p>
                      <a:pPr>
                        <a:defRPr sz="1300" b="1">
                          <a:solidFill>
                            <a:srgbClr val="FFFFFF"/>
                          </a:solidFill>
                          <a:latin typeface="Yu Gothic"/>
                        </a:defRPr>
                      </a:pPr>
                      <a:r>
                        <a:t>内容</a:t>
                      </a:r>
                    </a:p>
                  </a:txBody>
                  <a:tcPr>
                    <a:solidFill>
                      <a:srgbClr val="C81E1E"/>
                    </a:solidFill>
                  </a:tcPr>
                </a:tc>
              </a:tr>
              <a:tr h="502920">
                <a:tc>
                  <a:txBody>
                    <a:bodyPr/>
                    <a:lstStyle/>
                    <a:p>
                      <a:pPr>
                        <a:defRPr sz="1200">
                          <a:solidFill>
                            <a:srgbClr val="1A0A0A"/>
                          </a:solidFill>
                          <a:latin typeface="Yu Gothic"/>
                        </a:defRPr>
                      </a:pPr>
                      <a:r>
                        <a:t>企業名</a:t>
                      </a:r>
                    </a:p>
                  </a:txBody>
                  <a:tcPr>
                    <a:solidFill>
                      <a:srgbClr val="FFFFFF"/>
                    </a:solidFill>
                  </a:tcPr>
                </a:tc>
                <a:tc>
                  <a:txBody>
                    <a:bodyPr/>
                    <a:lstStyle/>
                    <a:p>
                      <a:pPr>
                        <a:defRPr sz="1200">
                          <a:solidFill>
                            <a:srgbClr val="1A0A0A"/>
                          </a:solidFill>
                          <a:latin typeface="Yu Gothic"/>
                        </a:defRPr>
                      </a:pPr>
                      <a:r>
                        <a:t>Obsidian Security</a:t>
                      </a:r>
                    </a:p>
                  </a:txBody>
                  <a:tcPr>
                    <a:solidFill>
                      <a:srgbClr val="FFFFFF"/>
                    </a:solidFill>
                  </a:tcPr>
                </a:tc>
              </a:tr>
              <a:tr h="502920">
                <a:tc>
                  <a:txBody>
                    <a:bodyPr/>
                    <a:lstStyle/>
                    <a:p>
                      <a:pPr>
                        <a:defRPr sz="1200">
                          <a:solidFill>
                            <a:srgbClr val="1A0A0A"/>
                          </a:solidFill>
                          <a:latin typeface="Yu Gothic"/>
                        </a:defRPr>
                      </a:pPr>
                      <a:r>
                        <a:t>事業領域</a:t>
                      </a:r>
                    </a:p>
                  </a:txBody>
                  <a:tcPr>
                    <a:solidFill>
                      <a:srgbClr val="FFF3C4"/>
                    </a:solidFill>
                  </a:tcPr>
                </a:tc>
                <a:tc>
                  <a:txBody>
                    <a:bodyPr/>
                    <a:lstStyle/>
                    <a:p>
                      <a:pPr>
                        <a:defRPr sz="1200">
                          <a:solidFill>
                            <a:srgbClr val="1A0A0A"/>
                          </a:solidFill>
                          <a:latin typeface="Yu Gothic"/>
                        </a:defRPr>
                      </a:pPr>
                      <a:r>
                        <a:t>非人間ID・AIエージェントのセキュリティ</a:t>
                      </a:r>
                    </a:p>
                  </a:txBody>
                  <a:tcPr>
                    <a:solidFill>
                      <a:srgbClr val="FFF3C4"/>
                    </a:solidFill>
                  </a:tcPr>
                </a:tc>
              </a:tr>
              <a:tr h="502920">
                <a:tc>
                  <a:txBody>
                    <a:bodyPr/>
                    <a:lstStyle/>
                    <a:p>
                      <a:pPr>
                        <a:defRPr sz="1200">
                          <a:solidFill>
                            <a:srgbClr val="1A0A0A"/>
                          </a:solidFill>
                          <a:latin typeface="Yu Gothic"/>
                        </a:defRPr>
                      </a:pPr>
                      <a:r>
                        <a:t>調達額</a:t>
                      </a:r>
                    </a:p>
                  </a:txBody>
                  <a:tcPr>
                    <a:solidFill>
                      <a:srgbClr val="FFFFFF"/>
                    </a:solidFill>
                  </a:tcPr>
                </a:tc>
                <a:tc>
                  <a:txBody>
                    <a:bodyPr/>
                    <a:lstStyle/>
                    <a:p>
                      <a:pPr>
                        <a:defRPr sz="1200">
                          <a:solidFill>
                            <a:srgbClr val="1A0A0A"/>
                          </a:solidFill>
                          <a:latin typeface="Yu Gothic"/>
                        </a:defRPr>
                      </a:pPr>
                      <a:r>
                        <a:t>8,500万ドル(シリーズD)</a:t>
                      </a:r>
                    </a:p>
                  </a:txBody>
                  <a:tcPr>
                    <a:solidFill>
                      <a:srgbClr val="FFFFFF"/>
                    </a:solidFill>
                  </a:tcPr>
                </a:tc>
              </a:tr>
              <a:tr h="502920">
                <a:tc>
                  <a:txBody>
                    <a:bodyPr/>
                    <a:lstStyle/>
                    <a:p>
                      <a:pPr>
                        <a:defRPr sz="1200">
                          <a:solidFill>
                            <a:srgbClr val="1A0A0A"/>
                          </a:solidFill>
                          <a:latin typeface="Yu Gothic"/>
                        </a:defRPr>
                      </a:pPr>
                      <a:r>
                        <a:t>調達後評価額</a:t>
                      </a:r>
                    </a:p>
                  </a:txBody>
                  <a:tcPr>
                    <a:solidFill>
                      <a:srgbClr val="FFF3C4"/>
                    </a:solidFill>
                  </a:tcPr>
                </a:tc>
                <a:tc>
                  <a:txBody>
                    <a:bodyPr/>
                    <a:lstStyle/>
                    <a:p>
                      <a:pPr>
                        <a:defRPr sz="1200">
                          <a:solidFill>
                            <a:srgbClr val="1A0A0A"/>
                          </a:solidFill>
                          <a:latin typeface="Yu Gothic"/>
                        </a:defRPr>
                      </a:pPr>
                      <a:r>
                        <a:t>11億ドル(今回ユニコーンに到達)</a:t>
                      </a:r>
                    </a:p>
                  </a:txBody>
                  <a:tcPr>
                    <a:solidFill>
                      <a:srgbClr val="FFF3C4"/>
                    </a:solidFill>
                  </a:tcPr>
                </a:tc>
              </a:tr>
              <a:tr h="502920">
                <a:tc>
                  <a:txBody>
                    <a:bodyPr/>
                    <a:lstStyle/>
                    <a:p>
                      <a:pPr>
                        <a:defRPr sz="1200">
                          <a:solidFill>
                            <a:srgbClr val="1A0A0A"/>
                          </a:solidFill>
                          <a:latin typeface="Yu Gothic"/>
                        </a:defRPr>
                      </a:pPr>
                      <a:r>
                        <a:t>主導投資家</a:t>
                      </a:r>
                    </a:p>
                  </a:txBody>
                  <a:tcPr>
                    <a:solidFill>
                      <a:srgbClr val="FFFFFF"/>
                    </a:solidFill>
                  </a:tcPr>
                </a:tc>
                <a:tc>
                  <a:txBody>
                    <a:bodyPr/>
                    <a:lstStyle/>
                    <a:p>
                      <a:pPr>
                        <a:defRPr sz="1200">
                          <a:solidFill>
                            <a:srgbClr val="1A0A0A"/>
                          </a:solidFill>
                          <a:latin typeface="Yu Gothic"/>
                        </a:defRPr>
                      </a:pPr>
                      <a:r>
                        <a:t>Crescent Cove Advisors</a:t>
                      </a:r>
                    </a:p>
                  </a:txBody>
                  <a:tcPr>
                    <a:solidFill>
                      <a:srgbClr val="FFFFFF"/>
                    </a:solidFill>
                  </a:tcPr>
                </a:tc>
              </a:tr>
              <a:tr h="502920">
                <a:tc>
                  <a:txBody>
                    <a:bodyPr/>
                    <a:lstStyle/>
                    <a:p>
                      <a:pPr>
                        <a:defRPr sz="1200">
                          <a:solidFill>
                            <a:srgbClr val="1A0A0A"/>
                          </a:solidFill>
                          <a:latin typeface="Yu Gothic"/>
                        </a:defRPr>
                      </a:pPr>
                      <a:r>
                        <a:t>参加投資家(既存)</a:t>
                      </a:r>
                    </a:p>
                  </a:txBody>
                  <a:tcPr>
                    <a:solidFill>
                      <a:srgbClr val="FFF3C4"/>
                    </a:solidFill>
                  </a:tcPr>
                </a:tc>
                <a:tc>
                  <a:txBody>
                    <a:bodyPr/>
                    <a:lstStyle/>
                    <a:p>
                      <a:pPr>
                        <a:defRPr sz="1200">
                          <a:solidFill>
                            <a:srgbClr val="1A0A0A"/>
                          </a:solidFill>
                          <a:latin typeface="Yu Gothic"/>
                        </a:defRPr>
                      </a:pPr>
                      <a:r>
                        <a:t>Greylock Partners・Menlo Ventures</a:t>
                      </a:r>
                    </a:p>
                  </a:txBody>
                  <a:tcPr>
                    <a:solidFill>
                      <a:srgbClr val="FFF3C4"/>
                    </a:solidFill>
                  </a:tcPr>
                </a:tc>
              </a:tr>
              <a:tr h="502920">
                <a:tc>
                  <a:txBody>
                    <a:bodyPr/>
                    <a:lstStyle/>
                    <a:p>
                      <a:pPr>
                        <a:defRPr sz="1200">
                          <a:solidFill>
                            <a:srgbClr val="1A0A0A"/>
                          </a:solidFill>
                          <a:latin typeface="Yu Gothic"/>
                        </a:defRPr>
                      </a:pPr>
                      <a:r>
                        <a:t>発表日</a:t>
                      </a:r>
                    </a:p>
                  </a:txBody>
                  <a:tcPr>
                    <a:solidFill>
                      <a:srgbClr val="FFFFFF"/>
                    </a:solidFill>
                  </a:tcPr>
                </a:tc>
                <a:tc>
                  <a:txBody>
                    <a:bodyPr/>
                    <a:lstStyle/>
                    <a:p>
                      <a:pPr>
                        <a:defRPr sz="1200">
                          <a:solidFill>
                            <a:srgbClr val="1A0A0A"/>
                          </a:solidFill>
                          <a:latin typeface="Yu Gothic"/>
                        </a:defRPr>
                      </a:pPr>
                      <a:r>
                        <a:t>2026年8月4日(一部媒体は8月5日表記)</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F2B705"/>
                </a:solidFill>
                <a:latin typeface="Yu Gothic"/>
              </a:rPr>
              <a:t>AI Company OS｜出典: SiliconANGLE(2026-08-04)ほか｜定期実行141本目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F2B705"/>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FE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C81E1E"/>
                </a:solidFill>
                <a:latin typeface="Yu Gothic"/>
              </a:rPr>
              <a:t>投資家陣</a:t>
            </a:r>
          </a:p>
        </p:txBody>
      </p:sp>
      <p:sp>
        <p:nvSpPr>
          <p:cNvPr id="5" name="Rectangle 4"/>
          <p:cNvSpPr/>
          <p:nvPr/>
        </p:nvSpPr>
        <p:spPr>
          <a:xfrm>
            <a:off x="457200" y="1188720"/>
            <a:ext cx="502920" cy="54864"/>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C81E1E"/>
                </a:solidFill>
                <a:latin typeface="Yu Gothic"/>
              </a:rPr>
              <a:t>主導</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F2B705"/>
                </a:solidFill>
                <a:latin typeface="Yu Gothic"/>
              </a:rPr>
              <a:t>Crescent Cove Advisors</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C81E1E"/>
                </a:solidFill>
                <a:latin typeface="Yu Gothic"/>
              </a:rPr>
              <a:t>既存投資家として参加</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F2B705"/>
                </a:solidFill>
                <a:latin typeface="Yu Gothic"/>
              </a:rPr>
              <a:t>Greylock Partners</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C81E1E"/>
                </a:solidFill>
                <a:latin typeface="Yu Gothic"/>
              </a:rPr>
              <a:t>既存投資家として参加</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F2B705"/>
                </a:solidFill>
                <a:latin typeface="Yu Gothic"/>
              </a:rPr>
              <a:t>Menlo Ventures</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F2B705"/>
                </a:solidFill>
                <a:latin typeface="Yu Gothic"/>
              </a:rPr>
              <a:t>AI Company OS｜出典: SiliconANGLE(2026-08-04)ほか｜定期実行141本目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F2B705"/>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3A0A0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FE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FD400"/>
                </a:solidFill>
                <a:latin typeface="Yu Gothic"/>
              </a:rPr>
              <a:t>調達後評価額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FFD400"/>
                </a:solidFill>
                <a:latin typeface="Yu Gothic"/>
              </a:rPr>
              <a:t>11億ドル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今回のラウンドでユニコーン企業に到達</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FFE873"/>
                </a:solidFill>
                <a:latin typeface="Yu Gothic"/>
              </a:rPr>
              <a:t>出典: Pulse2(2026-08-04)、SecurityWeek(2026-08-04)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FE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C81E1E"/>
                </a:solidFill>
                <a:latin typeface="Yu Gothic"/>
              </a:rPr>
              <a:t>初心者向け: 「非人間ID」とは何か</a:t>
            </a:r>
          </a:p>
        </p:txBody>
      </p:sp>
      <p:sp>
        <p:nvSpPr>
          <p:cNvPr id="5" name="Rectangle 4"/>
          <p:cNvSpPr/>
          <p:nvPr/>
        </p:nvSpPr>
        <p:spPr>
          <a:xfrm>
            <a:off x="457200" y="1188720"/>
            <a:ext cx="502920" cy="54864"/>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「非人間ID」とは、人間ではなくAIエージェントやAPIキー・サービスアカウントなど、システムが持つ「身元」のこと</a:t>
            </a:r>
          </a:p>
        </p:txBody>
      </p:sp>
      <p:sp>
        <p:nvSpPr>
          <p:cNvPr id="8" name="Oval 7"/>
          <p:cNvSpPr/>
          <p:nvPr/>
        </p:nvSpPr>
        <p:spPr>
          <a:xfrm>
            <a:off x="457200" y="2258568"/>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企業がAnthropic Claude・OpenAI ChatGPT・Microsoft Copilot Studioなど各種AIエージェントを業務に導入する動きが広がっている</a:t>
            </a:r>
          </a:p>
        </p:txBody>
      </p:sp>
      <p:sp>
        <p:nvSpPr>
          <p:cNvPr id="10" name="Oval 9"/>
          <p:cNvSpPr/>
          <p:nvPr/>
        </p:nvSpPr>
        <p:spPr>
          <a:xfrm>
            <a:off x="457200" y="3035808"/>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こうしたAIエージェントはサードパーティアプリの中に組み込まれ、人の監視なしに自律的に動作することがある</a:t>
            </a:r>
          </a:p>
        </p:txBody>
      </p:sp>
      <p:sp>
        <p:nvSpPr>
          <p:cNvPr id="12" name="Oval 11"/>
          <p:cNvSpPr/>
          <p:nvPr/>
        </p:nvSpPr>
        <p:spPr>
          <a:xfrm>
            <a:off x="457200" y="3813048"/>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Obsidian Securityは、この非人間ID・AIエージェントの挙動監視やガバナンスを手がける企業</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F2B705"/>
                </a:solidFill>
                <a:latin typeface="Yu Gothic"/>
              </a:rPr>
              <a:t>AI Company OS｜出典: SiliconANGLE(2026-08-04)ほか｜定期実行141本目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F2B705"/>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FE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C81E1E"/>
                </a:solidFill>
                <a:latin typeface="Yu Gothic"/>
              </a:rPr>
              <a:t>AIエージェント普及の流れ(報道内容に基づく概要)</a:t>
            </a:r>
          </a:p>
        </p:txBody>
      </p:sp>
      <p:sp>
        <p:nvSpPr>
          <p:cNvPr id="5" name="Rectangle 4"/>
          <p:cNvSpPr/>
          <p:nvPr/>
        </p:nvSpPr>
        <p:spPr>
          <a:xfrm>
            <a:off x="457200" y="1188720"/>
            <a:ext cx="502920" cy="54864"/>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C81E1E"/>
                </a:solidFill>
                <a:latin typeface="Yu Gothic"/>
              </a:rPr>
              <a:t>AIエージェントの導入拡大</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F2B705"/>
                </a:solidFill>
                <a:latin typeface="Yu Gothic"/>
              </a:rPr>
              <a:t>企業がClaude・ChatGPT・Copilot Studio等を業務システムに組み込む</a:t>
            </a:r>
          </a:p>
        </p:txBody>
      </p:sp>
      <p:sp>
        <p:nvSpPr>
          <p:cNvPr id="10" name="Right Arrow 9"/>
          <p:cNvSpPr/>
          <p:nvPr/>
        </p:nvSpPr>
        <p:spPr>
          <a:xfrm>
            <a:off x="4157319" y="3108959"/>
            <a:ext cx="676656" cy="365760"/>
          </a:xfrm>
          <a:prstGeom prst="rightArrow">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C81E1E"/>
                </a:solidFill>
                <a:latin typeface="Yu Gothic"/>
              </a:rPr>
              <a:t>サードパーティアプリへの組み込み</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F2B705"/>
                </a:solidFill>
                <a:latin typeface="Yu Gothic"/>
              </a:rPr>
              <a:t>AIエージェントが人の監視なしに自律的に動作する場面が増える</a:t>
            </a:r>
          </a:p>
        </p:txBody>
      </p:sp>
      <p:sp>
        <p:nvSpPr>
          <p:cNvPr id="15" name="Right Arrow 14"/>
          <p:cNvSpPr/>
          <p:nvPr/>
        </p:nvSpPr>
        <p:spPr>
          <a:xfrm>
            <a:off x="7357719" y="3108959"/>
            <a:ext cx="676656" cy="365760"/>
          </a:xfrm>
          <a:prstGeom prst="rightArrow">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C81E1E"/>
                </a:solidFill>
                <a:latin typeface="Yu Gothic"/>
              </a:rPr>
              <a:t>新しいセキュリティリスク</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F2B705"/>
                </a:solidFill>
                <a:latin typeface="Yu Gothic"/>
              </a:rPr>
              <a:t>非人間IDの挙動監視・ガバナンスが新たな課題になる</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F2B705"/>
                </a:solidFill>
                <a:latin typeface="Yu Gothic"/>
              </a:rPr>
              <a:t>報道内容に基づく概要図。具体的な検知アルゴリズムの詳細は未確認</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F2B705"/>
                </a:solidFill>
                <a:latin typeface="Yu Gothic"/>
              </a:rPr>
              <a:t>AI Company OS｜出典: SiliconANGLE(2026-08-04)ほか｜定期実行141本目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F2B705"/>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FE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C81E1E"/>
                </a:solidFill>
                <a:latin typeface="Yu Gothic"/>
              </a:rPr>
              <a:t>Obsidian Securityとは</a:t>
            </a:r>
          </a:p>
        </p:txBody>
      </p:sp>
      <p:sp>
        <p:nvSpPr>
          <p:cNvPr id="5" name="Rectangle 4"/>
          <p:cNvSpPr/>
          <p:nvPr/>
        </p:nvSpPr>
        <p:spPr>
          <a:xfrm>
            <a:off x="457200" y="1188720"/>
            <a:ext cx="502920" cy="54864"/>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C81E1E"/>
                </a:solidFill>
                <a:latin typeface="Yu Gothic"/>
              </a:rPr>
              <a:t>事業内容</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F2B705"/>
                </a:solidFill>
                <a:latin typeface="Yu Gothic"/>
              </a:rPr>
              <a:t>非人間ID・AIエージェントのセキュリティを手がける米セキュリティ企業</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C81E1E"/>
                </a:solidFill>
                <a:latin typeface="Yu Gothic"/>
              </a:rPr>
              <a:t>現CEO</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F2B705"/>
                </a:solidFill>
                <a:latin typeface="Yu Gothic"/>
              </a:rPr>
              <a:t>Hasan Imam氏</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C81E1E"/>
                </a:solidFill>
                <a:latin typeface="Yu Gothic"/>
              </a:rPr>
              <a:t>会長 兼 チーフプロダクトオフィサー</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F2B705"/>
                </a:solidFill>
                <a:latin typeface="Yu Gothic"/>
              </a:rPr>
              <a:t>共同創業者のGlenn Chisholm氏</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F2B705"/>
                </a:solidFill>
                <a:latin typeface="Yu Gothic"/>
              </a:rPr>
              <a:t>AI Company OS｜出典: SiliconANGLE(2026-08-04)ほか｜定期実行141本目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F2B705"/>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FE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C81E1E"/>
                </a:solidFill>
                <a:latin typeface="Yu Gothic"/>
              </a:rPr>
              <a:t>従来型ID管理 vs 非人間ID/AIエージェント管理</a:t>
            </a:r>
          </a:p>
        </p:txBody>
      </p:sp>
      <p:sp>
        <p:nvSpPr>
          <p:cNvPr id="5" name="Rectangle 4"/>
          <p:cNvSpPr/>
          <p:nvPr/>
        </p:nvSpPr>
        <p:spPr>
          <a:xfrm>
            <a:off x="457200" y="1188720"/>
            <a:ext cx="502920" cy="54864"/>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C81E1E"/>
                </a:solidFill>
                <a:latin typeface="Yu Gothic"/>
              </a:rPr>
              <a:t>従来型のID・アクセス管理</a:t>
            </a:r>
          </a:p>
        </p:txBody>
      </p:sp>
      <p:sp>
        <p:nvSpPr>
          <p:cNvPr id="9" name="Oval 8"/>
          <p:cNvSpPr/>
          <p:nvPr/>
        </p:nvSpPr>
        <p:spPr>
          <a:xfrm>
            <a:off x="777240" y="2532888"/>
            <a:ext cx="274320" cy="27432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0A0A"/>
                </a:solidFill>
                <a:latin typeface="Yu Gothic"/>
              </a:rPr>
              <a:t>人間の従業員アカウントを中心に権限・ログインを管理</a:t>
            </a:r>
          </a:p>
        </p:txBody>
      </p:sp>
      <p:sp>
        <p:nvSpPr>
          <p:cNvPr id="11" name="Oval 10"/>
          <p:cNvSpPr/>
          <p:nvPr/>
        </p:nvSpPr>
        <p:spPr>
          <a:xfrm>
            <a:off x="777240" y="3081528"/>
            <a:ext cx="274320" cy="27432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0A0A"/>
                </a:solidFill>
                <a:latin typeface="Yu Gothic"/>
              </a:rPr>
              <a:t>パスワード・多要素認証など人間の操作を前提にした仕組みが中心</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C81E1E"/>
                </a:solidFill>
                <a:latin typeface="Yu Gothic"/>
              </a:rPr>
              <a:t>非人間ID/AIエージェント管理(Obsidianの領域)</a:t>
            </a:r>
          </a:p>
        </p:txBody>
      </p:sp>
      <p:sp>
        <p:nvSpPr>
          <p:cNvPr id="16" name="Oval 15"/>
          <p:cNvSpPr/>
          <p:nvPr/>
        </p:nvSpPr>
        <p:spPr>
          <a:xfrm>
            <a:off x="6598767" y="2532888"/>
            <a:ext cx="274320" cy="27432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0A0A"/>
                </a:solidFill>
                <a:latin typeface="Yu Gothic"/>
              </a:rPr>
              <a:t>AIエージェント・APIキー・サービスアカウント等、人間以外の身元を対象にする</a:t>
            </a:r>
          </a:p>
        </p:txBody>
      </p:sp>
      <p:sp>
        <p:nvSpPr>
          <p:cNvPr id="18" name="Oval 17"/>
          <p:cNvSpPr/>
          <p:nvPr/>
        </p:nvSpPr>
        <p:spPr>
          <a:xfrm>
            <a:off x="6598767" y="3081528"/>
            <a:ext cx="274320" cy="27432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0A0A"/>
                </a:solidFill>
                <a:latin typeface="Yu Gothic"/>
              </a:rPr>
              <a:t>自律的に動作するAIエージェントの挙動そのものを監視・ガバナンスする必要がある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F2B705"/>
                </a:solidFill>
                <a:latin typeface="Yu Gothic"/>
              </a:rPr>
              <a:t>AI Company OS｜出典: SiliconANGLE(2026-08-04)ほか｜定期実行141本目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F2B705"/>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FE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C81E1E"/>
                </a:solidFill>
                <a:latin typeface="Yu Gothic"/>
              </a:rPr>
              <a:t>顧客動向として公表されている数字</a:t>
            </a:r>
          </a:p>
        </p:txBody>
      </p:sp>
      <p:sp>
        <p:nvSpPr>
          <p:cNvPr id="5" name="Rectangle 4"/>
          <p:cNvSpPr/>
          <p:nvPr/>
        </p:nvSpPr>
        <p:spPr>
          <a:xfrm>
            <a:off x="457200" y="1188720"/>
            <a:ext cx="502920" cy="54864"/>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年間10万ドル超を支払う顧客が100社超いると公表</a:t>
            </a:r>
          </a:p>
        </p:txBody>
      </p:sp>
      <p:sp>
        <p:nvSpPr>
          <p:cNvPr id="8" name="Oval 7"/>
          <p:cNvSpPr/>
          <p:nvPr/>
        </p:nvSpPr>
        <p:spPr>
          <a:xfrm>
            <a:off x="457200" y="2258568"/>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年間100万ドル超を支払う顧客が14社超いると公表</a:t>
            </a:r>
          </a:p>
        </p:txBody>
      </p:sp>
      <p:sp>
        <p:nvSpPr>
          <p:cNvPr id="10" name="Oval 9"/>
          <p:cNvSpPr/>
          <p:nvPr/>
        </p:nvSpPr>
        <p:spPr>
          <a:xfrm>
            <a:off x="457200" y="3035808"/>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Fortune 500企業60社が顧客に含まれる(金融・SNS・通信業界)</a:t>
            </a:r>
          </a:p>
        </p:txBody>
      </p:sp>
      <p:sp>
        <p:nvSpPr>
          <p:cNvPr id="12" name="Oval 11"/>
          <p:cNvSpPr/>
          <p:nvPr/>
        </p:nvSpPr>
        <p:spPr>
          <a:xfrm>
            <a:off x="457200" y="3813048"/>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具体的な社名や業界別の内訳の詳細は本調査の範囲では確認できていない</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F2B705"/>
                </a:solidFill>
                <a:latin typeface="Yu Gothic"/>
              </a:rPr>
              <a:t>出典: SiliconANGLE(2026-08-04)</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F2B705"/>
                </a:solidFill>
                <a:latin typeface="Yu Gothic"/>
              </a:rPr>
              <a:t>AI Company OS｜出典: SiliconANGLE(2026-08-04)ほか｜定期実行141本目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F2B705"/>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FE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C81E1E"/>
                </a:solidFill>
                <a:latin typeface="Yu Gothic"/>
              </a:rPr>
              <a:t>顧客数の数字整理</a:t>
            </a:r>
          </a:p>
        </p:txBody>
      </p:sp>
      <p:sp>
        <p:nvSpPr>
          <p:cNvPr id="5" name="Rectangle 4"/>
          <p:cNvSpPr/>
          <p:nvPr/>
        </p:nvSpPr>
        <p:spPr>
          <a:xfrm>
            <a:off x="457200" y="1188720"/>
            <a:ext cx="502920" cy="54864"/>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区分</a:t>
                      </a:r>
                    </a:p>
                  </a:txBody>
                  <a:tcPr>
                    <a:solidFill>
                      <a:srgbClr val="C81E1E"/>
                    </a:solidFill>
                  </a:tcPr>
                </a:tc>
                <a:tc>
                  <a:txBody>
                    <a:bodyPr/>
                    <a:lstStyle/>
                    <a:p>
                      <a:pPr>
                        <a:defRPr sz="1300" b="1">
                          <a:solidFill>
                            <a:srgbClr val="FFFFFF"/>
                          </a:solidFill>
                          <a:latin typeface="Yu Gothic"/>
                        </a:defRPr>
                      </a:pPr>
                      <a:r>
                        <a:t>社数</a:t>
                      </a:r>
                    </a:p>
                  </a:txBody>
                  <a:tcPr>
                    <a:solidFill>
                      <a:srgbClr val="C81E1E"/>
                    </a:solidFill>
                  </a:tcPr>
                </a:tc>
              </a:tr>
              <a:tr h="502920">
                <a:tc>
                  <a:txBody>
                    <a:bodyPr/>
                    <a:lstStyle/>
                    <a:p>
                      <a:pPr>
                        <a:defRPr sz="1200">
                          <a:solidFill>
                            <a:srgbClr val="1A0A0A"/>
                          </a:solidFill>
                          <a:latin typeface="Yu Gothic"/>
                        </a:defRPr>
                      </a:pPr>
                      <a:r>
                        <a:t>年間10万ドル超を支払う顧客</a:t>
                      </a:r>
                    </a:p>
                  </a:txBody>
                  <a:tcPr>
                    <a:solidFill>
                      <a:srgbClr val="FFFFFF"/>
                    </a:solidFill>
                  </a:tcPr>
                </a:tc>
                <a:tc>
                  <a:txBody>
                    <a:bodyPr/>
                    <a:lstStyle/>
                    <a:p>
                      <a:pPr>
                        <a:defRPr sz="1200">
                          <a:solidFill>
                            <a:srgbClr val="1A0A0A"/>
                          </a:solidFill>
                          <a:latin typeface="Yu Gothic"/>
                        </a:defRPr>
                      </a:pPr>
                      <a:r>
                        <a:t>100社超</a:t>
                      </a:r>
                    </a:p>
                  </a:txBody>
                  <a:tcPr>
                    <a:solidFill>
                      <a:srgbClr val="FFFFFF"/>
                    </a:solidFill>
                  </a:tcPr>
                </a:tc>
              </a:tr>
              <a:tr h="502920">
                <a:tc>
                  <a:txBody>
                    <a:bodyPr/>
                    <a:lstStyle/>
                    <a:p>
                      <a:pPr>
                        <a:defRPr sz="1200">
                          <a:solidFill>
                            <a:srgbClr val="1A0A0A"/>
                          </a:solidFill>
                          <a:latin typeface="Yu Gothic"/>
                        </a:defRPr>
                      </a:pPr>
                      <a:r>
                        <a:t>年間100万ドル超を支払う顧客</a:t>
                      </a:r>
                    </a:p>
                  </a:txBody>
                  <a:tcPr>
                    <a:solidFill>
                      <a:srgbClr val="FFF3C4"/>
                    </a:solidFill>
                  </a:tcPr>
                </a:tc>
                <a:tc>
                  <a:txBody>
                    <a:bodyPr/>
                    <a:lstStyle/>
                    <a:p>
                      <a:pPr>
                        <a:defRPr sz="1200">
                          <a:solidFill>
                            <a:srgbClr val="1A0A0A"/>
                          </a:solidFill>
                          <a:latin typeface="Yu Gothic"/>
                        </a:defRPr>
                      </a:pPr>
                      <a:r>
                        <a:t>14社超</a:t>
                      </a:r>
                    </a:p>
                  </a:txBody>
                  <a:tcPr>
                    <a:solidFill>
                      <a:srgbClr val="FFF3C4"/>
                    </a:solidFill>
                  </a:tcPr>
                </a:tc>
              </a:tr>
              <a:tr h="502920">
                <a:tc>
                  <a:txBody>
                    <a:bodyPr/>
                    <a:lstStyle/>
                    <a:p>
                      <a:pPr>
                        <a:defRPr sz="1200">
                          <a:solidFill>
                            <a:srgbClr val="1A0A0A"/>
                          </a:solidFill>
                          <a:latin typeface="Yu Gothic"/>
                        </a:defRPr>
                      </a:pPr>
                      <a:r>
                        <a:t>Fortune 500企業(顧客に含まれる)</a:t>
                      </a:r>
                    </a:p>
                  </a:txBody>
                  <a:tcPr>
                    <a:solidFill>
                      <a:srgbClr val="FFFFFF"/>
                    </a:solidFill>
                  </a:tcPr>
                </a:tc>
                <a:tc>
                  <a:txBody>
                    <a:bodyPr/>
                    <a:lstStyle/>
                    <a:p>
                      <a:pPr>
                        <a:defRPr sz="1200">
                          <a:solidFill>
                            <a:srgbClr val="1A0A0A"/>
                          </a:solidFill>
                          <a:latin typeface="Yu Gothic"/>
                        </a:defRPr>
                      </a:pPr>
                      <a:r>
                        <a:t>60社</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F2B705"/>
                </a:solidFill>
                <a:latin typeface="Yu Gothic"/>
              </a:rPr>
              <a:t>出典: SiliconANGLE(2026-08-04)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F2B705"/>
                </a:solidFill>
                <a:latin typeface="Yu Gothic"/>
              </a:rPr>
              <a:t>AI Company OS｜出典: SiliconANGLE(2026-08-04)ほか｜定期実行141本目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F2B705"/>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FE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C81E1E"/>
                </a:solidFill>
                <a:latin typeface="Yu Gothic"/>
              </a:rPr>
              <a:t>顧客層の数字比較(社数、いずれも「以上」の公表値)</a:t>
            </a:r>
          </a:p>
        </p:txBody>
      </p:sp>
      <p:sp>
        <p:nvSpPr>
          <p:cNvPr id="5" name="Rectangle 4"/>
          <p:cNvSpPr/>
          <p:nvPr/>
        </p:nvSpPr>
        <p:spPr>
          <a:xfrm>
            <a:off x="457200" y="1188720"/>
            <a:ext cx="502920" cy="54864"/>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F2B705"/>
                </a:solidFill>
                <a:latin typeface="Yu Gothic"/>
              </a:rPr>
              <a:t>出典: SiliconANGLE(2026-08-04)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F2B705"/>
                </a:solidFill>
                <a:latin typeface="Yu Gothic"/>
              </a:rPr>
              <a:t>AI Company OS｜出典: SiliconANGLE(2026-08-04)ほか｜定期実行141本目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F2B705"/>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3A0A0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FE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FD400"/>
                </a:solidFill>
                <a:latin typeface="Yu Gothic"/>
              </a:rPr>
              <a:t>顧客に含まれるFortune 500企業</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FFD400"/>
                </a:solidFill>
                <a:latin typeface="Yu Gothic"/>
              </a:rPr>
              <a:t>60社</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金融・SNS・通信業界のFortune 500企業が顧客に含まれる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FFE873"/>
                </a:solidFill>
                <a:latin typeface="Yu Gothic"/>
              </a:rPr>
              <a:t>出典: SiliconANGLE(2026-08-04)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FE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C81E1E"/>
                </a:solidFill>
                <a:latin typeface="Yu Gothic"/>
              </a:rPr>
              <a:t>創業者・経営陣について</a:t>
            </a:r>
          </a:p>
        </p:txBody>
      </p:sp>
      <p:sp>
        <p:nvSpPr>
          <p:cNvPr id="5" name="Rectangle 4"/>
          <p:cNvSpPr/>
          <p:nvPr/>
        </p:nvSpPr>
        <p:spPr>
          <a:xfrm>
            <a:off x="457200" y="1188720"/>
            <a:ext cx="502920" cy="54864"/>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C81E1E"/>
                </a:solidFill>
                <a:latin typeface="Yu Gothic"/>
              </a:rPr>
              <a:t>Glenn Chisholm氏</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F2B705"/>
                </a:solidFill>
                <a:latin typeface="Yu Gothic"/>
              </a:rPr>
              <a:t>共同創業者。現在は会長 兼 チーフプロダクトオフィサー</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C81E1E"/>
                </a:solidFill>
                <a:latin typeface="Yu Gothic"/>
              </a:rPr>
              <a:t>Hasan Imam氏</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F2B705"/>
                </a:solidFill>
                <a:latin typeface="Yu Gothic"/>
              </a:rPr>
              <a:t>現CEO</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C81E1E"/>
                </a:solidFill>
                <a:latin typeface="Yu Gothic"/>
              </a:rPr>
              <a:t>前職(Chisholm氏)</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F2B705"/>
                </a:solidFill>
                <a:latin typeface="Yu Gothic"/>
              </a:rPr>
              <a:t>Cylance社のCTOとして自律型機械学習によるマルウェア対策ソリューションを主導</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F2B705"/>
                </a:solidFill>
                <a:latin typeface="Yu Gothic"/>
              </a:rPr>
              <a:t>AI Company OS｜出典: SiliconANGLE(2026-08-04)ほか｜定期実行141本目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F2B705"/>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FE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C81E1E"/>
                </a:solidFill>
                <a:latin typeface="Yu Gothic"/>
              </a:rPr>
              <a:t>Glenn Chisholm氏の経歴</a:t>
            </a:r>
          </a:p>
        </p:txBody>
      </p:sp>
      <p:sp>
        <p:nvSpPr>
          <p:cNvPr id="5" name="Rectangle 4"/>
          <p:cNvSpPr/>
          <p:nvPr/>
        </p:nvSpPr>
        <p:spPr>
          <a:xfrm>
            <a:off x="457200" y="1188720"/>
            <a:ext cx="502920" cy="54864"/>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Glenn Chisholm氏は現在、Obsidian Securityの会長 兼 チーフプロダクトオフィサー</a:t>
            </a:r>
          </a:p>
        </p:txBody>
      </p:sp>
      <p:sp>
        <p:nvSpPr>
          <p:cNvPr id="8" name="Oval 7"/>
          <p:cNvSpPr/>
          <p:nvPr/>
        </p:nvSpPr>
        <p:spPr>
          <a:xfrm>
            <a:off x="457200" y="2258568"/>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前職はCylance社のCTOで、同社の自律型機械学習によるマルウェア対策ソリューションを主導した</a:t>
            </a:r>
          </a:p>
        </p:txBody>
      </p:sp>
      <p:sp>
        <p:nvSpPr>
          <p:cNvPr id="10" name="Oval 9"/>
          <p:cNvSpPr/>
          <p:nvPr/>
        </p:nvSpPr>
        <p:spPr>
          <a:xfrm>
            <a:off x="457200" y="3035808"/>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Cylanceは後にBlackBerryに14億ドルで買収された</a:t>
            </a:r>
          </a:p>
        </p:txBody>
      </p:sp>
      <p:sp>
        <p:nvSpPr>
          <p:cNvPr id="12" name="Oval 11"/>
          <p:cNvSpPr/>
          <p:nvPr/>
        </p:nvSpPr>
        <p:spPr>
          <a:xfrm>
            <a:off x="457200" y="3813048"/>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「自律的に動くソフトウェアの脅威を早期に見抜く」という経験は、AIエージェント時代のセキュリティにも通じる着眼点と考えられる(推測を含む)</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F2B705"/>
                </a:solidFill>
                <a:latin typeface="Yu Gothic"/>
              </a:rPr>
              <a:t>AI Company OS｜出典: SiliconANGLE(2026-08-04)ほか｜定期実行141本目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F2B705"/>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FE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C81E1E"/>
                </a:solidFill>
                <a:latin typeface="Yu Gothic"/>
              </a:rPr>
              <a:t>資金使途の全体像</a:t>
            </a:r>
          </a:p>
        </p:txBody>
      </p:sp>
      <p:sp>
        <p:nvSpPr>
          <p:cNvPr id="5" name="Rectangle 4"/>
          <p:cNvSpPr/>
          <p:nvPr/>
        </p:nvSpPr>
        <p:spPr>
          <a:xfrm>
            <a:off x="457200" y="1188720"/>
            <a:ext cx="502920" cy="54864"/>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C81E1E"/>
                </a:solidFill>
                <a:latin typeface="Yu Gothic"/>
              </a:rPr>
              <a:t>1. 研究開発の拡大</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F2B705"/>
                </a:solidFill>
                <a:latin typeface="Yu Gothic"/>
              </a:rPr>
              <a:t>非人間ID・AIエージェントの挙動監視技術の研究開発に投資</a:t>
            </a:r>
          </a:p>
        </p:txBody>
      </p:sp>
      <p:sp>
        <p:nvSpPr>
          <p:cNvPr id="11" name="Chevron 10"/>
          <p:cNvSpPr/>
          <p:nvPr/>
        </p:nvSpPr>
        <p:spPr>
          <a:xfrm>
            <a:off x="4038295" y="3200400"/>
            <a:ext cx="234086" cy="365760"/>
          </a:xfrm>
          <a:prstGeom prst="chevron">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C81E1E"/>
                </a:solidFill>
                <a:latin typeface="Yu Gothic"/>
              </a:rPr>
              <a:t>2. Fortune 500企業への導入拡大</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F2B705"/>
                </a:solidFill>
                <a:latin typeface="Yu Gothic"/>
              </a:rPr>
              <a:t>既に60社が顧客。さらなる大企業への導入拡大を図る方針</a:t>
            </a:r>
          </a:p>
        </p:txBody>
      </p:sp>
      <p:sp>
        <p:nvSpPr>
          <p:cNvPr id="17" name="Chevron 16"/>
          <p:cNvSpPr/>
          <p:nvPr/>
        </p:nvSpPr>
        <p:spPr>
          <a:xfrm>
            <a:off x="7919313" y="3200400"/>
            <a:ext cx="234086" cy="365760"/>
          </a:xfrm>
          <a:prstGeom prst="chevron">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C81E1E"/>
                </a:solidFill>
                <a:latin typeface="Yu Gothic"/>
              </a:rPr>
              <a:t>3. Global 2000企業への導入拡大</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F2B705"/>
                </a:solidFill>
                <a:latin typeface="Yu Gothic"/>
              </a:rPr>
              <a:t>より広い大企業群への展開を目指す方針</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F2B705"/>
                </a:solidFill>
                <a:latin typeface="Yu Gothic"/>
              </a:rPr>
              <a:t>AI Company OS｜出典: SiliconANGLE(2026-08-04)ほか｜定期実行141本目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F2B705"/>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FE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C81E1E"/>
                </a:solidFill>
                <a:latin typeface="Yu Gothic"/>
              </a:rPr>
              <a:t>なぜAIエージェントが新しい攻撃対象面になるか(概要)</a:t>
            </a:r>
          </a:p>
        </p:txBody>
      </p:sp>
      <p:sp>
        <p:nvSpPr>
          <p:cNvPr id="5" name="Rectangle 4"/>
          <p:cNvSpPr/>
          <p:nvPr/>
        </p:nvSpPr>
        <p:spPr>
          <a:xfrm>
            <a:off x="457200" y="1188720"/>
            <a:ext cx="502920" cy="54864"/>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C81E1E"/>
                </a:solidFill>
                <a:latin typeface="Yu Gothic"/>
              </a:rPr>
              <a:t>AIエージェントの自律稼働</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F2B705"/>
                </a:solidFill>
                <a:latin typeface="Yu Gothic"/>
              </a:rPr>
              <a:t>人の承認なしにタスクを実行する場面が増える</a:t>
            </a:r>
          </a:p>
        </p:txBody>
      </p:sp>
      <p:sp>
        <p:nvSpPr>
          <p:cNvPr id="10" name="Right Arrow 9"/>
          <p:cNvSpPr/>
          <p:nvPr/>
        </p:nvSpPr>
        <p:spPr>
          <a:xfrm>
            <a:off x="4157319" y="3108959"/>
            <a:ext cx="676656" cy="365760"/>
          </a:xfrm>
          <a:prstGeom prst="rightArrow">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C81E1E"/>
                </a:solidFill>
                <a:latin typeface="Yu Gothic"/>
              </a:rPr>
              <a:t>権限・アクセスの拡大</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F2B705"/>
                </a:solidFill>
                <a:latin typeface="Yu Gothic"/>
              </a:rPr>
              <a:t>業務システムへのアクセス権を持つAIエージェントが増える</a:t>
            </a:r>
          </a:p>
        </p:txBody>
      </p:sp>
      <p:sp>
        <p:nvSpPr>
          <p:cNvPr id="15" name="Right Arrow 14"/>
          <p:cNvSpPr/>
          <p:nvPr/>
        </p:nvSpPr>
        <p:spPr>
          <a:xfrm>
            <a:off x="7357719" y="3108959"/>
            <a:ext cx="676656" cy="365760"/>
          </a:xfrm>
          <a:prstGeom prst="rightArrow">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C81E1E"/>
                </a:solidFill>
                <a:latin typeface="Yu Gothic"/>
              </a:rPr>
              <a:t>監視の空白</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F2B705"/>
                </a:solidFill>
                <a:latin typeface="Yu Gothic"/>
              </a:rPr>
              <a:t>人間中心の従来型セキュリティでは捕捉しにくい挙動が生まれる</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F2B705"/>
                </a:solidFill>
                <a:latin typeface="Yu Gothic"/>
              </a:rPr>
              <a:t>報道内容に基づく一般的な整理。Obsidian固有の検知手法の詳細は未確認</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F2B705"/>
                </a:solidFill>
                <a:latin typeface="Yu Gothic"/>
              </a:rPr>
              <a:t>AI Company OS｜出典: SiliconANGLE(2026-08-04)ほか｜定期実行141本目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F2B705"/>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FE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C81E1E"/>
                </a:solidFill>
                <a:latin typeface="Yu Gothic"/>
              </a:rPr>
              <a:t>確定事実と未確認情報の区別</a:t>
            </a:r>
          </a:p>
        </p:txBody>
      </p:sp>
      <p:sp>
        <p:nvSpPr>
          <p:cNvPr id="5" name="Rectangle 4"/>
          <p:cNvSpPr/>
          <p:nvPr/>
        </p:nvSpPr>
        <p:spPr>
          <a:xfrm>
            <a:off x="457200" y="1188720"/>
            <a:ext cx="502920" cy="54864"/>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区分</a:t>
                      </a:r>
                    </a:p>
                  </a:txBody>
                  <a:tcPr>
                    <a:solidFill>
                      <a:srgbClr val="C81E1E"/>
                    </a:solidFill>
                  </a:tcPr>
                </a:tc>
                <a:tc>
                  <a:txBody>
                    <a:bodyPr/>
                    <a:lstStyle/>
                    <a:p>
                      <a:pPr>
                        <a:defRPr sz="1300" b="1">
                          <a:solidFill>
                            <a:srgbClr val="FFFFFF"/>
                          </a:solidFill>
                          <a:latin typeface="Yu Gothic"/>
                        </a:defRPr>
                      </a:pPr>
                      <a:r>
                        <a:t>内容</a:t>
                      </a:r>
                    </a:p>
                  </a:txBody>
                  <a:tcPr>
                    <a:solidFill>
                      <a:srgbClr val="C81E1E"/>
                    </a:solidFill>
                  </a:tcPr>
                </a:tc>
              </a:tr>
              <a:tr h="502920">
                <a:tc>
                  <a:txBody>
                    <a:bodyPr/>
                    <a:lstStyle/>
                    <a:p>
                      <a:pPr>
                        <a:defRPr sz="1200">
                          <a:solidFill>
                            <a:srgbClr val="1A0A0A"/>
                          </a:solidFill>
                          <a:latin typeface="Yu Gothic"/>
                        </a:defRPr>
                      </a:pPr>
                      <a:r>
                        <a:t>確定事実(複数媒体で確認)</a:t>
                      </a:r>
                    </a:p>
                  </a:txBody>
                  <a:tcPr>
                    <a:solidFill>
                      <a:srgbClr val="FFFFFF"/>
                    </a:solidFill>
                  </a:tcPr>
                </a:tc>
                <a:tc>
                  <a:txBody>
                    <a:bodyPr/>
                    <a:lstStyle/>
                    <a:p>
                      <a:pPr>
                        <a:defRPr sz="1200">
                          <a:solidFill>
                            <a:srgbClr val="1A0A0A"/>
                          </a:solidFill>
                          <a:latin typeface="Yu Gothic"/>
                        </a:defRPr>
                      </a:pPr>
                      <a:r>
                        <a:t>調達額8,500万ドル・評価額11億ドル・主導投資家・顧客数の公表値・創業者経歴</a:t>
                      </a:r>
                    </a:p>
                  </a:txBody>
                  <a:tcPr>
                    <a:solidFill>
                      <a:srgbClr val="FFFFFF"/>
                    </a:solidFill>
                  </a:tcPr>
                </a:tc>
              </a:tr>
              <a:tr h="502920">
                <a:tc>
                  <a:txBody>
                    <a:bodyPr/>
                    <a:lstStyle/>
                    <a:p>
                      <a:pPr>
                        <a:defRPr sz="1200">
                          <a:solidFill>
                            <a:srgbClr val="1A0A0A"/>
                          </a:solidFill>
                          <a:latin typeface="Yu Gothic"/>
                        </a:defRPr>
                      </a:pPr>
                      <a:r>
                        <a:t>未確認・不明</a:t>
                      </a:r>
                    </a:p>
                  </a:txBody>
                  <a:tcPr>
                    <a:solidFill>
                      <a:srgbClr val="FFF3C4"/>
                    </a:solidFill>
                  </a:tcPr>
                </a:tc>
                <a:tc>
                  <a:txBody>
                    <a:bodyPr/>
                    <a:lstStyle/>
                    <a:p>
                      <a:pPr>
                        <a:defRPr sz="1200">
                          <a:solidFill>
                            <a:srgbClr val="1A0A0A"/>
                          </a:solidFill>
                          <a:latin typeface="Yu Gothic"/>
                        </a:defRPr>
                      </a:pPr>
                      <a:r>
                        <a:t>検知アルゴリズムの技術的詳細・競合他社との関係・日本市場での展開・累計調達額の正確な数字</a:t>
                      </a:r>
                    </a:p>
                  </a:txBody>
                  <a:tcPr>
                    <a:solidFill>
                      <a:srgbClr val="FFF3C4"/>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F2B705"/>
                </a:solidFill>
                <a:latin typeface="Yu Gothic"/>
              </a:rPr>
              <a:t>AI Company OS｜出典: SiliconANGLE(2026-08-04)ほか｜定期実行141本目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F2B705"/>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FE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C81E1E"/>
                </a:solidFill>
                <a:latin typeface="Yu Gothic"/>
              </a:rPr>
              <a:t>確認できたこと・できなかったこと(正直な開示)</a:t>
            </a:r>
          </a:p>
        </p:txBody>
      </p:sp>
      <p:sp>
        <p:nvSpPr>
          <p:cNvPr id="5" name="Rectangle 4"/>
          <p:cNvSpPr/>
          <p:nvPr/>
        </p:nvSpPr>
        <p:spPr>
          <a:xfrm>
            <a:off x="457200" y="1188720"/>
            <a:ext cx="502920" cy="54864"/>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調達額(8,500万ドル)・評価額(11億ドル)・主導投資家・参加投資家・顧客数の公表値・創業者経歴は複数媒体で確認</a:t>
            </a:r>
          </a:p>
        </p:txBody>
      </p:sp>
      <p:sp>
        <p:nvSpPr>
          <p:cNvPr id="8" name="Oval 7"/>
          <p:cNvSpPr/>
          <p:nvPr/>
        </p:nvSpPr>
        <p:spPr>
          <a:xfrm>
            <a:off x="457200" y="2258568"/>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Obsidian Securityの具体的な検知アルゴリズム・技術的な仕組みの詳細は確認できていない</a:t>
            </a:r>
          </a:p>
        </p:txBody>
      </p:sp>
      <p:sp>
        <p:nvSpPr>
          <p:cNvPr id="10" name="Oval 9"/>
          <p:cNvSpPr/>
          <p:nvPr/>
        </p:nvSpPr>
        <p:spPr>
          <a:xfrm>
            <a:off x="457200" y="3035808"/>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競合他社(例: Anaconda社によるEnkrypt AI買収など)との直接的な関係性は確認できていない</a:t>
            </a:r>
          </a:p>
        </p:txBody>
      </p:sp>
      <p:sp>
        <p:nvSpPr>
          <p:cNvPr id="12" name="Oval 11"/>
          <p:cNvSpPr/>
          <p:nvPr/>
        </p:nvSpPr>
        <p:spPr>
          <a:xfrm>
            <a:off x="457200" y="3813048"/>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日本市場での展開状況・日本企業の導入実績の有無は確認できていない</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F2B705"/>
                </a:solidFill>
                <a:latin typeface="Yu Gothic"/>
              </a:rPr>
              <a:t>出典: SiliconANGLE、Pulse2、SecurityWeek、Unite.AIほか(research.md参照)</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F2B705"/>
                </a:solidFill>
                <a:latin typeface="Yu Gothic"/>
              </a:rPr>
              <a:t>AI Company OS｜出典: SiliconANGLE(2026-08-04)ほか｜定期実行141本目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F2B705"/>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FE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C81E1E"/>
                </a:solidFill>
                <a:latin typeface="Yu Gothic"/>
              </a:rPr>
              <a:t>未確認事項一覧</a:t>
            </a:r>
          </a:p>
        </p:txBody>
      </p:sp>
      <p:sp>
        <p:nvSpPr>
          <p:cNvPr id="5" name="Rectangle 4"/>
          <p:cNvSpPr/>
          <p:nvPr/>
        </p:nvSpPr>
        <p:spPr>
          <a:xfrm>
            <a:off x="457200" y="1188720"/>
            <a:ext cx="502920" cy="54864"/>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C81E1E"/>
                    </a:solidFill>
                  </a:tcPr>
                </a:tc>
                <a:tc>
                  <a:txBody>
                    <a:bodyPr/>
                    <a:lstStyle/>
                    <a:p>
                      <a:pPr>
                        <a:defRPr sz="1300" b="1">
                          <a:solidFill>
                            <a:srgbClr val="FFFFFF"/>
                          </a:solidFill>
                          <a:latin typeface="Yu Gothic"/>
                        </a:defRPr>
                      </a:pPr>
                      <a:r>
                        <a:t>状況</a:t>
                      </a:r>
                    </a:p>
                  </a:txBody>
                  <a:tcPr>
                    <a:solidFill>
                      <a:srgbClr val="C81E1E"/>
                    </a:solidFill>
                  </a:tcPr>
                </a:tc>
              </a:tr>
              <a:tr h="502920">
                <a:tc>
                  <a:txBody>
                    <a:bodyPr/>
                    <a:lstStyle/>
                    <a:p>
                      <a:pPr>
                        <a:defRPr sz="1200">
                          <a:solidFill>
                            <a:srgbClr val="1A0A0A"/>
                          </a:solidFill>
                          <a:latin typeface="Yu Gothic"/>
                        </a:defRPr>
                      </a:pPr>
                      <a:r>
                        <a:t>検知アルゴリズム・技術的な仕組みの詳細</a:t>
                      </a:r>
                    </a:p>
                  </a:txBody>
                  <a:tcPr>
                    <a:solidFill>
                      <a:srgbClr val="FFFFFF"/>
                    </a:solidFill>
                  </a:tcPr>
                </a:tc>
                <a:tc>
                  <a:txBody>
                    <a:bodyPr/>
                    <a:lstStyle/>
                    <a:p>
                      <a:pPr>
                        <a:defRPr sz="1200">
                          <a:solidFill>
                            <a:srgbClr val="1A0A0A"/>
                          </a:solidFill>
                          <a:latin typeface="Yu Gothic"/>
                        </a:defRPr>
                      </a:pPr>
                      <a:r>
                        <a:t>未確認</a:t>
                      </a:r>
                    </a:p>
                  </a:txBody>
                  <a:tcPr>
                    <a:solidFill>
                      <a:srgbClr val="FFFFFF"/>
                    </a:solidFill>
                  </a:tcPr>
                </a:tc>
              </a:tr>
              <a:tr h="502920">
                <a:tc>
                  <a:txBody>
                    <a:bodyPr/>
                    <a:lstStyle/>
                    <a:p>
                      <a:pPr>
                        <a:defRPr sz="1200">
                          <a:solidFill>
                            <a:srgbClr val="1A0A0A"/>
                          </a:solidFill>
                          <a:latin typeface="Yu Gothic"/>
                        </a:defRPr>
                      </a:pPr>
                      <a:r>
                        <a:t>競合他社(Anaconda社によるEnkrypt AI買収等)との関係性</a:t>
                      </a:r>
                    </a:p>
                  </a:txBody>
                  <a:tcPr>
                    <a:solidFill>
                      <a:srgbClr val="FFF3C4"/>
                    </a:solidFill>
                  </a:tcPr>
                </a:tc>
                <a:tc>
                  <a:txBody>
                    <a:bodyPr/>
                    <a:lstStyle/>
                    <a:p>
                      <a:pPr>
                        <a:defRPr sz="1200">
                          <a:solidFill>
                            <a:srgbClr val="1A0A0A"/>
                          </a:solidFill>
                          <a:latin typeface="Yu Gothic"/>
                        </a:defRPr>
                      </a:pPr>
                      <a:r>
                        <a:t>未確認</a:t>
                      </a:r>
                    </a:p>
                  </a:txBody>
                  <a:tcPr>
                    <a:solidFill>
                      <a:srgbClr val="FFF3C4"/>
                    </a:solidFill>
                  </a:tcPr>
                </a:tc>
              </a:tr>
              <a:tr h="502920">
                <a:tc>
                  <a:txBody>
                    <a:bodyPr/>
                    <a:lstStyle/>
                    <a:p>
                      <a:pPr>
                        <a:defRPr sz="1200">
                          <a:solidFill>
                            <a:srgbClr val="1A0A0A"/>
                          </a:solidFill>
                          <a:latin typeface="Yu Gothic"/>
                        </a:defRPr>
                      </a:pPr>
                      <a:r>
                        <a:t>日本市場での展開状況・日本企業の導入実績</a:t>
                      </a:r>
                    </a:p>
                  </a:txBody>
                  <a:tcPr>
                    <a:solidFill>
                      <a:srgbClr val="FFFFFF"/>
                    </a:solidFill>
                  </a:tcPr>
                </a:tc>
                <a:tc>
                  <a:txBody>
                    <a:bodyPr/>
                    <a:lstStyle/>
                    <a:p>
                      <a:pPr>
                        <a:defRPr sz="1200">
                          <a:solidFill>
                            <a:srgbClr val="1A0A0A"/>
                          </a:solidFill>
                          <a:latin typeface="Yu Gothic"/>
                        </a:defRPr>
                      </a:pPr>
                      <a:r>
                        <a:t>未確認</a:t>
                      </a:r>
                    </a:p>
                  </a:txBody>
                  <a:tcPr>
                    <a:solidFill>
                      <a:srgbClr val="FFFFFF"/>
                    </a:solidFill>
                  </a:tcPr>
                </a:tc>
              </a:tr>
              <a:tr h="502920">
                <a:tc>
                  <a:txBody>
                    <a:bodyPr/>
                    <a:lstStyle/>
                    <a:p>
                      <a:pPr>
                        <a:defRPr sz="1200">
                          <a:solidFill>
                            <a:srgbClr val="1A0A0A"/>
                          </a:solidFill>
                          <a:latin typeface="Yu Gothic"/>
                        </a:defRPr>
                      </a:pPr>
                      <a:r>
                        <a:t>累計調達額(このシリーズDまでの総額)</a:t>
                      </a:r>
                    </a:p>
                  </a:txBody>
                  <a:tcPr>
                    <a:solidFill>
                      <a:srgbClr val="FFF3C4"/>
                    </a:solidFill>
                  </a:tcPr>
                </a:tc>
                <a:tc>
                  <a:txBody>
                    <a:bodyPr/>
                    <a:lstStyle/>
                    <a:p>
                      <a:pPr>
                        <a:defRPr sz="1200">
                          <a:solidFill>
                            <a:srgbClr val="1A0A0A"/>
                          </a:solidFill>
                          <a:latin typeface="Yu Gothic"/>
                        </a:defRPr>
                      </a:pPr>
                      <a:r>
                        <a:t>未確認(複数ラウンド合算の正確な数字は本調査で確認できず)</a:t>
                      </a:r>
                    </a:p>
                  </a:txBody>
                  <a:tcPr>
                    <a:solidFill>
                      <a:srgbClr val="FFF3C4"/>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F2B705"/>
                </a:solidFill>
                <a:latin typeface="Yu Gothic"/>
              </a:rPr>
              <a:t>AI Company OS｜出典: SiliconANGLE(2026-08-04)ほか｜定期実行141本目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F2B705"/>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FE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C81E1E"/>
                </a:solidFill>
                <a:latin typeface="Yu Gothic"/>
              </a:rPr>
              <a:t>業界文脈(ここからは推測、確定情報ではない)</a:t>
            </a:r>
          </a:p>
        </p:txBody>
      </p:sp>
      <p:sp>
        <p:nvSpPr>
          <p:cNvPr id="5" name="Rectangle 4"/>
          <p:cNvSpPr/>
          <p:nvPr/>
        </p:nvSpPr>
        <p:spPr>
          <a:xfrm>
            <a:off x="457200" y="1188720"/>
            <a:ext cx="502920" cy="54864"/>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C81E1E"/>
                </a:solidFill>
                <a:latin typeface="Yu Gothic"/>
              </a:rPr>
              <a:t>業界文脈(推測)</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F2B705"/>
                </a:solidFill>
                <a:latin typeface="Yu Gothic"/>
              </a:rPr>
              <a:t>企業へのAIエージェント導入が広がる中、非人間ID管理への投資家の関心が高まっていると考えられる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C81E1E"/>
                </a:solidFill>
                <a:latin typeface="Yu Gothic"/>
              </a:rPr>
              <a:t>注意</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F2B705"/>
                </a:solidFill>
                <a:latin typeface="Yu Gothic"/>
              </a:rPr>
              <a:t>Obsidian固有の市場シェアや競合との相対的な位置づけは本調査の範囲では確認できていない</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C81E1E"/>
                </a:solidFill>
                <a:latin typeface="Yu Gothic"/>
              </a:rPr>
              <a:t>本テーマの立場</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F2B705"/>
                </a:solidFill>
                <a:latin typeface="Yu Gothic"/>
              </a:rPr>
              <a:t>AIエージェント普及に伴うセキュリティ課題という事実の紹介に留め、特定製品の利用を推奨しない</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F2B705"/>
                </a:solidFill>
                <a:latin typeface="Yu Gothic"/>
              </a:rPr>
              <a:t>AI Company OS｜出典: SiliconANGLE(2026-08-04)ほか｜定期実行141本目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F2B705"/>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FE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C81E1E"/>
                </a:solidFill>
                <a:latin typeface="Yu Gothic"/>
              </a:rPr>
              <a:t>採用理由・評価スコアの開示(80/100)</a:t>
            </a:r>
          </a:p>
        </p:txBody>
      </p:sp>
      <p:sp>
        <p:nvSpPr>
          <p:cNvPr id="5" name="Rectangle 4"/>
          <p:cNvSpPr/>
          <p:nvPr/>
        </p:nvSpPr>
        <p:spPr>
          <a:xfrm>
            <a:off x="457200" y="1188720"/>
            <a:ext cx="502920" cy="54864"/>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C81E1E"/>
                    </a:solidFill>
                  </a:tcPr>
                </a:tc>
                <a:tc>
                  <a:txBody>
                    <a:bodyPr/>
                    <a:lstStyle/>
                    <a:p>
                      <a:pPr>
                        <a:defRPr sz="1300" b="1">
                          <a:solidFill>
                            <a:srgbClr val="FFFFFF"/>
                          </a:solidFill>
                          <a:latin typeface="Yu Gothic"/>
                        </a:defRPr>
                      </a:pPr>
                      <a:r>
                        <a:t>内容</a:t>
                      </a:r>
                    </a:p>
                  </a:txBody>
                  <a:tcPr>
                    <a:solidFill>
                      <a:srgbClr val="C81E1E"/>
                    </a:solidFill>
                  </a:tcPr>
                </a:tc>
              </a:tr>
              <a:tr h="502920">
                <a:tc>
                  <a:txBody>
                    <a:bodyPr/>
                    <a:lstStyle/>
                    <a:p>
                      <a:pPr>
                        <a:defRPr sz="1200">
                          <a:solidFill>
                            <a:srgbClr val="1A0A0A"/>
                          </a:solidFill>
                          <a:latin typeface="Yu Gothic"/>
                        </a:defRPr>
                      </a:pPr>
                      <a:r>
                        <a:t>評価スコア</a:t>
                      </a:r>
                    </a:p>
                  </a:txBody>
                  <a:tcPr>
                    <a:solidFill>
                      <a:srgbClr val="FFFFFF"/>
                    </a:solidFill>
                  </a:tcPr>
                </a:tc>
                <a:tc>
                  <a:txBody>
                    <a:bodyPr/>
                    <a:lstStyle/>
                    <a:p>
                      <a:pPr>
                        <a:defRPr sz="1200">
                          <a:solidFill>
                            <a:srgbClr val="1A0A0A"/>
                          </a:solidFill>
                          <a:latin typeface="Yu Gothic"/>
                        </a:defRPr>
                      </a:pPr>
                      <a:r>
                        <a:t>80/100</a:t>
                      </a:r>
                    </a:p>
                  </a:txBody>
                  <a:tcPr>
                    <a:solidFill>
                      <a:srgbClr val="FFFFFF"/>
                    </a:solidFill>
                  </a:tcPr>
                </a:tc>
              </a:tr>
              <a:tr h="502920">
                <a:tc>
                  <a:txBody>
                    <a:bodyPr/>
                    <a:lstStyle/>
                    <a:p>
                      <a:pPr>
                        <a:defRPr sz="1200">
                          <a:solidFill>
                            <a:srgbClr val="1A0A0A"/>
                          </a:solidFill>
                          <a:latin typeface="Yu Gothic"/>
                        </a:defRPr>
                      </a:pPr>
                      <a:r>
                        <a:t>採用理由</a:t>
                      </a:r>
                    </a:p>
                  </a:txBody>
                  <a:tcPr>
                    <a:solidFill>
                      <a:srgbClr val="FFF3C4"/>
                    </a:solidFill>
                  </a:tcPr>
                </a:tc>
                <a:tc>
                  <a:txBody>
                    <a:bodyPr/>
                    <a:lstStyle/>
                    <a:p>
                      <a:pPr>
                        <a:defRPr sz="1200">
                          <a:solidFill>
                            <a:srgbClr val="1A0A0A"/>
                          </a:solidFill>
                          <a:latin typeface="Yu Gothic"/>
                        </a:defRPr>
                      </a:pPr>
                      <a:r>
                        <a:t>着手日から2日以内という良好な鮮度、複数の独立した媒体(6媒体以上)での事実の一致、評価額11億ドルのユニコーン到達という規模感</a:t>
                      </a:r>
                    </a:p>
                  </a:txBody>
                  <a:tcPr>
                    <a:solidFill>
                      <a:srgbClr val="FFF3C4"/>
                    </a:solidFill>
                  </a:tcPr>
                </a:tc>
              </a:tr>
              <a:tr h="502920">
                <a:tc>
                  <a:txBody>
                    <a:bodyPr/>
                    <a:lstStyle/>
                    <a:p>
                      <a:pPr>
                        <a:defRPr sz="1200">
                          <a:solidFill>
                            <a:srgbClr val="1A0A0A"/>
                          </a:solidFill>
                          <a:latin typeface="Yu Gothic"/>
                        </a:defRPr>
                      </a:pPr>
                      <a:r>
                        <a:t>懸念点</a:t>
                      </a:r>
                    </a:p>
                  </a:txBody>
                  <a:tcPr>
                    <a:solidFill>
                      <a:srgbClr val="FFFFFF"/>
                    </a:solidFill>
                  </a:tcPr>
                </a:tc>
                <a:tc>
                  <a:txBody>
                    <a:bodyPr/>
                    <a:lstStyle/>
                    <a:p>
                      <a:pPr>
                        <a:defRPr sz="1200">
                          <a:solidFill>
                            <a:srgbClr val="1A0A0A"/>
                          </a:solidFill>
                          <a:latin typeface="Yu Gothic"/>
                        </a:defRPr>
                      </a:pPr>
                      <a:r>
                        <a:t>累計調達額や検知アルゴリズムの技術的詳細など一部項目が未確認であること</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F2B705"/>
                </a:solidFill>
                <a:latin typeface="Yu Gothic"/>
              </a:rPr>
              <a:t>AI Company OS｜出典: SiliconANGLE(2026-08-04)ほか｜定期実行141本目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F2B705"/>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FE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C81E1E"/>
                </a:solidFill>
                <a:latin typeface="Yu Gothic"/>
              </a:rPr>
              <a:t>鮮度についての開示</a:t>
            </a:r>
          </a:p>
        </p:txBody>
      </p:sp>
      <p:sp>
        <p:nvSpPr>
          <p:cNvPr id="5" name="Rectangle 4"/>
          <p:cNvSpPr/>
          <p:nvPr/>
        </p:nvSpPr>
        <p:spPr>
          <a:xfrm>
            <a:off x="457200" y="1188720"/>
            <a:ext cx="502920" cy="54864"/>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本発表は2026年8月4日(一部媒体は8月5日表記)である</a:t>
            </a:r>
          </a:p>
        </p:txBody>
      </p:sp>
      <p:sp>
        <p:nvSpPr>
          <p:cNvPr id="8" name="Oval 7"/>
          <p:cNvSpPr/>
          <p:nvPr/>
        </p:nvSpPr>
        <p:spPr>
          <a:xfrm>
            <a:off x="457200" y="2258568"/>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着手日(2026年8月5日)から2日以内という基準を満たす良好な鮮度である</a:t>
            </a:r>
          </a:p>
        </p:txBody>
      </p:sp>
      <p:sp>
        <p:nvSpPr>
          <p:cNvPr id="10" name="Oval 9"/>
          <p:cNvSpPr/>
          <p:nvPr/>
        </p:nvSpPr>
        <p:spPr>
          <a:xfrm>
            <a:off x="457200" y="3035808"/>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発表日の表記に媒体間で1日の幅があることを正直に開示する</a:t>
            </a:r>
          </a:p>
        </p:txBody>
      </p:sp>
      <p:sp>
        <p:nvSpPr>
          <p:cNvPr id="12" name="Oval 11"/>
          <p:cNvSpPr/>
          <p:nvPr/>
        </p:nvSpPr>
        <p:spPr>
          <a:xfrm>
            <a:off x="457200" y="3813048"/>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鮮度の良さは、未確認事項(技術詳細・累計調達額等)を補うものではない</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F2B705"/>
                </a:solidFill>
                <a:latin typeface="Yu Gothic"/>
              </a:rPr>
              <a:t>AI Company OS｜出典: SiliconANGLE(2026-08-04)ほか｜定期実行141本目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F2B705"/>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FE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C81E1E"/>
                </a:solidFill>
                <a:latin typeface="Yu Gothic"/>
              </a:rPr>
              <a:t>公平性・中立性についての開示</a:t>
            </a:r>
          </a:p>
        </p:txBody>
      </p:sp>
      <p:sp>
        <p:nvSpPr>
          <p:cNvPr id="5" name="Rectangle 4"/>
          <p:cNvSpPr/>
          <p:nvPr/>
        </p:nvSpPr>
        <p:spPr>
          <a:xfrm>
            <a:off x="457200" y="1188720"/>
            <a:ext cx="502920" cy="54864"/>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実在企業名・人物名(Obsidian Security・Crescent Cove Advisors・Greylock Partners・Menlo Ventures・Glenn Chisholm氏・Hasan Imam氏等)はテキストとしてのみ使用し、ロゴ・写真は使用しない</a:t>
            </a:r>
          </a:p>
        </p:txBody>
      </p:sp>
      <p:sp>
        <p:nvSpPr>
          <p:cNvPr id="8" name="Oval 7"/>
          <p:cNvSpPr/>
          <p:nvPr/>
        </p:nvSpPr>
        <p:spPr>
          <a:xfrm>
            <a:off x="457200" y="2258568"/>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特定企業・特定製品(Obsidian Security)の利用を強く推奨する結論にはしていない</a:t>
            </a:r>
          </a:p>
        </p:txBody>
      </p:sp>
      <p:sp>
        <p:nvSpPr>
          <p:cNvPr id="10" name="Oval 9"/>
          <p:cNvSpPr/>
          <p:nvPr/>
        </p:nvSpPr>
        <p:spPr>
          <a:xfrm>
            <a:off x="457200" y="3035808"/>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政治的中立性を保ち、特定国・地域を名指しで脅威主体として扱っていない</a:t>
            </a:r>
          </a:p>
        </p:txBody>
      </p:sp>
      <p:sp>
        <p:nvSpPr>
          <p:cNvPr id="12" name="Oval 11"/>
          <p:cNvSpPr/>
          <p:nvPr/>
        </p:nvSpPr>
        <p:spPr>
          <a:xfrm>
            <a:off x="457200" y="3813048"/>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出典記事の文章はそのまま引用せず、要約・独自の言葉で記述している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F2B705"/>
                </a:solidFill>
                <a:latin typeface="Yu Gothic"/>
              </a:rPr>
              <a:t>AI Company OS｜出典: SiliconANGLE(2026-08-04)ほか｜定期実行141本目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F2B705"/>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FE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C81E1E"/>
                </a:solidFill>
                <a:latin typeface="Yu Gothic"/>
              </a:rPr>
              <a:t>出典一覧</a:t>
            </a:r>
          </a:p>
        </p:txBody>
      </p:sp>
      <p:sp>
        <p:nvSpPr>
          <p:cNvPr id="5" name="Rectangle 4"/>
          <p:cNvSpPr/>
          <p:nvPr/>
        </p:nvSpPr>
        <p:spPr>
          <a:xfrm>
            <a:off x="457200" y="1188720"/>
            <a:ext cx="502920" cy="54864"/>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402336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媒体</a:t>
                      </a:r>
                    </a:p>
                  </a:txBody>
                  <a:tcPr>
                    <a:solidFill>
                      <a:srgbClr val="C81E1E"/>
                    </a:solidFill>
                  </a:tcPr>
                </a:tc>
                <a:tc>
                  <a:txBody>
                    <a:bodyPr/>
                    <a:lstStyle/>
                    <a:p>
                      <a:pPr>
                        <a:defRPr sz="1300" b="1">
                          <a:solidFill>
                            <a:srgbClr val="FFFFFF"/>
                          </a:solidFill>
                          <a:latin typeface="Yu Gothic"/>
                        </a:defRPr>
                      </a:pPr>
                      <a:r>
                        <a:t>日付</a:t>
                      </a:r>
                    </a:p>
                  </a:txBody>
                  <a:tcPr>
                    <a:solidFill>
                      <a:srgbClr val="C81E1E"/>
                    </a:solidFill>
                  </a:tcPr>
                </a:tc>
                <a:tc>
                  <a:txBody>
                    <a:bodyPr/>
                    <a:lstStyle/>
                    <a:p>
                      <a:pPr>
                        <a:defRPr sz="1300" b="1">
                          <a:solidFill>
                            <a:srgbClr val="FFFFFF"/>
                          </a:solidFill>
                          <a:latin typeface="Yu Gothic"/>
                        </a:defRPr>
                      </a:pPr>
                      <a:r>
                        <a:t>内容</a:t>
                      </a:r>
                    </a:p>
                  </a:txBody>
                  <a:tcPr>
                    <a:solidFill>
                      <a:srgbClr val="C81E1E"/>
                    </a:solidFill>
                  </a:tcPr>
                </a:tc>
              </a:tr>
              <a:tr h="502920">
                <a:tc>
                  <a:txBody>
                    <a:bodyPr/>
                    <a:lstStyle/>
                    <a:p>
                      <a:pPr>
                        <a:defRPr sz="1200">
                          <a:solidFill>
                            <a:srgbClr val="1A0A0A"/>
                          </a:solidFill>
                          <a:latin typeface="Yu Gothic"/>
                        </a:defRPr>
                      </a:pPr>
                      <a:r>
                        <a:t>SiliconANGLE</a:t>
                      </a:r>
                    </a:p>
                  </a:txBody>
                  <a:tcPr>
                    <a:solidFill>
                      <a:srgbClr val="FFFFFF"/>
                    </a:solidFill>
                  </a:tcPr>
                </a:tc>
                <a:tc>
                  <a:txBody>
                    <a:bodyPr/>
                    <a:lstStyle/>
                    <a:p>
                      <a:pPr>
                        <a:defRPr sz="1200">
                          <a:solidFill>
                            <a:srgbClr val="1A0A0A"/>
                          </a:solidFill>
                          <a:latin typeface="Yu Gothic"/>
                        </a:defRPr>
                      </a:pPr>
                      <a:r>
                        <a:t>2026-08-04</a:t>
                      </a:r>
                    </a:p>
                  </a:txBody>
                  <a:tcPr>
                    <a:solidFill>
                      <a:srgbClr val="FFFFFF"/>
                    </a:solidFill>
                  </a:tcPr>
                </a:tc>
                <a:tc>
                  <a:txBody>
                    <a:bodyPr/>
                    <a:lstStyle/>
                    <a:p>
                      <a:pPr>
                        <a:defRPr sz="1200">
                          <a:solidFill>
                            <a:srgbClr val="1A0A0A"/>
                          </a:solidFill>
                          <a:latin typeface="Yu Gothic"/>
                        </a:defRPr>
                      </a:pPr>
                      <a:r>
                        <a:t>調達額・評価額・投資家陣・顧客動向・資金使途</a:t>
                      </a:r>
                    </a:p>
                  </a:txBody>
                  <a:tcPr>
                    <a:solidFill>
                      <a:srgbClr val="FFFFFF"/>
                    </a:solidFill>
                  </a:tcPr>
                </a:tc>
              </a:tr>
              <a:tr h="502920">
                <a:tc>
                  <a:txBody>
                    <a:bodyPr/>
                    <a:lstStyle/>
                    <a:p>
                      <a:pPr>
                        <a:defRPr sz="1200">
                          <a:solidFill>
                            <a:srgbClr val="1A0A0A"/>
                          </a:solidFill>
                          <a:latin typeface="Yu Gothic"/>
                        </a:defRPr>
                      </a:pPr>
                      <a:r>
                        <a:t>Pulse2</a:t>
                      </a:r>
                    </a:p>
                  </a:txBody>
                  <a:tcPr>
                    <a:solidFill>
                      <a:srgbClr val="FFF3C4"/>
                    </a:solidFill>
                  </a:tcPr>
                </a:tc>
                <a:tc>
                  <a:txBody>
                    <a:bodyPr/>
                    <a:lstStyle/>
                    <a:p>
                      <a:pPr>
                        <a:defRPr sz="1200">
                          <a:solidFill>
                            <a:srgbClr val="1A0A0A"/>
                          </a:solidFill>
                          <a:latin typeface="Yu Gothic"/>
                        </a:defRPr>
                      </a:pPr>
                      <a:r>
                        <a:t>2026-08-04</a:t>
                      </a:r>
                    </a:p>
                  </a:txBody>
                  <a:tcPr>
                    <a:solidFill>
                      <a:srgbClr val="FFF3C4"/>
                    </a:solidFill>
                  </a:tcPr>
                </a:tc>
                <a:tc>
                  <a:txBody>
                    <a:bodyPr/>
                    <a:lstStyle/>
                    <a:p>
                      <a:pPr>
                        <a:defRPr sz="1200">
                          <a:solidFill>
                            <a:srgbClr val="1A0A0A"/>
                          </a:solidFill>
                          <a:latin typeface="Yu Gothic"/>
                        </a:defRPr>
                      </a:pPr>
                      <a:r>
                        <a:t>評価額11億ドルでのシリーズD調達の報道</a:t>
                      </a:r>
                    </a:p>
                  </a:txBody>
                  <a:tcPr>
                    <a:solidFill>
                      <a:srgbClr val="FFF3C4"/>
                    </a:solidFill>
                  </a:tcPr>
                </a:tc>
              </a:tr>
              <a:tr h="502920">
                <a:tc>
                  <a:txBody>
                    <a:bodyPr/>
                    <a:lstStyle/>
                    <a:p>
                      <a:pPr>
                        <a:defRPr sz="1200">
                          <a:solidFill>
                            <a:srgbClr val="1A0A0A"/>
                          </a:solidFill>
                          <a:latin typeface="Yu Gothic"/>
                        </a:defRPr>
                      </a:pPr>
                      <a:r>
                        <a:t>SecurityWeek</a:t>
                      </a:r>
                    </a:p>
                  </a:txBody>
                  <a:tcPr>
                    <a:solidFill>
                      <a:srgbClr val="FFFFFF"/>
                    </a:solidFill>
                  </a:tcPr>
                </a:tc>
                <a:tc>
                  <a:txBody>
                    <a:bodyPr/>
                    <a:lstStyle/>
                    <a:p>
                      <a:pPr>
                        <a:defRPr sz="1200">
                          <a:solidFill>
                            <a:srgbClr val="1A0A0A"/>
                          </a:solidFill>
                          <a:latin typeface="Yu Gothic"/>
                        </a:defRPr>
                      </a:pPr>
                      <a:r>
                        <a:t>2026-08-04</a:t>
                      </a:r>
                    </a:p>
                  </a:txBody>
                  <a:tcPr>
                    <a:solidFill>
                      <a:srgbClr val="FFFFFF"/>
                    </a:solidFill>
                  </a:tcPr>
                </a:tc>
                <a:tc>
                  <a:txBody>
                    <a:bodyPr/>
                    <a:lstStyle/>
                    <a:p>
                      <a:pPr>
                        <a:defRPr sz="1200">
                          <a:solidFill>
                            <a:srgbClr val="1A0A0A"/>
                          </a:solidFill>
                          <a:latin typeface="Yu Gothic"/>
                        </a:defRPr>
                      </a:pPr>
                      <a:r>
                        <a:t>同ニュースの報道</a:t>
                      </a:r>
                    </a:p>
                  </a:txBody>
                  <a:tcPr>
                    <a:solidFill>
                      <a:srgbClr val="FFFFFF"/>
                    </a:solidFill>
                  </a:tcPr>
                </a:tc>
              </a:tr>
              <a:tr h="502920">
                <a:tc>
                  <a:txBody>
                    <a:bodyPr/>
                    <a:lstStyle/>
                    <a:p>
                      <a:pPr>
                        <a:defRPr sz="1200">
                          <a:solidFill>
                            <a:srgbClr val="1A0A0A"/>
                          </a:solidFill>
                          <a:latin typeface="Yu Gothic"/>
                        </a:defRPr>
                      </a:pPr>
                      <a:r>
                        <a:t>Unite.AI</a:t>
                      </a:r>
                    </a:p>
                  </a:txBody>
                  <a:tcPr>
                    <a:solidFill>
                      <a:srgbClr val="FFF3C4"/>
                    </a:solidFill>
                  </a:tcPr>
                </a:tc>
                <a:tc>
                  <a:txBody>
                    <a:bodyPr/>
                    <a:lstStyle/>
                    <a:p>
                      <a:pPr>
                        <a:defRPr sz="1200">
                          <a:solidFill>
                            <a:srgbClr val="1A0A0A"/>
                          </a:solidFill>
                          <a:latin typeface="Yu Gothic"/>
                        </a:defRPr>
                      </a:pPr>
                      <a:r>
                        <a:t>2026-08-04</a:t>
                      </a:r>
                    </a:p>
                  </a:txBody>
                  <a:tcPr>
                    <a:solidFill>
                      <a:srgbClr val="FFF3C4"/>
                    </a:solidFill>
                  </a:tcPr>
                </a:tc>
                <a:tc>
                  <a:txBody>
                    <a:bodyPr/>
                    <a:lstStyle/>
                    <a:p>
                      <a:pPr>
                        <a:defRPr sz="1200">
                          <a:solidFill>
                            <a:srgbClr val="1A0A0A"/>
                          </a:solidFill>
                          <a:latin typeface="Yu Gothic"/>
                        </a:defRPr>
                      </a:pPr>
                      <a:r>
                        <a:t>創業者・経営陣の経歴を含む報道</a:t>
                      </a:r>
                    </a:p>
                  </a:txBody>
                  <a:tcPr>
                    <a:solidFill>
                      <a:srgbClr val="FFF3C4"/>
                    </a:solidFill>
                  </a:tcPr>
                </a:tc>
              </a:tr>
              <a:tr h="502920">
                <a:tc>
                  <a:txBody>
                    <a:bodyPr/>
                    <a:lstStyle/>
                    <a:p>
                      <a:pPr>
                        <a:defRPr sz="1200">
                          <a:solidFill>
                            <a:srgbClr val="1A0A0A"/>
                          </a:solidFill>
                          <a:latin typeface="Yu Gothic"/>
                        </a:defRPr>
                      </a:pPr>
                      <a:r>
                        <a:t>citybiz</a:t>
                      </a:r>
                    </a:p>
                  </a:txBody>
                  <a:tcPr>
                    <a:solidFill>
                      <a:srgbClr val="FFFFFF"/>
                    </a:solidFill>
                  </a:tcPr>
                </a:tc>
                <a:tc>
                  <a:txBody>
                    <a:bodyPr/>
                    <a:lstStyle/>
                    <a:p>
                      <a:pPr>
                        <a:defRPr sz="1200">
                          <a:solidFill>
                            <a:srgbClr val="1A0A0A"/>
                          </a:solidFill>
                          <a:latin typeface="Yu Gothic"/>
                        </a:defRPr>
                      </a:pPr>
                      <a:r>
                        <a:t>2026-08-04</a:t>
                      </a:r>
                    </a:p>
                  </a:txBody>
                  <a:tcPr>
                    <a:solidFill>
                      <a:srgbClr val="FFFFFF"/>
                    </a:solidFill>
                  </a:tcPr>
                </a:tc>
                <a:tc>
                  <a:txBody>
                    <a:bodyPr/>
                    <a:lstStyle/>
                    <a:p>
                      <a:pPr>
                        <a:defRPr sz="1200">
                          <a:solidFill>
                            <a:srgbClr val="1A0A0A"/>
                          </a:solidFill>
                          <a:latin typeface="Yu Gothic"/>
                        </a:defRPr>
                      </a:pPr>
                      <a:r>
                        <a:t>同ニュースの報道</a:t>
                      </a:r>
                    </a:p>
                  </a:txBody>
                  <a:tcPr>
                    <a:solidFill>
                      <a:srgbClr val="FFFFFF"/>
                    </a:solidFill>
                  </a:tcPr>
                </a:tc>
              </a:tr>
              <a:tr h="502920">
                <a:tc>
                  <a:txBody>
                    <a:bodyPr/>
                    <a:lstStyle/>
                    <a:p>
                      <a:pPr>
                        <a:defRPr sz="1200">
                          <a:solidFill>
                            <a:srgbClr val="1A0A0A"/>
                          </a:solidFill>
                          <a:latin typeface="Yu Gothic"/>
                        </a:defRPr>
                      </a:pPr>
                      <a:r>
                        <a:t>FinSMEs</a:t>
                      </a:r>
                    </a:p>
                  </a:txBody>
                  <a:tcPr>
                    <a:solidFill>
                      <a:srgbClr val="FFF3C4"/>
                    </a:solidFill>
                  </a:tcPr>
                </a:tc>
                <a:tc>
                  <a:txBody>
                    <a:bodyPr/>
                    <a:lstStyle/>
                    <a:p>
                      <a:pPr>
                        <a:defRPr sz="1200">
                          <a:solidFill>
                            <a:srgbClr val="1A0A0A"/>
                          </a:solidFill>
                          <a:latin typeface="Yu Gothic"/>
                        </a:defRPr>
                      </a:pPr>
                      <a:r>
                        <a:t>2026-08-04</a:t>
                      </a:r>
                    </a:p>
                  </a:txBody>
                  <a:tcPr>
                    <a:solidFill>
                      <a:srgbClr val="FFF3C4"/>
                    </a:solidFill>
                  </a:tcPr>
                </a:tc>
                <a:tc>
                  <a:txBody>
                    <a:bodyPr/>
                    <a:lstStyle/>
                    <a:p>
                      <a:pPr>
                        <a:defRPr sz="1200">
                          <a:solidFill>
                            <a:srgbClr val="1A0A0A"/>
                          </a:solidFill>
                          <a:latin typeface="Yu Gothic"/>
                        </a:defRPr>
                      </a:pPr>
                      <a:r>
                        <a:t>同ニュースの報道</a:t>
                      </a:r>
                    </a:p>
                  </a:txBody>
                  <a:tcPr>
                    <a:solidFill>
                      <a:srgbClr val="FFF3C4"/>
                    </a:solidFill>
                  </a:tcPr>
                </a:tc>
              </a:tr>
              <a:tr h="502920">
                <a:tc>
                  <a:txBody>
                    <a:bodyPr/>
                    <a:lstStyle/>
                    <a:p>
                      <a:pPr>
                        <a:defRPr sz="1200">
                          <a:solidFill>
                            <a:srgbClr val="1A0A0A"/>
                          </a:solidFill>
                          <a:latin typeface="Yu Gothic"/>
                        </a:defRPr>
                      </a:pPr>
                      <a:r>
                        <a:t>Yahoo Finance(fintech.global配信)</a:t>
                      </a:r>
                    </a:p>
                  </a:txBody>
                  <a:tcPr>
                    <a:solidFill>
                      <a:srgbClr val="FFFFFF"/>
                    </a:solidFill>
                  </a:tcPr>
                </a:tc>
                <a:tc>
                  <a:txBody>
                    <a:bodyPr/>
                    <a:lstStyle/>
                    <a:p>
                      <a:pPr>
                        <a:defRPr sz="1200">
                          <a:solidFill>
                            <a:srgbClr val="1A0A0A"/>
                          </a:solidFill>
                          <a:latin typeface="Yu Gothic"/>
                        </a:defRPr>
                      </a:pPr>
                      <a:r>
                        <a:t>2026-08-05表記</a:t>
                      </a:r>
                    </a:p>
                  </a:txBody>
                  <a:tcPr>
                    <a:solidFill>
                      <a:srgbClr val="FFFFFF"/>
                    </a:solidFill>
                  </a:tcPr>
                </a:tc>
                <a:tc>
                  <a:txBody>
                    <a:bodyPr/>
                    <a:lstStyle/>
                    <a:p>
                      <a:pPr>
                        <a:defRPr sz="1200">
                          <a:solidFill>
                            <a:srgbClr val="1A0A0A"/>
                          </a:solidFill>
                          <a:latin typeface="Yu Gothic"/>
                        </a:defRPr>
                      </a:pPr>
                      <a:r>
                        <a:t>同ニュースの配信記事</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F2B705"/>
                </a:solidFill>
                <a:latin typeface="Yu Gothic"/>
              </a:rPr>
              <a:t>AI Company OS｜出典: SiliconANGLE(2026-08-04)ほか｜定期実行141本目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F2B705"/>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FE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C81E1E"/>
                </a:solidFill>
                <a:latin typeface="Yu Gothic"/>
              </a:rPr>
              <a:t>既存テーマとの関係(重複でないことの確認)</a:t>
            </a:r>
          </a:p>
        </p:txBody>
      </p:sp>
      <p:sp>
        <p:nvSpPr>
          <p:cNvPr id="5" name="Rectangle 4"/>
          <p:cNvSpPr/>
          <p:nvPr/>
        </p:nvSpPr>
        <p:spPr>
          <a:xfrm>
            <a:off x="457200" y="1188720"/>
            <a:ext cx="502920" cy="54864"/>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確認項目</a:t>
                      </a:r>
                    </a:p>
                  </a:txBody>
                  <a:tcPr>
                    <a:solidFill>
                      <a:srgbClr val="C81E1E"/>
                    </a:solidFill>
                  </a:tcPr>
                </a:tc>
                <a:tc>
                  <a:txBody>
                    <a:bodyPr/>
                    <a:lstStyle/>
                    <a:p>
                      <a:pPr>
                        <a:defRPr sz="1300" b="1">
                          <a:solidFill>
                            <a:srgbClr val="FFFFFF"/>
                          </a:solidFill>
                          <a:latin typeface="Yu Gothic"/>
                        </a:defRPr>
                      </a:pPr>
                      <a:r>
                        <a:t>結果</a:t>
                      </a:r>
                    </a:p>
                  </a:txBody>
                  <a:tcPr>
                    <a:solidFill>
                      <a:srgbClr val="C81E1E"/>
                    </a:solidFill>
                  </a:tcPr>
                </a:tc>
              </a:tr>
              <a:tr h="502920">
                <a:tc>
                  <a:txBody>
                    <a:bodyPr/>
                    <a:lstStyle/>
                    <a:p>
                      <a:pPr>
                        <a:defRPr sz="1200">
                          <a:solidFill>
                            <a:srgbClr val="1A0A0A"/>
                          </a:solidFill>
                          <a:latin typeface="Yu Gothic"/>
                        </a:defRPr>
                      </a:pPr>
                      <a:r>
                        <a:t>Obsidian Securityを主題としたテーマ</a:t>
                      </a:r>
                    </a:p>
                  </a:txBody>
                  <a:tcPr>
                    <a:solidFill>
                      <a:srgbClr val="FFFFFF"/>
                    </a:solidFill>
                  </a:tcPr>
                </a:tc>
                <a:tc>
                  <a:txBody>
                    <a:bodyPr/>
                    <a:lstStyle/>
                    <a:p>
                      <a:pPr>
                        <a:defRPr sz="1200">
                          <a:solidFill>
                            <a:srgbClr val="1A0A0A"/>
                          </a:solidFill>
                          <a:latin typeface="Yu Gothic"/>
                        </a:defRPr>
                      </a:pPr>
                      <a:r>
                        <a:t>既存テーマになし</a:t>
                      </a:r>
                    </a:p>
                  </a:txBody>
                  <a:tcPr>
                    <a:solidFill>
                      <a:srgbClr val="FFFFFF"/>
                    </a:solidFill>
                  </a:tcPr>
                </a:tc>
              </a:tr>
              <a:tr h="502920">
                <a:tc>
                  <a:txBody>
                    <a:bodyPr/>
                    <a:lstStyle/>
                    <a:p>
                      <a:pPr>
                        <a:defRPr sz="1200">
                          <a:solidFill>
                            <a:srgbClr val="1A0A0A"/>
                          </a:solidFill>
                          <a:latin typeface="Yu Gothic"/>
                        </a:defRPr>
                      </a:pPr>
                      <a:r>
                        <a:t>AIエージェントセキュリティ系の既存テーマ(Zenity等)との重複</a:t>
                      </a:r>
                    </a:p>
                  </a:txBody>
                  <a:tcPr>
                    <a:solidFill>
                      <a:srgbClr val="FFF3C4"/>
                    </a:solidFill>
                  </a:tcPr>
                </a:tc>
                <a:tc>
                  <a:txBody>
                    <a:bodyPr/>
                    <a:lstStyle/>
                    <a:p>
                      <a:pPr>
                        <a:defRPr sz="1200">
                          <a:solidFill>
                            <a:srgbClr val="1A0A0A"/>
                          </a:solidFill>
                          <a:latin typeface="Yu Gothic"/>
                        </a:defRPr>
                      </a:pPr>
                      <a:r>
                        <a:t>対象企業・調達内容が異なり重複ではない</a:t>
                      </a:r>
                    </a:p>
                  </a:txBody>
                  <a:tcPr>
                    <a:solidFill>
                      <a:srgbClr val="FFF3C4"/>
                    </a:solidFill>
                  </a:tcPr>
                </a:tc>
              </a:tr>
              <a:tr h="502920">
                <a:tc>
                  <a:txBody>
                    <a:bodyPr/>
                    <a:lstStyle/>
                    <a:p>
                      <a:pPr>
                        <a:defRPr sz="1200">
                          <a:solidFill>
                            <a:srgbClr val="1A0A0A"/>
                          </a:solidFill>
                          <a:latin typeface="Yu Gothic"/>
                        </a:defRPr>
                      </a:pPr>
                      <a:r>
                        <a:t>判定</a:t>
                      </a:r>
                    </a:p>
                  </a:txBody>
                  <a:tcPr>
                    <a:solidFill>
                      <a:srgbClr val="FFFFFF"/>
                    </a:solidFill>
                  </a:tcPr>
                </a:tc>
                <a:tc>
                  <a:txBody>
                    <a:bodyPr/>
                    <a:lstStyle/>
                    <a:p>
                      <a:pPr>
                        <a:defRPr sz="1200">
                          <a:solidFill>
                            <a:srgbClr val="1A0A0A"/>
                          </a:solidFill>
                          <a:latin typeface="Yu Gothic"/>
                        </a:defRPr>
                      </a:pPr>
                      <a:r>
                        <a:t>重複ではない</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F2B705"/>
                </a:solidFill>
                <a:latin typeface="Yu Gothic"/>
              </a:rPr>
              <a:t>AI Company OS｜出典: SiliconANGLE(2026-08-04)ほか｜定期実行141本目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F2B705"/>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3A0A0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FE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社内で動くAIエージェント、その“見張り役”は今後どう増えていくか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FFD400"/>
                </a:solidFill>
                <a:latin typeface="Yu Gothic"/>
              </a:rPr>
              <a:t>Obsidian Securityの続報を、確定事実と未確認情報を区別しながら注目していきましょう</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C81E1E"/>
                </a:solidFill>
                <a:latin typeface="Yu Gothic"/>
              </a:rPr>
              <a:t>続報が入り次第、改めてお届けします</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FE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C81E1E"/>
                </a:solidFill>
                <a:latin typeface="Yu Gothic"/>
              </a:rPr>
              <a:t>まとめ</a:t>
            </a:r>
          </a:p>
        </p:txBody>
      </p:sp>
      <p:sp>
        <p:nvSpPr>
          <p:cNvPr id="5" name="Rectangle 4"/>
          <p:cNvSpPr/>
          <p:nvPr/>
        </p:nvSpPr>
        <p:spPr>
          <a:xfrm>
            <a:off x="457200" y="1188720"/>
            <a:ext cx="502920" cy="54864"/>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非人間ID・AIエージェントのセキュリティを手がけるObsidian Securityが、シリーズDで8,500万ドルを調達したと発表(2026年8月4日、一部媒体は8月5日表記)</a:t>
            </a:r>
          </a:p>
        </p:txBody>
      </p:sp>
      <p:sp>
        <p:nvSpPr>
          <p:cNvPr id="8" name="Oval 7"/>
          <p:cNvSpPr/>
          <p:nvPr/>
        </p:nvSpPr>
        <p:spPr>
          <a:xfrm>
            <a:off x="457200" y="2258568"/>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評価額11億ドルに到達しユニコーン企業となった。主導はCrescent Cove Advisors</a:t>
            </a:r>
          </a:p>
        </p:txBody>
      </p:sp>
      <p:sp>
        <p:nvSpPr>
          <p:cNvPr id="10" name="Oval 9"/>
          <p:cNvSpPr/>
          <p:nvPr/>
        </p:nvSpPr>
        <p:spPr>
          <a:xfrm>
            <a:off x="457200" y="3035808"/>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年間10万ドル超顧客100社超・Fortune 500企業60社という顧客動向も公表された</a:t>
            </a:r>
          </a:p>
        </p:txBody>
      </p:sp>
      <p:sp>
        <p:nvSpPr>
          <p:cNvPr id="12" name="Oval 11"/>
          <p:cNvSpPr/>
          <p:nvPr/>
        </p:nvSpPr>
        <p:spPr>
          <a:xfrm>
            <a:off x="457200" y="3813048"/>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検知アルゴリズムの詳細・競合関係・日本展開・累計調達額は未確認であることを正直に開示</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F2B705"/>
                </a:solidFill>
                <a:latin typeface="Yu Gothic"/>
              </a:rPr>
              <a:t>AI Company OS｜出典: SiliconANGLE(2026-08-04)ほか｜定期実行141本目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F2B705"/>
                </a:solidFill>
                <a:latin typeface="Yu Gothic"/>
              </a:rPr>
              <a:t>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