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2026年8月10日、Anthropicが、資産運用会社のMacquarie Asset ManagementおよびGICと戦略的提携を結び、AIデータセンターインフラを専門に開発・運営・リースする新会社『Theseus Infrastructure』を設立したと発表しました。今日はこの発表の中身を、出典付きで整理してお伝えします。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まず結論です。Anthropicが、Macquarie Asset ManagementおよびGICと提携し、AIデータセンターインフラを専門に扱う新会社『Theseus Infrastructure』を設立したと発表しました。出資の大半はGIC・Macquarie側が負担し、Anthropicは主要入居者として長期契約を結びます。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今日はこの5つの流れでお伝えします。専門用語をかみ砕きながら、確定している事実と、確認できていない部分をはっきり分けて整理します。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このテーマを扱う理由は3つです。着手日からわずか2日前という新しい話題であること、以前の自己投資計画からの転換という構図、そして複数の情報源による裏付けがあることです。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まず全体像です。資産運用会社であるMacquarie Asset ManagementとGICが出資して、Theseus Infrastructureという新会社がAIデータセンターを開発・運営し、Anthropicがアンカーテナントとして長期契約で入居するという構図です。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報道され方を見ると、Bloombergが提携全体の構図を報じたほか、Data Center Dynamicsが枠組みを詳細に伝え、当事者であるMacquarie Group自身も公式発表を行っています。The Real Deal、TheNextWebといったメディアも同時期に取り上げています。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時系列にするとこうです。以前Anthropicは米国内データセンターへの500億ドル投資を表明していましたが、2026年8月10日、Macquarie・GICとの提携によるTheseus Infrastructure設立を発表しました。今後は当面、米国内での新規サイト開発に焦点を当てます。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提携の概要を表にまとめました。新会社名はTheseus Infrastructure、提携相手はMacquarie Asset ManagementとGICです。出資の大半はGIC・Macquarie側が負担し、Anthropicは主要入居者として長期契約を結びます。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ンカーテナント』とは、開発された施設に最初から入居し、長期契約で賃料を支払う主要な入居者のことです。施設の開発側にとっては、アンカーテナントの存在が資金調達の裏付けになります。Anthropicは施設の所有者ではなく、利用者としての立場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MacquarieはオーストラリアのMacquarie Groupの資産運用部門、GICはシンガポール政府が運用する政府系ファンドです。いずれもインフラ投資を手がける資産運用会社であり、AI企業そのものではありません。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資金調達の構図の変化です。以前はAnthropicが自ら500億ドルを投資する計画を表明していましたが、今回の提携では資産運用会社が出資し、Anthropicはアンカーテナントとして長期リースする側になります。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各主体の役割を整理しました。Anthropicは入居者、Macquarie・GICは出資者、Theseus Infrastructureは開発・運営を専門に行う新設会社という分担です。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以前Anthropicが表明していた自己投資計画の金額を確認します。米国内のデータセンターに500億ドルを投資する計画を表明していました。今回の提携は、この自己投資方式からの転換を意味する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変わったのか整理します。以前はAnthropicが自ら建設資金を出す計画でしたが、今回は資産運用会社が出資し、Anthropicは長期リースで入居する方式に転換しました。これによりAnthropic自身の設備投資負担を圧縮できると考え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発表内容をカードで振り返ります。2026年8月10日発表、Anthropic・Macquarie・GICの3社での提携、当面は米国内が対象、そしてAnthropicが周辺地域の電気料金上昇分を負担するという約束、この4点が骨格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電気料金負担の約束について確認します。Anthropicは施設周辺地域の消費者電気料金の上昇分を負担すると約束しています。ただし、具体的な算定方法や対象範囲まで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確定していることとこれからのことを整理します。提携の発表や出資構造、当面米国が対象であることは確定していますが、具体的な稼働時期やサイト候補地はこれから決まっていく段階です。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174本目との違いを整理します。174本目はビットコインマイナーが既存拠点を直接リースする契約でした。180本目である本テーマは、資産運用会社が出資して新設会社が施設を開発し、Anthropicがアンカーテナントとして入居するという、異なる資金調達・提携構造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174本目と180本目の違いを表で詳しく整理しました。出資者・施設の性質・Anthropicの役割・対象地域のいずれも異なる構造であることがわかります。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重複ではないと判断する理由です。174本目は既存事業者からの直接リース、本テーマは新設会社への出資という、資金調達の性質が根本的に異なる構図です。既存テーマの確認でも重複は見つか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業界全体の潮流として見ると、AI企業単独で巨額の設備投資を担うのが難しくなる中、資産運用会社がインフラ出資の担い手になり、AI企業はテナントとして利用する動きが広がっているとされています。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推測・不明を整理します。提携の枠組みそのものは検証済みの事実ですが、その意図の解釈は推測であり、投資総額や施設数など確認できていない点も複数あります。混同しないよう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確認できなかったことを4点、一覧にしました。数字を作らず、正直に不明として扱っています。投資総額や施設数、稼働時期、出資比率の内訳は、本調査の範囲では確認できていません。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ここで本パイプラインの制作体制について開示します。本パイプラインであるAI Company OS自体が、Anthropicが提供するClaude Codeを使用して制作されています。この事実を隠さず明示したうえで、称賛的な表現は用いず、客観的事実の報告に徹します。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すでに174本目・177本目に続き、3件目のAnthropic関連テーマとなります。これは特定企業への偏りを意図したものではなく、着手日から2日以内という鮮度基準を機械的に適用した結果、他の候補が基準を満たさなかったため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この提携から確認すべきことです。500億ドルの計画とTheseus Infrastructureの投資総額は別物であること、サイト候補地がまだ不明であること、電気料金負担の約束が実際にどう運用されるか、この3点を意識して見ていくことを勧めます。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立場別に整理すると、投資家・業界観察者は投資総額の続報を継続して確認すること、企業は新しい資金調達方式の広がりとして捉えること、一般の読者は既存の数字と混同しないこと、それぞれに実践的な示唆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500億ドルという数字を読むときの注意点です。これは以前表明されていた自己投資計画の金額であり、Theseus Infrastructure自体の投資総額ではありません。両者を混同して断定しないよう注意が必要です。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本編で使った主な出典を一覧にしました。Macquarie Group自身の公式発表を含む5つの情報源です。詳細はresearch.mdをご確認ください。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本編は以上です。今回はAnthropicがMacquarie Asset Management・GICと提携し、Theseus Infrastructureを設立した発表をお伝えしました。数字を鵜呑みにせず、事実関係の整理に留めています。次回もまた出典付きでお届けします。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AIの巨大データセンターを、Anthropicは建てない。</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Anthropicが、Macquarie Asset Management・GICと提携し、データセンター専門の新会社「Theseus Infrastructure」を設立——2026年8月10日発表の要点を出典付きで整理する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Bloomberg / Data Center Dynamics / Macquarie Group公式発表 ほか(2026-08-10)。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結論を先に</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3社での新会社設立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Anthropic・Macquarie Asset Management・GICが提携し、AIデータセンターを専門に開発・運営・リースする新会社「Theseus Infrastructure」を設立。GIC・Macquarie運用ファンドが出資の大半を負担し、Anthropicはアンカーテナントとして入居する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Bloomberg / Data Center Dynamics(2026-08-10)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この提携とは何か・なぜ今話題なのか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基礎知識(アンカーテナント・資産運用会社とは)</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資金調達の構図の変化(自己投資からリース方式へ)</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174本目(Riot Platforms契約)との違い</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業界の潮流と、確認できなかったこと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2026年8月10日発表で、着手日から2日前という新しい話題である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Anthropicが以前表明していた500億ドルの自己投資計画から、リース方式への転換という構図がある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Bloomberg・Macquarie公式発表を含む複数の情報源が同時期に報じている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 / Macquarie Group(2026-08-10)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何が起きたのか(概念図)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Macquarie Asset Management・GIC</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資産運用会社。各プロジェクトの出資の大半を負担する</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Theseus Infrastructure</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新設された会社。AIデータセンターの開発・運営・リースを専門に行う</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Anthropic</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アンカーテナント(主要入居者)として長期契約を結ぶ</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資産運用会社が出資して専用データセンターを新設し、Anthropicが主要入居者として入居する構図として報じられている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報道され方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複数のメディアが同時期に報じています。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Bloombergが「Anthropic, Macquarie and GIC Form Venture for AI Data Centers」として報道</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Data Center Dynamicsが提携の枠組みを詳細に報道</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Macquarie Group自身が公式発表を行い、The Real Deal・TheNextWebも同時期に報道</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各社(2026-08-10)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時系列</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以前の表明</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Anthropicは以前、米国内のデータセンターに500億ドルを投資する計画を表明していた</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2026年8月10日</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Macquarie Asset Management・GICとの提携でTheseus Infrastructure設立を発表</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今後</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当面は米国内での新規サイト開発に焦点を当てる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提携の概要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新会社名</a:t>
                      </a:r>
                    </a:p>
                  </a:txBody>
                  <a:tcPr>
                    <a:solidFill>
                      <a:srgbClr val="FFFFFF"/>
                    </a:solidFill>
                  </a:tcPr>
                </a:tc>
                <a:tc>
                  <a:txBody>
                    <a:bodyPr/>
                    <a:lstStyle/>
                    <a:p>
                      <a:pPr>
                        <a:defRPr sz="1200">
                          <a:solidFill>
                            <a:srgbClr val="1C2230"/>
                          </a:solidFill>
                          <a:latin typeface="Yu Gothic"/>
                        </a:defRPr>
                      </a:pPr>
                      <a:r>
                        <a:t>Theseus Infrastructure</a:t>
                      </a:r>
                    </a:p>
                  </a:txBody>
                  <a:tcPr>
                    <a:solidFill>
                      <a:srgbClr val="FFFFFF"/>
                    </a:solidFill>
                  </a:tcPr>
                </a:tc>
              </a:tr>
              <a:tr h="502920">
                <a:tc>
                  <a:txBody>
                    <a:bodyPr/>
                    <a:lstStyle/>
                    <a:p>
                      <a:pPr>
                        <a:defRPr sz="1200">
                          <a:solidFill>
                            <a:srgbClr val="1C2230"/>
                          </a:solidFill>
                          <a:latin typeface="Yu Gothic"/>
                        </a:defRPr>
                      </a:pPr>
                      <a:r>
                        <a:t>提携相手</a:t>
                      </a:r>
                    </a:p>
                  </a:txBody>
                  <a:tcPr>
                    <a:solidFill>
                      <a:srgbClr val="F1F5FA"/>
                    </a:solidFill>
                  </a:tcPr>
                </a:tc>
                <a:tc>
                  <a:txBody>
                    <a:bodyPr/>
                    <a:lstStyle/>
                    <a:p>
                      <a:pPr>
                        <a:defRPr sz="1200">
                          <a:solidFill>
                            <a:srgbClr val="1C2230"/>
                          </a:solidFill>
                          <a:latin typeface="Yu Gothic"/>
                        </a:defRPr>
                      </a:pPr>
                      <a:r>
                        <a:t>Macquarie Asset Management・GIC(シンガポール政府投資公社)</a:t>
                      </a:r>
                    </a:p>
                  </a:txBody>
                  <a:tcPr>
                    <a:solidFill>
                      <a:srgbClr val="F1F5FA"/>
                    </a:solidFill>
                  </a:tcPr>
                </a:tc>
              </a:tr>
              <a:tr h="502920">
                <a:tc>
                  <a:txBody>
                    <a:bodyPr/>
                    <a:lstStyle/>
                    <a:p>
                      <a:pPr>
                        <a:defRPr sz="1200">
                          <a:solidFill>
                            <a:srgbClr val="1C2230"/>
                          </a:solidFill>
                          <a:latin typeface="Yu Gothic"/>
                        </a:defRPr>
                      </a:pPr>
                      <a:r>
                        <a:t>新会社の役割</a:t>
                      </a:r>
                    </a:p>
                  </a:txBody>
                  <a:tcPr>
                    <a:solidFill>
                      <a:srgbClr val="FFFFFF"/>
                    </a:solidFill>
                  </a:tcPr>
                </a:tc>
                <a:tc>
                  <a:txBody>
                    <a:bodyPr/>
                    <a:lstStyle/>
                    <a:p>
                      <a:pPr>
                        <a:defRPr sz="1200">
                          <a:solidFill>
                            <a:srgbClr val="1C2230"/>
                          </a:solidFill>
                          <a:latin typeface="Yu Gothic"/>
                        </a:defRPr>
                      </a:pPr>
                      <a:r>
                        <a:t>AIデータセンターインフラの開発・運営・リースを専門とする</a:t>
                      </a:r>
                    </a:p>
                  </a:txBody>
                  <a:tcPr>
                    <a:solidFill>
                      <a:srgbClr val="FFFFFF"/>
                    </a:solidFill>
                  </a:tcPr>
                </a:tc>
              </a:tr>
              <a:tr h="502920">
                <a:tc>
                  <a:txBody>
                    <a:bodyPr/>
                    <a:lstStyle/>
                    <a:p>
                      <a:pPr>
                        <a:defRPr sz="1200">
                          <a:solidFill>
                            <a:srgbClr val="1C2230"/>
                          </a:solidFill>
                          <a:latin typeface="Yu Gothic"/>
                        </a:defRPr>
                      </a:pPr>
                      <a:r>
                        <a:t>出資者</a:t>
                      </a:r>
                    </a:p>
                  </a:txBody>
                  <a:tcPr>
                    <a:solidFill>
                      <a:srgbClr val="F1F5FA"/>
                    </a:solidFill>
                  </a:tcPr>
                </a:tc>
                <a:tc>
                  <a:txBody>
                    <a:bodyPr/>
                    <a:lstStyle/>
                    <a:p>
                      <a:pPr>
                        <a:defRPr sz="1200">
                          <a:solidFill>
                            <a:srgbClr val="1C2230"/>
                          </a:solidFill>
                          <a:latin typeface="Yu Gothic"/>
                        </a:defRPr>
                      </a:pPr>
                      <a:r>
                        <a:t>GIC・Macquarie運用ファンドが各プロジェクトの出資の大半を負担</a:t>
                      </a:r>
                    </a:p>
                  </a:txBody>
                  <a:tcPr>
                    <a:solidFill>
                      <a:srgbClr val="F1F5FA"/>
                    </a:solidFill>
                  </a:tcPr>
                </a:tc>
              </a:tr>
              <a:tr h="502920">
                <a:tc>
                  <a:txBody>
                    <a:bodyPr/>
                    <a:lstStyle/>
                    <a:p>
                      <a:pPr>
                        <a:defRPr sz="1200">
                          <a:solidFill>
                            <a:srgbClr val="1C2230"/>
                          </a:solidFill>
                          <a:latin typeface="Yu Gothic"/>
                        </a:defRPr>
                      </a:pPr>
                      <a:r>
                        <a:t>Anthropicの立場</a:t>
                      </a:r>
                    </a:p>
                  </a:txBody>
                  <a:tcPr>
                    <a:solidFill>
                      <a:srgbClr val="FFFFFF"/>
                    </a:solidFill>
                  </a:tcPr>
                </a:tc>
                <a:tc>
                  <a:txBody>
                    <a:bodyPr/>
                    <a:lstStyle/>
                    <a:p>
                      <a:pPr>
                        <a:defRPr sz="1200">
                          <a:solidFill>
                            <a:srgbClr val="1C2230"/>
                          </a:solidFill>
                          <a:latin typeface="Yu Gothic"/>
                        </a:defRPr>
                      </a:pPr>
                      <a:r>
                        <a:t>アンカーテナント(主要入居者)として長期契約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 / Data Center Dynamics(2026-08-10)</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基礎知識:「アンカーテナント」とは(初心者向け)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専門用語を1つずつ解説します。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開発された施設に最初から入居し、長期契約で賃料を支払う主要な入居者のこと</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施設の開発側にとっては、アンカーテナントの存在が資金調達の裏付けになる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Anthropicは施設の所有者ではなく、利用者としての立場でこの提携に参加している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 / Data Center Dynamics(2026-08-10)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基礎知識:「Macquarie」「GIC」とは何者か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もう1つの重要な前提知識です。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Macquarie Asset Managementは、オーストラリア発の金融グループMacquarie Groupの資産運用部門</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GICは、シンガポール政府が運用する政府系ファンド(ソブリン・ウェルス・ファンド)</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いずれもインフラ投資を手がける資産運用会社であり、AI企業そのものではない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Macquarie Group公式発表(2026-08-10)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資金調達の構図の変化(概念図)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以前の計画</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Anthropicが自ら500億ドルを投資してデータセンターを建設する計画を表明していた</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今回の提携</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資産運用会社が出資し、専用施設を新設する方式に転換</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Anthropicの立場</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建設資金の出し手ではなく、アンカーテナントとして長期リースする側になる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Anthropicが自ら建設資金を出す方式から、専用施設をリースする方式への転換として報じられている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各主体の役割分担</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主体</a:t>
                      </a:r>
                    </a:p>
                  </a:txBody>
                  <a:tcPr>
                    <a:solidFill>
                      <a:srgbClr val="2B3A55"/>
                    </a:solidFill>
                  </a:tcPr>
                </a:tc>
                <a:tc>
                  <a:txBody>
                    <a:bodyPr/>
                    <a:lstStyle/>
                    <a:p>
                      <a:pPr>
                        <a:defRPr sz="1300" b="1">
                          <a:solidFill>
                            <a:srgbClr val="FFFFFF"/>
                          </a:solidFill>
                          <a:latin typeface="Yu Gothic"/>
                        </a:defRPr>
                      </a:pPr>
                      <a:r>
                        <a:t>役割</a:t>
                      </a:r>
                    </a:p>
                  </a:txBody>
                  <a:tcPr>
                    <a:solidFill>
                      <a:srgbClr val="2B3A55"/>
                    </a:solidFill>
                  </a:tcPr>
                </a:tc>
              </a:tr>
              <a:tr h="502920">
                <a:tc>
                  <a:txBody>
                    <a:bodyPr/>
                    <a:lstStyle/>
                    <a:p>
                      <a:pPr>
                        <a:defRPr sz="1200">
                          <a:solidFill>
                            <a:srgbClr val="1C2230"/>
                          </a:solidFill>
                          <a:latin typeface="Yu Gothic"/>
                        </a:defRPr>
                      </a:pPr>
                      <a:r>
                        <a:t>Anthropic</a:t>
                      </a:r>
                    </a:p>
                  </a:txBody>
                  <a:tcPr>
                    <a:solidFill>
                      <a:srgbClr val="FFFFFF"/>
                    </a:solidFill>
                  </a:tcPr>
                </a:tc>
                <a:tc>
                  <a:txBody>
                    <a:bodyPr/>
                    <a:lstStyle/>
                    <a:p>
                      <a:pPr>
                        <a:defRPr sz="1200">
                          <a:solidFill>
                            <a:srgbClr val="1C2230"/>
                          </a:solidFill>
                          <a:latin typeface="Yu Gothic"/>
                        </a:defRPr>
                      </a:pPr>
                      <a:r>
                        <a:t>アンカーテナントとして長期契約で入居し、周辺地域の電気料金上昇分を負担</a:t>
                      </a:r>
                    </a:p>
                  </a:txBody>
                  <a:tcPr>
                    <a:solidFill>
                      <a:srgbClr val="FFFFFF"/>
                    </a:solidFill>
                  </a:tcPr>
                </a:tc>
              </a:tr>
              <a:tr h="502920">
                <a:tc>
                  <a:txBody>
                    <a:bodyPr/>
                    <a:lstStyle/>
                    <a:p>
                      <a:pPr>
                        <a:defRPr sz="1200">
                          <a:solidFill>
                            <a:srgbClr val="1C2230"/>
                          </a:solidFill>
                          <a:latin typeface="Yu Gothic"/>
                        </a:defRPr>
                      </a:pPr>
                      <a:r>
                        <a:t>Macquarie Asset Management</a:t>
                      </a:r>
                    </a:p>
                  </a:txBody>
                  <a:tcPr>
                    <a:solidFill>
                      <a:srgbClr val="F1F5FA"/>
                    </a:solidFill>
                  </a:tcPr>
                </a:tc>
                <a:tc>
                  <a:txBody>
                    <a:bodyPr/>
                    <a:lstStyle/>
                    <a:p>
                      <a:pPr>
                        <a:defRPr sz="1200">
                          <a:solidFill>
                            <a:srgbClr val="1C2230"/>
                          </a:solidFill>
                          <a:latin typeface="Yu Gothic"/>
                        </a:defRPr>
                      </a:pPr>
                      <a:r>
                        <a:t>資産運用会社。出資の大半を負担する側</a:t>
                      </a:r>
                    </a:p>
                  </a:txBody>
                  <a:tcPr>
                    <a:solidFill>
                      <a:srgbClr val="F1F5FA"/>
                    </a:solidFill>
                  </a:tcPr>
                </a:tc>
              </a:tr>
              <a:tr h="502920">
                <a:tc>
                  <a:txBody>
                    <a:bodyPr/>
                    <a:lstStyle/>
                    <a:p>
                      <a:pPr>
                        <a:defRPr sz="1200">
                          <a:solidFill>
                            <a:srgbClr val="1C2230"/>
                          </a:solidFill>
                          <a:latin typeface="Yu Gothic"/>
                        </a:defRPr>
                      </a:pPr>
                      <a:r>
                        <a:t>GIC</a:t>
                      </a:r>
                    </a:p>
                  </a:txBody>
                  <a:tcPr>
                    <a:solidFill>
                      <a:srgbClr val="FFFFFF"/>
                    </a:solidFill>
                  </a:tcPr>
                </a:tc>
                <a:tc>
                  <a:txBody>
                    <a:bodyPr/>
                    <a:lstStyle/>
                    <a:p>
                      <a:pPr>
                        <a:defRPr sz="1200">
                          <a:solidFill>
                            <a:srgbClr val="1C2230"/>
                          </a:solidFill>
                          <a:latin typeface="Yu Gothic"/>
                        </a:defRPr>
                      </a:pPr>
                      <a:r>
                        <a:t>シンガポール政府系ファンド。出資の大半を負担する側</a:t>
                      </a:r>
                    </a:p>
                  </a:txBody>
                  <a:tcPr>
                    <a:solidFill>
                      <a:srgbClr val="FFFFFF"/>
                    </a:solidFill>
                  </a:tcPr>
                </a:tc>
              </a:tr>
              <a:tr h="502920">
                <a:tc>
                  <a:txBody>
                    <a:bodyPr/>
                    <a:lstStyle/>
                    <a:p>
                      <a:pPr>
                        <a:defRPr sz="1200">
                          <a:solidFill>
                            <a:srgbClr val="1C2230"/>
                          </a:solidFill>
                          <a:latin typeface="Yu Gothic"/>
                        </a:defRPr>
                      </a:pPr>
                      <a:r>
                        <a:t>Theseus Infrastructure</a:t>
                      </a:r>
                    </a:p>
                  </a:txBody>
                  <a:tcPr>
                    <a:solidFill>
                      <a:srgbClr val="F1F5FA"/>
                    </a:solidFill>
                  </a:tcPr>
                </a:tc>
                <a:tc>
                  <a:txBody>
                    <a:bodyPr/>
                    <a:lstStyle/>
                    <a:p>
                      <a:pPr>
                        <a:defRPr sz="1200">
                          <a:solidFill>
                            <a:srgbClr val="1C2230"/>
                          </a:solidFill>
                          <a:latin typeface="Yu Gothic"/>
                        </a:defRPr>
                      </a:pPr>
                      <a:r>
                        <a:t>新設会社。施設の開発・運営・リースを専門に行う</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 / Data Center Dynamics(2026-08-10)</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以前の自己投資計画</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500億ドル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Anthropicが以前、米国内のデータセンターに投資する計画として表明していた金額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Bloomberg / The Real Deal(2026-08-10)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何が変わったのか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自己投資からリース方式への転換の中身です。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以前は、Anthropicが自ら建設資金を出す計画だった</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今回は、資産運用会社が出資し、Anthropicは長期リースで入居する方式になった</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Anthropic自身の設備投資負担・資金調達リスクを圧縮できると考えられる(合理的推測)</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発表内容を振り返る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1F8FD6"/>
                </a:solidFill>
                <a:latin typeface="Yu Gothic"/>
              </a:rPr>
              <a:t>2026/8/10</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2B3A55"/>
                </a:solidFill>
                <a:latin typeface="Yu Gothic"/>
              </a:rPr>
              <a:t>発表日</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Bloomberg・Data Center Dynamicsほかが同時期に報道</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1F8FD6"/>
                </a:solidFill>
                <a:latin typeface="Yu Gothic"/>
              </a:rPr>
              <a:t>3社</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2B3A55"/>
                </a:solidFill>
                <a:latin typeface="Yu Gothic"/>
              </a:rPr>
              <a:t>提携主体</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Anthropic・Macquarie Asset Management・GIC</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1F8FD6"/>
                </a:solidFill>
                <a:latin typeface="Yu Gothic"/>
              </a:rPr>
              <a:t>米国</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2B3A55"/>
                </a:solidFill>
                <a:latin typeface="Yu Gothic"/>
              </a:rPr>
              <a:t>当面の対象地域</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新規サイト開発は当面米国内に焦点</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1F8FD6"/>
                </a:solidFill>
                <a:latin typeface="Yu Gothic"/>
              </a:rPr>
              <a:t>電気料金</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2B3A55"/>
                </a:solidFill>
                <a:latin typeface="Yu Gothic"/>
              </a:rPr>
              <a:t>Anthropicの約束</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周辺地域の消費者電気料金上昇分を負担すると表明</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電気料金負担の約束について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この提携で明示的に約束されている点です。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Anthropicは、施設周辺地域の消費者電気料金の上昇分を負担することを約束している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大規模データセンターは周辺地域の電力需要を押し上げ、電気料金上昇の懸念が指摘されてきた</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この約束の具体的な算定方法・対象範囲は、本調査の範囲では確認できていない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 / TheNextWeb(2026-08-10)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確定していることと、これからのこと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確定していること</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提携の発表・出資構造・Anthropicの立場・当面の対象地域(米国)</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これから決まること</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具体的な稼働開始時期・サイト候補地</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継続して見るべきこと</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500億ドル計画とTheseus Infrastructureの規模の関係</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174本目(Riot Platforms) / 180本目(Theseus Infrastructure)</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174本目: Riot Platformsの契約</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ビットコインマイナーが既存拠点をAnthropicへ直接リース</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単一拠点(テキサス州ロックデール)</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既存の電力インフラを転用する形</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180本目: Theseus Infrastructure(本テーマ)</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資産運用会社が出資し新設会社が施設を開発</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当面は米国内での新規サイト開発全般</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Anthropicはアンカーテナントとして新設施設に入居</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174本目・180本目の構造上の違い(詳細)</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観点</a:t>
                      </a:r>
                    </a:p>
                  </a:txBody>
                  <a:tcPr>
                    <a:solidFill>
                      <a:srgbClr val="2B3A55"/>
                    </a:solidFill>
                  </a:tcPr>
                </a:tc>
                <a:tc>
                  <a:txBody>
                    <a:bodyPr/>
                    <a:lstStyle/>
                    <a:p>
                      <a:pPr>
                        <a:defRPr sz="1300" b="1">
                          <a:solidFill>
                            <a:srgbClr val="FFFFFF"/>
                          </a:solidFill>
                          <a:latin typeface="Yu Gothic"/>
                        </a:defRPr>
                      </a:pPr>
                      <a:r>
                        <a:t>174本目(Riot Platforms)</a:t>
                      </a:r>
                    </a:p>
                  </a:txBody>
                  <a:tcPr>
                    <a:solidFill>
                      <a:srgbClr val="2B3A55"/>
                    </a:solidFill>
                  </a:tcPr>
                </a:tc>
                <a:tc>
                  <a:txBody>
                    <a:bodyPr/>
                    <a:lstStyle/>
                    <a:p>
                      <a:pPr>
                        <a:defRPr sz="1300" b="1">
                          <a:solidFill>
                            <a:srgbClr val="FFFFFF"/>
                          </a:solidFill>
                          <a:latin typeface="Yu Gothic"/>
                        </a:defRPr>
                      </a:pPr>
                      <a:r>
                        <a:t>180本目(Theseus、本テーマ)</a:t>
                      </a:r>
                    </a:p>
                  </a:txBody>
                  <a:tcPr>
                    <a:solidFill>
                      <a:srgbClr val="2B3A55"/>
                    </a:solidFill>
                  </a:tcPr>
                </a:tc>
              </a:tr>
              <a:tr h="502920">
                <a:tc>
                  <a:txBody>
                    <a:bodyPr/>
                    <a:lstStyle/>
                    <a:p>
                      <a:pPr>
                        <a:defRPr sz="1200">
                          <a:solidFill>
                            <a:srgbClr val="1C2230"/>
                          </a:solidFill>
                          <a:latin typeface="Yu Gothic"/>
                        </a:defRPr>
                      </a:pPr>
                      <a:r>
                        <a:t>施設の出資者</a:t>
                      </a:r>
                    </a:p>
                  </a:txBody>
                  <a:tcPr>
                    <a:solidFill>
                      <a:srgbClr val="FFFFFF"/>
                    </a:solidFill>
                  </a:tcPr>
                </a:tc>
                <a:tc>
                  <a:txBody>
                    <a:bodyPr/>
                    <a:lstStyle/>
                    <a:p>
                      <a:pPr>
                        <a:defRPr sz="1200">
                          <a:solidFill>
                            <a:srgbClr val="1C2230"/>
                          </a:solidFill>
                          <a:latin typeface="Yu Gothic"/>
                        </a:defRPr>
                      </a:pPr>
                      <a:r>
                        <a:t>Riot Platforms(既存事業者)</a:t>
                      </a:r>
                    </a:p>
                  </a:txBody>
                  <a:tcPr>
                    <a:solidFill>
                      <a:srgbClr val="FFFFFF"/>
                    </a:solidFill>
                  </a:tcPr>
                </a:tc>
                <a:tc>
                  <a:txBody>
                    <a:bodyPr/>
                    <a:lstStyle/>
                    <a:p>
                      <a:pPr>
                        <a:defRPr sz="1200">
                          <a:solidFill>
                            <a:srgbClr val="1C2230"/>
                          </a:solidFill>
                          <a:latin typeface="Yu Gothic"/>
                        </a:defRPr>
                      </a:pPr>
                      <a:r>
                        <a:t>GIC・Macquarie運用ファンド(資産運用会社)</a:t>
                      </a:r>
                    </a:p>
                  </a:txBody>
                  <a:tcPr>
                    <a:solidFill>
                      <a:srgbClr val="FFFFFF"/>
                    </a:solidFill>
                  </a:tcPr>
                </a:tc>
              </a:tr>
              <a:tr h="502920">
                <a:tc>
                  <a:txBody>
                    <a:bodyPr/>
                    <a:lstStyle/>
                    <a:p>
                      <a:pPr>
                        <a:defRPr sz="1200">
                          <a:solidFill>
                            <a:srgbClr val="1C2230"/>
                          </a:solidFill>
                          <a:latin typeface="Yu Gothic"/>
                        </a:defRPr>
                      </a:pPr>
                      <a:r>
                        <a:t>施設の性質</a:t>
                      </a:r>
                    </a:p>
                  </a:txBody>
                  <a:tcPr>
                    <a:solidFill>
                      <a:srgbClr val="F1F5FA"/>
                    </a:solidFill>
                  </a:tcPr>
                </a:tc>
                <a:tc>
                  <a:txBody>
                    <a:bodyPr/>
                    <a:lstStyle/>
                    <a:p>
                      <a:pPr>
                        <a:defRPr sz="1200">
                          <a:solidFill>
                            <a:srgbClr val="1C2230"/>
                          </a:solidFill>
                          <a:latin typeface="Yu Gothic"/>
                        </a:defRPr>
                      </a:pPr>
                      <a:r>
                        <a:t>既存拠点(テキサス州ロックデール)</a:t>
                      </a:r>
                    </a:p>
                  </a:txBody>
                  <a:tcPr>
                    <a:solidFill>
                      <a:srgbClr val="F1F5FA"/>
                    </a:solidFill>
                  </a:tcPr>
                </a:tc>
                <a:tc>
                  <a:txBody>
                    <a:bodyPr/>
                    <a:lstStyle/>
                    <a:p>
                      <a:pPr>
                        <a:defRPr sz="1200">
                          <a:solidFill>
                            <a:srgbClr val="1C2230"/>
                          </a:solidFill>
                          <a:latin typeface="Yu Gothic"/>
                        </a:defRPr>
                      </a:pPr>
                      <a:r>
                        <a:t>新設される専用データセンター</a:t>
                      </a:r>
                    </a:p>
                  </a:txBody>
                  <a:tcPr>
                    <a:solidFill>
                      <a:srgbClr val="F1F5FA"/>
                    </a:solidFill>
                  </a:tcPr>
                </a:tc>
              </a:tr>
              <a:tr h="502920">
                <a:tc>
                  <a:txBody>
                    <a:bodyPr/>
                    <a:lstStyle/>
                    <a:p>
                      <a:pPr>
                        <a:defRPr sz="1200">
                          <a:solidFill>
                            <a:srgbClr val="1C2230"/>
                          </a:solidFill>
                          <a:latin typeface="Yu Gothic"/>
                        </a:defRPr>
                      </a:pPr>
                      <a:r>
                        <a:t>Anthropicの役割</a:t>
                      </a:r>
                    </a:p>
                  </a:txBody>
                  <a:tcPr>
                    <a:solidFill>
                      <a:srgbClr val="FFFFFF"/>
                    </a:solidFill>
                  </a:tcPr>
                </a:tc>
                <a:tc>
                  <a:txBody>
                    <a:bodyPr/>
                    <a:lstStyle/>
                    <a:p>
                      <a:pPr>
                        <a:defRPr sz="1200">
                          <a:solidFill>
                            <a:srgbClr val="1C2230"/>
                          </a:solidFill>
                          <a:latin typeface="Yu Gothic"/>
                        </a:defRPr>
                      </a:pPr>
                      <a:r>
                        <a:t>容量の利用者(リースの借り手)</a:t>
                      </a:r>
                    </a:p>
                  </a:txBody>
                  <a:tcPr>
                    <a:solidFill>
                      <a:srgbClr val="FFFFFF"/>
                    </a:solidFill>
                  </a:tcPr>
                </a:tc>
                <a:tc>
                  <a:txBody>
                    <a:bodyPr/>
                    <a:lstStyle/>
                    <a:p>
                      <a:pPr>
                        <a:defRPr sz="1200">
                          <a:solidFill>
                            <a:srgbClr val="1C2230"/>
                          </a:solidFill>
                          <a:latin typeface="Yu Gothic"/>
                        </a:defRPr>
                      </a:pPr>
                      <a:r>
                        <a:t>アンカーテナント(主要入居者)</a:t>
                      </a:r>
                    </a:p>
                  </a:txBody>
                  <a:tcPr>
                    <a:solidFill>
                      <a:srgbClr val="FFFFFF"/>
                    </a:solidFill>
                  </a:tcPr>
                </a:tc>
              </a:tr>
              <a:tr h="502920">
                <a:tc>
                  <a:txBody>
                    <a:bodyPr/>
                    <a:lstStyle/>
                    <a:p>
                      <a:pPr>
                        <a:defRPr sz="1200">
                          <a:solidFill>
                            <a:srgbClr val="1C2230"/>
                          </a:solidFill>
                          <a:latin typeface="Yu Gothic"/>
                        </a:defRPr>
                      </a:pPr>
                      <a:r>
                        <a:t>対象地域</a:t>
                      </a:r>
                    </a:p>
                  </a:txBody>
                  <a:tcPr>
                    <a:solidFill>
                      <a:srgbClr val="F1F5FA"/>
                    </a:solidFill>
                  </a:tcPr>
                </a:tc>
                <a:tc>
                  <a:txBody>
                    <a:bodyPr/>
                    <a:lstStyle/>
                    <a:p>
                      <a:pPr>
                        <a:defRPr sz="1200">
                          <a:solidFill>
                            <a:srgbClr val="1C2230"/>
                          </a:solidFill>
                          <a:latin typeface="Yu Gothic"/>
                        </a:defRPr>
                      </a:pPr>
                      <a:r>
                        <a:t>単一拠点</a:t>
                      </a:r>
                    </a:p>
                  </a:txBody>
                  <a:tcPr>
                    <a:solidFill>
                      <a:srgbClr val="F1F5FA"/>
                    </a:solidFill>
                  </a:tcPr>
                </a:tc>
                <a:tc>
                  <a:txBody>
                    <a:bodyPr/>
                    <a:lstStyle/>
                    <a:p>
                      <a:pPr>
                        <a:defRPr sz="1200">
                          <a:solidFill>
                            <a:srgbClr val="1C2230"/>
                          </a:solidFill>
                          <a:latin typeface="Yu Gothic"/>
                        </a:defRPr>
                      </a:pPr>
                      <a:r>
                        <a:t>当面は米国内の新規サイト開発全般</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重複ではないと判断する理由</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既存テーマとの関係についての確認です。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174本目は既存事業者から容量を直接リースする契約、本テーマは新設会社への出資による施設開発という別の構図</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出資者・施設の新設か既存かという点で、資金調達の性質が根本的に異なる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`ai-company-os/assets/`配下にTheseus Infrastructureを主題とした既存テーマは存在しない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業界の潮流(概念図)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AI企業側の需要急増</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巨額の設備投資をAI企業単独で担うのが難しくなっている</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資産運用会社の参入</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Macquarie・GICのような資産運用会社がインフラ出資の担い手になる</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リース方式への転換</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AI企業は建設せず、アンカーテナントとして長期契約で利用する動き</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AI企業の設備投資負担を資産運用会社が肩代わりし、AI企業はテナントとして利用する構図が広がっているとされる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事実・推測・不明の区別</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分類</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検証済み事実</a:t>
                      </a:r>
                    </a:p>
                  </a:txBody>
                  <a:tcPr>
                    <a:solidFill>
                      <a:srgbClr val="FFFFFF"/>
                    </a:solidFill>
                  </a:tcPr>
                </a:tc>
                <a:tc>
                  <a:txBody>
                    <a:bodyPr/>
                    <a:lstStyle/>
                    <a:p>
                      <a:pPr>
                        <a:defRPr sz="1200">
                          <a:solidFill>
                            <a:srgbClr val="1C2230"/>
                          </a:solidFill>
                          <a:latin typeface="Yu Gothic"/>
                        </a:defRPr>
                      </a:pPr>
                      <a:r>
                        <a:t>提携の発表・新会社名(Theseus Infrastructure)・提携相手(Macquarie・GIC)・Anthropicの立場(アンカーテナント)・出資構造(GIC・Macquarie側が大半)・対象地域(当面は米国)・電気料金負担の約束・以前の500億ドル計画の表明</a:t>
                      </a:r>
                    </a:p>
                  </a:txBody>
                  <a:tcPr>
                    <a:solidFill>
                      <a:srgbClr val="FFFFFF"/>
                    </a:solidFill>
                  </a:tcPr>
                </a:tc>
              </a:tr>
              <a:tr h="502920">
                <a:tc>
                  <a:txBody>
                    <a:bodyPr/>
                    <a:lstStyle/>
                    <a:p>
                      <a:pPr>
                        <a:defRPr sz="1200">
                          <a:solidFill>
                            <a:srgbClr val="1C2230"/>
                          </a:solidFill>
                          <a:latin typeface="Yu Gothic"/>
                        </a:defRPr>
                      </a:pPr>
                      <a:r>
                        <a:t>合理的推測</a:t>
                      </a:r>
                    </a:p>
                  </a:txBody>
                  <a:tcPr>
                    <a:solidFill>
                      <a:srgbClr val="F1F5FA"/>
                    </a:solidFill>
                  </a:tcPr>
                </a:tc>
                <a:tc>
                  <a:txBody>
                    <a:bodyPr/>
                    <a:lstStyle/>
                    <a:p>
                      <a:pPr>
                        <a:defRPr sz="1200">
                          <a:solidFill>
                            <a:srgbClr val="1C2230"/>
                          </a:solidFill>
                          <a:latin typeface="Yu Gothic"/>
                        </a:defRPr>
                      </a:pPr>
                      <a:r>
                        <a:t>自己投資からリース方式への戦略的転換であること、Anthropicの資金調達リスク圧縮の意図</a:t>
                      </a:r>
                    </a:p>
                  </a:txBody>
                  <a:tcPr>
                    <a:solidFill>
                      <a:srgbClr val="F1F5FA"/>
                    </a:solidFill>
                  </a:tcPr>
                </a:tc>
              </a:tr>
              <a:tr h="502920">
                <a:tc>
                  <a:txBody>
                    <a:bodyPr/>
                    <a:lstStyle/>
                    <a:p>
                      <a:pPr>
                        <a:defRPr sz="1200">
                          <a:solidFill>
                            <a:srgbClr val="1C2230"/>
                          </a:solidFill>
                          <a:latin typeface="Yu Gothic"/>
                        </a:defRPr>
                      </a:pPr>
                      <a:r>
                        <a:t>不明</a:t>
                      </a:r>
                    </a:p>
                  </a:txBody>
                  <a:tcPr>
                    <a:solidFill>
                      <a:srgbClr val="FFFFFF"/>
                    </a:solidFill>
                  </a:tcPr>
                </a:tc>
                <a:tc>
                  <a:txBody>
                    <a:bodyPr/>
                    <a:lstStyle/>
                    <a:p>
                      <a:pPr>
                        <a:defRPr sz="1200">
                          <a:solidFill>
                            <a:srgbClr val="1C2230"/>
                          </a:solidFill>
                          <a:latin typeface="Yu Gothic"/>
                        </a:defRPr>
                      </a:pPr>
                      <a:r>
                        <a:t>投資総額・施設数・規模、稼働開始時期、サイト候補地、GIC・Macquarieの出資比率の詳細</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状況</a:t>
                      </a:r>
                    </a:p>
                  </a:txBody>
                  <a:tcPr>
                    <a:solidFill>
                      <a:srgbClr val="2B3A55"/>
                    </a:solidFill>
                  </a:tcPr>
                </a:tc>
              </a:tr>
              <a:tr h="502920">
                <a:tc>
                  <a:txBody>
                    <a:bodyPr/>
                    <a:lstStyle/>
                    <a:p>
                      <a:pPr>
                        <a:defRPr sz="1200">
                          <a:solidFill>
                            <a:srgbClr val="1C2230"/>
                          </a:solidFill>
                          <a:latin typeface="Yu Gothic"/>
                        </a:defRPr>
                      </a:pPr>
                      <a:r>
                        <a:t>Theseus Infrastructureの具体的な投資総額</a:t>
                      </a:r>
                    </a:p>
                  </a:txBody>
                  <a:tcPr>
                    <a:solidFill>
                      <a:srgbClr val="FFFFFF"/>
                    </a:solidFill>
                  </a:tcPr>
                </a:tc>
                <a:tc>
                  <a:txBody>
                    <a:bodyPr/>
                    <a:lstStyle/>
                    <a:p>
                      <a:pPr>
                        <a:defRPr sz="1200">
                          <a:solidFill>
                            <a:srgbClr val="1C2230"/>
                          </a:solidFill>
                          <a:latin typeface="Yu Gothic"/>
                        </a:defRPr>
                      </a:pPr>
                      <a:r>
                        <a:t>本調査の範囲では確認できていない</a:t>
                      </a:r>
                    </a:p>
                  </a:txBody>
                  <a:tcPr>
                    <a:solidFill>
                      <a:srgbClr val="FFFFFF"/>
                    </a:solidFill>
                  </a:tcPr>
                </a:tc>
              </a:tr>
              <a:tr h="502920">
                <a:tc>
                  <a:txBody>
                    <a:bodyPr/>
                    <a:lstStyle/>
                    <a:p>
                      <a:pPr>
                        <a:defRPr sz="1200">
                          <a:solidFill>
                            <a:srgbClr val="1C2230"/>
                          </a:solidFill>
                          <a:latin typeface="Yu Gothic"/>
                        </a:defRPr>
                      </a:pPr>
                      <a:r>
                        <a:t>開発予定の施設数・規模</a:t>
                      </a:r>
                    </a:p>
                  </a:txBody>
                  <a:tcPr>
                    <a:solidFill>
                      <a:srgbClr val="F1F5FA"/>
                    </a:solidFill>
                  </a:tcPr>
                </a:tc>
                <a:tc>
                  <a:txBody>
                    <a:bodyPr/>
                    <a:lstStyle/>
                    <a:p>
                      <a:pPr>
                        <a:defRPr sz="1200">
                          <a:solidFill>
                            <a:srgbClr val="1C2230"/>
                          </a:solidFill>
                          <a:latin typeface="Yu Gothic"/>
                        </a:defRPr>
                      </a:pPr>
                      <a:r>
                        <a:t>本調査の範囲では確認できていない</a:t>
                      </a:r>
                    </a:p>
                  </a:txBody>
                  <a:tcPr>
                    <a:solidFill>
                      <a:srgbClr val="F1F5FA"/>
                    </a:solidFill>
                  </a:tcPr>
                </a:tc>
              </a:tr>
              <a:tr h="502920">
                <a:tc>
                  <a:txBody>
                    <a:bodyPr/>
                    <a:lstStyle/>
                    <a:p>
                      <a:pPr>
                        <a:defRPr sz="1200">
                          <a:solidFill>
                            <a:srgbClr val="1C2230"/>
                          </a:solidFill>
                          <a:latin typeface="Yu Gothic"/>
                        </a:defRPr>
                      </a:pPr>
                      <a:r>
                        <a:t>具体的な稼働開始時期・サイト候補地</a:t>
                      </a:r>
                    </a:p>
                  </a:txBody>
                  <a:tcPr>
                    <a:solidFill>
                      <a:srgbClr val="FFFFFF"/>
                    </a:solidFill>
                  </a:tcPr>
                </a:tc>
                <a:tc>
                  <a:txBody>
                    <a:bodyPr/>
                    <a:lstStyle/>
                    <a:p>
                      <a:pPr>
                        <a:defRPr sz="1200">
                          <a:solidFill>
                            <a:srgbClr val="1C2230"/>
                          </a:solidFill>
                          <a:latin typeface="Yu Gothic"/>
                        </a:defRPr>
                      </a:pPr>
                      <a:r>
                        <a:t>本調査の範囲では確認できていない</a:t>
                      </a:r>
                    </a:p>
                  </a:txBody>
                  <a:tcPr>
                    <a:solidFill>
                      <a:srgbClr val="FFFFFF"/>
                    </a:solidFill>
                  </a:tcPr>
                </a:tc>
              </a:tr>
              <a:tr h="502920">
                <a:tc>
                  <a:txBody>
                    <a:bodyPr/>
                    <a:lstStyle/>
                    <a:p>
                      <a:pPr>
                        <a:defRPr sz="1200">
                          <a:solidFill>
                            <a:srgbClr val="1C2230"/>
                          </a:solidFill>
                          <a:latin typeface="Yu Gothic"/>
                        </a:defRPr>
                      </a:pPr>
                      <a:r>
                        <a:t>GIC・Macquarieの出資比率の詳細な内訳</a:t>
                      </a:r>
                    </a:p>
                  </a:txBody>
                  <a:tcPr>
                    <a:solidFill>
                      <a:srgbClr val="F1F5FA"/>
                    </a:solidFill>
                  </a:tcPr>
                </a:tc>
                <a:tc>
                  <a:txBody>
                    <a:bodyPr/>
                    <a:lstStyle/>
                    <a:p>
                      <a:pPr>
                        <a:defRPr sz="1200">
                          <a:solidFill>
                            <a:srgbClr val="1C2230"/>
                          </a:solidFill>
                          <a:latin typeface="Yu Gothic"/>
                        </a:defRPr>
                      </a:pPr>
                      <a:r>
                        <a:t>本調査の範囲では確認できていない</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本パイプラインの制作体制についての開示(削除禁止)</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本テーマがAnthropic社に関するテーマであることを踏まえた開示です。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本パイプライン(AI Company OS)自体が、Anthropicが提供するClaude Codeを使用して制作されている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この事実を隠さず明示したうえで、称賛的な表現・誇張は用いず客観的事実の報告に徹する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特定企業(Anthropic)の製品利用を推奨する結論にはしない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本シリーズの制作方針(削除禁止スライド)</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本日3件目のAnthropic関連テーマであることの開示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偏りではなく、鮮度基準の機械的適用の結果であることの説明です。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本テーマは、本日(2026-08-12着手)174本目・177本目に続く、3件目のAnthropic関連テーマである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これは特定企業への偏りを意図したものではない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着手日から2日以内という鮮度基準を機械的に適用した結果、他のAI/エージェント系候補が基準を満たさず採用できなかったためである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README.md参照</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この提携から何を確認すべきか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資金の性質</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500億ドルの自己投資計画とTheseus Infrastructureの投資総額は別物であり、混同しない</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地域の広がり</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当面は米国内が対象で、サイト候補地はまだ不明であることを踏まえる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電気料金の扱い</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Anthropicの負担約束が実際にどう運用されるかを継続して見る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立場別の実践的示唆</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投資家・業界観察者として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Theseus Infrastructureの投資総額・施設数の続報を継続して確認する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AIインフラに関心がある企業として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資産運用会社によるAIインフラ出資という新しい資金調達方式の広がりとして捉える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一般の読者として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500億ドルという既存の数字とTheseus Infrastructureの規模を混同しない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数字を読むときの注意点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500億ドルという数字を誤解しないための整理です。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500億ドルは以前表明されていた自己投資計画の金額であり、Theseus Infrastructureの投資総額そのものではない</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Theseus Infrastructureの具体的な投資総額は、本調査の範囲では不明である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両者を同一視して「500億ドル規模の新会社」のように断定しないこと</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 / The Real Deal(2026-08-10)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主な出典一覧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B3A55"/>
                    </a:solidFill>
                  </a:tcPr>
                </a:tc>
                <a:tc>
                  <a:txBody>
                    <a:bodyPr/>
                    <a:lstStyle/>
                    <a:p>
                      <a:pPr>
                        <a:defRPr sz="1300" b="1">
                          <a:solidFill>
                            <a:srgbClr val="FFFFFF"/>
                          </a:solidFill>
                          <a:latin typeface="Yu Gothic"/>
                        </a:defRPr>
                      </a:pPr>
                      <a:r>
                        <a:t>報道日</a:t>
                      </a:r>
                    </a:p>
                  </a:txBody>
                  <a:tcPr>
                    <a:solidFill>
                      <a:srgbClr val="2B3A55"/>
                    </a:solidFill>
                  </a:tcPr>
                </a:tc>
              </a:tr>
              <a:tr h="502920">
                <a:tc>
                  <a:txBody>
                    <a:bodyPr/>
                    <a:lstStyle/>
                    <a:p>
                      <a:pPr>
                        <a:defRPr sz="1200">
                          <a:solidFill>
                            <a:srgbClr val="1C2230"/>
                          </a:solidFill>
                          <a:latin typeface="Yu Gothic"/>
                        </a:defRPr>
                      </a:pPr>
                      <a:r>
                        <a:t>Bloomberg</a:t>
                      </a:r>
                    </a:p>
                  </a:txBody>
                  <a:tcPr>
                    <a:solidFill>
                      <a:srgbClr val="FFFFFF"/>
                    </a:solidFill>
                  </a:tcPr>
                </a:tc>
                <a:tc>
                  <a:txBody>
                    <a:bodyPr/>
                    <a:lstStyle/>
                    <a:p>
                      <a:pPr>
                        <a:defRPr sz="1200">
                          <a:solidFill>
                            <a:srgbClr val="1C2230"/>
                          </a:solidFill>
                          <a:latin typeface="Yu Gothic"/>
                        </a:defRPr>
                      </a:pPr>
                      <a:r>
                        <a:t>2026-08-10</a:t>
                      </a:r>
                    </a:p>
                  </a:txBody>
                  <a:tcPr>
                    <a:solidFill>
                      <a:srgbClr val="FFFFFF"/>
                    </a:solidFill>
                  </a:tcPr>
                </a:tc>
              </a:tr>
              <a:tr h="502920">
                <a:tc>
                  <a:txBody>
                    <a:bodyPr/>
                    <a:lstStyle/>
                    <a:p>
                      <a:pPr>
                        <a:defRPr sz="1200">
                          <a:solidFill>
                            <a:srgbClr val="1C2230"/>
                          </a:solidFill>
                          <a:latin typeface="Yu Gothic"/>
                        </a:defRPr>
                      </a:pPr>
                      <a:r>
                        <a:t>Data Center Dynamics</a:t>
                      </a:r>
                    </a:p>
                  </a:txBody>
                  <a:tcPr>
                    <a:solidFill>
                      <a:srgbClr val="F1F5FA"/>
                    </a:solidFill>
                  </a:tcPr>
                </a:tc>
                <a:tc>
                  <a:txBody>
                    <a:bodyPr/>
                    <a:lstStyle/>
                    <a:p>
                      <a:pPr>
                        <a:defRPr sz="1200">
                          <a:solidFill>
                            <a:srgbClr val="1C2230"/>
                          </a:solidFill>
                          <a:latin typeface="Yu Gothic"/>
                        </a:defRPr>
                      </a:pPr>
                      <a:r>
                        <a:t>2026-08-10</a:t>
                      </a:r>
                    </a:p>
                  </a:txBody>
                  <a:tcPr>
                    <a:solidFill>
                      <a:srgbClr val="F1F5FA"/>
                    </a:solidFill>
                  </a:tcPr>
                </a:tc>
              </a:tr>
              <a:tr h="502920">
                <a:tc>
                  <a:txBody>
                    <a:bodyPr/>
                    <a:lstStyle/>
                    <a:p>
                      <a:pPr>
                        <a:defRPr sz="1200">
                          <a:solidFill>
                            <a:srgbClr val="1C2230"/>
                          </a:solidFill>
                          <a:latin typeface="Yu Gothic"/>
                        </a:defRPr>
                      </a:pPr>
                      <a:r>
                        <a:t>Macquarie Group公式発表</a:t>
                      </a:r>
                    </a:p>
                  </a:txBody>
                  <a:tcPr>
                    <a:solidFill>
                      <a:srgbClr val="FFFFFF"/>
                    </a:solidFill>
                  </a:tcPr>
                </a:tc>
                <a:tc>
                  <a:txBody>
                    <a:bodyPr/>
                    <a:lstStyle/>
                    <a:p>
                      <a:pPr>
                        <a:defRPr sz="1200">
                          <a:solidFill>
                            <a:srgbClr val="1C2230"/>
                          </a:solidFill>
                          <a:latin typeface="Yu Gothic"/>
                        </a:defRPr>
                      </a:pPr>
                      <a:r>
                        <a:t>2026-08-10</a:t>
                      </a:r>
                    </a:p>
                  </a:txBody>
                  <a:tcPr>
                    <a:solidFill>
                      <a:srgbClr val="FFFFFF"/>
                    </a:solidFill>
                  </a:tcPr>
                </a:tc>
              </a:tr>
              <a:tr h="502920">
                <a:tc>
                  <a:txBody>
                    <a:bodyPr/>
                    <a:lstStyle/>
                    <a:p>
                      <a:pPr>
                        <a:defRPr sz="1200">
                          <a:solidFill>
                            <a:srgbClr val="1C2230"/>
                          </a:solidFill>
                          <a:latin typeface="Yu Gothic"/>
                        </a:defRPr>
                      </a:pPr>
                      <a:r>
                        <a:t>The Real Deal</a:t>
                      </a:r>
                    </a:p>
                  </a:txBody>
                  <a:tcPr>
                    <a:solidFill>
                      <a:srgbClr val="F1F5FA"/>
                    </a:solidFill>
                  </a:tcPr>
                </a:tc>
                <a:tc>
                  <a:txBody>
                    <a:bodyPr/>
                    <a:lstStyle/>
                    <a:p>
                      <a:pPr>
                        <a:defRPr sz="1200">
                          <a:solidFill>
                            <a:srgbClr val="1C2230"/>
                          </a:solidFill>
                          <a:latin typeface="Yu Gothic"/>
                        </a:defRPr>
                      </a:pPr>
                      <a:r>
                        <a:t>2026-08-10</a:t>
                      </a:r>
                    </a:p>
                  </a:txBody>
                  <a:tcPr>
                    <a:solidFill>
                      <a:srgbClr val="F1F5FA"/>
                    </a:solidFill>
                  </a:tcPr>
                </a:tc>
              </a:tr>
              <a:tr h="502920">
                <a:tc>
                  <a:txBody>
                    <a:bodyPr/>
                    <a:lstStyle/>
                    <a:p>
                      <a:pPr>
                        <a:defRPr sz="1200">
                          <a:solidFill>
                            <a:srgbClr val="1C2230"/>
                          </a:solidFill>
                          <a:latin typeface="Yu Gothic"/>
                        </a:defRPr>
                      </a:pPr>
                      <a:r>
                        <a:t>TheNextWeb</a:t>
                      </a:r>
                    </a:p>
                  </a:txBody>
                  <a:tcPr>
                    <a:solidFill>
                      <a:srgbClr val="FFFFFF"/>
                    </a:solidFill>
                  </a:tcPr>
                </a:tc>
                <a:tc>
                  <a:txBody>
                    <a:bodyPr/>
                    <a:lstStyle/>
                    <a:p>
                      <a:pPr>
                        <a:defRPr sz="1200">
                          <a:solidFill>
                            <a:srgbClr val="1C2230"/>
                          </a:solidFill>
                          <a:latin typeface="Yu Gothic"/>
                        </a:defRPr>
                      </a:pPr>
                      <a:r>
                        <a:t>2026-08-10</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 / Data Center Dynamicsほか(2026-08-10発表)｜180本目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Anthropicは、AIの巨大データセンターを自分では建てない。数字は今後も未確定な部分が多いことを忘れずに。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特定企業・製品の利用を強く推奨する結論や、投資総額・施設数の断定は一切行っていません。</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