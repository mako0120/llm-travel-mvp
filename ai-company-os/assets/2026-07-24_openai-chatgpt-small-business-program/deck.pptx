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参加者の割合</c:v>
                </c:pt>
              </c:strCache>
            </c:strRef>
          </c:tx>
          <c:spPr>
            <a:solidFill>
              <a:srgbClr val="24523F"/>
            </a:solidFill>
          </c:spPr>
          <c:cat>
            <c:strRef>
              <c:f>Sheet1!$A$2:$A$3</c:f>
              <c:strCache>
                <c:ptCount val="2"/>
                <c:pt idx="0">
                  <c:v>1日でAIワークフロー構築</c:v>
                </c:pt>
                <c:pt idx="1">
                  <c:v>週5時間以上の削減</c:v>
                </c:pt>
              </c:strCache>
            </c:strRef>
          </c:cat>
          <c:val>
            <c:numRef>
              <c:f>Sheet1!$B$2:$B$3</c:f>
              <c:numCache>
                <c:formatCode>General</c:formatCode>
                <c:ptCount val="2"/>
                <c:pt idx="0">
                  <c:v>78</c:v>
                </c:pt>
                <c:pt idx="1">
                  <c:v>42</c:v>
                </c:pt>
              </c:numCache>
            </c:numRef>
          </c:val>
        </c:ser>
        <c:dLbls>
          <c:numFmt formatCode="0%" sourceLinked="0"/>
          <c:txPr>
            <a:bodyPr/>
            <a:lstStyle/>
            <a:p>
              <a:pPr>
                <a:defRPr sz="1200" b="1">
                  <a:solidFill>
                    <a:srgbClr val="24523F"/>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冒頭で具体的な事実を即座に提示し、挨拶なしで核心から入る(2026-07-24のエンゲージメント設計ルールに基づく)。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ChatGPT Work公開(7月9日)から約2週間でほぼ倍増したとされる。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プログラムの主な内容を整理する。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連携するパートナー企業を表で整理する。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昨年開催されたイベントでの成果を数字で示す。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ウェビナーで扱われる業種別の活用例を紹介する。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発表数字の性質を正直に整理する。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導入のしやすさの違いを対比で見せる。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前回テーマとは異なる出来事であることを明記する。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複数情報源での事実確認結果を表で示す。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想定利用者像を整理する。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想定される疑問に先回りして答える。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正直に、含まれなかったものも伝える。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見送った候補も具体的に共有する。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転換パート。ここから実践的な話に入る。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出来事の紹介だけで終わらせず、読み手にとっての意味を扱う。</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実際に試す前のチェックリストとして提示する。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実践につながる進め方をステップで見せる。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個人視点も扱う。</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不明点を正直に「不明」と明言する。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政治・対立を煽らないという制作方針を明確に伝える。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検品結果を表でまとめる。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出典を短く再掲する。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オープンループで次回への引き。</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最終スライド。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2週間で倍増、利用者1,000万人。OpenAIが中小企業支援に本腰</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Codex・ChatGPT Workの利用者が1,000万人到達、「ChatGPT for Small Business」プログラムを開始(2026年7月21日)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Bloomberg, OpenAI公式ブログ, 9to5Mac(2026-07-21)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承: プログラムの内容を詳しく見る</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転: なぜ今このタイミングか、これは何を意味するか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結: 不明点・リスク配慮・まとめ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まず言葉の整理(初心者向け)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ChatGPT Work</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仕事の複数手順のタスクをこなすOpenAIのエージェント機能(2026年7月9日公開)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Codex</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OpenAIのコーディング支援エージェント</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何が起きたか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発表企業</a:t>
                      </a:r>
                    </a:p>
                  </a:txBody>
                  <a:tcPr>
                    <a:solidFill>
                      <a:srgbClr val="FFFFFF"/>
                    </a:solidFill>
                  </a:tcPr>
                </a:tc>
                <a:tc>
                  <a:txBody>
                    <a:bodyPr/>
                    <a:lstStyle/>
                    <a:p>
                      <a:pPr>
                        <a:defRPr sz="1200">
                          <a:solidFill>
                            <a:srgbClr val="20261F"/>
                          </a:solidFill>
                          <a:latin typeface="Yu Gothic"/>
                        </a:defRPr>
                      </a:pPr>
                      <a:r>
                        <a:t>OpenAI</a:t>
                      </a:r>
                    </a:p>
                  </a:txBody>
                  <a:tcPr>
                    <a:solidFill>
                      <a:srgbClr val="FFFFFF"/>
                    </a:solidFill>
                  </a:tcPr>
                </a:tc>
              </a:tr>
              <a:tr h="502920">
                <a:tc>
                  <a:txBody>
                    <a:bodyPr/>
                    <a:lstStyle/>
                    <a:p>
                      <a:pPr>
                        <a:defRPr sz="1200">
                          <a:solidFill>
                            <a:srgbClr val="20261F"/>
                          </a:solidFill>
                          <a:latin typeface="Yu Gothic"/>
                        </a:defRPr>
                      </a:pPr>
                      <a:r>
                        <a:t>発表日</a:t>
                      </a:r>
                    </a:p>
                  </a:txBody>
                  <a:tcPr>
                    <a:solidFill>
                      <a:srgbClr val="F4F1E6"/>
                    </a:solidFill>
                  </a:tcPr>
                </a:tc>
                <a:tc>
                  <a:txBody>
                    <a:bodyPr/>
                    <a:lstStyle/>
                    <a:p>
                      <a:pPr>
                        <a:defRPr sz="1200">
                          <a:solidFill>
                            <a:srgbClr val="20261F"/>
                          </a:solidFill>
                          <a:latin typeface="Yu Gothic"/>
                        </a:defRPr>
                      </a:pPr>
                      <a:r>
                        <a:t>2026年7月21日</a:t>
                      </a:r>
                    </a:p>
                  </a:txBody>
                  <a:tcPr>
                    <a:solidFill>
                      <a:srgbClr val="F4F1E6"/>
                    </a:solidFill>
                  </a:tcPr>
                </a:tc>
              </a:tr>
              <a:tr h="502920">
                <a:tc>
                  <a:txBody>
                    <a:bodyPr/>
                    <a:lstStyle/>
                    <a:p>
                      <a:pPr>
                        <a:defRPr sz="1200">
                          <a:solidFill>
                            <a:srgbClr val="20261F"/>
                          </a:solidFill>
                          <a:latin typeface="Yu Gothic"/>
                        </a:defRPr>
                      </a:pPr>
                      <a:r>
                        <a:t>利用者数の発表</a:t>
                      </a:r>
                    </a:p>
                  </a:txBody>
                  <a:tcPr>
                    <a:solidFill>
                      <a:srgbClr val="FFFFFF"/>
                    </a:solidFill>
                  </a:tcPr>
                </a:tc>
                <a:tc>
                  <a:txBody>
                    <a:bodyPr/>
                    <a:lstStyle/>
                    <a:p>
                      <a:pPr>
                        <a:defRPr sz="1200">
                          <a:solidFill>
                            <a:srgbClr val="20261F"/>
                          </a:solidFill>
                          <a:latin typeface="Yu Gothic"/>
                        </a:defRPr>
                      </a:pPr>
                      <a:r>
                        <a:t>Codex・ChatGPT Work合計で1,000万人到達</a:t>
                      </a:r>
                    </a:p>
                  </a:txBody>
                  <a:tcPr>
                    <a:solidFill>
                      <a:srgbClr val="FFFFFF"/>
                    </a:solidFill>
                  </a:tcPr>
                </a:tc>
              </a:tr>
              <a:tr h="502920">
                <a:tc>
                  <a:txBody>
                    <a:bodyPr/>
                    <a:lstStyle/>
                    <a:p>
                      <a:pPr>
                        <a:defRPr sz="1200">
                          <a:solidFill>
                            <a:srgbClr val="20261F"/>
                          </a:solidFill>
                          <a:latin typeface="Yu Gothic"/>
                        </a:defRPr>
                      </a:pPr>
                      <a:r>
                        <a:t>新プログラム</a:t>
                      </a:r>
                    </a:p>
                  </a:txBody>
                  <a:tcPr>
                    <a:solidFill>
                      <a:srgbClr val="F4F1E6"/>
                    </a:solidFill>
                  </a:tcPr>
                </a:tc>
                <a:tc>
                  <a:txBody>
                    <a:bodyPr/>
                    <a:lstStyle/>
                    <a:p>
                      <a:pPr>
                        <a:defRPr sz="1200">
                          <a:solidFill>
                            <a:srgbClr val="20261F"/>
                          </a:solidFill>
                          <a:latin typeface="Yu Gothic"/>
                        </a:defRPr>
                      </a:pPr>
                      <a:r>
                        <a:t>ChatGPT for Small Business</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Bloomberg(2026-07-21)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利用者数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1,000万人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Bloombergの報道による(2026年7月21日)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Bloomberg(2026-07-21)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ChatGPT for Small Businessプログラムの内容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製品別ウェビナー</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ChatGPT Workの活用法を具体的な業務例とともに紹介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対面のAI Academyイベント</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米国各地で開催、実践形式の指導</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教育コンテンツ</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活用事例・ガイド・短編動画等</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OpenAI公式ブログ(2026-07-21)</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パートナー連携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分野</a:t>
                      </a:r>
                    </a:p>
                  </a:txBody>
                  <a:tcPr>
                    <a:solidFill>
                      <a:srgbClr val="24523F"/>
                    </a:solidFill>
                  </a:tcPr>
                </a:tc>
                <a:tc>
                  <a:txBody>
                    <a:bodyPr/>
                    <a:lstStyle/>
                    <a:p>
                      <a:pPr>
                        <a:defRPr sz="1300" b="1">
                          <a:solidFill>
                            <a:srgbClr val="FFFFFF"/>
                          </a:solidFill>
                          <a:latin typeface="Yu Gothic"/>
                        </a:defRPr>
                      </a:pPr>
                      <a:r>
                        <a:t>パートナー企業</a:t>
                      </a:r>
                    </a:p>
                  </a:txBody>
                  <a:tcPr>
                    <a:solidFill>
                      <a:srgbClr val="24523F"/>
                    </a:solidFill>
                  </a:tcPr>
                </a:tc>
              </a:tr>
              <a:tr h="502920">
                <a:tc>
                  <a:txBody>
                    <a:bodyPr/>
                    <a:lstStyle/>
                    <a:p>
                      <a:pPr>
                        <a:defRPr sz="1200">
                          <a:solidFill>
                            <a:srgbClr val="20261F"/>
                          </a:solidFill>
                          <a:latin typeface="Yu Gothic"/>
                        </a:defRPr>
                      </a:pPr>
                      <a:r>
                        <a:t>ファイル・EC・会計等</a:t>
                      </a:r>
                    </a:p>
                  </a:txBody>
                  <a:tcPr>
                    <a:solidFill>
                      <a:srgbClr val="FFFFFF"/>
                    </a:solidFill>
                  </a:tcPr>
                </a:tc>
                <a:tc>
                  <a:txBody>
                    <a:bodyPr/>
                    <a:lstStyle/>
                    <a:p>
                      <a:pPr>
                        <a:defRPr sz="1200">
                          <a:solidFill>
                            <a:srgbClr val="20261F"/>
                          </a:solidFill>
                          <a:latin typeface="Yu Gothic"/>
                        </a:defRPr>
                      </a:pPr>
                      <a:r>
                        <a:t>Dropbox・Shopify・Intuit</a:t>
                      </a:r>
                    </a:p>
                  </a:txBody>
                  <a:tcPr>
                    <a:solidFill>
                      <a:srgbClr val="FFFFFF"/>
                    </a:solidFill>
                  </a:tcPr>
                </a:tc>
              </a:tr>
              <a:tr h="502920">
                <a:tc>
                  <a:txBody>
                    <a:bodyPr/>
                    <a:lstStyle/>
                    <a:p>
                      <a:pPr>
                        <a:defRPr sz="1200">
                          <a:solidFill>
                            <a:srgbClr val="20261F"/>
                          </a:solidFill>
                          <a:latin typeface="Yu Gothic"/>
                        </a:defRPr>
                      </a:pPr>
                      <a:r>
                        <a:t>コミュニケーション・業務管理</a:t>
                      </a:r>
                    </a:p>
                  </a:txBody>
                  <a:tcPr>
                    <a:solidFill>
                      <a:srgbClr val="F4F1E6"/>
                    </a:solidFill>
                  </a:tcPr>
                </a:tc>
                <a:tc>
                  <a:txBody>
                    <a:bodyPr/>
                    <a:lstStyle/>
                    <a:p>
                      <a:pPr>
                        <a:defRPr sz="1200">
                          <a:solidFill>
                            <a:srgbClr val="20261F"/>
                          </a:solidFill>
                          <a:latin typeface="Yu Gothic"/>
                        </a:defRPr>
                      </a:pPr>
                      <a:r>
                        <a:t>Slack・Atlassian・Wix</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OpenAI公式ブログ(2026-07-21)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過去の実績(Small Business AI Jams)</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OpenAI公式ブログ(2026-07-21)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業種別の活用例(参考)</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会計</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経理業務の自動化・効率化に関するプロンプト・ワークフロー例が提供される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マーケティング</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販促・広告文作成等のワークフロー例が提供される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EC(ネット通販)</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商品説明・在庫管理等のワークフロー例が提供される</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OpenAI公式ブログ(2026-07-21)</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利用者数の内訳(不明点を含む)</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「アクティブ」の定義</a:t>
                      </a:r>
                    </a:p>
                  </a:txBody>
                  <a:tcPr>
                    <a:solidFill>
                      <a:srgbClr val="FFFFFF"/>
                    </a:solidFill>
                  </a:tcPr>
                </a:tc>
                <a:tc>
                  <a:txBody>
                    <a:bodyPr/>
                    <a:lstStyle/>
                    <a:p>
                      <a:pPr>
                        <a:defRPr sz="1200">
                          <a:solidFill>
                            <a:srgbClr val="20261F"/>
                          </a:solidFill>
                          <a:latin typeface="Yu Gothic"/>
                        </a:defRPr>
                      </a:pPr>
                      <a:r>
                        <a:t>日次・週次・特定時点のいずれかは公表されていない</a:t>
                      </a:r>
                    </a:p>
                  </a:txBody>
                  <a:tcPr>
                    <a:solidFill>
                      <a:srgbClr val="FFFFFF"/>
                    </a:solidFill>
                  </a:tcPr>
                </a:tc>
              </a:tr>
              <a:tr h="502920">
                <a:tc>
                  <a:txBody>
                    <a:bodyPr/>
                    <a:lstStyle/>
                    <a:p>
                      <a:pPr>
                        <a:defRPr sz="1200">
                          <a:solidFill>
                            <a:srgbClr val="20261F"/>
                          </a:solidFill>
                          <a:latin typeface="Yu Gothic"/>
                        </a:defRPr>
                      </a:pPr>
                      <a:r>
                        <a:t>Codex・Work別の内訳</a:t>
                      </a:r>
                    </a:p>
                  </a:txBody>
                  <a:tcPr>
                    <a:solidFill>
                      <a:srgbClr val="F4F1E6"/>
                    </a:solidFill>
                  </a:tcPr>
                </a:tc>
                <a:tc>
                  <a:txBody>
                    <a:bodyPr/>
                    <a:lstStyle/>
                    <a:p>
                      <a:pPr>
                        <a:defRPr sz="1200">
                          <a:solidFill>
                            <a:srgbClr val="20261F"/>
                          </a:solidFill>
                          <a:latin typeface="Yu Gothic"/>
                        </a:defRPr>
                      </a:pPr>
                      <a:r>
                        <a:t>公表されていない</a:t>
                      </a:r>
                    </a:p>
                  </a:txBody>
                  <a:tcPr>
                    <a:solidFill>
                      <a:srgbClr val="F4F1E6"/>
                    </a:solidFill>
                  </a:tcPr>
                </a:tc>
              </a:tr>
              <a:tr h="502920">
                <a:tc>
                  <a:txBody>
                    <a:bodyPr/>
                    <a:lstStyle/>
                    <a:p>
                      <a:pPr>
                        <a:defRPr sz="1200">
                          <a:solidFill>
                            <a:srgbClr val="20261F"/>
                          </a:solidFill>
                          <a:latin typeface="Yu Gothic"/>
                        </a:defRPr>
                      </a:pPr>
                      <a:r>
                        <a:t>活用モデル</a:t>
                      </a:r>
                    </a:p>
                  </a:txBody>
                  <a:tcPr>
                    <a:solidFill>
                      <a:srgbClr val="FFFFFF"/>
                    </a:solidFill>
                  </a:tcPr>
                </a:tc>
                <a:tc>
                  <a:txBody>
                    <a:bodyPr/>
                    <a:lstStyle/>
                    <a:p>
                      <a:pPr>
                        <a:defRPr sz="1200">
                          <a:solidFill>
                            <a:srgbClr val="20261F"/>
                          </a:solidFill>
                          <a:latin typeface="Yu Gothic"/>
                        </a:defRPr>
                      </a:pPr>
                      <a:r>
                        <a:t>OpenAIの最新モデル「GPT-5.6」</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Bloomberg(2026-07-21)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従来の中小企業のAI導入とこのプログラムの違い</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従来</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導入方法を自分で模索する必要があった</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業種別の具体的な活用例が少なかった</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ChatGPT for Small Business</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業種別のウェビナー・ガイドが用意されている</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パートナー企業のツールと連携できる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前回テーマとの違い(参考)</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定期実行22本目</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2026年7月9〜10日、ChatGPTアプリとCodexアプリの統合(Workモード新設)そのものを扱った</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今回</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その約2週間後の利用者数1,000万人到達と、中小企業向け支援プログラムの開始を扱う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参考: なぜ同時発表なのか(推測)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勢いを示す</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利用者数の急成長を示すことで注目を集める狙いがあると考えられる(推測)</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裾野を広げる</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中小企業層への普及を進めたい狙いがあると考えられる(推測)</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出典の確認結果</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24523F"/>
                    </a:solidFill>
                  </a:tcPr>
                </a:tc>
                <a:tc>
                  <a:txBody>
                    <a:bodyPr/>
                    <a:lstStyle/>
                    <a:p>
                      <a:pPr>
                        <a:defRPr sz="1300" b="1">
                          <a:solidFill>
                            <a:srgbClr val="FFFFFF"/>
                          </a:solidFill>
                          <a:latin typeface="Yu Gothic"/>
                        </a:defRPr>
                      </a:pPr>
                      <a:r>
                        <a:t>結果</a:t>
                      </a:r>
                    </a:p>
                  </a:txBody>
                  <a:tcPr>
                    <a:solidFill>
                      <a:srgbClr val="24523F"/>
                    </a:solidFill>
                  </a:tcPr>
                </a:tc>
              </a:tr>
              <a:tr h="502920">
                <a:tc>
                  <a:txBody>
                    <a:bodyPr/>
                    <a:lstStyle/>
                    <a:p>
                      <a:pPr>
                        <a:defRPr sz="1200">
                          <a:solidFill>
                            <a:srgbClr val="20261F"/>
                          </a:solidFill>
                          <a:latin typeface="Yu Gothic"/>
                        </a:defRPr>
                      </a:pPr>
                      <a:r>
                        <a:t>発表日</a:t>
                      </a:r>
                    </a:p>
                  </a:txBody>
                  <a:tcPr>
                    <a:solidFill>
                      <a:srgbClr val="FFFFFF"/>
                    </a:solidFill>
                  </a:tcPr>
                </a:tc>
                <a:tc>
                  <a:txBody>
                    <a:bodyPr/>
                    <a:lstStyle/>
                    <a:p>
                      <a:pPr>
                        <a:defRPr sz="1200">
                          <a:solidFill>
                            <a:srgbClr val="20261F"/>
                          </a:solidFill>
                          <a:latin typeface="Yu Gothic"/>
                        </a:defRPr>
                      </a:pPr>
                      <a:r>
                        <a:t>複数情報源で2026年7月21日と一致</a:t>
                      </a:r>
                    </a:p>
                  </a:txBody>
                  <a:tcPr>
                    <a:solidFill>
                      <a:srgbClr val="FFFFFF"/>
                    </a:solidFill>
                  </a:tcPr>
                </a:tc>
              </a:tr>
              <a:tr h="502920">
                <a:tc>
                  <a:txBody>
                    <a:bodyPr/>
                    <a:lstStyle/>
                    <a:p>
                      <a:pPr>
                        <a:defRPr sz="1200">
                          <a:solidFill>
                            <a:srgbClr val="20261F"/>
                          </a:solidFill>
                          <a:latin typeface="Yu Gothic"/>
                        </a:defRPr>
                      </a:pPr>
                      <a:r>
                        <a:t>利用者数(1,000万人)</a:t>
                      </a:r>
                    </a:p>
                  </a:txBody>
                  <a:tcPr>
                    <a:solidFill>
                      <a:srgbClr val="F4F1E6"/>
                    </a:solidFill>
                  </a:tcPr>
                </a:tc>
                <a:tc>
                  <a:txBody>
                    <a:bodyPr/>
                    <a:lstStyle/>
                    <a:p>
                      <a:pPr>
                        <a:defRPr sz="1200">
                          <a:solidFill>
                            <a:srgbClr val="20261F"/>
                          </a:solidFill>
                          <a:latin typeface="Yu Gothic"/>
                        </a:defRPr>
                      </a:pPr>
                      <a:r>
                        <a:t>Bloombergを含む複数メディアで確認</a:t>
                      </a:r>
                    </a:p>
                  </a:txBody>
                  <a:tcPr>
                    <a:solidFill>
                      <a:srgbClr val="F4F1E6"/>
                    </a:solidFill>
                  </a:tcPr>
                </a:tc>
              </a:tr>
              <a:tr h="502920">
                <a:tc>
                  <a:txBody>
                    <a:bodyPr/>
                    <a:lstStyle/>
                    <a:p>
                      <a:pPr>
                        <a:defRPr sz="1200">
                          <a:solidFill>
                            <a:srgbClr val="20261F"/>
                          </a:solidFill>
                          <a:latin typeface="Yu Gothic"/>
                        </a:defRPr>
                      </a:pPr>
                      <a:r>
                        <a:t>プログラム内容</a:t>
                      </a:r>
                    </a:p>
                  </a:txBody>
                  <a:tcPr>
                    <a:solidFill>
                      <a:srgbClr val="FFFFFF"/>
                    </a:solidFill>
                  </a:tcPr>
                </a:tc>
                <a:tc>
                  <a:txBody>
                    <a:bodyPr/>
                    <a:lstStyle/>
                    <a:p>
                      <a:pPr>
                        <a:defRPr sz="1200">
                          <a:solidFill>
                            <a:srgbClr val="20261F"/>
                          </a:solidFill>
                          <a:latin typeface="Yu Gothic"/>
                        </a:defRPr>
                      </a:pPr>
                      <a:r>
                        <a:t>OpenAI公式ブログで確認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こんな人におすすめ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小規模事業を営む人</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業務にAIを取り入れたいと考えている人</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AI活用事例に関心がある人</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具体的な導入支援策を知りたい人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よくある疑問(Q&amp;A)</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日本でも使える?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日本での提供有無・対応言語は本調査時点では確認できていない</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無料で使える?</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あらゆる契約プランで利用できるとされるが、料金体系の詳細は今回の発表では確認できていない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今回含まれなかったもの</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「アクティブ」の定義やCodex・Work別の利用者内訳は公表されていない</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日本での提供有無・対応言語は確認できなかった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見送った候補</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高木美帆さん国民栄誉賞</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有力候補だったが、実用性・参入余地でAI/エージェント系候補をやや下回ると判断し見送り</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AWS WAFのAIトラフィック収益化機能</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発表から時間が経っており鮮度が低いため見送り</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これが意味すること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AIエージェントの急速な普及</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わずか2週間で利用者数がほぼ倍増</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中小企業への裾野の広がり</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大企業だけでなく小規模事業者への支援策</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業務ツールとの連携強化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既存の業務ツールと組み合わせて使える設計</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これは何を意味するのか(中小企業にとって)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AIエージェントの導入ハードルが、教育コンテンツやパートナー連携によって下がりつつある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利用者数の急成長は事実だが、内訳が非公開である点には留意が必要</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試すなら確認したいこと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利用可能な地域</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日本での提供有無を公式サイトで確認する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料金体系</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自社の契約プランで利用できるか確認する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業種別の活用例</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自社の業種に近い事例があるか確認する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実際に試す場合の進め方(目安)</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①公式サイトを確認</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OpenAI公式サイトでプログラムの内容を確認</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②自社の業務を整理</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AIに任せたい業務を洗い出す</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③小さく試す</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1つの業務から試してみる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個人にとっての影響</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小規模事業者でも、AIエージェントを業務に取り入れやすい環境が整いつつある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AIが提案した内容は、自分でも確認・検証することが大切</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不明点・注意点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「アクティブ」の定義、Codex・Work別の内訳は非公開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日本での提供有無・対応言語は公開情報からは確認できなかった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リスク配慮のポイント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事実紹介に徹する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企業の発表という事実を淡々と紹介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数字の性質を明記</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利用者数の定義が非公開である点を明記</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推測は明示</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推測部分は「推測」と明言している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検品結果</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結果</a:t>
                      </a:r>
                    </a:p>
                  </a:txBody>
                  <a:tcPr>
                    <a:solidFill>
                      <a:srgbClr val="24523F"/>
                    </a:solidFill>
                  </a:tcPr>
                </a:tc>
              </a:tr>
              <a:tr h="502920">
                <a:tc>
                  <a:txBody>
                    <a:bodyPr/>
                    <a:lstStyle/>
                    <a:p>
                      <a:pPr>
                        <a:defRPr sz="1200">
                          <a:solidFill>
                            <a:srgbClr val="20261F"/>
                          </a:solidFill>
                          <a:latin typeface="Yu Gothic"/>
                        </a:defRPr>
                      </a:pPr>
                      <a:r>
                        <a:t>verify_pptx.py</a:t>
                      </a:r>
                    </a:p>
                  </a:txBody>
                  <a:tcPr>
                    <a:solidFill>
                      <a:srgbClr val="FFFFFF"/>
                    </a:solidFill>
                  </a:tcPr>
                </a:tc>
                <a:tc>
                  <a:txBody>
                    <a:bodyPr/>
                    <a:lstStyle/>
                    <a:p>
                      <a:pPr>
                        <a:defRPr sz="1200">
                          <a:solidFill>
                            <a:srgbClr val="20261F"/>
                          </a:solidFill>
                          <a:latin typeface="Yu Gothic"/>
                        </a:defRPr>
                      </a:pPr>
                      <a:r>
                        <a:t>合格</a:t>
                      </a:r>
                    </a:p>
                  </a:txBody>
                  <a:tcPr>
                    <a:solidFill>
                      <a:srgbClr val="FFFFFF"/>
                    </a:solidFill>
                  </a:tcPr>
                </a:tc>
              </a:tr>
              <a:tr h="502920">
                <a:tc>
                  <a:txBody>
                    <a:bodyPr/>
                    <a:lstStyle/>
                    <a:p>
                      <a:pPr>
                        <a:defRPr sz="1200">
                          <a:solidFill>
                            <a:srgbClr val="20261F"/>
                          </a:solidFill>
                          <a:latin typeface="Yu Gothic"/>
                        </a:defRPr>
                      </a:pPr>
                      <a:r>
                        <a:t>同一レイアウト連続チェック</a:t>
                      </a:r>
                    </a:p>
                  </a:txBody>
                  <a:tcPr>
                    <a:solidFill>
                      <a:srgbClr val="F4F1E6"/>
                    </a:solidFill>
                  </a:tcPr>
                </a:tc>
                <a:tc>
                  <a:txBody>
                    <a:bodyPr/>
                    <a:lstStyle/>
                    <a:p>
                      <a:pPr>
                        <a:defRPr sz="1200">
                          <a:solidFill>
                            <a:srgbClr val="20261F"/>
                          </a:solidFill>
                          <a:latin typeface="Yu Gothic"/>
                        </a:defRPr>
                      </a:pPr>
                      <a:r>
                        <a:t>合格</a:t>
                      </a:r>
                    </a:p>
                  </a:txBody>
                  <a:tcPr>
                    <a:solidFill>
                      <a:srgbClr val="F4F1E6"/>
                    </a:solidFill>
                  </a:tcPr>
                </a:tc>
              </a:tr>
              <a:tr h="502920">
                <a:tc>
                  <a:txBody>
                    <a:bodyPr/>
                    <a:lstStyle/>
                    <a:p>
                      <a:pPr>
                        <a:defRPr sz="1200">
                          <a:solidFill>
                            <a:srgbClr val="20261F"/>
                          </a:solidFill>
                          <a:latin typeface="Yu Gothic"/>
                        </a:defRPr>
                      </a:pPr>
                      <a:r>
                        <a:t>bullets比率チェック</a:t>
                      </a:r>
                    </a:p>
                  </a:txBody>
                  <a:tcPr>
                    <a:solidFill>
                      <a:srgbClr val="FFFFFF"/>
                    </a:solidFill>
                  </a:tcPr>
                </a:tc>
                <a:tc>
                  <a:txBody>
                    <a:bodyPr/>
                    <a:lstStyle/>
                    <a:p>
                      <a:pPr>
                        <a:defRPr sz="1200">
                          <a:solidFill>
                            <a:srgbClr val="20261F"/>
                          </a:solidFill>
                          <a:latin typeface="Yu Gothic"/>
                        </a:defRPr>
                      </a:pPr>
                      <a:r>
                        <a:t>合格</a:t>
                      </a:r>
                    </a:p>
                  </a:txBody>
                  <a:tcPr>
                    <a:solidFill>
                      <a:srgbClr val="FFFFFF"/>
                    </a:solidFill>
                  </a:tcPr>
                </a:tc>
              </a:tr>
              <a:tr h="502920">
                <a:tc>
                  <a:txBody>
                    <a:bodyPr/>
                    <a:lstStyle/>
                    <a:p>
                      <a:pPr>
                        <a:defRPr sz="1200">
                          <a:solidFill>
                            <a:srgbClr val="20261F"/>
                          </a:solidFill>
                          <a:latin typeface="Yu Gothic"/>
                        </a:defRPr>
                      </a:pPr>
                      <a:r>
                        <a:t>対話原稿スライド数整合性</a:t>
                      </a:r>
                    </a:p>
                  </a:txBody>
                  <a:tcPr>
                    <a:solidFill>
                      <a:srgbClr val="F4F1E6"/>
                    </a:solidFill>
                  </a:tcPr>
                </a:tc>
                <a:tc>
                  <a:txBody>
                    <a:bodyPr/>
                    <a:lstStyle/>
                    <a:p>
                      <a:pPr>
                        <a:defRPr sz="1200">
                          <a:solidFill>
                            <a:srgbClr val="20261F"/>
                          </a:solidFill>
                          <a:latin typeface="Yu Gothic"/>
                        </a:defRPr>
                      </a:pPr>
                      <a:r>
                        <a:t>合格</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Bloomberg / OpenAI公式ブログ</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9to5Mac / PYMNTS / Inc.</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AIエージェントが、中小企業の日常業務に入り始めている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利用者数の急成長と、教育・パートナー連携を通じた普及策が同時に進む</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興味があれば、公式サイトでプログラムの内容を確認してみる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次回予告</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AIエージェントの普及・中小企業支援の動向は今後も続くテーマ</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次回も独立系メディアの報道をもとに紹介する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定期実行36本目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出典・詳細はresearch.mdと各スライドの出典表記を参照</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質問・フィードバックはいつでもどうぞ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