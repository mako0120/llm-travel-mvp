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中国の中性原子量子計算スタートアップ『原子矩陣』が、驚異的なペースで資金調達を重ねています。何が起きているのか、出典付きで正確に整理してお届けします。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結論から確認します。原子矩陣は、約半年の間に天使・A・A+と少なくとも3回の資金調達を完了しました。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本日の流れです。今回のA+ラウンドから企業概要、技術内容、そして確認できなかったことまで整理します。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約半年で3回という異例のペースで資金調達を重ねている、注目度の高い話題です。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今回のA+ラウンドの調達額は「数億元人民元」とのみ公表されており、正確な金額は非公開です。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今回のA+ラウンドには、雲峰基金をはじめ多数の機関投資家が参加しました。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今回のラウンド概要です。金額は「数億元」とのみ公表されています。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原子矩陣は、杭州を拠点とする中性原子量子計算のソリューション企業です。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同社は、2,048個の欠陥のない物理量子ビットを安定稼働させる実機システムを構築しています。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中性原子アレイをストレージとエンタングルメントのゾーンに分割するアーキテクチャを採用しています。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2026年3月の天使ラウンドから、5月のAラウンド、8月のA+ラウンドまで、約半年で3回の調達が行われました。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約半年で3回という調達ペースは、量子計算分野への投資家の関心の高さを示しています。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同社は、ストレージ用ゾーンとエンタングルメント用ゾーンを分割するアーキテクチャを採用しています。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3月の天使ラウンドから始まり、5月・8月と着実に投資家層を拡大してきました。</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中性原子量子計算は、量子計算実現のための複数あるアプローチの一つです。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確定していることと、まだ確認できていないことを整理します。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これらの項目は本調査の範囲では確認できておらず、推測で埋めていません。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今回の発表は2026年8月20日頃で、着手日から5日前の情報であることを正直に開示します。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一般的なスタートアップの資金調達ペースと比べても、原子矩陣のペースは異例の速さです。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量子計算分野は世界的に投資が拡大している領域であり、中国国内でも関心が高まっています。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複数の独立した中国語メディアが同一の調達内容を報じており、内容としての一貫性を確認しています。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3月の天使ラウンドから8月のA+ラウンドまで、投資家層は大きく拡大しました。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今回のA+ラウンドには、9社以上の機関投資家が参加したことが確認されています。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今回の調達の注目ポイントを3つにまとめました。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本テーマは、量子計算分野におけるスタートアップの資金調達動向として整理しています。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3月の天使ラウンドから今回のA+ラウンドまでのタイムラインです。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今後、累計調達額の開示や実機システムの実用化に向けた進展が注目されます。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原子矩陣は、約半年で3回の資金調達を完了し、2,048量子ビットの実機システムを構築しています。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量子計算には超伝導方式や中性原子方式など複数のアプローチがあり、原子矩陣は中性原子方式を採用しています。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本日は原子矩陣の資金調達についてお届けしました。確認できなかったことは正直に開示しています。次回もお楽しみに。</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半年で3回調達</a:t>
            </a:r>
          </a:p>
          <a:p>
            <a:pPr algn="l">
              <a:lnSpc>
                <a:spcPct val="115000"/>
              </a:lnSpc>
            </a:pPr>
            <a:r>
              <a:rPr sz="4200" b="1">
                <a:solidFill>
                  <a:srgbClr val="FFFFFF"/>
                </a:solidFill>
                <a:latin typeface="Yu Gothic"/>
              </a:rPr>
              <a:t>量子計算企業</a:t>
            </a:r>
          </a:p>
          <a:p>
            <a:pPr algn="l">
              <a:lnSpc>
                <a:spcPct val="115000"/>
              </a:lnSpc>
            </a:pPr>
            <a:r>
              <a:rPr sz="4200" b="1">
                <a:solidFill>
                  <a:srgbClr val="FFFFFF"/>
                </a:solidFill>
                <a:latin typeface="Yu Gothic"/>
              </a:rPr>
              <a:t>「原子矩陣」急成長</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E7DCC2"/>
                </a:solidFill>
                <a:latin typeface="Yu Gothic"/>
              </a:rPr>
              <a:t>2,048量子ビットの実機——出典付きで整理する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BFAE84"/>
                </a:solidFill>
                <a:latin typeface="Yu Gothic"/>
              </a:rPr>
              <a:t>出典: Fastdata極数(2026年8月20日)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約半年で少なくとも3回の調達</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原子矩陣、A+ラウンドを完了</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Fastdata極数(2026-08-20)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E7DCC2"/>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E7DCC2"/>
                </a:solidFill>
                <a:latin typeface="Yu Gothic"/>
              </a:rPr>
              <a:t>今回のA+ラウンドを確認する</a:t>
            </a:r>
          </a:p>
        </p:txBody>
      </p:sp>
      <p:sp>
        <p:nvSpPr>
          <p:cNvPr id="9" name="Oval 8"/>
          <p:cNvSpPr/>
          <p:nvPr/>
        </p:nvSpPr>
        <p:spPr>
          <a:xfrm>
            <a:off x="548640" y="347472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E7DCC2"/>
                </a:solidFill>
                <a:latin typeface="Yu Gothic"/>
              </a:rPr>
              <a:t>原子矩陣という企業を確認する</a:t>
            </a:r>
          </a:p>
        </p:txBody>
      </p:sp>
      <p:sp>
        <p:nvSpPr>
          <p:cNvPr id="11" name="Oval 10"/>
          <p:cNvSpPr/>
          <p:nvPr/>
        </p:nvSpPr>
        <p:spPr>
          <a:xfrm>
            <a:off x="548640" y="425196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E7DCC2"/>
                </a:solidFill>
                <a:latin typeface="Yu Gothic"/>
              </a:rPr>
              <a:t>技術内容を確認する</a:t>
            </a:r>
          </a:p>
        </p:txBody>
      </p:sp>
      <p:sp>
        <p:nvSpPr>
          <p:cNvPr id="13" name="Oval 12"/>
          <p:cNvSpPr/>
          <p:nvPr/>
        </p:nvSpPr>
        <p:spPr>
          <a:xfrm>
            <a:off x="548640" y="502920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E7DCC2"/>
                </a:solidFill>
                <a:latin typeface="Yu Gothic"/>
              </a:rPr>
              <a:t>確認できなかったこと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複数の独立した中国語メディアが同一内容を報道</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約半年で3回という異例の資金調達ペース</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2,048量子ビットという具体的な技術到達点</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Fastdata極数(2026-08-20)</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Fastdata極数等(2026-08-20)</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今回のラウンド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A+ラウンド 数億元人民元</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正確な金額は非公開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Fastdata極数(2026-08-20)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今回のA+ラウンドの内容</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2026年8月20日頃、A+ラウンド資金調達を発表</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雲峰基金・三七互娯・普華資本など多数の機関投資家が参加</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既存株主の民銀国際も追加出資</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Fastdata極数(2026-08-20)</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Fastdata極数等(2026-08-20)</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今回のラウンド概要</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内容</a:t>
                      </a:r>
                    </a:p>
                  </a:txBody>
                  <a:tcPr>
                    <a:solidFill>
                      <a:srgbClr val="24523F"/>
                    </a:solidFill>
                  </a:tcPr>
                </a:tc>
              </a:tr>
              <a:tr h="502920">
                <a:tc>
                  <a:txBody>
                    <a:bodyPr/>
                    <a:lstStyle/>
                    <a:p>
                      <a:pPr>
                        <a:defRPr sz="1200">
                          <a:solidFill>
                            <a:srgbClr val="20261F"/>
                          </a:solidFill>
                          <a:latin typeface="Yu Gothic"/>
                        </a:defRPr>
                      </a:pPr>
                      <a:r>
                        <a:t>ラウンド</a:t>
                      </a:r>
                    </a:p>
                  </a:txBody>
                  <a:tcPr>
                    <a:solidFill>
                      <a:srgbClr val="FFFFFF"/>
                    </a:solidFill>
                  </a:tcPr>
                </a:tc>
                <a:tc>
                  <a:txBody>
                    <a:bodyPr/>
                    <a:lstStyle/>
                    <a:p>
                      <a:pPr>
                        <a:defRPr sz="1200">
                          <a:solidFill>
                            <a:srgbClr val="20261F"/>
                          </a:solidFill>
                          <a:latin typeface="Yu Gothic"/>
                        </a:defRPr>
                      </a:pPr>
                      <a:r>
                        <a:t>A+ラウンド</a:t>
                      </a:r>
                    </a:p>
                  </a:txBody>
                  <a:tcPr>
                    <a:solidFill>
                      <a:srgbClr val="FFFFFF"/>
                    </a:solidFill>
                  </a:tcPr>
                </a:tc>
              </a:tr>
              <a:tr h="502920">
                <a:tc>
                  <a:txBody>
                    <a:bodyPr/>
                    <a:lstStyle/>
                    <a:p>
                      <a:pPr>
                        <a:defRPr sz="1200">
                          <a:solidFill>
                            <a:srgbClr val="20261F"/>
                          </a:solidFill>
                          <a:latin typeface="Yu Gothic"/>
                        </a:defRPr>
                      </a:pPr>
                      <a:r>
                        <a:t>調達額</a:t>
                      </a:r>
                    </a:p>
                  </a:txBody>
                  <a:tcPr>
                    <a:solidFill>
                      <a:srgbClr val="F4F1E6"/>
                    </a:solidFill>
                  </a:tcPr>
                </a:tc>
                <a:tc>
                  <a:txBody>
                    <a:bodyPr/>
                    <a:lstStyle/>
                    <a:p>
                      <a:pPr>
                        <a:defRPr sz="1200">
                          <a:solidFill>
                            <a:srgbClr val="20261F"/>
                          </a:solidFill>
                          <a:latin typeface="Yu Gothic"/>
                        </a:defRPr>
                      </a:pPr>
                      <a:r>
                        <a:t>数億元人民元(正確な金額は非公開)</a:t>
                      </a:r>
                    </a:p>
                  </a:txBody>
                  <a:tcPr>
                    <a:solidFill>
                      <a:srgbClr val="F4F1E6"/>
                    </a:solidFill>
                  </a:tcPr>
                </a:tc>
              </a:tr>
              <a:tr h="502920">
                <a:tc>
                  <a:txBody>
                    <a:bodyPr/>
                    <a:lstStyle/>
                    <a:p>
                      <a:pPr>
                        <a:defRPr sz="1200">
                          <a:solidFill>
                            <a:srgbClr val="20261F"/>
                          </a:solidFill>
                          <a:latin typeface="Yu Gothic"/>
                        </a:defRPr>
                      </a:pPr>
                      <a:r>
                        <a:t>主な投資家</a:t>
                      </a:r>
                    </a:p>
                  </a:txBody>
                  <a:tcPr>
                    <a:solidFill>
                      <a:srgbClr val="FFFFFF"/>
                    </a:solidFill>
                  </a:tcPr>
                </a:tc>
                <a:tc>
                  <a:txBody>
                    <a:bodyPr/>
                    <a:lstStyle/>
                    <a:p>
                      <a:pPr>
                        <a:defRPr sz="1200">
                          <a:solidFill>
                            <a:srgbClr val="20261F"/>
                          </a:solidFill>
                          <a:latin typeface="Yu Gothic"/>
                        </a:defRPr>
                      </a:pPr>
                      <a:r>
                        <a:t>雲峰基金・三七互娯・普華資本など多数</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Fastdata極数(2026-08-20)</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Fastdata極数等(2026-08-20)</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原子矩陣(MatriQ)とは</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中国・杭州拠点の中性原子量子計算ソリューション企業</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中性原子量子計算というアプローチを採用</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実機システムの構築を進めている</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Fastdata極数(2026-08-20)</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Fastdata極数等(2026-08-20)</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量子ビット数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2,048個(欠陥なし)</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安定稼働する実機システム</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Fastdata極数(2026-08-20)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技術の仕組み(概念図)</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中性原子アレイ(2,048量子ビット)</a:t>
            </a:r>
          </a:p>
        </p:txBody>
      </p:sp>
      <p:sp>
        <p:nvSpPr>
          <p:cNvPr id="9" name="Right Arrow 8"/>
          <p:cNvSpPr/>
          <p:nvPr/>
        </p:nvSpPr>
        <p:spPr>
          <a:xfrm>
            <a:off x="41573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071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ストレージ・エンタングルメント分割</a:t>
            </a:r>
          </a:p>
        </p:txBody>
      </p:sp>
      <p:sp>
        <p:nvSpPr>
          <p:cNvPr id="13" name="Right Arrow 12"/>
          <p:cNvSpPr/>
          <p:nvPr/>
        </p:nvSpPr>
        <p:spPr>
          <a:xfrm>
            <a:off x="73577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075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実機システムとして稼働</a:t>
            </a:r>
          </a:p>
        </p:txBody>
      </p:sp>
      <p:sp>
        <p:nvSpPr>
          <p:cNvPr id="17" name="TextBox 16"/>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E6B5C"/>
                </a:solidFill>
                <a:latin typeface="Yu Gothic"/>
              </a:rPr>
              <a:t>ゾーン分割アーキテクチャを採用</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Fastdata極数等(2026-08-20)</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半年間の資金調達の推移</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時期</a:t>
                      </a:r>
                    </a:p>
                  </a:txBody>
                  <a:tcPr>
                    <a:solidFill>
                      <a:srgbClr val="24523F"/>
                    </a:solidFill>
                  </a:tcPr>
                </a:tc>
                <a:tc>
                  <a:txBody>
                    <a:bodyPr/>
                    <a:lstStyle/>
                    <a:p>
                      <a:pPr>
                        <a:defRPr sz="1300" b="1">
                          <a:solidFill>
                            <a:srgbClr val="FFFFFF"/>
                          </a:solidFill>
                          <a:latin typeface="Yu Gothic"/>
                        </a:defRPr>
                      </a:pPr>
                      <a:r>
                        <a:t>ラウンド</a:t>
                      </a:r>
                    </a:p>
                  </a:txBody>
                  <a:tcPr>
                    <a:solidFill>
                      <a:srgbClr val="24523F"/>
                    </a:solidFill>
                  </a:tcPr>
                </a:tc>
              </a:tr>
              <a:tr h="502920">
                <a:tc>
                  <a:txBody>
                    <a:bodyPr/>
                    <a:lstStyle/>
                    <a:p>
                      <a:pPr>
                        <a:defRPr sz="1200">
                          <a:solidFill>
                            <a:srgbClr val="20261F"/>
                          </a:solidFill>
                          <a:latin typeface="Yu Gothic"/>
                        </a:defRPr>
                      </a:pPr>
                      <a:r>
                        <a:t>2026年3月</a:t>
                      </a:r>
                    </a:p>
                  </a:txBody>
                  <a:tcPr>
                    <a:solidFill>
                      <a:srgbClr val="FFFFFF"/>
                    </a:solidFill>
                  </a:tcPr>
                </a:tc>
                <a:tc>
                  <a:txBody>
                    <a:bodyPr/>
                    <a:lstStyle/>
                    <a:p>
                      <a:pPr>
                        <a:defRPr sz="1200">
                          <a:solidFill>
                            <a:srgbClr val="20261F"/>
                          </a:solidFill>
                          <a:latin typeface="Yu Gothic"/>
                        </a:defRPr>
                      </a:pPr>
                      <a:r>
                        <a:t>天使ラウンド</a:t>
                      </a:r>
                    </a:p>
                  </a:txBody>
                  <a:tcPr>
                    <a:solidFill>
                      <a:srgbClr val="FFFFFF"/>
                    </a:solidFill>
                  </a:tcPr>
                </a:tc>
              </a:tr>
              <a:tr h="502920">
                <a:tc>
                  <a:txBody>
                    <a:bodyPr/>
                    <a:lstStyle/>
                    <a:p>
                      <a:pPr>
                        <a:defRPr sz="1200">
                          <a:solidFill>
                            <a:srgbClr val="20261F"/>
                          </a:solidFill>
                          <a:latin typeface="Yu Gothic"/>
                        </a:defRPr>
                      </a:pPr>
                      <a:r>
                        <a:t>2026年5月</a:t>
                      </a:r>
                    </a:p>
                  </a:txBody>
                  <a:tcPr>
                    <a:solidFill>
                      <a:srgbClr val="F4F1E6"/>
                    </a:solidFill>
                  </a:tcPr>
                </a:tc>
                <a:tc>
                  <a:txBody>
                    <a:bodyPr/>
                    <a:lstStyle/>
                    <a:p>
                      <a:pPr>
                        <a:defRPr sz="1200">
                          <a:solidFill>
                            <a:srgbClr val="20261F"/>
                          </a:solidFill>
                          <a:latin typeface="Yu Gothic"/>
                        </a:defRPr>
                      </a:pPr>
                      <a:r>
                        <a:t>Aラウンド</a:t>
                      </a:r>
                    </a:p>
                  </a:txBody>
                  <a:tcPr>
                    <a:solidFill>
                      <a:srgbClr val="F4F1E6"/>
                    </a:solidFill>
                  </a:tcPr>
                </a:tc>
              </a:tr>
              <a:tr h="502920">
                <a:tc>
                  <a:txBody>
                    <a:bodyPr/>
                    <a:lstStyle/>
                    <a:p>
                      <a:pPr>
                        <a:defRPr sz="1200">
                          <a:solidFill>
                            <a:srgbClr val="20261F"/>
                          </a:solidFill>
                          <a:latin typeface="Yu Gothic"/>
                        </a:defRPr>
                      </a:pPr>
                      <a:r>
                        <a:t>2026年8月</a:t>
                      </a:r>
                    </a:p>
                  </a:txBody>
                  <a:tcPr>
                    <a:solidFill>
                      <a:srgbClr val="FFFFFF"/>
                    </a:solidFill>
                  </a:tcPr>
                </a:tc>
                <a:tc>
                  <a:txBody>
                    <a:bodyPr/>
                    <a:lstStyle/>
                    <a:p>
                      <a:pPr>
                        <a:defRPr sz="1200">
                          <a:solidFill>
                            <a:srgbClr val="20261F"/>
                          </a:solidFill>
                          <a:latin typeface="Yu Gothic"/>
                        </a:defRPr>
                      </a:pPr>
                      <a:r>
                        <a:t>A+ラウンド</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Fastdata極数等(2026年各月)</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Fastdata極数等(2026-08-20)</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資金調達ペースの異例さ</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約半年間で少なくとも3回のラウンドを完了</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投資家の顔ぶれも回を追うごとに拡大</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量子計算分野への投資家の関心の高さがうかがえる</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Fastdata極数(2026-08-20)</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Fastdata極数等(2026-08-20)</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採用アーキテクチャ</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ストレージ・エンタングルメント分割</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ゾーン分割型のアーキテクチャ</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Fastdata極数(2026-08-20)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資金調達の流れ</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天使ラウンド(3月)</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技術基盤の構築を開始</a:t>
            </a:r>
          </a:p>
        </p:txBody>
      </p:sp>
      <p:sp>
        <p:nvSpPr>
          <p:cNvPr id="11" name="Chevron 10"/>
          <p:cNvSpPr/>
          <p:nvPr/>
        </p:nvSpPr>
        <p:spPr>
          <a:xfrm>
            <a:off x="4038295"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Aラウンド(5月)</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研究開発体制を拡大</a:t>
            </a:r>
          </a:p>
        </p:txBody>
      </p:sp>
      <p:sp>
        <p:nvSpPr>
          <p:cNvPr id="17" name="Chevron 16"/>
          <p:cNvSpPr/>
          <p:nvPr/>
        </p:nvSpPr>
        <p:spPr>
          <a:xfrm>
            <a:off x="7919313"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A+ラウンド(8月)</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さらなる投資家群が参加</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Fastdata極数等(2026-08-20)</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中性原子量子計算とは</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量子計算の実現アプローチの一つ</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原子を光ピンセット等で配列し量子ビットとして利用する方式</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超伝導方式等と並ぶ有力なアプローチの一つとされる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Fastdata極数等(2026-08-20)</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確定していること・確認できなかったこと</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区分</a:t>
                      </a:r>
                    </a:p>
                  </a:txBody>
                  <a:tcPr>
                    <a:solidFill>
                      <a:srgbClr val="24523F"/>
                    </a:solidFill>
                  </a:tcPr>
                </a:tc>
                <a:tc>
                  <a:txBody>
                    <a:bodyPr/>
                    <a:lstStyle/>
                    <a:p>
                      <a:pPr>
                        <a:defRPr sz="1300" b="1">
                          <a:solidFill>
                            <a:srgbClr val="FFFFFF"/>
                          </a:solidFill>
                          <a:latin typeface="Yu Gothic"/>
                        </a:defRPr>
                      </a:pPr>
                      <a:r>
                        <a:t>内容</a:t>
                      </a:r>
                    </a:p>
                  </a:txBody>
                  <a:tcPr>
                    <a:solidFill>
                      <a:srgbClr val="24523F"/>
                    </a:solidFill>
                  </a:tcPr>
                </a:tc>
              </a:tr>
              <a:tr h="502920">
                <a:tc>
                  <a:txBody>
                    <a:bodyPr/>
                    <a:lstStyle/>
                    <a:p>
                      <a:pPr>
                        <a:defRPr sz="1200">
                          <a:solidFill>
                            <a:srgbClr val="20261F"/>
                          </a:solidFill>
                          <a:latin typeface="Yu Gothic"/>
                        </a:defRPr>
                      </a:pPr>
                      <a:r>
                        <a:t>確定</a:t>
                      </a:r>
                    </a:p>
                  </a:txBody>
                  <a:tcPr>
                    <a:solidFill>
                      <a:srgbClr val="FFFFFF"/>
                    </a:solidFill>
                  </a:tcPr>
                </a:tc>
                <a:tc>
                  <a:txBody>
                    <a:bodyPr/>
                    <a:lstStyle/>
                    <a:p>
                      <a:pPr>
                        <a:defRPr sz="1200">
                          <a:solidFill>
                            <a:srgbClr val="20261F"/>
                          </a:solidFill>
                          <a:latin typeface="Yu Gothic"/>
                        </a:defRPr>
                      </a:pPr>
                      <a:r>
                        <a:t>A+ラウンドの実施・主な投資家・量子ビット数</a:t>
                      </a:r>
                    </a:p>
                  </a:txBody>
                  <a:tcPr>
                    <a:solidFill>
                      <a:srgbClr val="FFFFFF"/>
                    </a:solidFill>
                  </a:tcPr>
                </a:tc>
              </a:tr>
              <a:tr h="502920">
                <a:tc>
                  <a:txBody>
                    <a:bodyPr/>
                    <a:lstStyle/>
                    <a:p>
                      <a:pPr>
                        <a:defRPr sz="1200">
                          <a:solidFill>
                            <a:srgbClr val="20261F"/>
                          </a:solidFill>
                          <a:latin typeface="Yu Gothic"/>
                        </a:defRPr>
                      </a:pPr>
                      <a:r>
                        <a:t>確定</a:t>
                      </a:r>
                    </a:p>
                  </a:txBody>
                  <a:tcPr>
                    <a:solidFill>
                      <a:srgbClr val="F4F1E6"/>
                    </a:solidFill>
                  </a:tcPr>
                </a:tc>
                <a:tc>
                  <a:txBody>
                    <a:bodyPr/>
                    <a:lstStyle/>
                    <a:p>
                      <a:pPr>
                        <a:defRPr sz="1200">
                          <a:solidFill>
                            <a:srgbClr val="20261F"/>
                          </a:solidFill>
                          <a:latin typeface="Yu Gothic"/>
                        </a:defRPr>
                      </a:pPr>
                      <a:r>
                        <a:t>約半年で3回の調達回数</a:t>
                      </a:r>
                    </a:p>
                  </a:txBody>
                  <a:tcPr>
                    <a:solidFill>
                      <a:srgbClr val="F4F1E6"/>
                    </a:solidFill>
                  </a:tcPr>
                </a:tc>
              </a:tr>
              <a:tr h="502920">
                <a:tc>
                  <a:txBody>
                    <a:bodyPr/>
                    <a:lstStyle/>
                    <a:p>
                      <a:pPr>
                        <a:defRPr sz="1200">
                          <a:solidFill>
                            <a:srgbClr val="20261F"/>
                          </a:solidFill>
                          <a:latin typeface="Yu Gothic"/>
                        </a:defRPr>
                      </a:pPr>
                      <a:r>
                        <a:t>未確認</a:t>
                      </a:r>
                    </a:p>
                  </a:txBody>
                  <a:tcPr>
                    <a:solidFill>
                      <a:srgbClr val="FFFFFF"/>
                    </a:solidFill>
                  </a:tcPr>
                </a:tc>
                <a:tc>
                  <a:txBody>
                    <a:bodyPr/>
                    <a:lstStyle/>
                    <a:p>
                      <a:pPr>
                        <a:defRPr sz="1200">
                          <a:solidFill>
                            <a:srgbClr val="20261F"/>
                          </a:solidFill>
                          <a:latin typeface="Yu Gothic"/>
                        </a:defRPr>
                      </a:pPr>
                      <a:r>
                        <a:t>今回のラウンドの正確な調達金額</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Fastdata極数等(2026-08-20)</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確認できなかったこと</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今回のA+ラウンドの正確な調達金額</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累計調達額の総額</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現在の企業評価額</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Fastdata極数等(2026-08-20)</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発表時期</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2026年8月20日頃</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着手日から5日前の情報</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Fastdata極数(2026-08-20)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一般的な調達ペース vs 原子矩陣</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一般的なスタートアップ</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各ラウンド間隔は1年前後が多い</a:t>
            </a:r>
          </a:p>
        </p:txBody>
      </p:sp>
      <p:sp>
        <p:nvSpPr>
          <p:cNvPr id="11" name="Rounded Rectangle 10"/>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原子矩陣</a:t>
            </a:r>
          </a:p>
        </p:txBody>
      </p:sp>
      <p:sp>
        <p:nvSpPr>
          <p:cNvPr id="14" name="Oval 13"/>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5" name="TextBox 14"/>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約半年で3回のラウンドを完了</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Fastdata極数等(2026-08-20)</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量子計算業界の背景</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量子計算分野への投資が世界的に拡大している</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中国国内でも量子計算スタートアップへの関心が高まる</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特定企業の株式購入を推奨する意図はない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Fastdata極数等(2026-08-20)</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主要出典の一覧</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24523F"/>
                    </a:solidFill>
                  </a:tcPr>
                </a:tc>
                <a:tc>
                  <a:txBody>
                    <a:bodyPr/>
                    <a:lstStyle/>
                    <a:p>
                      <a:pPr>
                        <a:defRPr sz="1300" b="1">
                          <a:solidFill>
                            <a:srgbClr val="FFFFFF"/>
                          </a:solidFill>
                          <a:latin typeface="Yu Gothic"/>
                        </a:defRPr>
                      </a:pPr>
                      <a:r>
                        <a:t>報道時期</a:t>
                      </a:r>
                    </a:p>
                  </a:txBody>
                  <a:tcPr>
                    <a:solidFill>
                      <a:srgbClr val="24523F"/>
                    </a:solidFill>
                  </a:tcPr>
                </a:tc>
              </a:tr>
              <a:tr h="502920">
                <a:tc>
                  <a:txBody>
                    <a:bodyPr/>
                    <a:lstStyle/>
                    <a:p>
                      <a:pPr>
                        <a:defRPr sz="1200">
                          <a:solidFill>
                            <a:srgbClr val="20261F"/>
                          </a:solidFill>
                          <a:latin typeface="Yu Gothic"/>
                        </a:defRPr>
                      </a:pPr>
                      <a:r>
                        <a:t>Fastdata極数</a:t>
                      </a:r>
                    </a:p>
                  </a:txBody>
                  <a:tcPr>
                    <a:solidFill>
                      <a:srgbClr val="FFFFFF"/>
                    </a:solidFill>
                  </a:tcPr>
                </a:tc>
                <a:tc>
                  <a:txBody>
                    <a:bodyPr/>
                    <a:lstStyle/>
                    <a:p>
                      <a:pPr>
                        <a:defRPr sz="1200">
                          <a:solidFill>
                            <a:srgbClr val="20261F"/>
                          </a:solidFill>
                          <a:latin typeface="Yu Gothic"/>
                        </a:defRPr>
                      </a:pPr>
                      <a:r>
                        <a:t>2026年8月20日</a:t>
                      </a:r>
                    </a:p>
                  </a:txBody>
                  <a:tcPr>
                    <a:solidFill>
                      <a:srgbClr val="FFFFFF"/>
                    </a:solidFill>
                  </a:tcPr>
                </a:tc>
              </a:tr>
              <a:tr h="502920">
                <a:tc>
                  <a:txBody>
                    <a:bodyPr/>
                    <a:lstStyle/>
                    <a:p>
                      <a:pPr>
                        <a:defRPr sz="1200">
                          <a:solidFill>
                            <a:srgbClr val="20261F"/>
                          </a:solidFill>
                          <a:latin typeface="Yu Gothic"/>
                        </a:defRPr>
                      </a:pPr>
                      <a:r>
                        <a:t>東方財富網</a:t>
                      </a:r>
                    </a:p>
                  </a:txBody>
                  <a:tcPr>
                    <a:solidFill>
                      <a:srgbClr val="F4F1E6"/>
                    </a:solidFill>
                  </a:tcPr>
                </a:tc>
                <a:tc>
                  <a:txBody>
                    <a:bodyPr/>
                    <a:lstStyle/>
                    <a:p>
                      <a:pPr>
                        <a:defRPr sz="1200">
                          <a:solidFill>
                            <a:srgbClr val="20261F"/>
                          </a:solidFill>
                          <a:latin typeface="Yu Gothic"/>
                        </a:defRPr>
                      </a:pPr>
                      <a:r>
                        <a:t>2026年8月</a:t>
                      </a:r>
                    </a:p>
                  </a:txBody>
                  <a:tcPr>
                    <a:solidFill>
                      <a:srgbClr val="F4F1E6"/>
                    </a:solidFill>
                  </a:tcPr>
                </a:tc>
              </a:tr>
              <a:tr h="502920">
                <a:tc>
                  <a:txBody>
                    <a:bodyPr/>
                    <a:lstStyle/>
                    <a:p>
                      <a:pPr>
                        <a:defRPr sz="1200">
                          <a:solidFill>
                            <a:srgbClr val="20261F"/>
                          </a:solidFill>
                          <a:latin typeface="Yu Gothic"/>
                        </a:defRPr>
                      </a:pPr>
                      <a:r>
                        <a:t>虎嗅</a:t>
                      </a:r>
                    </a:p>
                  </a:txBody>
                  <a:tcPr>
                    <a:solidFill>
                      <a:srgbClr val="FFFFFF"/>
                    </a:solidFill>
                  </a:tcPr>
                </a:tc>
                <a:tc>
                  <a:txBody>
                    <a:bodyPr/>
                    <a:lstStyle/>
                    <a:p>
                      <a:pPr>
                        <a:defRPr sz="1200">
                          <a:solidFill>
                            <a:srgbClr val="20261F"/>
                          </a:solidFill>
                          <a:latin typeface="Yu Gothic"/>
                        </a:defRPr>
                      </a:pPr>
                      <a:r>
                        <a:t>2026年8月</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Fastdata極数等(2026-08-20)</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天使ラウンド vs A+ラウンド</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天使ラウンド(3月)</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最初の資金調達段階</a:t>
            </a:r>
          </a:p>
        </p:txBody>
      </p:sp>
      <p:sp>
        <p:nvSpPr>
          <p:cNvPr id="11" name="Rounded Rectangle 10"/>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A+ラウンド(8月)</a:t>
            </a:r>
          </a:p>
        </p:txBody>
      </p:sp>
      <p:sp>
        <p:nvSpPr>
          <p:cNvPr id="14" name="Oval 13"/>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5" name="TextBox 14"/>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投資家層が大きく拡大</a:t>
            </a:r>
          </a:p>
        </p:txBody>
      </p:sp>
      <p:sp>
        <p:nvSpPr>
          <p:cNvPr id="16" name="Oval 15"/>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数億元規模の調達</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Fastdata極数等(2026-08-20)</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参加投資家数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9社以上の機関投資家</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今回のA+ラウンドに参加</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Fastdata極数(2026-08-20)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今回の調達の3つの注目ポイント</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01</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約半年で3回という異例の調達ペース</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02</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2,048量子ビットの実機システム</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03</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多数の機関投資家による共同出資</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Fastdata極数等(2026-08-20)</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視聴者にとっての意味</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量子計算技術の動向に関心がある層に関係する情報</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中国の量子計算スタートアップの急成長事例としての価値</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特定企業の製品利用を強く推奨する意図はない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Fastdata極数等(2026-08-20)</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タイムライン</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時期</a:t>
                      </a:r>
                    </a:p>
                  </a:txBody>
                  <a:tcPr>
                    <a:solidFill>
                      <a:srgbClr val="24523F"/>
                    </a:solidFill>
                  </a:tcPr>
                </a:tc>
                <a:tc>
                  <a:txBody>
                    <a:bodyPr/>
                    <a:lstStyle/>
                    <a:p>
                      <a:pPr>
                        <a:defRPr sz="1300" b="1">
                          <a:solidFill>
                            <a:srgbClr val="FFFFFF"/>
                          </a:solidFill>
                          <a:latin typeface="Yu Gothic"/>
                        </a:defRPr>
                      </a:pPr>
                      <a:r>
                        <a:t>できごと</a:t>
                      </a:r>
                    </a:p>
                  </a:txBody>
                  <a:tcPr>
                    <a:solidFill>
                      <a:srgbClr val="24523F"/>
                    </a:solidFill>
                  </a:tcPr>
                </a:tc>
              </a:tr>
              <a:tr h="502920">
                <a:tc>
                  <a:txBody>
                    <a:bodyPr/>
                    <a:lstStyle/>
                    <a:p>
                      <a:pPr>
                        <a:defRPr sz="1200">
                          <a:solidFill>
                            <a:srgbClr val="20261F"/>
                          </a:solidFill>
                          <a:latin typeface="Yu Gothic"/>
                        </a:defRPr>
                      </a:pPr>
                      <a:r>
                        <a:t>2026年3月</a:t>
                      </a:r>
                    </a:p>
                  </a:txBody>
                  <a:tcPr>
                    <a:solidFill>
                      <a:srgbClr val="FFFFFF"/>
                    </a:solidFill>
                  </a:tcPr>
                </a:tc>
                <a:tc>
                  <a:txBody>
                    <a:bodyPr/>
                    <a:lstStyle/>
                    <a:p>
                      <a:pPr>
                        <a:defRPr sz="1200">
                          <a:solidFill>
                            <a:srgbClr val="20261F"/>
                          </a:solidFill>
                          <a:latin typeface="Yu Gothic"/>
                        </a:defRPr>
                      </a:pPr>
                      <a:r>
                        <a:t>天使ラウンド完了</a:t>
                      </a:r>
                    </a:p>
                  </a:txBody>
                  <a:tcPr>
                    <a:solidFill>
                      <a:srgbClr val="FFFFFF"/>
                    </a:solidFill>
                  </a:tcPr>
                </a:tc>
              </a:tr>
              <a:tr h="502920">
                <a:tc>
                  <a:txBody>
                    <a:bodyPr/>
                    <a:lstStyle/>
                    <a:p>
                      <a:pPr>
                        <a:defRPr sz="1200">
                          <a:solidFill>
                            <a:srgbClr val="20261F"/>
                          </a:solidFill>
                          <a:latin typeface="Yu Gothic"/>
                        </a:defRPr>
                      </a:pPr>
                      <a:r>
                        <a:t>2026年5月</a:t>
                      </a:r>
                    </a:p>
                  </a:txBody>
                  <a:tcPr>
                    <a:solidFill>
                      <a:srgbClr val="F4F1E6"/>
                    </a:solidFill>
                  </a:tcPr>
                </a:tc>
                <a:tc>
                  <a:txBody>
                    <a:bodyPr/>
                    <a:lstStyle/>
                    <a:p>
                      <a:pPr>
                        <a:defRPr sz="1200">
                          <a:solidFill>
                            <a:srgbClr val="20261F"/>
                          </a:solidFill>
                          <a:latin typeface="Yu Gothic"/>
                        </a:defRPr>
                      </a:pPr>
                      <a:r>
                        <a:t>Aラウンド完了</a:t>
                      </a:r>
                    </a:p>
                  </a:txBody>
                  <a:tcPr>
                    <a:solidFill>
                      <a:srgbClr val="F4F1E6"/>
                    </a:solidFill>
                  </a:tcPr>
                </a:tc>
              </a:tr>
              <a:tr h="502920">
                <a:tc>
                  <a:txBody>
                    <a:bodyPr/>
                    <a:lstStyle/>
                    <a:p>
                      <a:pPr>
                        <a:defRPr sz="1200">
                          <a:solidFill>
                            <a:srgbClr val="20261F"/>
                          </a:solidFill>
                          <a:latin typeface="Yu Gothic"/>
                        </a:defRPr>
                      </a:pPr>
                      <a:r>
                        <a:t>2026年8月20日頃</a:t>
                      </a:r>
                    </a:p>
                  </a:txBody>
                  <a:tcPr>
                    <a:solidFill>
                      <a:srgbClr val="FFFFFF"/>
                    </a:solidFill>
                  </a:tcPr>
                </a:tc>
                <a:tc>
                  <a:txBody>
                    <a:bodyPr/>
                    <a:lstStyle/>
                    <a:p>
                      <a:pPr>
                        <a:defRPr sz="1200">
                          <a:solidFill>
                            <a:srgbClr val="20261F"/>
                          </a:solidFill>
                          <a:latin typeface="Yu Gothic"/>
                        </a:defRPr>
                      </a:pPr>
                      <a:r>
                        <a:t>A+ラウンド完了</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Fastdata極数等(2026-08-20)</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今後注目される点</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累計調達額・企業評価額の今後の開示</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2,048量子ビットの実機システムの実用化に向けた進展</a:t>
            </a:r>
          </a:p>
        </p:txBody>
      </p:sp>
      <p:sp>
        <p:nvSpPr>
          <p:cNvPr id="10" name="Oval 9"/>
          <p:cNvSpPr/>
          <p:nvPr/>
        </p:nvSpPr>
        <p:spPr>
          <a:xfrm>
            <a:off x="457200" y="30358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現時点では未確認の情報として今後の続報を待つ必要がある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Fastdata極数等(2026-08-20)</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今日のまとめの数字</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半年で3回調達 2,048量子ビット</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原子矩陣、A+ラウンド完了(2026年8月20日)</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Fastdata極数(2026-08-20)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量子計算の実現アプローチ比較(一般論)</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方式</a:t>
                      </a:r>
                    </a:p>
                  </a:txBody>
                  <a:tcPr>
                    <a:solidFill>
                      <a:srgbClr val="24523F"/>
                    </a:solidFill>
                  </a:tcPr>
                </a:tc>
                <a:tc>
                  <a:txBody>
                    <a:bodyPr/>
                    <a:lstStyle/>
                    <a:p>
                      <a:pPr>
                        <a:defRPr sz="1300" b="1">
                          <a:solidFill>
                            <a:srgbClr val="FFFFFF"/>
                          </a:solidFill>
                          <a:latin typeface="Yu Gothic"/>
                        </a:defRPr>
                      </a:pPr>
                      <a:r>
                        <a:t>特徴(一般的に語られる特徴)</a:t>
                      </a:r>
                    </a:p>
                  </a:txBody>
                  <a:tcPr>
                    <a:solidFill>
                      <a:srgbClr val="24523F"/>
                    </a:solidFill>
                  </a:tcPr>
                </a:tc>
              </a:tr>
              <a:tr h="502920">
                <a:tc>
                  <a:txBody>
                    <a:bodyPr/>
                    <a:lstStyle/>
                    <a:p>
                      <a:pPr>
                        <a:defRPr sz="1200">
                          <a:solidFill>
                            <a:srgbClr val="20261F"/>
                          </a:solidFill>
                          <a:latin typeface="Yu Gothic"/>
                        </a:defRPr>
                      </a:pPr>
                      <a:r>
                        <a:t>超伝導方式</a:t>
                      </a:r>
                    </a:p>
                  </a:txBody>
                  <a:tcPr>
                    <a:solidFill>
                      <a:srgbClr val="FFFFFF"/>
                    </a:solidFill>
                  </a:tcPr>
                </a:tc>
                <a:tc>
                  <a:txBody>
                    <a:bodyPr/>
                    <a:lstStyle/>
                    <a:p>
                      <a:pPr>
                        <a:defRPr sz="1200">
                          <a:solidFill>
                            <a:srgbClr val="20261F"/>
                          </a:solidFill>
                          <a:latin typeface="Yu Gothic"/>
                        </a:defRPr>
                      </a:pPr>
                      <a:r>
                        <a:t>極低温環境が必要な代表的アプローチ</a:t>
                      </a:r>
                    </a:p>
                  </a:txBody>
                  <a:tcPr>
                    <a:solidFill>
                      <a:srgbClr val="FFFFFF"/>
                    </a:solidFill>
                  </a:tcPr>
                </a:tc>
              </a:tr>
              <a:tr h="502920">
                <a:tc>
                  <a:txBody>
                    <a:bodyPr/>
                    <a:lstStyle/>
                    <a:p>
                      <a:pPr>
                        <a:defRPr sz="1200">
                          <a:solidFill>
                            <a:srgbClr val="20261F"/>
                          </a:solidFill>
                          <a:latin typeface="Yu Gothic"/>
                        </a:defRPr>
                      </a:pPr>
                      <a:r>
                        <a:t>中性原子方式</a:t>
                      </a:r>
                    </a:p>
                  </a:txBody>
                  <a:tcPr>
                    <a:solidFill>
                      <a:srgbClr val="F4F1E6"/>
                    </a:solidFill>
                  </a:tcPr>
                </a:tc>
                <a:tc>
                  <a:txBody>
                    <a:bodyPr/>
                    <a:lstStyle/>
                    <a:p>
                      <a:pPr>
                        <a:defRPr sz="1200">
                          <a:solidFill>
                            <a:srgbClr val="20261F"/>
                          </a:solidFill>
                          <a:latin typeface="Yu Gothic"/>
                        </a:defRPr>
                      </a:pPr>
                      <a:r>
                        <a:t>原子を光ピンセット等で配列するアプローチ</a:t>
                      </a:r>
                    </a:p>
                  </a:txBody>
                  <a:tcPr>
                    <a:solidFill>
                      <a:srgbClr val="F4F1E6"/>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Fastdata極数等(2026-08-20)</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出典付きで、正確に。</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E7DCC2"/>
                </a:solidFill>
                <a:latin typeface="Yu Gothic"/>
              </a:rPr>
              <a:t>AI Company OSは、確認できた事実だけをお届けします</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4523F"/>
                </a:solidFill>
                <a:latin typeface="Yu Gothic"/>
              </a:rPr>
              <a:t>次回もお楽しみに</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