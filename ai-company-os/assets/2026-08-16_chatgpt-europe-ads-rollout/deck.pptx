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プラン数</c:v>
                </c:pt>
              </c:strCache>
            </c:strRef>
          </c:tx>
          <c:spPr>
            <a:solidFill>
              <a:srgbClr val="1B3A5C"/>
            </a:solidFill>
          </c:spPr>
          <c:cat>
            <c:strRef>
              <c:f>Sheet1!$A$2:$A$3</c:f>
              <c:strCache>
                <c:ptCount val="2"/>
                <c:pt idx="0">
                  <c:v>広告表示あり(Free・Go)</c:v>
                </c:pt>
                <c:pt idx="1">
                  <c:v>広告表示なし(Plus/Pro/Enterprise/Business/Education)</c:v>
                </c:pt>
              </c:strCache>
            </c:strRef>
          </c:cat>
          <c:val>
            <c:numRef>
              <c:f>Sheet1!$B$2:$B$3</c:f>
              <c:numCache>
                <c:formatCode>General</c:formatCode>
                <c:ptCount val="2"/>
                <c:pt idx="0">
                  <c:v>2</c:v>
                </c:pt>
                <c:pt idx="1">
                  <c:v>5</c:v>
                </c:pt>
              </c:numCache>
            </c:numRef>
          </c:val>
        </c:ser>
        <c:dLbls>
          <c:numFmt formatCode="#,##0" sourceLinked="0"/>
          <c:txPr>
            <a:bodyPr/>
            <a:lstStyle/>
            <a:p>
              <a:pPr>
                <a:defRPr sz="1200" b="1">
                  <a:solidFill>
                    <a:srgbClr val="1B3A5C"/>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2026年8月15日土曜日午前8時29分、OpenAI Ireland Limitedが欧州経済領域とスイスのChatGPT Free・Goプランユーザーに、プライバシーポリシー改定の通知メールを送りました。内容は今月後半からChatGPT上に広告が表示されるというものです。今日はこの通知の中身を出典付きで整理します。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ChatGPTのFreeプランとGoプランに、今月後半から広告が表示されるようになります。ターゲティングは初期段階では会話の話題など文脈連動型のみで、チャット履歴を使った広告には別途の同意が必要です。詳しい仕組みをこれから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今日は6つの流れでお伝えします。通知メールの内容、広告の仕組み、対象プランの違い、データ処理の場所まで出典付きで整理し、最後に確認できなかったことを正直にお伝えします。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通知メールが送られたのは着手日の前日で、鮮度の高い話題です。ChatGPTを無料で使っている人に直接関わる内容であり、専門メディアの報道と公式ヘルプセンターの説明が整合していることも確認でき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を確認します。8月15日午前8時29分に通知メールが送られ、その中で広告の選定・測定・管理の方法が説明されました。実際に広告が表示され始めるのは今月後半とされていますが、具体的な日付は公表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通知メールの内容を確認します。広告がどのように選ばれ、どのように効果測定され、ユーザーがどうコントロールできるかという3点を説明する、プライバシーポリシー改定の通知でした。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広告の対象になるのは無料のFreeプランと、低価格帯のGoプランです。一方でPlus・Pro・Enterprise・Business・Educationという5つの有料プランは対象外とされています。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今回の内容は複数の情報源で確認しています。専門メディアppc.landが通知メールの内容を報じ、OpenAI公式のヘルプセンターと2本のブログ記事が、広告の仕組みや導入の考え方を説明しています。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本題に入る前に、ChatGPTのプラン階層を確認します。無料のFree、低価格帯のGo、そしてPlus・Pro・Enterprise・Business・Educationという有料の上位プラン群があります。今回広告が入るのはFreeとGoの2つです。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には大きく2種類あります。今の会話の話題や大まかな位置情報、デバイスの種類に基づく文脈連動型広告と、チャット履歴やメモリーを使うパーソナライズ広告です。EEA・スイスで初期導入されるのは文脈連動型のみ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導入前と導入後を比較します。現在はFree・Goプランでも広告は表示されていませんが、今月後半以降は、会話の話題や大まかな位置情報、デバイスの種類に基づいた文脈連動型広告が表示されるよう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通知が送られた具体的な時刻を確認します。2026年8月15日、土曜日の午前8時29分でした。週末の朝という時間帯に、EEA・スイスのFree・Goユーザーへ一斉に送られたことが分かっています。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プランの数をグラフにしました。広告が表示されるのはFreeとGoの2プラン、表示されないのはPlus・Pro・Enterprise・Business・Educationの5プランです。有料プランの方が広く対象外になっている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文脈連動型広告が使う情報は3つです。今の会話の話題、大まかな位置情報、そして使っているデバイスの種類です。個人の会話履歴やメモリーそのものは、この段階では使われません。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チャット履歴やメモリーを使うパーソナライズ広告については、明示的なオプトインが必須とされています。そしてEEA・スイスでは、このパーソナライズ広告自体が当初は提供されません。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広告表示の対象外となる5つのプランを一覧にしました。Plus・Pro・Enterprise・Business・Educationのいずれも、今回の広告導入の対象には含まれていません。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ータがどこで処理されるかを図にしました。EEA・スイスのユーザーのデータであっても、処理自体はそれらの地域や英国の域外、米国を含む場所で行われます。その根拠はGDPRの十分性認定か、標準契約条項のいずれか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データ移転の法的根拠を2つに分けて確認します。1つは欧州委員会の十分性認定、もう1つは標準契約条項です。どちらもGDPRが認める適法な域外移転の手段です。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で確認できたことと、できなかったことを整理します。広告導入の事実は複数の情報源で確認できていますが、具体的な開始日、他地域への展開、広告料金や広告主については公表されておらず、不明のまま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何を意味するかを整理します。Free・Goプランを使い続けると、今月後半から広告が表示されます。広告を避けたい場合は上位プランへの変更が選択肢になり、パーソナライズ広告は任意なので、何もしなければ文脈連動型のみが表示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表示が気になる場合の選択肢を整理しました。まず自分のプランを確認し、パーソナライズ広告のオプトイン状況を確認します。広告自体を避けたい場合は対象外プランへの変更を検討し、最新情報は公式ヘルプセンターで確認することをおすすめ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e・Goプランを使い続けるメリットと注意点を整理します。無料・低価格で使い続けられる一方、会話中に広告が表示されるようになり、大まかな位置情報やデバイス種別が広告選定に使われる点は押さえておく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実践的な示唆をまとめました。ChatGPTユーザーとして自分のプランを確認すること、プライバシーを重視する立場としてオプトインが任意であることを理解すること、発信する立場として未確定情報を断定しないことが大切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とプライバシーをめぐって一般的に指摘されやすい論点を、中立的に整理します。会話内容がどこまで広告に使われるかは関心を集めやすいテーマですが、本動画では特定の立場からの批判・称賛はせず、確認できた事実のみを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に確認できている内容にはギャップが生まれがちです。無料プラン自体がなくなるわけではなく、広告が加わるだけです。チャット履歴が使われるのも当面はなく、他地域への展開も現時点では不明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立ち止まります。OpenAIは本パイプラインの運営元とは無関係の別会社であり、競合批判や宣伝の意図はありません。広告導入という事実を、賛否どちらにも偏らず中立的に紹介し、確認できなかったことは正直に不明と明記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確認できていないことを一覧にしました。開始日の具体的な日付、他地域への展開、広告料金や広告主については、本調査の範囲では確認できておらず、推測で埋めずに不明としています。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見通しについて触れますが、あくまで推測であり断定ではありません。「今月後半」という表現から8月中の開始発表がありうると考えられますが、他地域への展開時期については判断材料がなく、不明のまま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本編は以上です。今回はOpenAIが欧州のChatGPT Free・Goユーザーに送った、広告導入の通知メールについてお伝えしました。確認できた事実と、確認できなかったことの両方を、出典付きで正直に整理しました。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無料でChatGPTを使うと、</a:t>
            </a:r>
          </a:p>
          <a:p>
            <a:pPr algn="l">
              <a:lnSpc>
                <a:spcPct val="115000"/>
              </a:lnSpc>
            </a:pPr>
            <a:r>
              <a:rPr sz="4200" b="1">
                <a:solidFill>
                  <a:srgbClr val="FFFFFF"/>
                </a:solidFill>
                <a:latin typeface="Yu Gothic"/>
              </a:rPr>
              <a:t>広告が出るようになる。</a:t>
            </a:r>
          </a:p>
          <a:p>
            <a:pPr algn="l">
              <a:lnSpc>
                <a:spcPct val="115000"/>
              </a:lnSpc>
            </a:pPr>
            <a:r>
              <a:rPr sz="4200" b="1">
                <a:solidFill>
                  <a:srgbClr val="FFFFFF"/>
                </a:solidFill>
                <a:latin typeface="Yu Gothic"/>
              </a:rPr>
              <a:t>2026年8月15日08:29、OpenAIが欧州へ通知した。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EEA・スイスのFree/Goプランユーザーへ、プライバシーポリシー改定メールが届いた――出典付きで整理する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ppc.land(2026-08-15)・OpenAI Help Center「Ads in ChatGPT」・OpenAI公式ブログ「Testing ads in ChatGPT」「Our approach to advertising and expanding access to ChatGPT」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Free・Goに広告表示へ</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OpenAI Irelandが2026年8月15日、プライバシーポリシー改定として通知。開始日は「今月後半」としか説明されていない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ppc.land(2026-08-15)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通知メールの内容と時系列</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広告の仕組み(文脈連動型とパーソナライズ広告の違い)</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対象プラン・対象外プランを数字で確認</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データはどこで処理されるのか</a:t>
            </a:r>
          </a:p>
        </p:txBody>
      </p:sp>
      <p:sp>
        <p:nvSpPr>
          <p:cNvPr id="15" name="Oval 14"/>
          <p:cNvSpPr/>
          <p:nvPr/>
        </p:nvSpPr>
        <p:spPr>
          <a:xfrm>
            <a:off x="548640" y="58064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CE6F5"/>
                </a:solidFill>
                <a:latin typeface="Yu Gothic"/>
              </a:rPr>
              <a:t>視聴者への実践的な示唆・確認できなかったこと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通知メール送付(2026年8月15日)から着手日まで1日以内という新しい話題である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無料でChatGPTを使っている人に直接関わる話題で、関心を引きやすい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専門メディアの報道とOpenAI公式ヘルプセンターの内容が整合している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ppc.land・OpenAI Help Center(2026-08-15時点)</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時系列で見る通知の流れ</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2026-08-15 08:29</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OpenAI Ireland LimitedがEEA・スイスのFree/Goユーザーへプライバシーポリシー改定メールを送付</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通知の内容</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広告の選定・測定・管理の方法を説明する内容</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今月後半</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ChatGPT上に広告が表示され始める(具体的な開始日は非公開)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通知メールの内容(プライバシーポリシー改定)</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メールの内容を確認します。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広告がどう選ばれるか(ターゲティングの方法)を説明している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広告の効果がどう測定されるかを説明している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ユーザーが広告表示をどう管理・コントロールできるかを説明している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ppc.land(2026-08-15)</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対象になるのは誰か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Freeプラン</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今月後半から広告が表示される対象</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Goプラン</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同じく広告が表示される対象</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5</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対象外プラン</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Plus・Pro・Enterprise・Business・Educationの5プランには広告は表示されない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情報源ごとの報道内容</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ppc.land(2026-08-15)</a:t>
                      </a:r>
                    </a:p>
                  </a:txBody>
                  <a:tcPr>
                    <a:solidFill>
                      <a:srgbClr val="FFFFFF"/>
                    </a:solidFill>
                  </a:tcPr>
                </a:tc>
                <a:tc>
                  <a:txBody>
                    <a:bodyPr/>
                    <a:lstStyle/>
                    <a:p>
                      <a:pPr>
                        <a:defRPr sz="1200">
                          <a:solidFill>
                            <a:srgbClr val="16202E"/>
                          </a:solidFill>
                          <a:latin typeface="Yu Gothic"/>
                        </a:defRPr>
                      </a:pPr>
                      <a:r>
                        <a:t>通知メールの送付事実・時刻・内容を報道</a:t>
                      </a:r>
                    </a:p>
                  </a:txBody>
                  <a:tcPr>
                    <a:solidFill>
                      <a:srgbClr val="FFFFFF"/>
                    </a:solidFill>
                  </a:tcPr>
                </a:tc>
              </a:tr>
              <a:tr h="502920">
                <a:tc>
                  <a:txBody>
                    <a:bodyPr/>
                    <a:lstStyle/>
                    <a:p>
                      <a:pPr>
                        <a:defRPr sz="1200">
                          <a:solidFill>
                            <a:srgbClr val="16202E"/>
                          </a:solidFill>
                          <a:latin typeface="Yu Gothic"/>
                        </a:defRPr>
                      </a:pPr>
                      <a:r>
                        <a:t>OpenAI Help Center「Ads in ChatGPT」</a:t>
                      </a:r>
                    </a:p>
                  </a:txBody>
                  <a:tcPr>
                    <a:solidFill>
                      <a:srgbClr val="F2F6FA"/>
                    </a:solidFill>
                  </a:tcPr>
                </a:tc>
                <a:tc>
                  <a:txBody>
                    <a:bodyPr/>
                    <a:lstStyle/>
                    <a:p>
                      <a:pPr>
                        <a:defRPr sz="1200">
                          <a:solidFill>
                            <a:srgbClr val="16202E"/>
                          </a:solidFill>
                          <a:latin typeface="Yu Gothic"/>
                        </a:defRPr>
                      </a:pPr>
                      <a:r>
                        <a:t>広告の仕組み・対象プランを公式に説明</a:t>
                      </a:r>
                    </a:p>
                  </a:txBody>
                  <a:tcPr>
                    <a:solidFill>
                      <a:srgbClr val="F2F6FA"/>
                    </a:solidFill>
                  </a:tcPr>
                </a:tc>
              </a:tr>
              <a:tr h="502920">
                <a:tc>
                  <a:txBody>
                    <a:bodyPr/>
                    <a:lstStyle/>
                    <a:p>
                      <a:pPr>
                        <a:defRPr sz="1200">
                          <a:solidFill>
                            <a:srgbClr val="16202E"/>
                          </a:solidFill>
                          <a:latin typeface="Yu Gothic"/>
                        </a:defRPr>
                      </a:pPr>
                      <a:r>
                        <a:t>OpenAI公式ブログ「Testing ads in ChatGPT」</a:t>
                      </a:r>
                    </a:p>
                  </a:txBody>
                  <a:tcPr>
                    <a:solidFill>
                      <a:srgbClr val="FFFFFF"/>
                    </a:solidFill>
                  </a:tcPr>
                </a:tc>
                <a:tc>
                  <a:txBody>
                    <a:bodyPr/>
                    <a:lstStyle/>
                    <a:p>
                      <a:pPr>
                        <a:defRPr sz="1200">
                          <a:solidFill>
                            <a:srgbClr val="16202E"/>
                          </a:solidFill>
                          <a:latin typeface="Yu Gothic"/>
                        </a:defRPr>
                      </a:pPr>
                      <a:r>
                        <a:t>広告のテスト方針を公式に説明</a:t>
                      </a:r>
                    </a:p>
                  </a:txBody>
                  <a:tcPr>
                    <a:solidFill>
                      <a:srgbClr val="FFFFFF"/>
                    </a:solidFill>
                  </a:tcPr>
                </a:tc>
              </a:tr>
              <a:tr h="502920">
                <a:tc>
                  <a:txBody>
                    <a:bodyPr/>
                    <a:lstStyle/>
                    <a:p>
                      <a:pPr>
                        <a:defRPr sz="1200">
                          <a:solidFill>
                            <a:srgbClr val="16202E"/>
                          </a:solidFill>
                          <a:latin typeface="Yu Gothic"/>
                        </a:defRPr>
                      </a:pPr>
                      <a:r>
                        <a:t>OpenAI公式ブログ「Our approach to advertising and expanding access to ChatGPT」</a:t>
                      </a:r>
                    </a:p>
                  </a:txBody>
                  <a:tcPr>
                    <a:solidFill>
                      <a:srgbClr val="F2F6FA"/>
                    </a:solidFill>
                  </a:tcPr>
                </a:tc>
                <a:tc>
                  <a:txBody>
                    <a:bodyPr/>
                    <a:lstStyle/>
                    <a:p>
                      <a:pPr>
                        <a:defRPr sz="1200">
                          <a:solidFill>
                            <a:srgbClr val="16202E"/>
                          </a:solidFill>
                          <a:latin typeface="Yu Gothic"/>
                        </a:defRPr>
                      </a:pPr>
                      <a:r>
                        <a:t>広告導入の目的・考え方を公式に説明</a:t>
                      </a:r>
                    </a:p>
                  </a:txBody>
                  <a:tcPr>
                    <a:solidFill>
                      <a:srgbClr val="F2F6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前提知識: ChatGPTのプラン階層とは</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本題に入る前に、プランの前提を確認します。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Free: 無料で使える基本プラン</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Go: Freeより上位の低価格帯プラン</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Plus・Pro・Enterprise・Business・Education: 有料の上位プラン群(今回は対象外)</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前提知識: 文脈連動型広告とパーソナライズ広告の違い</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広告の種類を確認します。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文脈連動型広告: 今の会話の話題・大まかな位置情報・デバイス種別に基づく広告</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パーソナライズ広告: チャット履歴やメモリーを使って個人に合わせる広告</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今回EEA・スイスで初期導入されるのは文脈連動型のみ</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導入前 / 導入後を比較する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現在(広告導入前)</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Free/Goプランでも広告表示なし</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会話内容は広告に使われない</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今月後半以降(導入後)</a:t>
            </a:r>
          </a:p>
        </p:txBody>
      </p:sp>
      <p:sp>
        <p:nvSpPr>
          <p:cNvPr id="16" name="Oval 15"/>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Free/Goプランに文脈連動型広告が表示</a:t>
            </a:r>
          </a:p>
        </p:txBody>
      </p:sp>
      <p:sp>
        <p:nvSpPr>
          <p:cNvPr id="18" name="Oval 17"/>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会話の話題・大まかな位置情報・デバイス種別が広告選定に使われる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通知が送られた時刻</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08:29</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2026年8月15日(土)午前8時29分、OpenAI Ireland Limitedが通知メールを送付した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ppc.land(2026-08-15)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対象プラン数を数字で見る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OpenAI Help Center「Ads in ChatGPT」</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文脈連動型広告が使う3つの情報</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会話の話題</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今のやり取りの内容(トピック)</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大まかな位置情報</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詳細な現在地ではなく、大まかなエリア</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デバイス種別</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スマートフォン・PCなど使用端末の種類</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OpenAI Help Center「Ads in ChatGPT」</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パーソナライズ広告は明示的オプトインが必須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オプトイン必須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チャット履歴・メモリーを使ったパーソナライズ広告は、EEA・スイスでは当初提供されず、利用には明示的な同意が必要</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OpenAI Help Center「Ads in ChatGPT」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広告対象外の5プラン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プラン</a:t>
                      </a:r>
                    </a:p>
                  </a:txBody>
                  <a:tcPr>
                    <a:solidFill>
                      <a:srgbClr val="1B3A5C"/>
                    </a:solidFill>
                  </a:tcPr>
                </a:tc>
                <a:tc>
                  <a:txBody>
                    <a:bodyPr/>
                    <a:lstStyle/>
                    <a:p>
                      <a:pPr>
                        <a:defRPr sz="1300" b="1">
                          <a:solidFill>
                            <a:srgbClr val="FFFFFF"/>
                          </a:solidFill>
                          <a:latin typeface="Yu Gothic"/>
                        </a:defRPr>
                      </a:pPr>
                      <a:r>
                        <a:t>広告表示</a:t>
                      </a:r>
                    </a:p>
                  </a:txBody>
                  <a:tcPr>
                    <a:solidFill>
                      <a:srgbClr val="1B3A5C"/>
                    </a:solidFill>
                  </a:tcPr>
                </a:tc>
              </a:tr>
              <a:tr h="502920">
                <a:tc>
                  <a:txBody>
                    <a:bodyPr/>
                    <a:lstStyle/>
                    <a:p>
                      <a:pPr>
                        <a:defRPr sz="1200">
                          <a:solidFill>
                            <a:srgbClr val="16202E"/>
                          </a:solidFill>
                          <a:latin typeface="Yu Gothic"/>
                        </a:defRPr>
                      </a:pPr>
                      <a:r>
                        <a:t>Plus</a:t>
                      </a:r>
                    </a:p>
                  </a:txBody>
                  <a:tcPr>
                    <a:solidFill>
                      <a:srgbClr val="FFFFFF"/>
                    </a:solidFill>
                  </a:tcPr>
                </a:tc>
                <a:tc>
                  <a:txBody>
                    <a:bodyPr/>
                    <a:lstStyle/>
                    <a:p>
                      <a:pPr>
                        <a:defRPr sz="1200">
                          <a:solidFill>
                            <a:srgbClr val="16202E"/>
                          </a:solidFill>
                          <a:latin typeface="Yu Gothic"/>
                        </a:defRPr>
                      </a:pPr>
                      <a:r>
                        <a:t>対象外</a:t>
                      </a:r>
                    </a:p>
                  </a:txBody>
                  <a:tcPr>
                    <a:solidFill>
                      <a:srgbClr val="FFFFFF"/>
                    </a:solidFill>
                  </a:tcPr>
                </a:tc>
              </a:tr>
              <a:tr h="502920">
                <a:tc>
                  <a:txBody>
                    <a:bodyPr/>
                    <a:lstStyle/>
                    <a:p>
                      <a:pPr>
                        <a:defRPr sz="1200">
                          <a:solidFill>
                            <a:srgbClr val="16202E"/>
                          </a:solidFill>
                          <a:latin typeface="Yu Gothic"/>
                        </a:defRPr>
                      </a:pPr>
                      <a:r>
                        <a:t>Pro</a:t>
                      </a:r>
                    </a:p>
                  </a:txBody>
                  <a:tcPr>
                    <a:solidFill>
                      <a:srgbClr val="F2F6FA"/>
                    </a:solidFill>
                  </a:tcPr>
                </a:tc>
                <a:tc>
                  <a:txBody>
                    <a:bodyPr/>
                    <a:lstStyle/>
                    <a:p>
                      <a:pPr>
                        <a:defRPr sz="1200">
                          <a:solidFill>
                            <a:srgbClr val="16202E"/>
                          </a:solidFill>
                          <a:latin typeface="Yu Gothic"/>
                        </a:defRPr>
                      </a:pPr>
                      <a:r>
                        <a:t>対象外</a:t>
                      </a:r>
                    </a:p>
                  </a:txBody>
                  <a:tcPr>
                    <a:solidFill>
                      <a:srgbClr val="F2F6FA"/>
                    </a:solidFill>
                  </a:tcPr>
                </a:tc>
              </a:tr>
              <a:tr h="502920">
                <a:tc>
                  <a:txBody>
                    <a:bodyPr/>
                    <a:lstStyle/>
                    <a:p>
                      <a:pPr>
                        <a:defRPr sz="1200">
                          <a:solidFill>
                            <a:srgbClr val="16202E"/>
                          </a:solidFill>
                          <a:latin typeface="Yu Gothic"/>
                        </a:defRPr>
                      </a:pPr>
                      <a:r>
                        <a:t>Enterprise</a:t>
                      </a:r>
                    </a:p>
                  </a:txBody>
                  <a:tcPr>
                    <a:solidFill>
                      <a:srgbClr val="FFFFFF"/>
                    </a:solidFill>
                  </a:tcPr>
                </a:tc>
                <a:tc>
                  <a:txBody>
                    <a:bodyPr/>
                    <a:lstStyle/>
                    <a:p>
                      <a:pPr>
                        <a:defRPr sz="1200">
                          <a:solidFill>
                            <a:srgbClr val="16202E"/>
                          </a:solidFill>
                          <a:latin typeface="Yu Gothic"/>
                        </a:defRPr>
                      </a:pPr>
                      <a:r>
                        <a:t>対象外</a:t>
                      </a:r>
                    </a:p>
                  </a:txBody>
                  <a:tcPr>
                    <a:solidFill>
                      <a:srgbClr val="FFFFFF"/>
                    </a:solidFill>
                  </a:tcPr>
                </a:tc>
              </a:tr>
              <a:tr h="502920">
                <a:tc>
                  <a:txBody>
                    <a:bodyPr/>
                    <a:lstStyle/>
                    <a:p>
                      <a:pPr>
                        <a:defRPr sz="1200">
                          <a:solidFill>
                            <a:srgbClr val="16202E"/>
                          </a:solidFill>
                          <a:latin typeface="Yu Gothic"/>
                        </a:defRPr>
                      </a:pPr>
                      <a:r>
                        <a:t>Business</a:t>
                      </a:r>
                    </a:p>
                  </a:txBody>
                  <a:tcPr>
                    <a:solidFill>
                      <a:srgbClr val="F2F6FA"/>
                    </a:solidFill>
                  </a:tcPr>
                </a:tc>
                <a:tc>
                  <a:txBody>
                    <a:bodyPr/>
                    <a:lstStyle/>
                    <a:p>
                      <a:pPr>
                        <a:defRPr sz="1200">
                          <a:solidFill>
                            <a:srgbClr val="16202E"/>
                          </a:solidFill>
                          <a:latin typeface="Yu Gothic"/>
                        </a:defRPr>
                      </a:pPr>
                      <a:r>
                        <a:t>対象外</a:t>
                      </a:r>
                    </a:p>
                  </a:txBody>
                  <a:tcPr>
                    <a:solidFill>
                      <a:srgbClr val="F2F6FA"/>
                    </a:solidFill>
                  </a:tcPr>
                </a:tc>
              </a:tr>
              <a:tr h="502920">
                <a:tc>
                  <a:txBody>
                    <a:bodyPr/>
                    <a:lstStyle/>
                    <a:p>
                      <a:pPr>
                        <a:defRPr sz="1200">
                          <a:solidFill>
                            <a:srgbClr val="16202E"/>
                          </a:solidFill>
                          <a:latin typeface="Yu Gothic"/>
                        </a:defRPr>
                      </a:pPr>
                      <a:r>
                        <a:t>Education</a:t>
                      </a:r>
                    </a:p>
                  </a:txBody>
                  <a:tcPr>
                    <a:solidFill>
                      <a:srgbClr val="FFFFFF"/>
                    </a:solidFill>
                  </a:tcPr>
                </a:tc>
                <a:tc>
                  <a:txBody>
                    <a:bodyPr/>
                    <a:lstStyle/>
                    <a:p>
                      <a:pPr>
                        <a:defRPr sz="1200">
                          <a:solidFill>
                            <a:srgbClr val="16202E"/>
                          </a:solidFill>
                          <a:latin typeface="Yu Gothic"/>
                        </a:defRPr>
                      </a:pPr>
                      <a:r>
                        <a:t>対象外</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OpenAI Help Center「Ads in ChatGPT」</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データはどこで処理されるのか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EEA・スイスのユーザー</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Free/Goプランで利用</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データ処理</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EEA・スイス・英国域外(米国含む)で実施</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法的根拠</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GDPR十分性認定 または 標準契約条項(SCC)</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データ処理の法的根拠はGDPR第45条(1)項の十分性認定、または第46条(2)(c)項の標準契約条項に基づく</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OpenAI Help Center「Ads in ChatGPT」</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法的根拠の内訳(GDPR)</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根拠</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GDPR第45条(1)項</a:t>
                      </a:r>
                    </a:p>
                  </a:txBody>
                  <a:tcPr>
                    <a:solidFill>
                      <a:srgbClr val="FFFFFF"/>
                    </a:solidFill>
                  </a:tcPr>
                </a:tc>
                <a:tc>
                  <a:txBody>
                    <a:bodyPr/>
                    <a:lstStyle/>
                    <a:p>
                      <a:pPr>
                        <a:defRPr sz="1200">
                          <a:solidFill>
                            <a:srgbClr val="16202E"/>
                          </a:solidFill>
                          <a:latin typeface="Yu Gothic"/>
                        </a:defRPr>
                      </a:pPr>
                      <a:r>
                        <a:t>欧州委員会による十分性認定を受けた国・地域への移転</a:t>
                      </a:r>
                    </a:p>
                  </a:txBody>
                  <a:tcPr>
                    <a:solidFill>
                      <a:srgbClr val="FFFFFF"/>
                    </a:solidFill>
                  </a:tcPr>
                </a:tc>
              </a:tr>
              <a:tr h="502920">
                <a:tc>
                  <a:txBody>
                    <a:bodyPr/>
                    <a:lstStyle/>
                    <a:p>
                      <a:pPr>
                        <a:defRPr sz="1200">
                          <a:solidFill>
                            <a:srgbClr val="16202E"/>
                          </a:solidFill>
                          <a:latin typeface="Yu Gothic"/>
                        </a:defRPr>
                      </a:pPr>
                      <a:r>
                        <a:t>GDPR第46条(2)(c)項</a:t>
                      </a:r>
                    </a:p>
                  </a:txBody>
                  <a:tcPr>
                    <a:solidFill>
                      <a:srgbClr val="F2F6FA"/>
                    </a:solidFill>
                  </a:tcPr>
                </a:tc>
                <a:tc>
                  <a:txBody>
                    <a:bodyPr/>
                    <a:lstStyle/>
                    <a:p>
                      <a:pPr>
                        <a:defRPr sz="1200">
                          <a:solidFill>
                            <a:srgbClr val="16202E"/>
                          </a:solidFill>
                          <a:latin typeface="Yu Gothic"/>
                        </a:defRPr>
                      </a:pPr>
                      <a:r>
                        <a:t>標準契約条項(SCC)に基づく移転</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OpenAI Help Center「Ads in ChatGPT」</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確認できたこと / できなかったこと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状況</a:t>
                      </a:r>
                    </a:p>
                  </a:txBody>
                  <a:tcPr>
                    <a:solidFill>
                      <a:srgbClr val="1B3A5C"/>
                    </a:solidFill>
                  </a:tcPr>
                </a:tc>
              </a:tr>
              <a:tr h="502920">
                <a:tc>
                  <a:txBody>
                    <a:bodyPr/>
                    <a:lstStyle/>
                    <a:p>
                      <a:pPr>
                        <a:defRPr sz="1200">
                          <a:solidFill>
                            <a:srgbClr val="16202E"/>
                          </a:solidFill>
                          <a:latin typeface="Yu Gothic"/>
                        </a:defRPr>
                      </a:pPr>
                      <a:r>
                        <a:t>広告導入の事実(Free/Go対象)</a:t>
                      </a:r>
                    </a:p>
                  </a:txBody>
                  <a:tcPr>
                    <a:solidFill>
                      <a:srgbClr val="FFFFFF"/>
                    </a:solidFill>
                  </a:tcPr>
                </a:tc>
                <a:tc>
                  <a:txBody>
                    <a:bodyPr/>
                    <a:lstStyle/>
                    <a:p>
                      <a:pPr>
                        <a:defRPr sz="1200">
                          <a:solidFill>
                            <a:srgbClr val="16202E"/>
                          </a:solidFill>
                          <a:latin typeface="Yu Gothic"/>
                        </a:defRPr>
                      </a:pPr>
                      <a:r>
                        <a:t>確認済み(複数情報源が一致)</a:t>
                      </a:r>
                    </a:p>
                  </a:txBody>
                  <a:tcPr>
                    <a:solidFill>
                      <a:srgbClr val="FFFFFF"/>
                    </a:solidFill>
                  </a:tcPr>
                </a:tc>
              </a:tr>
              <a:tr h="502920">
                <a:tc>
                  <a:txBody>
                    <a:bodyPr/>
                    <a:lstStyle/>
                    <a:p>
                      <a:pPr>
                        <a:defRPr sz="1200">
                          <a:solidFill>
                            <a:srgbClr val="16202E"/>
                          </a:solidFill>
                          <a:latin typeface="Yu Gothic"/>
                        </a:defRPr>
                      </a:pPr>
                      <a:r>
                        <a:t>広告開始の具体的な日付</a:t>
                      </a:r>
                    </a:p>
                  </a:txBody>
                  <a:tcPr>
                    <a:solidFill>
                      <a:srgbClr val="F2F6FA"/>
                    </a:solidFill>
                  </a:tcPr>
                </a:tc>
                <a:tc>
                  <a:txBody>
                    <a:bodyPr/>
                    <a:lstStyle/>
                    <a:p>
                      <a:pPr>
                        <a:defRPr sz="1200">
                          <a:solidFill>
                            <a:srgbClr val="16202E"/>
                          </a:solidFill>
                          <a:latin typeface="Yu Gothic"/>
                        </a:defRPr>
                      </a:pPr>
                      <a:r>
                        <a:t>不明(「今月後半」としか説明されていない)</a:t>
                      </a:r>
                    </a:p>
                  </a:txBody>
                  <a:tcPr>
                    <a:solidFill>
                      <a:srgbClr val="F2F6FA"/>
                    </a:solidFill>
                  </a:tcPr>
                </a:tc>
              </a:tr>
              <a:tr h="502920">
                <a:tc>
                  <a:txBody>
                    <a:bodyPr/>
                    <a:lstStyle/>
                    <a:p>
                      <a:pPr>
                        <a:defRPr sz="1200">
                          <a:solidFill>
                            <a:srgbClr val="16202E"/>
                          </a:solidFill>
                          <a:latin typeface="Yu Gothic"/>
                        </a:defRPr>
                      </a:pPr>
                      <a:r>
                        <a:t>日本など他地域への展開時期</a:t>
                      </a:r>
                    </a:p>
                  </a:txBody>
                  <a:tcPr>
                    <a:solidFill>
                      <a:srgbClr val="FFFFFF"/>
                    </a:solidFill>
                  </a:tcPr>
                </a:tc>
                <a:tc>
                  <a:txBody>
                    <a:bodyPr/>
                    <a:lstStyle/>
                    <a:p>
                      <a:pPr>
                        <a:defRPr sz="1200">
                          <a:solidFill>
                            <a:srgbClr val="16202E"/>
                          </a:solidFill>
                          <a:latin typeface="Yu Gothic"/>
                        </a:defRPr>
                      </a:pPr>
                      <a:r>
                        <a:t>不明(本調査の範囲では確認できず)</a:t>
                      </a:r>
                    </a:p>
                  </a:txBody>
                  <a:tcPr>
                    <a:solidFill>
                      <a:srgbClr val="FFFFFF"/>
                    </a:solidFill>
                  </a:tcPr>
                </a:tc>
              </a:tr>
              <a:tr h="502920">
                <a:tc>
                  <a:txBody>
                    <a:bodyPr/>
                    <a:lstStyle/>
                    <a:p>
                      <a:pPr>
                        <a:defRPr sz="1200">
                          <a:solidFill>
                            <a:srgbClr val="16202E"/>
                          </a:solidFill>
                          <a:latin typeface="Yu Gothic"/>
                        </a:defRPr>
                      </a:pPr>
                      <a:r>
                        <a:t>広告料金・売上見込み・広告主名</a:t>
                      </a:r>
                    </a:p>
                  </a:txBody>
                  <a:tcPr>
                    <a:solidFill>
                      <a:srgbClr val="F2F6FA"/>
                    </a:solidFill>
                  </a:tcPr>
                </a:tc>
                <a:tc>
                  <a:txBody>
                    <a:bodyPr/>
                    <a:lstStyle/>
                    <a:p>
                      <a:pPr>
                        <a:defRPr sz="1200">
                          <a:solidFill>
                            <a:srgbClr val="16202E"/>
                          </a:solidFill>
                          <a:latin typeface="Yu Gothic"/>
                        </a:defRPr>
                      </a:pPr>
                      <a:r>
                        <a:t>不明(公表されていない)</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これで何が変わるか・Free/Goユーザーへの示唆</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このニュースが意味することを整理します。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Free・Goプランを使い続ける場合、今月後半から会話中に広告が表示されるようになる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広告を表示させたくない場合は、対象外プラン(Plus等)への変更が選択肢になる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パーソナライズ広告は任意のオプトインであり、何もしなければ文脈連動型のみが表示される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広告表示が気になる場合の選択肢</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B3A5C"/>
                </a:solidFill>
                <a:latin typeface="Yu Gothic"/>
              </a:rPr>
              <a:t>1</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現在のプランを確認する(Free/Goか、対象外プランか)</a:t>
            </a:r>
          </a:p>
        </p:txBody>
      </p:sp>
      <p:sp>
        <p:nvSpPr>
          <p:cNvPr id="11" name="Chevron 10"/>
          <p:cNvSpPr/>
          <p:nvPr/>
        </p:nvSpPr>
        <p:spPr>
          <a:xfrm>
            <a:off x="3068040"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B3A5C"/>
                </a:solidFill>
                <a:latin typeface="Yu Gothic"/>
              </a:rPr>
              <a:t>2</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パーソナライズ広告のオプトイン設定を確認する(任意)</a:t>
            </a:r>
          </a:p>
        </p:txBody>
      </p:sp>
      <p:sp>
        <p:nvSpPr>
          <p:cNvPr id="17" name="Chevron 16"/>
          <p:cNvSpPr/>
          <p:nvPr/>
        </p:nvSpPr>
        <p:spPr>
          <a:xfrm>
            <a:off x="5978804"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B3A5C"/>
                </a:solidFill>
                <a:latin typeface="Yu Gothic"/>
              </a:rPr>
              <a:t>3</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広告を避けたい場合は対象外プランへの変更を検討する</a:t>
            </a:r>
          </a:p>
        </p:txBody>
      </p:sp>
      <p:sp>
        <p:nvSpPr>
          <p:cNvPr id="23" name="Chevron 22"/>
          <p:cNvSpPr/>
          <p:nvPr/>
        </p:nvSpPr>
        <p:spPr>
          <a:xfrm>
            <a:off x="8889568"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B3A5C"/>
                </a:solidFill>
                <a:latin typeface="Yu Gothic"/>
              </a:rPr>
              <a:t>4</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OpenAI公式ヘルプセンターで最新情報を確認する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Free/Goプランを使い続ける場合のメリット・注意点</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メリット</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引き続き無料・低価格でChatGPTを利用できる</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文脈連動型広告のみで、履歴を使った広告ではない</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注意点</a:t>
            </a:r>
          </a:p>
        </p:txBody>
      </p:sp>
      <p:sp>
        <p:nvSpPr>
          <p:cNvPr id="16" name="Oval 15"/>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会話中に広告が表示されるようになる</a:t>
            </a:r>
          </a:p>
        </p:txBody>
      </p:sp>
      <p:sp>
        <p:nvSpPr>
          <p:cNvPr id="18" name="Oval 17"/>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位置情報・デバイス種別が広告選定に使われる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視聴者にとっての実践的な示唆</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ChatGPTユーザーとして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自分のプランと、広告表示の対象かどうかを確認しておく</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プライバシーを重視する立場として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パーソナライズ広告のオプトイン設定は任意であることを理解しておく</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開始日など未確定の情報は断定せず、公式発表を待って伝える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広告とプライバシーをめぐる一般的な論点</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広告導入を考えるうえで一般的に指摘される論点を、中立的に整理します。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AIチャットの会話内容がどこまで広告に使われるかは、利用者にとって関心の高い論点になりやすい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文脈連動型かパーソナライズかで、使われる情報の範囲が大きく異なる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本テーマでは特定の批判・称賛の立場は取らず、確認できた事実のみを紹介する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見出しの印象 / 実際に確認できている内容</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ChatGPTの無料版が終わる</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チャット履歴が丸ごと広告に使われる</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日本でもすぐに同じ広告が始まる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実際に確認できている内容</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無料プラン自体は継続。広告が加わるだけ</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初期段階はチャット履歴を使わない文脈連動型のみ</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対象は今のところEEA・スイスのみで、他地域は不明</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本テーマの扱い方について(中立性の確認)</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OpenAIは本パイプラインの運営元とは無関係の別会社であり、競合批判・宣伝のいずれの意図もない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広告導入という事実を、賛否どちらにも偏らず中立的に紹介している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数字・固有名詞の創作は行わず、確認できなかったことは不明と明記している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確認できていないこと(一覧)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状況</a:t>
                      </a:r>
                    </a:p>
                  </a:txBody>
                  <a:tcPr>
                    <a:solidFill>
                      <a:srgbClr val="1B3A5C"/>
                    </a:solidFill>
                  </a:tcPr>
                </a:tc>
              </a:tr>
              <a:tr h="502920">
                <a:tc>
                  <a:txBody>
                    <a:bodyPr/>
                    <a:lstStyle/>
                    <a:p>
                      <a:pPr>
                        <a:defRPr sz="1200">
                          <a:solidFill>
                            <a:srgbClr val="16202E"/>
                          </a:solidFill>
                          <a:latin typeface="Yu Gothic"/>
                        </a:defRPr>
                      </a:pPr>
                      <a:r>
                        <a:t>広告表示開始の具体的な日付</a:t>
                      </a:r>
                    </a:p>
                  </a:txBody>
                  <a:tcPr>
                    <a:solidFill>
                      <a:srgbClr val="FFFFFF"/>
                    </a:solidFill>
                  </a:tcPr>
                </a:tc>
                <a:tc>
                  <a:txBody>
                    <a:bodyPr/>
                    <a:lstStyle/>
                    <a:p>
                      <a:pPr>
                        <a:defRPr sz="1200">
                          <a:solidFill>
                            <a:srgbClr val="16202E"/>
                          </a:solidFill>
                          <a:latin typeface="Yu Gothic"/>
                        </a:defRPr>
                      </a:pPr>
                      <a:r>
                        <a:t>「今月後半」としか説明されておらず不明</a:t>
                      </a:r>
                    </a:p>
                  </a:txBody>
                  <a:tcPr>
                    <a:solidFill>
                      <a:srgbClr val="FFFFFF"/>
                    </a:solidFill>
                  </a:tcPr>
                </a:tc>
              </a:tr>
              <a:tr h="502920">
                <a:tc>
                  <a:txBody>
                    <a:bodyPr/>
                    <a:lstStyle/>
                    <a:p>
                      <a:pPr>
                        <a:defRPr sz="1200">
                          <a:solidFill>
                            <a:srgbClr val="16202E"/>
                          </a:solidFill>
                          <a:latin typeface="Yu Gothic"/>
                        </a:defRPr>
                      </a:pPr>
                      <a:r>
                        <a:t>日本など他地域への展開時期・仕様</a:t>
                      </a:r>
                    </a:p>
                  </a:txBody>
                  <a:tcPr>
                    <a:solidFill>
                      <a:srgbClr val="F2F6FA"/>
                    </a:solidFill>
                  </a:tcPr>
                </a:tc>
                <a:tc>
                  <a:txBody>
                    <a:bodyPr/>
                    <a:lstStyle/>
                    <a:p>
                      <a:pPr>
                        <a:defRPr sz="1200">
                          <a:solidFill>
                            <a:srgbClr val="16202E"/>
                          </a:solidFill>
                          <a:latin typeface="Yu Gothic"/>
                        </a:defRPr>
                      </a:pPr>
                      <a:r>
                        <a:t>本調査の範囲では確認できていない</a:t>
                      </a:r>
                    </a:p>
                  </a:txBody>
                  <a:tcPr>
                    <a:solidFill>
                      <a:srgbClr val="F2F6FA"/>
                    </a:solidFill>
                  </a:tcPr>
                </a:tc>
              </a:tr>
              <a:tr h="502920">
                <a:tc>
                  <a:txBody>
                    <a:bodyPr/>
                    <a:lstStyle/>
                    <a:p>
                      <a:pPr>
                        <a:defRPr sz="1200">
                          <a:solidFill>
                            <a:srgbClr val="16202E"/>
                          </a:solidFill>
                          <a:latin typeface="Yu Gothic"/>
                        </a:defRPr>
                      </a:pPr>
                      <a:r>
                        <a:t>広告料金・想定収益</a:t>
                      </a:r>
                    </a:p>
                  </a:txBody>
                  <a:tcPr>
                    <a:solidFill>
                      <a:srgbClr val="FFFFFF"/>
                    </a:solidFill>
                  </a:tcPr>
                </a:tc>
                <a:tc>
                  <a:txBody>
                    <a:bodyPr/>
                    <a:lstStyle/>
                    <a:p>
                      <a:pPr>
                        <a:defRPr sz="1200">
                          <a:solidFill>
                            <a:srgbClr val="16202E"/>
                          </a:solidFill>
                          <a:latin typeface="Yu Gothic"/>
                        </a:defRPr>
                      </a:pPr>
                      <a:r>
                        <a:t>公表されていない</a:t>
                      </a:r>
                    </a:p>
                  </a:txBody>
                  <a:tcPr>
                    <a:solidFill>
                      <a:srgbClr val="FFFFFF"/>
                    </a:solidFill>
                  </a:tcPr>
                </a:tc>
              </a:tr>
              <a:tr h="502920">
                <a:tc>
                  <a:txBody>
                    <a:bodyPr/>
                    <a:lstStyle/>
                    <a:p>
                      <a:pPr>
                        <a:defRPr sz="1200">
                          <a:solidFill>
                            <a:srgbClr val="16202E"/>
                          </a:solidFill>
                          <a:latin typeface="Yu Gothic"/>
                        </a:defRPr>
                      </a:pPr>
                      <a:r>
                        <a:t>広告主の名称・業種</a:t>
                      </a:r>
                    </a:p>
                  </a:txBody>
                  <a:tcPr>
                    <a:solidFill>
                      <a:srgbClr val="F2F6FA"/>
                    </a:solidFill>
                  </a:tcPr>
                </a:tc>
                <a:tc>
                  <a:txBody>
                    <a:bodyPr/>
                    <a:lstStyle/>
                    <a:p>
                      <a:pPr>
                        <a:defRPr sz="1200">
                          <a:solidFill>
                            <a:srgbClr val="16202E"/>
                          </a:solidFill>
                          <a:latin typeface="Yu Gothic"/>
                        </a:defRPr>
                      </a:pPr>
                      <a:r>
                        <a:t>公表されていない</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今後の見通し(推測であることを明記)</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以下はあくまで合理的推測であり、断定ではありません。</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推測: 「今月後半」という表現から、8月中に開始日が公式発表される可能性がある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推測: 開始後、ユーザーの反応や広告内容についての追加報道が続く可能性がある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不明: 他地域への展開時期・仕様は、本調査の範囲では判断材料がない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無料の対価は、広告だった――出典付きで、事実だけを整理してお届けした。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開始日・他地域展開・広告料金など、確認できなかったことも含めて正直にお伝えしました。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research.mdで出典一覧・確認できなかったことの詳細を確認する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主な出典一覧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ppc.land</a:t>
                      </a:r>
                    </a:p>
                  </a:txBody>
                  <a:tcPr>
                    <a:solidFill>
                      <a:srgbClr val="FFFFFF"/>
                    </a:solidFill>
                  </a:tcPr>
                </a:tc>
                <a:tc>
                  <a:txBody>
                    <a:bodyPr/>
                    <a:lstStyle/>
                    <a:p>
                      <a:pPr>
                        <a:defRPr sz="1200">
                          <a:solidFill>
                            <a:srgbClr val="16202E"/>
                          </a:solidFill>
                          <a:latin typeface="Yu Gothic"/>
                        </a:defRPr>
                      </a:pPr>
                      <a:r>
                        <a:t>2026-08-15付、通知メールの内容を報道</a:t>
                      </a:r>
                    </a:p>
                  </a:txBody>
                  <a:tcPr>
                    <a:solidFill>
                      <a:srgbClr val="FFFFFF"/>
                    </a:solidFill>
                  </a:tcPr>
                </a:tc>
              </a:tr>
              <a:tr h="502920">
                <a:tc>
                  <a:txBody>
                    <a:bodyPr/>
                    <a:lstStyle/>
                    <a:p>
                      <a:pPr>
                        <a:defRPr sz="1200">
                          <a:solidFill>
                            <a:srgbClr val="16202E"/>
                          </a:solidFill>
                          <a:latin typeface="Yu Gothic"/>
                        </a:defRPr>
                      </a:pPr>
                      <a:r>
                        <a:t>OpenAI Help Center</a:t>
                      </a:r>
                    </a:p>
                  </a:txBody>
                  <a:tcPr>
                    <a:solidFill>
                      <a:srgbClr val="F2F6FA"/>
                    </a:solidFill>
                  </a:tcPr>
                </a:tc>
                <a:tc>
                  <a:txBody>
                    <a:bodyPr/>
                    <a:lstStyle/>
                    <a:p>
                      <a:pPr>
                        <a:defRPr sz="1200">
                          <a:solidFill>
                            <a:srgbClr val="16202E"/>
                          </a:solidFill>
                          <a:latin typeface="Yu Gothic"/>
                        </a:defRPr>
                      </a:pPr>
                      <a:r>
                        <a:t>「Ads in ChatGPT」(広告の仕組み・対象プランを公式に説明)</a:t>
                      </a:r>
                    </a:p>
                  </a:txBody>
                  <a:tcPr>
                    <a:solidFill>
                      <a:srgbClr val="F2F6FA"/>
                    </a:solidFill>
                  </a:tcPr>
                </a:tc>
              </a:tr>
              <a:tr h="502920">
                <a:tc>
                  <a:txBody>
                    <a:bodyPr/>
                    <a:lstStyle/>
                    <a:p>
                      <a:pPr>
                        <a:defRPr sz="1200">
                          <a:solidFill>
                            <a:srgbClr val="16202E"/>
                          </a:solidFill>
                          <a:latin typeface="Yu Gothic"/>
                        </a:defRPr>
                      </a:pPr>
                      <a:r>
                        <a:t>OpenAI公式ブログ</a:t>
                      </a:r>
                    </a:p>
                  </a:txBody>
                  <a:tcPr>
                    <a:solidFill>
                      <a:srgbClr val="FFFFFF"/>
                    </a:solidFill>
                  </a:tcPr>
                </a:tc>
                <a:tc>
                  <a:txBody>
                    <a:bodyPr/>
                    <a:lstStyle/>
                    <a:p>
                      <a:pPr>
                        <a:defRPr sz="1200">
                          <a:solidFill>
                            <a:srgbClr val="16202E"/>
                          </a:solidFill>
                          <a:latin typeface="Yu Gothic"/>
                        </a:defRPr>
                      </a:pPr>
                      <a:r>
                        <a:t>「Testing ads in ChatGPT」(広告テスト方針)</a:t>
                      </a:r>
                    </a:p>
                  </a:txBody>
                  <a:tcPr>
                    <a:solidFill>
                      <a:srgbClr val="FFFFFF"/>
                    </a:solidFill>
                  </a:tcPr>
                </a:tc>
              </a:tr>
              <a:tr h="502920">
                <a:tc>
                  <a:txBody>
                    <a:bodyPr/>
                    <a:lstStyle/>
                    <a:p>
                      <a:pPr>
                        <a:defRPr sz="1200">
                          <a:solidFill>
                            <a:srgbClr val="16202E"/>
                          </a:solidFill>
                          <a:latin typeface="Yu Gothic"/>
                        </a:defRPr>
                      </a:pPr>
                      <a:r>
                        <a:t>OpenAI公式ブログ</a:t>
                      </a:r>
                    </a:p>
                  </a:txBody>
                  <a:tcPr>
                    <a:solidFill>
                      <a:srgbClr val="F2F6FA"/>
                    </a:solidFill>
                  </a:tcPr>
                </a:tc>
                <a:tc>
                  <a:txBody>
                    <a:bodyPr/>
                    <a:lstStyle/>
                    <a:p>
                      <a:pPr>
                        <a:defRPr sz="1200">
                          <a:solidFill>
                            <a:srgbClr val="16202E"/>
                          </a:solidFill>
                          <a:latin typeface="Yu Gothic"/>
                        </a:defRPr>
                      </a:pPr>
                      <a:r>
                        <a:t>「Our approach to advertising and expanding access to ChatGPT」(導入の考え方)</a:t>
                      </a:r>
                    </a:p>
                  </a:txBody>
                  <a:tcPr>
                    <a:solidFill>
                      <a:srgbClr val="F2F6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ppc.land・OpenAI Help Center・OpenAI公式ブログ(2026-08-15時点)｜本日3本目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