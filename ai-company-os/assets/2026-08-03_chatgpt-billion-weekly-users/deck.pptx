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tGPTの週間利用者数が、10億人に迫っているという報道がありました。ただし、これは大事な注記付きです。OpenAI自身は、まだこの数字を公式に認めていません。今日はこの話題を、出典付きで整理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まず数字から。ただし、これはOpenAI自身が発表した数字ではありません。The Informationという媒体が、企業データを引用して報じたものです。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今日はこの5つの流れでお伝えします。未確認の情報だからこそ、丁寧に事実を整理していきます。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報道内容を整理すると、この5点になります。特に2番目、公式には確認されていないという点が重要です。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OpenAI自身が公式に発表した最新の数字は、2月時点で9億人超でした。今回の『10億人に迫る』報道は、そこからの推測です。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推移を見ると、1年で利用者数が倍以上になっていることが分かります。ただし直近の『10億人』はまだ報道段階です。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『10億人』という数字だけが独り歩きしないよう、ここは丁寧にお伝えします。まだ確定した事実ではありません。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報道の広がり方を図にすると、こうなります。一つの媒体の報道が転載される一方、当のOpenAIからの公式確認はまだありません。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報道によれば、OpenAIは2025年末までにこの水準への到達を目指していたとされています。仮に本当なら、当初の予定より遅れている、ということになります。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公式発表と報道段階の情報を、混同しないよう分けて表にまとめました。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参考までに競合サービスの規模も紹介します。ただし、次のスライドで説明する通り、単位(週間か月間か)が異なる点に注意が必要です。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Meta AIは月間で12億人とされていますが、ChatGPTの数字は週間利用者数です。単純に比較できない点に注意してください。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週間と月間、この違いは大事です。同じサービスでも、月間で数えれば数字は大きくなりやすくなります。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この落とし穴には気をつけたいところです。単位を揃えないまま比較すると、誤った印象を持ってしまいます。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報道が正しければ、当初の内部目標から約7ヶ月遅れていることになります。ただしこれも、報道の内容が前提の試算です。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正直にお伝えします。この報道は5日前のものです。加えて、内容自体もまだ未確認であることを重ねてお伝えします。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この4点は、今回の調査で確認できなかった事項として一覧化しました。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これが今回、一番お伝えしたいことです。バズる数字ほど、まだ確定していないことを正直に伝える姿勢を大切にしています。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2月の9億人発表は、1,100億ドル規模の資金調達と同時に公表されました。実は76本目でお伝えしたAmazonの500億ドル投資も、この一部です。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この話題から見えてくることを3つ挙げました。いずれも当社の推測です。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この3つは当社の推測です。断定はしていません。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報道はありましたが、公式確認という点では、まだ変わっていないことも多くあります。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76本目と本テーマは、同じ2026年2月の発表を起点にしていますが、扱う内容は異なります。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バズりやすい数字だからこそ、事実と報道の境界線を丁寧にお伝えすることを今回も意識しました。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最後にもう一度確認します。10億人に迫るという報道はありましたが、まだOpenAI自身は認めていません。この点を忘れずにいてください。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最後にもう一度、この一文を紹介します。バズる数字の裏には、まだ確定していない事実があることを覚えておいてください。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今後注目したいポイントを3つ挙げました。この話題は、公式確認が出るまで注視が必要です。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これまでのテーマを通じて、確定した事実とまだ確認段階の情報を分けて伝える大切さが見えてきます。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本テーマの総括です。10億人という数字は魅力的ですが、着手日時点ではまだ報道段階にとどまることを、最後にもう一度確認しておきます。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本編は以上です。今回はChatGPTの週間利用者数をめぐる未確認の報道を題材に、公式発表との違いと、競合比較の注意点についてお伝えしました。次回もまた出典付きでお届けします。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ChatGPTの利用者が、静かに10億人を超えたかもしれない。</a:t>
            </a:r>
          </a:p>
          <a:p>
            <a:pPr algn="l">
              <a:lnSpc>
                <a:spcPct val="115000"/>
              </a:lnSpc>
            </a:pPr>
            <a:r>
              <a:rPr sz="4200" b="1">
                <a:solidFill>
                  <a:srgbClr val="FFFFFF"/>
                </a:solidFill>
                <a:latin typeface="Yu Gothic"/>
              </a:rPr>
              <a:t>ただし、OpenAIはまだ何も認めていない。</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ADCFC"/>
                </a:solidFill>
                <a:latin typeface="Yu Gothic"/>
              </a:rPr>
              <a:t>ChatGPT週間利用者数10億人到達間近の報道(2026年7月29日)を、出典付きで振り返る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A3D0"/>
                </a:solidFill>
                <a:latin typeface="Yu Gothic"/>
              </a:rPr>
              <a:t>出典: The Information・PYMNTS ほか。OpenAI自身はこの数字を公式に確認していません。</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報じられた水準(未確認)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10億人に迫る</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The Informationが企業データを引用して報道(OpenAI公式未確認)</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The Information(2026-07-29)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ADCFC"/>
                </a:solidFill>
                <a:latin typeface="Yu Gothic"/>
              </a:rPr>
              <a:t>何が報じられたのか(未確認情報である点を含む)</a:t>
            </a:r>
          </a:p>
        </p:txBody>
      </p:sp>
      <p:sp>
        <p:nvSpPr>
          <p:cNvPr id="7" name="Oval 6"/>
          <p:cNvSpPr/>
          <p:nvPr/>
        </p:nvSpPr>
        <p:spPr>
          <a:xfrm>
            <a:off x="548640" y="269748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ADCFC"/>
                </a:solidFill>
                <a:latin typeface="Yu Gothic"/>
              </a:rPr>
              <a:t>これまでの公式発表の推移</a:t>
            </a:r>
          </a:p>
        </p:txBody>
      </p:sp>
      <p:sp>
        <p:nvSpPr>
          <p:cNvPr id="9" name="Oval 8"/>
          <p:cNvSpPr/>
          <p:nvPr/>
        </p:nvSpPr>
        <p:spPr>
          <a:xfrm>
            <a:off x="548640" y="347472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ADCFC"/>
                </a:solidFill>
                <a:latin typeface="Yu Gothic"/>
              </a:rPr>
              <a:t>競合サービスとの比較(単位の違いに注意)</a:t>
            </a:r>
          </a:p>
        </p:txBody>
      </p:sp>
      <p:sp>
        <p:nvSpPr>
          <p:cNvPr id="11" name="Oval 10"/>
          <p:cNvSpPr/>
          <p:nvPr/>
        </p:nvSpPr>
        <p:spPr>
          <a:xfrm>
            <a:off x="548640" y="425196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ADCFC"/>
                </a:solidFill>
                <a:latin typeface="Yu Gothic"/>
              </a:rPr>
              <a:t>内部目標との比較</a:t>
            </a:r>
          </a:p>
        </p:txBody>
      </p:sp>
      <p:sp>
        <p:nvSpPr>
          <p:cNvPr id="13" name="Oval 12"/>
          <p:cNvSpPr/>
          <p:nvPr/>
        </p:nvSpPr>
        <p:spPr>
          <a:xfrm>
            <a:off x="548640" y="502920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ADCFC"/>
                </a:solidFill>
                <a:latin typeface="Yu Gothic"/>
              </a:rPr>
              <a:t>読み解く上での注意点・確認できなかったこと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報道の概要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2026年7月29日、The Informationの報道のポイントです。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ChatGPTの週間利用者数が10億人に迫っていると、企業データを引用して報道</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OpenAIはこの水準への到達を公式には確認していない</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OpenAIは2025年末までに10億人到達を内部目標としていたとされる</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報道が事実であれば、内部目標より約7ヶ月遅れとなる</a:t>
            </a:r>
          </a:p>
        </p:txBody>
      </p:sp>
      <p:sp>
        <p:nvSpPr>
          <p:cNvPr id="15" name="Oval 14"/>
          <p:cNvSpPr/>
          <p:nvPr/>
        </p:nvSpPr>
        <p:spPr>
          <a:xfrm>
            <a:off x="457200" y="523036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6" name="TextBox 15"/>
          <p:cNvSpPr txBox="1"/>
          <p:nvPr/>
        </p:nvSpPr>
        <p:spPr>
          <a:xfrm>
            <a:off x="960120" y="5212079"/>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2026年2月時点でOpenAIが公式発表した数字は9億人超だった</a:t>
            </a:r>
          </a:p>
        </p:txBody>
      </p:sp>
      <p:sp>
        <p:nvSpPr>
          <p:cNvPr id="17" name="TextBox 1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The Information / PYMNTS(2026-07-29)</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Information・PYMNTS ほか(2026-07-29報道・未確認情報)｜定期実行79本目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直近の公式発表</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9億人超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OpenAIが公式に発表した最新の週間利用者数(2026年2月27日)</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Search Engine Land(2026-02-27)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利用者数の推移(公式発表ベース)</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2025年2月頃</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週間利用者数 約4億人(公式発表)</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2026年2月27日</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週間利用者数 9億人超(公式発表、資金調達発表と同時)</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2026年7月29日</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『10億人に迫る』と報道(OpenAI未確認)</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Information・PYMNTS ほか(2026-07-29報道・未確認情報)｜定期実行79本目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『未確認』であることの意味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この点を正直にお伝えします。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OpenAI自身が10億人到達を公式に発表したという事実はない</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The Informationが『企業データを引用』として報じた内容にとどまる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具体的な数値(何億何千万人か)も報道からは分かっていない</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OpenAIが今後この数字を公式に確認するかどうかも不明</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PYMNTS</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Information・PYMNTS ほか(2026-07-29報道・未確認情報)｜定期実行79本目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報道の伝わり方(概念図)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The Informationの報道</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企業データを引用(2026-07-29)</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PYMNTS・Memeburn等が転載・紹介</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複数媒体が同じ報道を紹介</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OpenAI公式の確認は未了</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本人たちからの発表はまだない</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6270"/>
                </a:solidFill>
                <a:latin typeface="Yu Gothic"/>
              </a:rPr>
              <a:t>一次報道の内容が、OpenAI自身の確認なしに広がっている状態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Information・PYMNTS ほか(2026-07-29報道・未確認情報)｜定期実行79本目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“報道が事実であれば、内部目標より約7ヶ月遅れとなる。”</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CADCFC"/>
                </a:solidFill>
                <a:latin typeface="Yu Gothic"/>
              </a:rPr>
              <a:t>— The Informationの報道の趣旨(複数媒体経由、意訳)</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利用者数の推移まとめ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時期</a:t>
                      </a:r>
                    </a:p>
                  </a:txBody>
                  <a:tcPr>
                    <a:solidFill>
                      <a:srgbClr val="1E2761"/>
                    </a:solidFill>
                  </a:tcPr>
                </a:tc>
                <a:tc>
                  <a:txBody>
                    <a:bodyPr/>
                    <a:lstStyle/>
                    <a:p>
                      <a:pPr>
                        <a:defRPr sz="1300" b="1">
                          <a:solidFill>
                            <a:srgbClr val="FFFFFF"/>
                          </a:solidFill>
                          <a:latin typeface="Yu Gothic"/>
                        </a:defRPr>
                      </a:pPr>
                      <a:r>
                        <a:t>週間利用者数</a:t>
                      </a:r>
                    </a:p>
                  </a:txBody>
                  <a:tcPr>
                    <a:solidFill>
                      <a:srgbClr val="1E2761"/>
                    </a:solidFill>
                  </a:tcPr>
                </a:tc>
                <a:tc>
                  <a:txBody>
                    <a:bodyPr/>
                    <a:lstStyle/>
                    <a:p>
                      <a:pPr>
                        <a:defRPr sz="1300" b="1">
                          <a:solidFill>
                            <a:srgbClr val="FFFFFF"/>
                          </a:solidFill>
                          <a:latin typeface="Yu Gothic"/>
                        </a:defRPr>
                      </a:pPr>
                      <a:r>
                        <a:t>情報源の性質</a:t>
                      </a:r>
                    </a:p>
                  </a:txBody>
                  <a:tcPr>
                    <a:solidFill>
                      <a:srgbClr val="1E2761"/>
                    </a:solidFill>
                  </a:tcPr>
                </a:tc>
              </a:tr>
              <a:tr h="502920">
                <a:tc>
                  <a:txBody>
                    <a:bodyPr/>
                    <a:lstStyle/>
                    <a:p>
                      <a:pPr>
                        <a:defRPr sz="1200">
                          <a:solidFill>
                            <a:srgbClr val="1A1A2E"/>
                          </a:solidFill>
                          <a:latin typeface="Yu Gothic"/>
                        </a:defRPr>
                      </a:pPr>
                      <a:r>
                        <a:t>2025年2月頃</a:t>
                      </a:r>
                    </a:p>
                  </a:txBody>
                  <a:tcPr>
                    <a:solidFill>
                      <a:srgbClr val="FFFFFF"/>
                    </a:solidFill>
                  </a:tcPr>
                </a:tc>
                <a:tc>
                  <a:txBody>
                    <a:bodyPr/>
                    <a:lstStyle/>
                    <a:p>
                      <a:pPr>
                        <a:defRPr sz="1200">
                          <a:solidFill>
                            <a:srgbClr val="1A1A2E"/>
                          </a:solidFill>
                          <a:latin typeface="Yu Gothic"/>
                        </a:defRPr>
                      </a:pPr>
                      <a:r>
                        <a:t>約4億人</a:t>
                      </a:r>
                    </a:p>
                  </a:txBody>
                  <a:tcPr>
                    <a:solidFill>
                      <a:srgbClr val="FFFFFF"/>
                    </a:solidFill>
                  </a:tcPr>
                </a:tc>
                <a:tc>
                  <a:txBody>
                    <a:bodyPr/>
                    <a:lstStyle/>
                    <a:p>
                      <a:pPr>
                        <a:defRPr sz="1200">
                          <a:solidFill>
                            <a:srgbClr val="1A1A2E"/>
                          </a:solidFill>
                          <a:latin typeface="Yu Gothic"/>
                        </a:defRPr>
                      </a:pPr>
                      <a:r>
                        <a:t>OpenAI公式発表</a:t>
                      </a:r>
                    </a:p>
                  </a:txBody>
                  <a:tcPr>
                    <a:solidFill>
                      <a:srgbClr val="FFFFFF"/>
                    </a:solidFill>
                  </a:tcPr>
                </a:tc>
              </a:tr>
              <a:tr h="502920">
                <a:tc>
                  <a:txBody>
                    <a:bodyPr/>
                    <a:lstStyle/>
                    <a:p>
                      <a:pPr>
                        <a:defRPr sz="1200">
                          <a:solidFill>
                            <a:srgbClr val="1A1A2E"/>
                          </a:solidFill>
                          <a:latin typeface="Yu Gothic"/>
                        </a:defRPr>
                      </a:pPr>
                      <a:r>
                        <a:t>2026年2月27日</a:t>
                      </a:r>
                    </a:p>
                  </a:txBody>
                  <a:tcPr>
                    <a:solidFill>
                      <a:srgbClr val="F3F6FC"/>
                    </a:solidFill>
                  </a:tcPr>
                </a:tc>
                <a:tc>
                  <a:txBody>
                    <a:bodyPr/>
                    <a:lstStyle/>
                    <a:p>
                      <a:pPr>
                        <a:defRPr sz="1200">
                          <a:solidFill>
                            <a:srgbClr val="1A1A2E"/>
                          </a:solidFill>
                          <a:latin typeface="Yu Gothic"/>
                        </a:defRPr>
                      </a:pPr>
                      <a:r>
                        <a:t>9億人超</a:t>
                      </a:r>
                    </a:p>
                  </a:txBody>
                  <a:tcPr>
                    <a:solidFill>
                      <a:srgbClr val="F3F6FC"/>
                    </a:solidFill>
                  </a:tcPr>
                </a:tc>
                <a:tc>
                  <a:txBody>
                    <a:bodyPr/>
                    <a:lstStyle/>
                    <a:p>
                      <a:pPr>
                        <a:defRPr sz="1200">
                          <a:solidFill>
                            <a:srgbClr val="1A1A2E"/>
                          </a:solidFill>
                          <a:latin typeface="Yu Gothic"/>
                        </a:defRPr>
                      </a:pPr>
                      <a:r>
                        <a:t>OpenAI公式発表(資金調達発表と同時)</a:t>
                      </a:r>
                    </a:p>
                  </a:txBody>
                  <a:tcPr>
                    <a:solidFill>
                      <a:srgbClr val="F3F6FC"/>
                    </a:solidFill>
                  </a:tcPr>
                </a:tc>
              </a:tr>
              <a:tr h="502920">
                <a:tc>
                  <a:txBody>
                    <a:bodyPr/>
                    <a:lstStyle/>
                    <a:p>
                      <a:pPr>
                        <a:defRPr sz="1200">
                          <a:solidFill>
                            <a:srgbClr val="1A1A2E"/>
                          </a:solidFill>
                          <a:latin typeface="Yu Gothic"/>
                        </a:defRPr>
                      </a:pPr>
                      <a:r>
                        <a:t>2026年7月29日</a:t>
                      </a:r>
                    </a:p>
                  </a:txBody>
                  <a:tcPr>
                    <a:solidFill>
                      <a:srgbClr val="FFFFFF"/>
                    </a:solidFill>
                  </a:tcPr>
                </a:tc>
                <a:tc>
                  <a:txBody>
                    <a:bodyPr/>
                    <a:lstStyle/>
                    <a:p>
                      <a:pPr>
                        <a:defRPr sz="1200">
                          <a:solidFill>
                            <a:srgbClr val="1A1A2E"/>
                          </a:solidFill>
                          <a:latin typeface="Yu Gothic"/>
                        </a:defRPr>
                      </a:pPr>
                      <a:r>
                        <a:t>10億人に迫る(未確認)</a:t>
                      </a:r>
                    </a:p>
                  </a:txBody>
                  <a:tcPr>
                    <a:solidFill>
                      <a:srgbClr val="FFFFFF"/>
                    </a:solidFill>
                  </a:tcPr>
                </a:tc>
                <a:tc>
                  <a:txBody>
                    <a:bodyPr/>
                    <a:lstStyle/>
                    <a:p>
                      <a:pPr>
                        <a:defRPr sz="1200">
                          <a:solidFill>
                            <a:srgbClr val="1A1A2E"/>
                          </a:solidFill>
                          <a:latin typeface="Yu Gothic"/>
                        </a:defRPr>
                      </a:pPr>
                      <a:r>
                        <a:t>The Informationの報道、OpenAI未確認</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複数媒体</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Information・PYMNTS ほか(2026-07-29報道・未確認情報)｜定期実行79本目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競合サービスの利用者数規模(参考)</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9億人超</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Google Gemini</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月間利用者数(Google I/O 2026時点)</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4.2億人</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Microsoft Copilot</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有料Microsoft 365シート2,000万超を含む</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12億人</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Meta AI</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月間利用者数(Meta各アプリ横断)</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複数媒体</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Information・PYMNTS ほか(2026-07-29報道・未確認情報)｜定期実行79本目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Meta AIの規模(参考、単位に注意)</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12億人</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Meta各アプリ横断の月間利用者数(ChatGPTの『週間』とは単位が異なる)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複数媒体</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『週間』と『月間』の違い(概念図)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週間アクティブ利用者数</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直近7日間で利用した人数</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月間アクティブ利用者数</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直近30日間で利用した人数</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同じ利用実態でも数字が変わる</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月間の方が通常大きくなりやすい</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6270"/>
                </a:solidFill>
                <a:latin typeface="Yu Gothic"/>
              </a:rPr>
              <a:t>単位が異なる数字を並べて比較すると誤解を招きやすい</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Information・PYMNTS ほか(2026-07-29報道・未確認情報)｜定期実行79本目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単純比較の落とし穴</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やってしまいがちな比較</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ChatGPT『週間』10億人 vs Meta AI『月間』12億人</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単位を無視してそのまま比較する</a:t>
            </a:r>
          </a:p>
        </p:txBody>
      </p:sp>
      <p:sp>
        <p:nvSpPr>
          <p:cNvPr id="13" name="Oval 12"/>
          <p:cNvSpPr/>
          <p:nvPr/>
        </p:nvSpPr>
        <p:spPr>
          <a:xfrm>
            <a:off x="777240"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『Metaの方が多い』と早合点する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正しい比較のために</a:t>
            </a:r>
          </a:p>
        </p:txBody>
      </p:sp>
      <p:sp>
        <p:nvSpPr>
          <p:cNvPr id="18" name="Oval 17"/>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まず単位(週間・月間)を揃える</a:t>
            </a:r>
          </a:p>
        </p:txBody>
      </p:sp>
      <p:sp>
        <p:nvSpPr>
          <p:cNvPr id="20" name="Oval 19"/>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定義(アクティブの基準)も確認する</a:t>
            </a:r>
          </a:p>
        </p:txBody>
      </p:sp>
      <p:sp>
        <p:nvSpPr>
          <p:cNvPr id="22" name="Oval 21"/>
          <p:cNvSpPr/>
          <p:nvPr/>
        </p:nvSpPr>
        <p:spPr>
          <a:xfrm>
            <a:off x="6598767"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断定的な優劣判断は避ける</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Information・PYMNTS ほか(2026-07-29報道・未確認情報)｜定期実行79本目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内部目標との差</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約7ヶ月</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2025年末を目標としていた場合の遅れ(報道が事実であればの試算)</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The Information経由</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鮮度についての正直な開示</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本テーマを見るときに、まずお伝えしたい点です。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本テーマの報道日は2026年7月29日で、着手日(2026-08-03)の5日前である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`docs/06_Content_R&amp;D.md`の鮮度基準(前日以内)にはわずかに届かない</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round45・round46で続いていた5〜13日の鮮度妥協と同水準か、やや改善している</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内容自体は複数の独立したメディアが同じ報道を紹介しており、報道の存在自体は確認できている</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Information・PYMNTS ほか(2026-07-29報道・未確認情報)｜定期実行79本目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確認できなかったこと(一覧)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状況</a:t>
                      </a:r>
                    </a:p>
                  </a:txBody>
                  <a:tcPr>
                    <a:solidFill>
                      <a:srgbClr val="1E2761"/>
                    </a:solidFill>
                  </a:tcPr>
                </a:tc>
              </a:tr>
              <a:tr h="502920">
                <a:tc>
                  <a:txBody>
                    <a:bodyPr/>
                    <a:lstStyle/>
                    <a:p>
                      <a:pPr>
                        <a:defRPr sz="1200">
                          <a:solidFill>
                            <a:srgbClr val="1A1A2E"/>
                          </a:solidFill>
                          <a:latin typeface="Yu Gothic"/>
                        </a:defRPr>
                      </a:pPr>
                      <a:r>
                        <a:t>The Informationの報道原文全体</a:t>
                      </a:r>
                    </a:p>
                  </a:txBody>
                  <a:tcPr>
                    <a:solidFill>
                      <a:srgbClr val="FFFFFF"/>
                    </a:solidFill>
                  </a:tcPr>
                </a:tc>
                <a:tc>
                  <a:txBody>
                    <a:bodyPr/>
                    <a:lstStyle/>
                    <a:p>
                      <a:pPr>
                        <a:defRPr sz="1200">
                          <a:solidFill>
                            <a:srgbClr val="1A1A2E"/>
                          </a:solidFill>
                          <a:latin typeface="Yu Gothic"/>
                        </a:defRPr>
                      </a:pPr>
                      <a:r>
                        <a:t>WebFetchのアクセス制限により未確認、複数媒体の要約に基づく</a:t>
                      </a:r>
                    </a:p>
                  </a:txBody>
                  <a:tcPr>
                    <a:solidFill>
                      <a:srgbClr val="FFFFFF"/>
                    </a:solidFill>
                  </a:tcPr>
                </a:tc>
              </a:tr>
              <a:tr h="502920">
                <a:tc>
                  <a:txBody>
                    <a:bodyPr/>
                    <a:lstStyle/>
                    <a:p>
                      <a:pPr>
                        <a:defRPr sz="1200">
                          <a:solidFill>
                            <a:srgbClr val="1A1A2E"/>
                          </a:solidFill>
                          <a:latin typeface="Yu Gothic"/>
                        </a:defRPr>
                      </a:pPr>
                      <a:r>
                        <a:t>『10億人に迫る』の具体的な数値</a:t>
                      </a:r>
                    </a:p>
                  </a:txBody>
                  <a:tcPr>
                    <a:solidFill>
                      <a:srgbClr val="F3F6FC"/>
                    </a:solidFill>
                  </a:tcPr>
                </a:tc>
                <a:tc>
                  <a:txBody>
                    <a:bodyPr/>
                    <a:lstStyle/>
                    <a:p>
                      <a:pPr>
                        <a:defRPr sz="1200">
                          <a:solidFill>
                            <a:srgbClr val="1A1A2E"/>
                          </a:solidFill>
                          <a:latin typeface="Yu Gothic"/>
                        </a:defRPr>
                      </a:pPr>
                      <a:r>
                        <a:t>報道からは判明していない</a:t>
                      </a:r>
                    </a:p>
                  </a:txBody>
                  <a:tcPr>
                    <a:solidFill>
                      <a:srgbClr val="F3F6FC"/>
                    </a:solidFill>
                  </a:tcPr>
                </a:tc>
              </a:tr>
              <a:tr h="502920">
                <a:tc>
                  <a:txBody>
                    <a:bodyPr/>
                    <a:lstStyle/>
                    <a:p>
                      <a:pPr>
                        <a:defRPr sz="1200">
                          <a:solidFill>
                            <a:srgbClr val="1A1A2E"/>
                          </a:solidFill>
                          <a:latin typeface="Yu Gothic"/>
                        </a:defRPr>
                      </a:pPr>
                      <a:r>
                        <a:t>OpenAIが今後公式確認するかどうか・時期</a:t>
                      </a:r>
                    </a:p>
                  </a:txBody>
                  <a:tcPr>
                    <a:solidFill>
                      <a:srgbClr val="FFFFFF"/>
                    </a:solidFill>
                  </a:tcPr>
                </a:tc>
                <a:tc>
                  <a:txBody>
                    <a:bodyPr/>
                    <a:lstStyle/>
                    <a:p>
                      <a:pPr>
                        <a:defRPr sz="1200">
                          <a:solidFill>
                            <a:srgbClr val="1A1A2E"/>
                          </a:solidFill>
                          <a:latin typeface="Yu Gothic"/>
                        </a:defRPr>
                      </a:pPr>
                      <a:r>
                        <a:t>非公表・未確認</a:t>
                      </a:r>
                    </a:p>
                  </a:txBody>
                  <a:tcPr>
                    <a:solidFill>
                      <a:srgbClr val="FFFFFF"/>
                    </a:solidFill>
                  </a:tcPr>
                </a:tc>
              </a:tr>
              <a:tr h="502920">
                <a:tc>
                  <a:txBody>
                    <a:bodyPr/>
                    <a:lstStyle/>
                    <a:p>
                      <a:pPr>
                        <a:defRPr sz="1200">
                          <a:solidFill>
                            <a:srgbClr val="1A1A2E"/>
                          </a:solidFill>
                          <a:latin typeface="Yu Gothic"/>
                        </a:defRPr>
                      </a:pPr>
                      <a:r>
                        <a:t>各社の利用者数の算出方法・定義の違い</a:t>
                      </a:r>
                    </a:p>
                  </a:txBody>
                  <a:tcPr>
                    <a:solidFill>
                      <a:srgbClr val="F3F6FC"/>
                    </a:solidFill>
                  </a:tcPr>
                </a:tc>
                <a:tc>
                  <a:txBody>
                    <a:bodyPr/>
                    <a:lstStyle/>
                    <a:p>
                      <a:pPr>
                        <a:defRPr sz="1200">
                          <a:solidFill>
                            <a:srgbClr val="1A1A2E"/>
                          </a:solidFill>
                          <a:latin typeface="Yu Gothic"/>
                        </a:defRPr>
                      </a:pPr>
                      <a:r>
                        <a:t>詳細は非公表・未確認</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Information・PYMNTS ほか(2026-07-29報道・未確認情報)｜定期実行79本目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本テーマで最も伝えたいこと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今回、特に強調してお伝えしたい点です。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『10億人』という数字は、まだOpenAI自身が認めた事実ではない</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本テーマでは、この数字を確定した事実であるかのように断定していない</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見出しでは『かもしれない』という留保をあえて残している</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続報でOpenAIが公式に確認した場合は、その時点で改めて正確な数字を扱いたい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Information・PYMNTS ほか(2026-07-29報道・未確認情報)｜定期実行79本目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この報道の背景</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$110B</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9億人発表(2026年2月)と同時に公表された資金調達ラウンド規模(76本目のAmazon-OpenAI投資も一部)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Search Engine Land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この話題がAI業界に示唆すること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利用者数の指標としての重要性</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資金調達・企業評価の材料として利用者数が重視され続ける可能性がある</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公式確認までのタイムラグ</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大手AI企業でも、節目の数字の公式発表には時間差がある可能性がある</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競合との比較基準の整備</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業界全体で利用者数の定義・単位を揃える動きが今後求められる可能性がある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Information・PYMNTS ほか(2026-07-29報道・未確認情報)｜定期実行79本目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この報道が示唆すること(合理的推測)</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推測</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成長ペースの鈍化の可能性</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内部目標からの遅れが成長鈍化を示唆する可能性がある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推測</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競争環境の激化</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Gemini・Meta AI等との競争が影響している可能性がある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推測</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公式発表のタイミング戦略</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OpenAIが節目の数字を戦略的なタイミングで発表する可能性がある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Information・PYMNTS ほか(2026-07-29報道・未確認情報)｜定期実行79本目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変わったこと・変わらないこと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変わったこと(報じられている範囲)</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週間利用者数が9億人超から10億人近くまで増加した(報道ベース)</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内部目標からの遅れが指摘されるようになった</a:t>
            </a:r>
          </a:p>
        </p:txBody>
      </p:sp>
      <p:sp>
        <p:nvSpPr>
          <p:cNvPr id="13" name="Oval 12"/>
          <p:cNvSpPr/>
          <p:nvPr/>
        </p:nvSpPr>
        <p:spPr>
          <a:xfrm>
            <a:off x="777240"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競合サービスとの規模比較がより注目されるようになった</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変わらないこと</a:t>
            </a:r>
          </a:p>
        </p:txBody>
      </p:sp>
      <p:sp>
        <p:nvSpPr>
          <p:cNvPr id="18" name="Oval 17"/>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OpenAIは公式に10億人到達を発表していない</a:t>
            </a:r>
          </a:p>
        </p:txBody>
      </p:sp>
      <p:sp>
        <p:nvSpPr>
          <p:cNvPr id="20" name="Oval 19"/>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各社の利用者数の定義・単位は依然として統一されていない</a:t>
            </a:r>
          </a:p>
        </p:txBody>
      </p:sp>
      <p:sp>
        <p:nvSpPr>
          <p:cNvPr id="22" name="Oval 21"/>
          <p:cNvSpPr/>
          <p:nvPr/>
        </p:nvSpPr>
        <p:spPr>
          <a:xfrm>
            <a:off x="6598767"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ChatGPTが単一サービスとして最大級である点は変わらない</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Information・PYMNTS ほか(2026-07-29報道・未確認情報)｜定期実行79本目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76本目との関係(重複でないことの確認)</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観点</a:t>
                      </a:r>
                    </a:p>
                  </a:txBody>
                  <a:tcPr>
                    <a:solidFill>
                      <a:srgbClr val="1E2761"/>
                    </a:solidFill>
                  </a:tcPr>
                </a:tc>
                <a:tc>
                  <a:txBody>
                    <a:bodyPr/>
                    <a:lstStyle/>
                    <a:p>
                      <a:pPr>
                        <a:defRPr sz="1300" b="1">
                          <a:solidFill>
                            <a:srgbClr val="FFFFFF"/>
                          </a:solidFill>
                          <a:latin typeface="Yu Gothic"/>
                        </a:defRPr>
                      </a:pPr>
                      <a:r>
                        <a:t>76本目 Amazon-OpenAI投資</a:t>
                      </a:r>
                    </a:p>
                  </a:txBody>
                  <a:tcPr>
                    <a:solidFill>
                      <a:srgbClr val="1E2761"/>
                    </a:solidFill>
                  </a:tcPr>
                </a:tc>
                <a:tc>
                  <a:txBody>
                    <a:bodyPr/>
                    <a:lstStyle/>
                    <a:p>
                      <a:pPr>
                        <a:defRPr sz="1300" b="1">
                          <a:solidFill>
                            <a:srgbClr val="FFFFFF"/>
                          </a:solidFill>
                          <a:latin typeface="Yu Gothic"/>
                        </a:defRPr>
                      </a:pPr>
                      <a:r>
                        <a:t>79本目(本テーマ) 利用者数報道</a:t>
                      </a:r>
                    </a:p>
                  </a:txBody>
                  <a:tcPr>
                    <a:solidFill>
                      <a:srgbClr val="1E2761"/>
                    </a:solidFill>
                  </a:tcPr>
                </a:tc>
              </a:tr>
              <a:tr h="502920">
                <a:tc>
                  <a:txBody>
                    <a:bodyPr/>
                    <a:lstStyle/>
                    <a:p>
                      <a:pPr>
                        <a:defRPr sz="1200">
                          <a:solidFill>
                            <a:srgbClr val="1A1A2E"/>
                          </a:solidFill>
                          <a:latin typeface="Yu Gothic"/>
                        </a:defRPr>
                      </a:pPr>
                      <a:r>
                        <a:t>性質</a:t>
                      </a:r>
                    </a:p>
                  </a:txBody>
                  <a:tcPr>
                    <a:solidFill>
                      <a:srgbClr val="FFFFFF"/>
                    </a:solidFill>
                  </a:tcPr>
                </a:tc>
                <a:tc>
                  <a:txBody>
                    <a:bodyPr/>
                    <a:lstStyle/>
                    <a:p>
                      <a:pPr>
                        <a:defRPr sz="1200">
                          <a:solidFill>
                            <a:srgbClr val="1A1A2E"/>
                          </a:solidFill>
                          <a:latin typeface="Yu Gothic"/>
                        </a:defRPr>
                      </a:pPr>
                      <a:r>
                        <a:t>Amazonによる資本投資の完了開示</a:t>
                      </a:r>
                    </a:p>
                  </a:txBody>
                  <a:tcPr>
                    <a:solidFill>
                      <a:srgbClr val="FFFFFF"/>
                    </a:solidFill>
                  </a:tcPr>
                </a:tc>
                <a:tc>
                  <a:txBody>
                    <a:bodyPr/>
                    <a:lstStyle/>
                    <a:p>
                      <a:pPr>
                        <a:defRPr sz="1200">
                          <a:solidFill>
                            <a:srgbClr val="1A1A2E"/>
                          </a:solidFill>
                          <a:latin typeface="Yu Gothic"/>
                        </a:defRPr>
                      </a:pPr>
                      <a:r>
                        <a:t>利用者数に関する未確認の報道</a:t>
                      </a:r>
                    </a:p>
                  </a:txBody>
                  <a:tcPr>
                    <a:solidFill>
                      <a:srgbClr val="FFFFFF"/>
                    </a:solidFill>
                  </a:tcPr>
                </a:tc>
              </a:tr>
              <a:tr h="502920">
                <a:tc>
                  <a:txBody>
                    <a:bodyPr/>
                    <a:lstStyle/>
                    <a:p>
                      <a:pPr>
                        <a:defRPr sz="1200">
                          <a:solidFill>
                            <a:srgbClr val="1A1A2E"/>
                          </a:solidFill>
                          <a:latin typeface="Yu Gothic"/>
                        </a:defRPr>
                      </a:pPr>
                      <a:r>
                        <a:t>情報源</a:t>
                      </a:r>
                    </a:p>
                  </a:txBody>
                  <a:tcPr>
                    <a:solidFill>
                      <a:srgbClr val="F3F6FC"/>
                    </a:solidFill>
                  </a:tcPr>
                </a:tc>
                <a:tc>
                  <a:txBody>
                    <a:bodyPr/>
                    <a:lstStyle/>
                    <a:p>
                      <a:pPr>
                        <a:defRPr sz="1200">
                          <a:solidFill>
                            <a:srgbClr val="1A1A2E"/>
                          </a:solidFill>
                          <a:latin typeface="Yu Gothic"/>
                        </a:defRPr>
                      </a:pPr>
                      <a:r>
                        <a:t>AmazonのSEC提出書類(10-Q)</a:t>
                      </a:r>
                    </a:p>
                  </a:txBody>
                  <a:tcPr>
                    <a:solidFill>
                      <a:srgbClr val="F3F6FC"/>
                    </a:solidFill>
                  </a:tcPr>
                </a:tc>
                <a:tc>
                  <a:txBody>
                    <a:bodyPr/>
                    <a:lstStyle/>
                    <a:p>
                      <a:pPr>
                        <a:defRPr sz="1200">
                          <a:solidFill>
                            <a:srgbClr val="1A1A2E"/>
                          </a:solidFill>
                          <a:latin typeface="Yu Gothic"/>
                        </a:defRPr>
                      </a:pPr>
                      <a:r>
                        <a:t>The Informationの報道(OpenAI未確認)</a:t>
                      </a:r>
                    </a:p>
                  </a:txBody>
                  <a:tcPr>
                    <a:solidFill>
                      <a:srgbClr val="F3F6FC"/>
                    </a:solidFill>
                  </a:tcPr>
                </a:tc>
              </a:tr>
              <a:tr h="502920">
                <a:tc>
                  <a:txBody>
                    <a:bodyPr/>
                    <a:lstStyle/>
                    <a:p>
                      <a:pPr>
                        <a:defRPr sz="1200">
                          <a:solidFill>
                            <a:srgbClr val="1A1A2E"/>
                          </a:solidFill>
                          <a:latin typeface="Yu Gothic"/>
                        </a:defRPr>
                      </a:pPr>
                      <a:r>
                        <a:t>関連性</a:t>
                      </a:r>
                    </a:p>
                  </a:txBody>
                  <a:tcPr>
                    <a:solidFill>
                      <a:srgbClr val="FFFFFF"/>
                    </a:solidFill>
                  </a:tcPr>
                </a:tc>
                <a:tc>
                  <a:txBody>
                    <a:bodyPr/>
                    <a:lstStyle/>
                    <a:p>
                      <a:pPr>
                        <a:defRPr sz="1200">
                          <a:solidFill>
                            <a:srgbClr val="1A1A2E"/>
                          </a:solidFill>
                          <a:latin typeface="Yu Gothic"/>
                        </a:defRPr>
                      </a:pPr>
                      <a:r>
                        <a:t>2026年2月の資金調達ラウンドの一部</a:t>
                      </a:r>
                    </a:p>
                  </a:txBody>
                  <a:tcPr>
                    <a:solidFill>
                      <a:srgbClr val="FFFFFF"/>
                    </a:solidFill>
                  </a:tcPr>
                </a:tc>
                <a:tc>
                  <a:txBody>
                    <a:bodyPr/>
                    <a:lstStyle/>
                    <a:p>
                      <a:pPr>
                        <a:defRPr sz="1200">
                          <a:solidFill>
                            <a:srgbClr val="1A1A2E"/>
                          </a:solidFill>
                          <a:latin typeface="Yu Gothic"/>
                        </a:defRPr>
                      </a:pPr>
                      <a:r>
                        <a:t>同じ2026年2月の発表と同時に公表された利用者数の後継報道</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Information・PYMNTS ほか(2026-07-29報道・未確認情報)｜定期実行79本目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この報道から得られる学び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個別の企業評価ではなく、一般的な視点としてまとめます。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節目の数字ほど、公式発表か報道段階かを見分ける姿勢が大切</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『週間』『月間』のような単位の違いを意識せずに他社と比較しない</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『内部目標より遅れている』という指摘も、目標自体が公式に確認されているかを踏まえて読むとよい</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未確認の情報を扱う際は、その旨を正直に開示する姿勢が大切</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Information・PYMNTS ほか(2026-07-29報道・未確認情報)｜定期実行79本目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まとめ</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10億人?(未確認)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ChatGPT週間利用者数が10億人に迫ると報道されたが、OpenAI公式は未確認(2026-07-29報道)</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本編のまとめ</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“OpenAIはこの水準への到達を公式には確認していない。”</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CADCFC"/>
                </a:solidFill>
                <a:latin typeface="Yu Gothic"/>
              </a:rPr>
              <a:t>— PYMNTS報道の趣旨(意訳)</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今後注目したいポイント</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OpenAIの公式発表</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10億人到達を正式に発表するかどうか、いつになるか</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競合の追随</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Gemini・Meta AI等が週間利用者数を公表するか</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有料転換率の動向</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利用者数の伸びが収益にどうつながっているか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Information・PYMNTS ほか(2026-07-29報道・未確認情報)｜定期実行79本目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77・78本目と合わせて振り返る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今回・前回のサイクルで扱ったテーマを整理します。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77本目は、Anthropicの安全性インシデント開示だった</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78本目は、セブン&amp;アイの資本提携・AI活用構想だった</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本テーマは、OpenAIの利用者数をめぐる未確認報道である</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AIをめぐる話題は、確定した事実と、まだ確認段階の情報が入り混じっている</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The Information・PYMNTS ほか(2026-07-29報道・未確認情報)｜定期実行79本目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本テーマの総括</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未確認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ChatGPT週間利用者数10億人到達は、着手日時点でOpenAI未確認の報道段階の情報(2026-07-29報道)</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本編のまとめ</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バズる数字ほど、まだ確定していないかを確認する。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衝撃的な数字ほど、公式発表か報道段階かを見極める視点を、次に似た話題を見るときも持ってみてください。</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E2761"/>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