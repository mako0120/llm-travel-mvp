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評価額(億ドル)</c:v>
                </c:pt>
              </c:strCache>
            </c:strRef>
          </c:tx>
          <c:spPr>
            <a:solidFill>
              <a:srgbClr val="2B3A55"/>
            </a:solidFill>
          </c:spPr>
          <c:cat>
            <c:strRef>
              <c:f>Sheet1!$A$2:$A$4</c:f>
              <c:strCache>
                <c:ptCount val="3"/>
                <c:pt idx="0">
                  <c:v>2024年</c:v>
                </c:pt>
                <c:pt idx="1">
                  <c:v>2025年9月(102億ドル)</c:v>
                </c:pt>
                <c:pt idx="2">
                  <c:v>2026年5月(260億ドル)</c:v>
                </c:pt>
              </c:strCache>
            </c:strRef>
          </c:cat>
          <c:val>
            <c:numRef>
              <c:f>Sheet1!$B$2:$B$4</c:f>
              <c:numCache>
                <c:formatCode>General</c:formatCode>
                <c:ptCount val="3"/>
                <c:pt idx="0">
                  <c:v>20</c:v>
                </c:pt>
                <c:pt idx="1">
                  <c:v>102</c:v>
                </c:pt>
                <c:pt idx="2">
                  <c:v>260</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ARR(百万ドル)</c:v>
                </c:pt>
              </c:strCache>
            </c:strRef>
          </c:tx>
          <c:spPr>
            <a:ln w="31750">
              <a:solidFill>
                <a:srgbClr val="1F8FD6"/>
              </a:solidFill>
            </a:ln>
          </c:spPr>
          <c:cat>
            <c:strRef>
              <c:f>Sheet1!$A$2:$A$4</c:f>
              <c:strCache>
                <c:ptCount val="3"/>
                <c:pt idx="0">
                  <c:v>2024年9月</c:v>
                </c:pt>
                <c:pt idx="1">
                  <c:v>2025年6月</c:v>
                </c:pt>
                <c:pt idx="2">
                  <c:v>2026年5月</c:v>
                </c:pt>
              </c:strCache>
            </c:strRef>
          </c:cat>
          <c:val>
            <c:numRef>
              <c:f>Sheet1!$B$2:$B$4</c:f>
              <c:numCache>
                <c:formatCode>General</c:formatCode>
                <c:ptCount val="3"/>
                <c:pt idx="0">
                  <c:v>1</c:v>
                </c:pt>
                <c:pt idx="1">
                  <c:v>73</c:v>
                </c:pt>
                <c:pt idx="2">
                  <c:v>492</c:v>
                </c:pt>
              </c:numCache>
            </c:numRef>
          </c:val>
          <c:smooth val="0"/>
        </c:ser>
        <c:dLbls>
          <c:numFmt formatCode="$#,##0" sourceLinked="0"/>
          <c:txPr>
            <a:bodyPr/>
            <a:lstStyle/>
            <a:p>
              <a:pPr>
                <a:defRPr sz="1100">
                  <a:solidFill>
                    <a:srgbClr val="2B3A55"/>
                  </a:solidFill>
                  <a:latin typeface="Yu Gothic"/>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12日、AIコーディングエージェント『Devin』を開発するCognition社が、評価額少なくとも400億ドルでの新規資金調達に向け投資家と交渉中であるとBloombergが報じました。2026年5月に260億ドルで10億ドルを調達してから3か月足らずでの再交渉です。これは報道段階の情報であり、正式な決定ではないことを最初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Cognitionは評価額少なくとも400億ドルでの資金調達に向け、投資家と交渉中と報じられています。前回2026年5月の260億ドルから50%以上の上昇となる可能性がありますが、あくまで初期段階の交渉であり、正式決定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今日は6つの流れでお伝えします。専門用語をかみ砕きながら、事実と推測、確認できなかったことをはっきり分けて整理します。称賛一辺倒にせず、懐疑的な見方も紹介します。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1〜2日以内という新しい報道に基づいています。3か月足らずで評価額が50%以上上昇する可能性があるという急成長ぶり、AIにエンジニアの仕事を任せるという分かりやすいコンセプト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Cognitionは、米カリフォルニア州サンフランシスコを拠点に2023年11月に設立されたと報じられているAIスタートアップです。創業者のScott Wu氏らはいずれも国際情報オリンピック金メダリストで、自律型AIコーディングエージェント『Devin』を開発しています。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nの仕組みを図にしました。人間から指示を受け取り、計画立案からコード記述・デバッグまでを自律的に進め、成果物を提出するという流れです。2024年3月12日、世界初の自律型AIソフトウェアエンジニアとして発表され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評価額は投資家が算定する企業価値の見積もり、ARRは年間の売上規模の目安です。いずれも将来を保証するものではない点を押さえた上で、次のスライド以降で具体的な数字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時系列で見ると、2024年の20億ドルから、2025年9月に102億ドル、2026年5月に260億ドルへと段階的に上昇し、今回2026年8月に400億ドル以上での交渉に入ったと報じられています。最後の数字はまだ交渉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評価額の伸びがよく分かります。2024年の20億ドルから、2025年9月に102億ドル、2026年5月に260億ドルへと拡大しました。このグラフは完了済みのラウンドのみで、今回交渉中の400億ドルは含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改めて今回交渉中の評価額目標を確認します。400億ドル以上という水準は、前回260億ドルから50%以上の上昇に相当しますが、あくまで交渉中の報道であり、正式に確定した数字ではありません。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資金調達ラウンドを一覧にしました。2024年の約20億ドルから、2025年9月に102億ドル、2026年5月に260億ドルへと拡大し、今回2026年8月は400億ドル以上・10億ドル超という報道段階の数字です。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ARR、つまり年間経常収益の推移です。2024年9月の約100万ドルから、2025年6月に約7,300万ドル、2026年5月には約4億9,200万ドルへと急拡大しています。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現在のARRは10億ドルに迫っているとされています。前回開示の4億9,200万ドルからおよそ倍増した水準とみられますが、正確な数値は非公開で、あくまで報道時点の表現であることに注意が必要です。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急拡大の背景として報じられている要因を3つ紹介します。企業利用の急拡大、2025年7月に買収したWindsurfの統合、そして前回ラウンド時点で既に土台ができていたことです。Windsurfとの因果関係は当社の推測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交渉でわかっていることを整理します。交渉は初期段階で、評価額は少なくとも400億ドル、10億ドル超の調達を目指しているとされますが、最終的に条件が変わる、あるいは実現しない可能性もあるとBloombergは付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前回ラウンドと今回交渉中の条件を比較します。前回は既に完了した確定済みのラウンドですが、今回はあくまで交渉中・未確定の段階であることが最大の違いです。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これまでの資金調達に参加したとされる投資家として、Peter Thiel氏が創業したFounders Fund、General Catalystの名前が過去のラウンドの文脈で報じられています。ただし今回の交渉における新規投資家の具体名は確認できていません。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CEOのScott Wu氏の発言趣旨を紹介します。AIコーディングエージェントは人間のエンジニアの代替ではなく、地味で手間のかかる作業を引き受ける存在だという考え方を示したと報じられています。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タイムラインを見ると、2023年11月の創業から、2024年3月のDevin発表、2025年7月のWindsurf買収を経て、2025年9月以降は評価額が102億ドル、260億ドル、そして今回交渉中の400億ドルへと急拡大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nが担うとされる仕事の例を3つ紹介します。レガシー環境の更新、プラットフォーム移行といった地味な定型作業に加え、Cognition社内では自社コードの89%をDevin自身が書いているとの報道もありますが、測定方法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独立検証・懐疑的な見方も紹介します。発表直後、独立した開発者らがデモの一部を再現できないと指摘し、ベンチマーク結果にも評価方法への留保が必要との声があります。CEO自身も人間の代替ではないと説明し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今回はあくまで交渉の初期段階の報道であり、評価額400億ドルが確定した事実ではありません。Devinも人間の代替ではなく定型作業の補助と位置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読者にとっての実践的な示唆をまとめました。投資動向、AI技術動向、そして自社でAI導入を検討する立場、それぞれで意識したい点です。特に導入検討の立場では、人間の代替ではなく補助という位置付けを踏まえる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確認できていないことを正直にお伝えします。交渉の進捗・完了時期の見込み、新規投資家の具体名、正確なARRの数値は、本調査の範囲では確認できていません。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資金調達の金額・評価額・時期は複数メディアが確認した事実ですが、Windsurf統合との因果関係は当社の推測であり、新規投資家名や正確なARR、交渉の成立可否は不明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報道段階の情報を扱いますが、断定を避け『交渉中』『〜と報じられている』という表現を一貫して用いています。良い・悪いという価値判断も行わず、独立検証の指摘も隠さず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本テーマの鮮度を数字で確認します。中心となる報道は2026年8月11〜12日、着手日は8月13日で、2日以内という基準を満たしています。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ognitionが評価額400億ドルでの資金調達交渉中と報じられている件をお伝えしました。決定事項として断定せず、報道段階であることを一貫し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AIにエンジニアの仕事を任せる「Devin」開発元Cognitionが、</a:t>
            </a:r>
          </a:p>
          <a:p>
            <a:pPr algn="l">
              <a:lnSpc>
                <a:spcPct val="115000"/>
              </a:lnSpc>
            </a:pPr>
            <a:r>
              <a:rPr sz="4200" b="1">
                <a:solidFill>
                  <a:srgbClr val="FFFFFF"/>
                </a:solidFill>
                <a:latin typeface="Yu Gothic"/>
              </a:rPr>
              <a:t>わずか3か月足らずで評価額を1.5倍に押し上げる</a:t>
            </a:r>
          </a:p>
          <a:p>
            <a:pPr algn="l">
              <a:lnSpc>
                <a:spcPct val="115000"/>
              </a:lnSpc>
            </a:pPr>
            <a:r>
              <a:rPr sz="4200" b="1">
                <a:solidFill>
                  <a:srgbClr val="FFFFFF"/>
                </a:solidFill>
                <a:latin typeface="Yu Gothic"/>
              </a:rPr>
              <a:t>400億ドル規模の新規資金調達交渉に入ったと報じられている。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Bloombergが報じた交渉中の情報――出典付きで事実と不確実性を整理する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Bloomberg・TechCrunch・PYMNTS・Benzinga・TechFundingNews(いずれも2026年8月11〜12日)。本件は交渉中の報道であり、正式な資金調達の完了ではない。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まず結論から(報道段階であることに注意)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評価額 400億ドルで交渉中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2026年5月の260億ドルから3か月足らず、50%以上の上昇となる可能性があるとBloombergは報じている。交渉は初期段階で、条件が変わる・成立しない可能性もある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CognitionとDevinとは(初心者向け解説つき)</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資金調達・評価額・ARRの推移を数字で見る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今回の交渉でわかっていること・投資家</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Devinの実力と、独立した検証・懐疑的な見方</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これで何が変わるか、確認できなかったこと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2026年8月11〜12日の報道を、着手日から1〜2日以内に複数の独立したメディアが伝えている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「3か月足らずで評価額が50%以上上昇」という急成長ぶりが分かりやすいフックになる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「AIにエンジニアの仕事を任せる」というDevinのコンセプトが直感的で話題性がある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Bloomberg・TechCrunch・PYMNTS・Benzinga・TechFundingNews(2026-08-11〜12)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Cognitionとは(初心者向け)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米カリフォルニア州サンフランシスコ拠点、2023年11月設立と報じられるAIスタートアップ</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創業者のScott Wu氏(CEO)・Steven Hao氏(CTO)・Walden Yan氏(CPO)は、いずれも国際情報オリンピック金メダリスト</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自律型AIコーディングエージェント「Devin」を開発・提供する企業として知られる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Wikipedia・Contrary Research・sfstandard.com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Devinとは何か(仕組みの概念図)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指示を受け取る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人間が課題・要望を自然言語で伝える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計画・実行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コードを書き、デバッグし、動作確認する一連の作業を自律的に進める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成果物を提出</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レガシー更新やプラットフォーム移行など、定型的で手間のかかる作業を引き受けるとされる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2024年3月12日、Cognitionは「世界初の自律型AIソフトウェアエンジニア」としてDevinを発表したと報じられている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Cognition公式・VentureBeat(2024年3月)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前提知識:「評価額」と「ARR」とは何か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評価額(バリュエーション): 投資家が資金調達の際に算定する、その企業全体の価値の見積もり</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ARR(年間経常収益): 現在の契約が1年間続いたと仮定した場合の、年間の売上規模の目安</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いずれも将来の業績を保証するものではなく、あくまで調達時点での見積もり・実績値である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評価額の推移(これまでの資金調達ラウンド)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2024年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評価額20億ドルでの資金調達を目指していたと報じられる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2025年9月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4億ドルを調達し、評価額102億ドルに到達</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2026年5月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10億ドルを調達し、評価額260億ドルに到達</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2026年8月</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評価額400億ドル以上での交渉に入ったと報じられる(未確定)</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評価額の推移(億ドル、完了済みラウンドのみ)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PYMNTS(2024)・TechCrunch/Bloomberg(2025-09-08)・Bloomberg(2026-05-27)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今回交渉中の評価額目標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400億ドル以上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Bloombergが報じた交渉中の目標評価額。前回260億ドルから50%以上の上昇に相当するが、交渉は初期段階で条件は変わりうる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Bloomberg・TechCrunch(2026-08-12)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資金調達ラウンド一覧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評価額</a:t>
                      </a:r>
                    </a:p>
                  </a:txBody>
                  <a:tcPr>
                    <a:solidFill>
                      <a:srgbClr val="2B3A55"/>
                    </a:solidFill>
                  </a:tcPr>
                </a:tc>
                <a:tc>
                  <a:txBody>
                    <a:bodyPr/>
                    <a:lstStyle/>
                    <a:p>
                      <a:pPr>
                        <a:defRPr sz="1300" b="1">
                          <a:solidFill>
                            <a:srgbClr val="FFFFFF"/>
                          </a:solidFill>
                          <a:latin typeface="Yu Gothic"/>
                        </a:defRPr>
                      </a:pPr>
                      <a:r>
                        <a:t>調達額</a:t>
                      </a:r>
                    </a:p>
                  </a:txBody>
                  <a:tcPr>
                    <a:solidFill>
                      <a:srgbClr val="2B3A55"/>
                    </a:solidFill>
                  </a:tcPr>
                </a:tc>
              </a:tr>
              <a:tr h="502920">
                <a:tc>
                  <a:txBody>
                    <a:bodyPr/>
                    <a:lstStyle/>
                    <a:p>
                      <a:pPr>
                        <a:defRPr sz="1200">
                          <a:solidFill>
                            <a:srgbClr val="1C2230"/>
                          </a:solidFill>
                          <a:latin typeface="Yu Gothic"/>
                        </a:defRPr>
                      </a:pPr>
                      <a:r>
                        <a:t>2024年</a:t>
                      </a:r>
                    </a:p>
                  </a:txBody>
                  <a:tcPr>
                    <a:solidFill>
                      <a:srgbClr val="FFFFFF"/>
                    </a:solidFill>
                  </a:tcPr>
                </a:tc>
                <a:tc>
                  <a:txBody>
                    <a:bodyPr/>
                    <a:lstStyle/>
                    <a:p>
                      <a:pPr>
                        <a:defRPr sz="1200">
                          <a:solidFill>
                            <a:srgbClr val="1C2230"/>
                          </a:solidFill>
                          <a:latin typeface="Yu Gothic"/>
                        </a:defRPr>
                      </a:pPr>
                      <a:r>
                        <a:t>約20億ドル</a:t>
                      </a:r>
                    </a:p>
                  </a:txBody>
                  <a:tcPr>
                    <a:solidFill>
                      <a:srgbClr val="FFFFFF"/>
                    </a:solidFill>
                  </a:tcPr>
                </a:tc>
                <a:tc>
                  <a:txBody>
                    <a:bodyPr/>
                    <a:lstStyle/>
                    <a:p>
                      <a:pPr>
                        <a:defRPr sz="1200">
                          <a:solidFill>
                            <a:srgbClr val="1C2230"/>
                          </a:solidFill>
                          <a:latin typeface="Yu Gothic"/>
                        </a:defRPr>
                      </a:pPr>
                      <a:r>
                        <a:t>非公開(拡大ラウンド)</a:t>
                      </a:r>
                    </a:p>
                  </a:txBody>
                  <a:tcPr>
                    <a:solidFill>
                      <a:srgbClr val="FFFFFF"/>
                    </a:solidFill>
                  </a:tcPr>
                </a:tc>
              </a:tr>
              <a:tr h="502920">
                <a:tc>
                  <a:txBody>
                    <a:bodyPr/>
                    <a:lstStyle/>
                    <a:p>
                      <a:pPr>
                        <a:defRPr sz="1200">
                          <a:solidFill>
                            <a:srgbClr val="1C2230"/>
                          </a:solidFill>
                          <a:latin typeface="Yu Gothic"/>
                        </a:defRPr>
                      </a:pPr>
                      <a:r>
                        <a:t>2025年9月</a:t>
                      </a:r>
                    </a:p>
                  </a:txBody>
                  <a:tcPr>
                    <a:solidFill>
                      <a:srgbClr val="F1F5FA"/>
                    </a:solidFill>
                  </a:tcPr>
                </a:tc>
                <a:tc>
                  <a:txBody>
                    <a:bodyPr/>
                    <a:lstStyle/>
                    <a:p>
                      <a:pPr>
                        <a:defRPr sz="1200">
                          <a:solidFill>
                            <a:srgbClr val="1C2230"/>
                          </a:solidFill>
                          <a:latin typeface="Yu Gothic"/>
                        </a:defRPr>
                      </a:pPr>
                      <a:r>
                        <a:t>約102億ドル</a:t>
                      </a:r>
                    </a:p>
                  </a:txBody>
                  <a:tcPr>
                    <a:solidFill>
                      <a:srgbClr val="F1F5FA"/>
                    </a:solidFill>
                  </a:tcPr>
                </a:tc>
                <a:tc>
                  <a:txBody>
                    <a:bodyPr/>
                    <a:lstStyle/>
                    <a:p>
                      <a:pPr>
                        <a:defRPr sz="1200">
                          <a:solidFill>
                            <a:srgbClr val="1C2230"/>
                          </a:solidFill>
                          <a:latin typeface="Yu Gothic"/>
                        </a:defRPr>
                      </a:pPr>
                      <a:r>
                        <a:t>4億ドル</a:t>
                      </a:r>
                    </a:p>
                  </a:txBody>
                  <a:tcPr>
                    <a:solidFill>
                      <a:srgbClr val="F1F5FA"/>
                    </a:solidFill>
                  </a:tcPr>
                </a:tc>
              </a:tr>
              <a:tr h="502920">
                <a:tc>
                  <a:txBody>
                    <a:bodyPr/>
                    <a:lstStyle/>
                    <a:p>
                      <a:pPr>
                        <a:defRPr sz="1200">
                          <a:solidFill>
                            <a:srgbClr val="1C2230"/>
                          </a:solidFill>
                          <a:latin typeface="Yu Gothic"/>
                        </a:defRPr>
                      </a:pPr>
                      <a:r>
                        <a:t>2026年5月</a:t>
                      </a:r>
                    </a:p>
                  </a:txBody>
                  <a:tcPr>
                    <a:solidFill>
                      <a:srgbClr val="FFFFFF"/>
                    </a:solidFill>
                  </a:tcPr>
                </a:tc>
                <a:tc>
                  <a:txBody>
                    <a:bodyPr/>
                    <a:lstStyle/>
                    <a:p>
                      <a:pPr>
                        <a:defRPr sz="1200">
                          <a:solidFill>
                            <a:srgbClr val="1C2230"/>
                          </a:solidFill>
                          <a:latin typeface="Yu Gothic"/>
                        </a:defRPr>
                      </a:pPr>
                      <a:r>
                        <a:t>約260億ドル</a:t>
                      </a:r>
                    </a:p>
                  </a:txBody>
                  <a:tcPr>
                    <a:solidFill>
                      <a:srgbClr val="FFFFFF"/>
                    </a:solidFill>
                  </a:tcPr>
                </a:tc>
                <a:tc>
                  <a:txBody>
                    <a:bodyPr/>
                    <a:lstStyle/>
                    <a:p>
                      <a:pPr>
                        <a:defRPr sz="1200">
                          <a:solidFill>
                            <a:srgbClr val="1C2230"/>
                          </a:solidFill>
                          <a:latin typeface="Yu Gothic"/>
                        </a:defRPr>
                      </a:pPr>
                      <a:r>
                        <a:t>10億ドル</a:t>
                      </a:r>
                    </a:p>
                  </a:txBody>
                  <a:tcPr>
                    <a:solidFill>
                      <a:srgbClr val="FFFFFF"/>
                    </a:solidFill>
                  </a:tcPr>
                </a:tc>
              </a:tr>
              <a:tr h="502920">
                <a:tc>
                  <a:txBody>
                    <a:bodyPr/>
                    <a:lstStyle/>
                    <a:p>
                      <a:pPr>
                        <a:defRPr sz="1200">
                          <a:solidFill>
                            <a:srgbClr val="1C2230"/>
                          </a:solidFill>
                          <a:latin typeface="Yu Gothic"/>
                        </a:defRPr>
                      </a:pPr>
                      <a:r>
                        <a:t>2026年8月(交渉中・未確定)</a:t>
                      </a:r>
                    </a:p>
                  </a:txBody>
                  <a:tcPr>
                    <a:solidFill>
                      <a:srgbClr val="F1F5FA"/>
                    </a:solidFill>
                  </a:tcPr>
                </a:tc>
                <a:tc>
                  <a:txBody>
                    <a:bodyPr/>
                    <a:lstStyle/>
                    <a:p>
                      <a:pPr>
                        <a:defRPr sz="1200">
                          <a:solidFill>
                            <a:srgbClr val="1C2230"/>
                          </a:solidFill>
                          <a:latin typeface="Yu Gothic"/>
                        </a:defRPr>
                      </a:pPr>
                      <a:r>
                        <a:t>400億ドル以上(報道)</a:t>
                      </a:r>
                    </a:p>
                  </a:txBody>
                  <a:tcPr>
                    <a:solidFill>
                      <a:srgbClr val="F1F5FA"/>
                    </a:solidFill>
                  </a:tcPr>
                </a:tc>
                <a:tc>
                  <a:txBody>
                    <a:bodyPr/>
                    <a:lstStyle/>
                    <a:p>
                      <a:pPr>
                        <a:defRPr sz="1200">
                          <a:solidFill>
                            <a:srgbClr val="1C2230"/>
                          </a:solidFill>
                          <a:latin typeface="Yu Gothic"/>
                        </a:defRPr>
                      </a:pPr>
                      <a:r>
                        <a:t>10億ドル超(報道)</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PYMNTS・TechCrunch・Bloomberg・PYMNTS(2026年8月)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Devin/CognitionのARR推移(百万ドル)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Bloomberg・Contrary Research</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現在のARRは10億ドルに迫っているとされる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ARR、10億ドルに迫る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前回開示の4億9,200万ドルからおよそ倍増した水準とみられるが、正確な数値は非公開。あくまで報道時点の表現である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Bloomberg・TechCrunch(2026-08-12)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ARR急拡大の背景として報じられている要因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企業利用の急拡大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企業ユーザーのDevin利用量が、過去6か月にわたり毎月50%増加していると2026年5月時点でScott Wu氏が説明したと報じられている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Windsurfの統合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2025年7月に買収したコーディング支援ツールWindsurf(買収時ARR約8,200万ドル、顧客350社超)の統合が寄与した可能性がある(当社の推測)</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前回ラウンドの土台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2026年5月時点で既にARR4億9,200万ドルに達しており、今回の急拡大はその延長線上にあると報じられている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TechCrunch(2026-05-29)・TechCrunch(2025-07〜08)・Bloomberg</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今回の交渉でわかっていること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報道されている範囲を整理します。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投資家との交渉は初期段階(early talks)とBloombergは報じている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評価額は少なくとも400億ドル、10億ドル超の調達を目指しているとされる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最終的に条件が変わる可能性、あるいは調達自体が実現しない可能性もあるとBloombergは付記している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前回ラウンドと今回交渉中の条件を比較する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2026年5月(前回ラウンド、完了済み)</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調達額: 10億ドル</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評価額: 260億ドル</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既に完了した確定済みのラウンド</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2026年8月(今回、交渉中・未確定)</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報じられている調達目標: 10億ドル超</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報じられている評価額目標: 400億ドル以上</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初期段階の交渉であり、確定していない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主要投資家(これまでの資金調達に参加したとされる投資家)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過去のラウンドの文脈で報じられている投資家です。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Peter Thiel氏が創業したFounders Fundが、主要投資家の一社として報じられている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General Catalystも過去のラウンドに参加した投資家として名前が挙がっている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今回(400億ドル評価額)の交渉における新規投資家の具体名は、本調査の範囲では確認できていない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Seeking Alpha(2026-08-12)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“AIコーディングエージェントは、人間のエンジニアの代替ではなく、地味で手間のかかる作業を引き受ける存在だと考えている。”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Scott Wu氏(Cognition共同創業者・CEO、TechCrunch記事の趣旨を意訳、2026年5月)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Cognitionの製品・企業タイムライン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2023年11月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Scott Wu氏らがCognitionを創業(米サンフランシスコ)</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2024年3月12日</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「世界初の自律型AIソフトウェアエンジニア」としてDevinを発表</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2025年7月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AIコーディング支援ツールWindsurfを買収(買収額は非公開、推定2.5億ドルと報じられる)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2025年9月〜2026年8月</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評価額が102億ドル→260億ドル→400億ドル(交渉中)へと急拡大したと報じられている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Devinが担うとされる仕事の例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レガシー更新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古くなったソフトウェアを最新環境に対応させる、地味だが手間のかかる作業</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プラットフォーム移行</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あるプラットフォームから別のプラットフォームへアプリケーションを移す作業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自社コードの89%</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Cognition社内では、Devin自身が自社コードの89%を書いているとTechFundingNewsが報じている(測定方法は未確認)</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Cognition公式・TechFundingNews</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独立検証・懐疑的な見方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称賛一辺倒にせず、指摘も紹介します。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2024年3月の発表直後、独立した開発者らがデモの一部を再現できないとする検証を公開したと報じられている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SWE-benchでの好成績(13.86%)も、タスク選定や評価方法に留保が必要との指摘がある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CEO自身も、AIコーディングエージェントは人間の代替ではないと説明しているとされる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CliffsNotes・sitepoint.com・TechCrunch(2024年3月・2026年5月)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評価額400億ドルへの資金調達が既に確定した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Cognitionは短期間で誰もが認める規模の企業になった</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AIコーディングエージェントが人間のエンジニアを完全に代替した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投資家との交渉が始まった初期段階であり、条件は変わりうる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ARR急拡大は事実だが、独立した第三者による詳細検証は限定的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Devin自身、人間の代替ではなく定型作業の補助と位置付けられていると報じられている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AIコーディングエージェント領域の資金調達動向の一例として捉え、個別銘柄の推奨とは切り離して見る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AI技術動向を追う立場として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SWE-bench等のベンチマーク結果は参考値の一つとして扱い、独立検証の有無も併せて確認する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社内でAI導入を検討する立場として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「人間の代替」ではなく「定型作業の補助」という位置付けを踏まえ、自社の業務にどこまで当てはまるか個別に見極める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確認できていないこと(1)</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交渉の具体的な進捗状況・完了時期の見込み</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新規投資家の具体名</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正確なARRの数値(「10億ドルに迫っている」という表現のみで確定値ではない)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交渉の完了時期・成立の可否</a:t>
                      </a:r>
                    </a:p>
                  </a:txBody>
                  <a:tcPr>
                    <a:solidFill>
                      <a:srgbClr val="FFFFFF"/>
                    </a:solidFill>
                  </a:tcPr>
                </a:tc>
                <a:tc>
                  <a:txBody>
                    <a:bodyPr/>
                    <a:lstStyle/>
                    <a:p>
                      <a:pPr>
                        <a:defRPr sz="1200">
                          <a:solidFill>
                            <a:srgbClr val="1C2230"/>
                          </a:solidFill>
                          <a:latin typeface="Yu Gothic"/>
                        </a:defRPr>
                      </a:pPr>
                      <a:r>
                        <a:t>Bloombergは初期段階の交渉と報じており、最終的に不成立となる可能性もあるとされる</a:t>
                      </a:r>
                    </a:p>
                  </a:txBody>
                  <a:tcPr>
                    <a:solidFill>
                      <a:srgbClr val="FFFFFF"/>
                    </a:solidFill>
                  </a:tcPr>
                </a:tc>
              </a:tr>
              <a:tr h="502920">
                <a:tc>
                  <a:txBody>
                    <a:bodyPr/>
                    <a:lstStyle/>
                    <a:p>
                      <a:pPr>
                        <a:defRPr sz="1200">
                          <a:solidFill>
                            <a:srgbClr val="1C2230"/>
                          </a:solidFill>
                          <a:latin typeface="Yu Gothic"/>
                        </a:defRPr>
                      </a:pPr>
                      <a:r>
                        <a:t>新規投資家の具体名</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r h="502920">
                <a:tc>
                  <a:txBody>
                    <a:bodyPr/>
                    <a:lstStyle/>
                    <a:p>
                      <a:pPr>
                        <a:defRPr sz="1200">
                          <a:solidFill>
                            <a:srgbClr val="1C2230"/>
                          </a:solidFill>
                          <a:latin typeface="Yu Gothic"/>
                        </a:defRPr>
                      </a:pPr>
                      <a:r>
                        <a:t>Devinの具体的な顧客数・利用企業の詳細</a:t>
                      </a:r>
                    </a:p>
                  </a:txBody>
                  <a:tcPr>
                    <a:solidFill>
                      <a:srgbClr val="FFFFFF"/>
                    </a:solidFill>
                  </a:tcPr>
                </a:tc>
                <a:tc>
                  <a:txBody>
                    <a:bodyPr/>
                    <a:lstStyle/>
                    <a:p>
                      <a:pPr>
                        <a:defRPr sz="1200">
                          <a:solidFill>
                            <a:srgbClr val="1C2230"/>
                          </a:solidFill>
                          <a:latin typeface="Yu Gothic"/>
                        </a:defRPr>
                      </a:pPr>
                      <a:r>
                        <a:t>個社名を含む網羅的なリストは本調査の範囲では確認できていない</a:t>
                      </a:r>
                    </a:p>
                  </a:txBody>
                  <a:tcPr>
                    <a:solidFill>
                      <a:srgbClr val="FFFFFF"/>
                    </a:solidFill>
                  </a:tcPr>
                </a:tc>
              </a:tr>
              <a:tr h="502920">
                <a:tc>
                  <a:txBody>
                    <a:bodyPr/>
                    <a:lstStyle/>
                    <a:p>
                      <a:pPr>
                        <a:defRPr sz="1200">
                          <a:solidFill>
                            <a:srgbClr val="1C2230"/>
                          </a:solidFill>
                          <a:latin typeface="Yu Gothic"/>
                        </a:defRPr>
                      </a:pPr>
                      <a:r>
                        <a:t>Windsurf買収額の正式な金額</a:t>
                      </a:r>
                    </a:p>
                  </a:txBody>
                  <a:tcPr>
                    <a:solidFill>
                      <a:srgbClr val="F1F5FA"/>
                    </a:solidFill>
                  </a:tcPr>
                </a:tc>
                <a:tc>
                  <a:txBody>
                    <a:bodyPr/>
                    <a:lstStyle/>
                    <a:p>
                      <a:pPr>
                        <a:defRPr sz="1200">
                          <a:solidFill>
                            <a:srgbClr val="1C2230"/>
                          </a:solidFill>
                          <a:latin typeface="Yu Gothic"/>
                        </a:defRPr>
                      </a:pPr>
                      <a:r>
                        <a:t>Cognitionは公式には非開示。一部報道が推定額(約2.5億ドル)を報じているのみ</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2026年5月の10億ドル・260億ドル評価額の調達、2026年8月11〜12日の400億ドル評価額交渉の報道は複数メディアが一致</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ARRが前回の4億9,200万ドルからおよそ倍増し10億ドルに迫っているという報道内容</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Windsurf統合がARR急拡大に寄与した可能性(当社の推測)</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新規投資家の具体名、正確なARR数値、Devinの詳細な顧客数、交渉の成立可否</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「評価額400億ドルになった」という断定は行わず、一貫して「交渉中」「〜と報じられている」という表現を用いている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Cognition・Devin・AIコーディングエージェント全般への政治的評価(良い/悪いの判断)は行わない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独立検証・懐疑的な指摘も隠さず紹介し、称賛一辺倒にしない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着手日の1〜2日前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Bloomberg等の報道はいずれも2026年8月11〜12日。着手日(2026年8月13日)を含めて2日以内という基準を満たす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Bloomberg</a:t>
                      </a:r>
                    </a:p>
                  </a:txBody>
                  <a:tcPr>
                    <a:solidFill>
                      <a:srgbClr val="FFFFFF"/>
                    </a:solidFill>
                  </a:tcPr>
                </a:tc>
                <a:tc>
                  <a:txBody>
                    <a:bodyPr/>
                    <a:lstStyle/>
                    <a:p>
                      <a:pPr>
                        <a:defRPr sz="1200">
                          <a:solidFill>
                            <a:srgbClr val="1C2230"/>
                          </a:solidFill>
                          <a:latin typeface="Yu Gothic"/>
                        </a:defRPr>
                      </a:pPr>
                      <a:r>
                        <a:t>2026-08-12(前回ラウンドは2026-05-27)</a:t>
                      </a:r>
                    </a:p>
                  </a:txBody>
                  <a:tcPr>
                    <a:solidFill>
                      <a:srgbClr val="FFFFFF"/>
                    </a:solidFill>
                  </a:tcPr>
                </a:tc>
              </a:tr>
              <a:tr h="502920">
                <a:tc>
                  <a:txBody>
                    <a:bodyPr/>
                    <a:lstStyle/>
                    <a:p>
                      <a:pPr>
                        <a:defRPr sz="1200">
                          <a:solidFill>
                            <a:srgbClr val="1C2230"/>
                          </a:solidFill>
                          <a:latin typeface="Yu Gothic"/>
                        </a:defRPr>
                      </a:pPr>
                      <a:r>
                        <a:t>TechCrunch / PYMNTS</a:t>
                      </a:r>
                    </a:p>
                  </a:txBody>
                  <a:tcPr>
                    <a:solidFill>
                      <a:srgbClr val="F1F5FA"/>
                    </a:solidFill>
                  </a:tcPr>
                </a:tc>
                <a:tc>
                  <a:txBody>
                    <a:bodyPr/>
                    <a:lstStyle/>
                    <a:p>
                      <a:pPr>
                        <a:defRPr sz="1200">
                          <a:solidFill>
                            <a:srgbClr val="1C2230"/>
                          </a:solidFill>
                          <a:latin typeface="Yu Gothic"/>
                        </a:defRPr>
                      </a:pPr>
                      <a:r>
                        <a:t>2026-08-12</a:t>
                      </a:r>
                    </a:p>
                  </a:txBody>
                  <a:tcPr>
                    <a:solidFill>
                      <a:srgbClr val="F1F5FA"/>
                    </a:solidFill>
                  </a:tcPr>
                </a:tc>
              </a:tr>
              <a:tr h="502920">
                <a:tc>
                  <a:txBody>
                    <a:bodyPr/>
                    <a:lstStyle/>
                    <a:p>
                      <a:pPr>
                        <a:defRPr sz="1200">
                          <a:solidFill>
                            <a:srgbClr val="1C2230"/>
                          </a:solidFill>
                          <a:latin typeface="Yu Gothic"/>
                        </a:defRPr>
                      </a:pPr>
                      <a:r>
                        <a:t>Benzinga / TechFundingNews / Seeking Alpha</a:t>
                      </a:r>
                    </a:p>
                  </a:txBody>
                  <a:tcPr>
                    <a:solidFill>
                      <a:srgbClr val="FFFFFF"/>
                    </a:solidFill>
                  </a:tcPr>
                </a:tc>
                <a:tc>
                  <a:txBody>
                    <a:bodyPr/>
                    <a:lstStyle/>
                    <a:p>
                      <a:pPr>
                        <a:defRPr sz="1200">
                          <a:solidFill>
                            <a:srgbClr val="1C2230"/>
                          </a:solidFill>
                          <a:latin typeface="Yu Gothic"/>
                        </a:defRPr>
                      </a:pPr>
                      <a:r>
                        <a:t>2026-08-12</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Bloomberg・TechCrunch・PYMNTS・Benzinga・TechFundingNews(2026-08-11〜12報道)｜195本目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評価額400億ドルへの道のりは、まだ交渉というスタートラインに立ったばかり。</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特定企業への評価ではなく、事実関係の整理として、今後も出典付きで交渉の行方を追いたいポイントです。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