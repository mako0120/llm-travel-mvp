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フィギュアスケートペア「りくりゅう」こと三浦璃来選手・木原龍一選手が婚約を発表しました。何が発表されたのか、出典付きで正確に整理してお届けします。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結論から確認します。りくりゅうペアの2人が、2026年8月23日に婚約を発表しました。木原選手が氷上でプロポーズした様子も公開されています。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今日は6つの流れでお伝えします。婚約発表の基本情報から競技実績まで、正確に事実を引用しながら整理します。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このテーマを扱う理由です。著名な五輪金メダリストの慶事という点に注目しました。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婚約発表の基本情報です。2人それぞれのSNSで発表されました。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「りくりゅう」とは何かを確認します。2019年結成、2026年4月に現役引退したペアです。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2026年ミラノ・コルティナ五輪で、ショートプログラム5位から逆転し、歴代最高スコアで金メダルを獲得しました。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婚約発表までの流れを図にしました。五輪金メダル、現役引退を経ての発表です。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五輪での競技実績です。ペア種目の金メダルと団体戦の銀メダル、異なる種目の結果として区別してお伝えします。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2019年の結成から、約7年にわたって競技を共にしてきたペアです。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「りくりゅう」の主な実績をまとめました。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スポーツファンにとっての意味です。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婚約と結婚の違いです。本テーマでは両者を混同せず、正確に区別してお伝えします。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現役引退発表と婚約発表、異なる時点の異なる発表を対比しました。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複数の独立した国内主要メディアが同一の事実を報じていることを確認しています。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2023年世界選手権では、日本ペアとして初めて優勝しています。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氷上プロポーズについてです。2人の活動の原点であるリンクでのプロポーズが話題になっています。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団体戦では2大会連続で銀メダル獲得に貢献しています。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婚約発表の情報をまとめました。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2023年の世界選手権初優勝から、約3年の間に五輪金メダル・現役引退・婚約という大きな節目を重ねてきました。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国内メディアの報道時期をまとめました。発表当日から幅広く報じられています。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世界選手権・五輪ともに、日本ペアとして初の快挙を成し遂げています。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一般的な著名人の慶事報道の傾向と、今回の発表を対比しました。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本編のまとめです。りくりゅうペアの婚約発表について、出典付きで整理してお伝えしました。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りくりゅうペアの婚約発表について、その中身を正確に整理してお伝えしました。婚約と結婚を混同せず、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「りくりゅう」</a:t>
            </a:r>
          </a:p>
          <a:p>
            <a:pPr algn="l">
              <a:lnSpc>
                <a:spcPct val="115000"/>
              </a:lnSpc>
            </a:pPr>
            <a:r>
              <a:rPr sz="4200" b="1">
                <a:solidFill>
                  <a:srgbClr val="FFFFFF"/>
                </a:solidFill>
                <a:latin typeface="Yu Gothic"/>
              </a:rPr>
              <a:t>婚約を発表。</a:t>
            </a:r>
          </a:p>
          <a:p>
            <a:pPr algn="l">
              <a:lnSpc>
                <a:spcPct val="115000"/>
              </a:lnSpc>
            </a:pPr>
            <a:r>
              <a:rPr sz="4200" b="1">
                <a:solidFill>
                  <a:srgbClr val="FFFFFF"/>
                </a:solidFill>
                <a:latin typeface="Yu Gothic"/>
              </a:rPr>
              <a:t>氷上プロポーズ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2026年8月23日発表——出典付きで整理する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時事通信・モデルプレス(2026年8月23日)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婚約を発表 三浦璃来選手・木原龍一選手が2026年8月23日に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木原選手が氷上でプロポーズしたことも公開された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時事通信・モデルプレス(2026-08-23)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婚約発表の基本情報を確認する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「りくりゅう」ペアの競技実績を確認する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現役引退から婚約発表までの流れを確認する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五輪での金メダルの詳細を確認する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着手日前日(2026年8月23日)、日本の主要メディアが一斉に報じた話題である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日本勢として五輪ペア種目初の金メダルを獲得した著名選手の慶事である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氷上プロポーズという、フィギュアスケートペアならではのエピソードがある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時事通信・モデルプレス(2026-08-23)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婚約発表の基本情報</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発表日</a:t>
                      </a:r>
                    </a:p>
                  </a:txBody>
                  <a:tcPr>
                    <a:solidFill>
                      <a:srgbClr val="FFFFFF"/>
                    </a:solidFill>
                  </a:tcPr>
                </a:tc>
                <a:tc>
                  <a:txBody>
                    <a:bodyPr/>
                    <a:lstStyle/>
                    <a:p>
                      <a:pPr>
                        <a:defRPr sz="1200">
                          <a:solidFill>
                            <a:srgbClr val="121C1F"/>
                          </a:solidFill>
                          <a:latin typeface="Yu Gothic"/>
                        </a:defRPr>
                      </a:pPr>
                      <a:r>
                        <a:t>2026年8月23日</a:t>
                      </a:r>
                    </a:p>
                  </a:txBody>
                  <a:tcPr>
                    <a:solidFill>
                      <a:srgbClr val="FFFFFF"/>
                    </a:solidFill>
                  </a:tcPr>
                </a:tc>
              </a:tr>
              <a:tr h="502920">
                <a:tc>
                  <a:txBody>
                    <a:bodyPr/>
                    <a:lstStyle/>
                    <a:p>
                      <a:pPr>
                        <a:defRPr sz="1200">
                          <a:solidFill>
                            <a:srgbClr val="121C1F"/>
                          </a:solidFill>
                          <a:latin typeface="Yu Gothic"/>
                        </a:defRPr>
                      </a:pPr>
                      <a:r>
                        <a:t>発表方法</a:t>
                      </a:r>
                    </a:p>
                  </a:txBody>
                  <a:tcPr>
                    <a:solidFill>
                      <a:srgbClr val="F0F7F4"/>
                    </a:solidFill>
                  </a:tcPr>
                </a:tc>
                <a:tc>
                  <a:txBody>
                    <a:bodyPr/>
                    <a:lstStyle/>
                    <a:p>
                      <a:pPr>
                        <a:defRPr sz="1200">
                          <a:solidFill>
                            <a:srgbClr val="121C1F"/>
                          </a:solidFill>
                          <a:latin typeface="Yu Gothic"/>
                        </a:defRPr>
                      </a:pPr>
                      <a:r>
                        <a:t>三浦選手がInstagram、木原選手がXでそれぞれ発表</a:t>
                      </a:r>
                    </a:p>
                  </a:txBody>
                  <a:tcPr>
                    <a:solidFill>
                      <a:srgbClr val="F0F7F4"/>
                    </a:solidFill>
                  </a:tcPr>
                </a:tc>
              </a:tr>
              <a:tr h="502920">
                <a:tc>
                  <a:txBody>
                    <a:bodyPr/>
                    <a:lstStyle/>
                    <a:p>
                      <a:pPr>
                        <a:defRPr sz="1200">
                          <a:solidFill>
                            <a:srgbClr val="121C1F"/>
                          </a:solidFill>
                          <a:latin typeface="Yu Gothic"/>
                        </a:defRPr>
                      </a:pPr>
                      <a:r>
                        <a:t>公開された内容</a:t>
                      </a:r>
                    </a:p>
                  </a:txBody>
                  <a:tcPr>
                    <a:solidFill>
                      <a:srgbClr val="FFFFFF"/>
                    </a:solidFill>
                  </a:tcPr>
                </a:tc>
                <a:tc>
                  <a:txBody>
                    <a:bodyPr/>
                    <a:lstStyle/>
                    <a:p>
                      <a:pPr>
                        <a:defRPr sz="1200">
                          <a:solidFill>
                            <a:srgbClr val="121C1F"/>
                          </a:solidFill>
                          <a:latin typeface="Yu Gothic"/>
                        </a:defRPr>
                      </a:pPr>
                      <a:r>
                        <a:t>氷上でのプロポーズ写真、婚約指輪を披露する写真</a:t>
                      </a:r>
                    </a:p>
                  </a:txBody>
                  <a:tcPr>
                    <a:solidFill>
                      <a:srgbClr val="FFFFFF"/>
                    </a:solidFill>
                  </a:tcPr>
                </a:tc>
              </a:tr>
              <a:tr h="502920">
                <a:tc>
                  <a:txBody>
                    <a:bodyPr/>
                    <a:lstStyle/>
                    <a:p>
                      <a:pPr>
                        <a:defRPr sz="1200">
                          <a:solidFill>
                            <a:srgbClr val="121C1F"/>
                          </a:solidFill>
                          <a:latin typeface="Yu Gothic"/>
                        </a:defRPr>
                      </a:pPr>
                      <a:r>
                        <a:t>添えられたコメント</a:t>
                      </a:r>
                    </a:p>
                  </a:txBody>
                  <a:tcPr>
                    <a:solidFill>
                      <a:srgbClr val="F0F7F4"/>
                    </a:solidFill>
                  </a:tcPr>
                </a:tc>
                <a:tc>
                  <a:txBody>
                    <a:bodyPr/>
                    <a:lstStyle/>
                    <a:p>
                      <a:pPr>
                        <a:defRPr sz="1200">
                          <a:solidFill>
                            <a:srgbClr val="121C1F"/>
                          </a:solidFill>
                          <a:latin typeface="Yu Gothic"/>
                        </a:defRPr>
                      </a:pPr>
                      <a:r>
                        <a:t>「なくてはならない存在」「一歩ずつ歩んでいきたい」</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モデルプレス(2026-08-23)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「りくりゅう」とは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前提知識を確認します。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三浦璃来選手・木原龍一選手によるフィギュアスケートのペア種目チームの愛称である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2019年に結成された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2026年4月17日に現役引退を発表し、今後はプロとしての活動を予定している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五輪での金メダル獲得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158.13点 フリースケーティングで記録した歴代最高スコア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ショートプログラム5位から逆転しての金メダル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スポルティーバ・JOC公式サイト(2026年2月)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婚約発表までの流れ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2026年2月、五輪ペア種目で金メダル獲得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日本勢として同種目初</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2026年4月17日、現役引退を発表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今後はプロとして活動予定</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2026年8月23日、婚約を発表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氷上プロポーズの様子も公開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婚約発表までの流れ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時事通信(2026年4月・8月)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今回の発表を3ステップで総括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それぞれのSNSで発表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三浦選手はInstagram、木原選手はX</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氷上プロポーズの写真を公開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木原選手が片膝をつく様子</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婚約指輪を披露</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2人の笑顔の写真とともに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五輪での競技実績</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五輪での競技実績を確認します。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2026年ミラノ・コルティナ冬季五輪のペア種目で、日本勢として同種目初の金メダルを獲得した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同五輪の団体戦でも銀メダル獲得に貢献した(2大会連続の団体銀メダル)</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2023年世界選手権では、日本ペアとして初めて優勝している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JOC公式サイト・Olympics.com日本版(2026年)</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確定していること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婚約発表の日付(2026年8月23日)・発表方法</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五輪ペア種目金メダル・団体戦銀メダルの実績</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現役引退の発表(2026年4月17日)</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結婚(入籍・挙式)の具体的な予定・時期</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交際期間・馴れ初めの詳細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ペア結成からの年数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7年 「りくりゅう」ペアが結成されてからの年数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2019年結成、2026年に現役引退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本調査による整理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「りくりゅう」の主な実績まとめ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年</a:t>
                      </a:r>
                    </a:p>
                  </a:txBody>
                  <a:tcPr>
                    <a:solidFill>
                      <a:srgbClr val="1B2A2E"/>
                    </a:solidFill>
                  </a:tcPr>
                </a:tc>
                <a:tc>
                  <a:txBody>
                    <a:bodyPr/>
                    <a:lstStyle/>
                    <a:p>
                      <a:pPr>
                        <a:defRPr sz="1300" b="1">
                          <a:solidFill>
                            <a:srgbClr val="FFFFFF"/>
                          </a:solidFill>
                          <a:latin typeface="Yu Gothic"/>
                        </a:defRPr>
                      </a:pPr>
                      <a:r>
                        <a:t>実績</a:t>
                      </a:r>
                    </a:p>
                  </a:txBody>
                  <a:tcPr>
                    <a:solidFill>
                      <a:srgbClr val="1B2A2E"/>
                    </a:solidFill>
                  </a:tcPr>
                </a:tc>
              </a:tr>
              <a:tr h="502920">
                <a:tc>
                  <a:txBody>
                    <a:bodyPr/>
                    <a:lstStyle/>
                    <a:p>
                      <a:pPr>
                        <a:defRPr sz="1200">
                          <a:solidFill>
                            <a:srgbClr val="121C1F"/>
                          </a:solidFill>
                          <a:latin typeface="Yu Gothic"/>
                        </a:defRPr>
                      </a:pPr>
                      <a:r>
                        <a:t>2019年</a:t>
                      </a:r>
                    </a:p>
                  </a:txBody>
                  <a:tcPr>
                    <a:solidFill>
                      <a:srgbClr val="FFFFFF"/>
                    </a:solidFill>
                  </a:tcPr>
                </a:tc>
                <a:tc>
                  <a:txBody>
                    <a:bodyPr/>
                    <a:lstStyle/>
                    <a:p>
                      <a:pPr>
                        <a:defRPr sz="1200">
                          <a:solidFill>
                            <a:srgbClr val="121C1F"/>
                          </a:solidFill>
                          <a:latin typeface="Yu Gothic"/>
                        </a:defRPr>
                      </a:pPr>
                      <a:r>
                        <a:t>ペア結成</a:t>
                      </a:r>
                    </a:p>
                  </a:txBody>
                  <a:tcPr>
                    <a:solidFill>
                      <a:srgbClr val="FFFFFF"/>
                    </a:solidFill>
                  </a:tcPr>
                </a:tc>
              </a:tr>
              <a:tr h="502920">
                <a:tc>
                  <a:txBody>
                    <a:bodyPr/>
                    <a:lstStyle/>
                    <a:p>
                      <a:pPr>
                        <a:defRPr sz="1200">
                          <a:solidFill>
                            <a:srgbClr val="121C1F"/>
                          </a:solidFill>
                          <a:latin typeface="Yu Gothic"/>
                        </a:defRPr>
                      </a:pPr>
                      <a:r>
                        <a:t>2023年</a:t>
                      </a:r>
                    </a:p>
                  </a:txBody>
                  <a:tcPr>
                    <a:solidFill>
                      <a:srgbClr val="F0F7F4"/>
                    </a:solidFill>
                  </a:tcPr>
                </a:tc>
                <a:tc>
                  <a:txBody>
                    <a:bodyPr/>
                    <a:lstStyle/>
                    <a:p>
                      <a:pPr>
                        <a:defRPr sz="1200">
                          <a:solidFill>
                            <a:srgbClr val="121C1F"/>
                          </a:solidFill>
                          <a:latin typeface="Yu Gothic"/>
                        </a:defRPr>
                      </a:pPr>
                      <a:r>
                        <a:t>世界選手権で日本ペア初優勝</a:t>
                      </a:r>
                    </a:p>
                  </a:txBody>
                  <a:tcPr>
                    <a:solidFill>
                      <a:srgbClr val="F0F7F4"/>
                    </a:solidFill>
                  </a:tcPr>
                </a:tc>
              </a:tr>
              <a:tr h="502920">
                <a:tc>
                  <a:txBody>
                    <a:bodyPr/>
                    <a:lstStyle/>
                    <a:p>
                      <a:pPr>
                        <a:defRPr sz="1200">
                          <a:solidFill>
                            <a:srgbClr val="121C1F"/>
                          </a:solidFill>
                          <a:latin typeface="Yu Gothic"/>
                        </a:defRPr>
                      </a:pPr>
                      <a:r>
                        <a:t>2026年2月</a:t>
                      </a:r>
                    </a:p>
                  </a:txBody>
                  <a:tcPr>
                    <a:solidFill>
                      <a:srgbClr val="FFFFFF"/>
                    </a:solidFill>
                  </a:tcPr>
                </a:tc>
                <a:tc>
                  <a:txBody>
                    <a:bodyPr/>
                    <a:lstStyle/>
                    <a:p>
                      <a:pPr>
                        <a:defRPr sz="1200">
                          <a:solidFill>
                            <a:srgbClr val="121C1F"/>
                          </a:solidFill>
                          <a:latin typeface="Yu Gothic"/>
                        </a:defRPr>
                      </a:pPr>
                      <a:r>
                        <a:t>五輪ペア種目金メダル・団体銀メダル</a:t>
                      </a:r>
                    </a:p>
                  </a:txBody>
                  <a:tcPr>
                    <a:solidFill>
                      <a:srgbClr val="FFFFFF"/>
                    </a:solidFill>
                  </a:tcPr>
                </a:tc>
              </a:tr>
              <a:tr h="502920">
                <a:tc>
                  <a:txBody>
                    <a:bodyPr/>
                    <a:lstStyle/>
                    <a:p>
                      <a:pPr>
                        <a:defRPr sz="1200">
                          <a:solidFill>
                            <a:srgbClr val="121C1F"/>
                          </a:solidFill>
                          <a:latin typeface="Yu Gothic"/>
                        </a:defRPr>
                      </a:pPr>
                      <a:r>
                        <a:t>2026年4月</a:t>
                      </a:r>
                    </a:p>
                  </a:txBody>
                  <a:tcPr>
                    <a:solidFill>
                      <a:srgbClr val="F0F7F4"/>
                    </a:solidFill>
                  </a:tcPr>
                </a:tc>
                <a:tc>
                  <a:txBody>
                    <a:bodyPr/>
                    <a:lstStyle/>
                    <a:p>
                      <a:pPr>
                        <a:defRPr sz="1200">
                          <a:solidFill>
                            <a:srgbClr val="121C1F"/>
                          </a:solidFill>
                          <a:latin typeface="Yu Gothic"/>
                        </a:defRPr>
                      </a:pPr>
                      <a:r>
                        <a:t>現役引退を発表</a:t>
                      </a:r>
                    </a:p>
                  </a:txBody>
                  <a:tcPr>
                    <a:solidFill>
                      <a:srgbClr val="F0F7F4"/>
                    </a:solidFill>
                  </a:tcPr>
                </a:tc>
              </a:tr>
              <a:tr h="502920">
                <a:tc>
                  <a:txBody>
                    <a:bodyPr/>
                    <a:lstStyle/>
                    <a:p>
                      <a:pPr>
                        <a:defRPr sz="1200">
                          <a:solidFill>
                            <a:srgbClr val="121C1F"/>
                          </a:solidFill>
                          <a:latin typeface="Yu Gothic"/>
                        </a:defRPr>
                      </a:pPr>
                      <a:r>
                        <a:t>2026年8月</a:t>
                      </a:r>
                    </a:p>
                  </a:txBody>
                  <a:tcPr>
                    <a:solidFill>
                      <a:srgbClr val="FFFFFF"/>
                    </a:solidFill>
                  </a:tcPr>
                </a:tc>
                <a:tc>
                  <a:txBody>
                    <a:bodyPr/>
                    <a:lstStyle/>
                    <a:p>
                      <a:pPr>
                        <a:defRPr sz="1200">
                          <a:solidFill>
                            <a:srgbClr val="121C1F"/>
                          </a:solidFill>
                          <a:latin typeface="Yu Gothic"/>
                        </a:defRPr>
                      </a:pPr>
                      <a:r>
                        <a:t>婚約を発表</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視聴者にとっての意味—スポーツファンとして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著名な五輪金メダリストの慶事を、正確な事実とともに把握できる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『婚約』と『結婚』という異なる段階の情報を区別する視点が役立つ</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現役引退からプロ転向、そして婚約という一連の歩みを時系列で理解できる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「婚約」と「結婚」の違いについて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用語の違いを確認します。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「婚約」は結婚の約束をすることであり、法的な婚姻関係はまだ成立していない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「結婚」は入籍等の法的な手続きを経て婚姻関係が成立することを指す</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本テーマは婚約発表という事実のみを扱い、結婚(入籍・挙式)については確認できた情報がない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現役引退発表 vs 婚約発表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現役引退発表(2026年4月17日)</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競技からの引退、プロ転向を表明</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婚約発表(2026年8月23日)</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プライベートでの新たな節目</a:t>
            </a:r>
          </a:p>
        </p:txBody>
      </p:sp>
      <p:sp>
        <p:nvSpPr>
          <p:cNvPr id="16" name="Oval 15"/>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氷上プロポーズの様子も公開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結婚(入籍・挙式)の具体的な予定・時期は確認できていない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交際期間・馴れ初めの詳細は確認できていない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プロ転向後の具体的な活動計画の詳細は確認できていない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主な情報源</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報道内容</a:t>
                      </a:r>
                    </a:p>
                  </a:txBody>
                  <a:tcPr>
                    <a:solidFill>
                      <a:srgbClr val="1B2A2E"/>
                    </a:solidFill>
                  </a:tcPr>
                </a:tc>
              </a:tr>
              <a:tr h="502920">
                <a:tc>
                  <a:txBody>
                    <a:bodyPr/>
                    <a:lstStyle/>
                    <a:p>
                      <a:pPr>
                        <a:defRPr sz="1200">
                          <a:solidFill>
                            <a:srgbClr val="121C1F"/>
                          </a:solidFill>
                          <a:latin typeface="Yu Gothic"/>
                        </a:defRPr>
                      </a:pPr>
                      <a:r>
                        <a:t>時事通信(2026-08-23)</a:t>
                      </a:r>
                    </a:p>
                  </a:txBody>
                  <a:tcPr>
                    <a:solidFill>
                      <a:srgbClr val="FFFFFF"/>
                    </a:solidFill>
                  </a:tcPr>
                </a:tc>
                <a:tc>
                  <a:txBody>
                    <a:bodyPr/>
                    <a:lstStyle/>
                    <a:p>
                      <a:pPr>
                        <a:defRPr sz="1200">
                          <a:solidFill>
                            <a:srgbClr val="121C1F"/>
                          </a:solidFill>
                          <a:latin typeface="Yu Gothic"/>
                        </a:defRPr>
                      </a:pPr>
                      <a:r>
                        <a:t>婚約発表の速報</a:t>
                      </a:r>
                    </a:p>
                  </a:txBody>
                  <a:tcPr>
                    <a:solidFill>
                      <a:srgbClr val="FFFFFF"/>
                    </a:solidFill>
                  </a:tcPr>
                </a:tc>
              </a:tr>
              <a:tr h="502920">
                <a:tc>
                  <a:txBody>
                    <a:bodyPr/>
                    <a:lstStyle/>
                    <a:p>
                      <a:pPr>
                        <a:defRPr sz="1200">
                          <a:solidFill>
                            <a:srgbClr val="121C1F"/>
                          </a:solidFill>
                          <a:latin typeface="Yu Gothic"/>
                        </a:defRPr>
                      </a:pPr>
                      <a:r>
                        <a:t>モデルプレス(2026-08-23)</a:t>
                      </a:r>
                    </a:p>
                  </a:txBody>
                  <a:tcPr>
                    <a:solidFill>
                      <a:srgbClr val="F0F7F4"/>
                    </a:solidFill>
                  </a:tcPr>
                </a:tc>
                <a:tc>
                  <a:txBody>
                    <a:bodyPr/>
                    <a:lstStyle/>
                    <a:p>
                      <a:pPr>
                        <a:defRPr sz="1200">
                          <a:solidFill>
                            <a:srgbClr val="121C1F"/>
                          </a:solidFill>
                          <a:latin typeface="Yu Gothic"/>
                        </a:defRPr>
                      </a:pPr>
                      <a:r>
                        <a:t>発表内容の詳細</a:t>
                      </a:r>
                    </a:p>
                  </a:txBody>
                  <a:tcPr>
                    <a:solidFill>
                      <a:srgbClr val="F0F7F4"/>
                    </a:solidFill>
                  </a:tcPr>
                </a:tc>
              </a:tr>
              <a:tr h="502920">
                <a:tc>
                  <a:txBody>
                    <a:bodyPr/>
                    <a:lstStyle/>
                    <a:p>
                      <a:pPr>
                        <a:defRPr sz="1200">
                          <a:solidFill>
                            <a:srgbClr val="121C1F"/>
                          </a:solidFill>
                          <a:latin typeface="Yu Gothic"/>
                        </a:defRPr>
                      </a:pPr>
                      <a:r>
                        <a:t>Olympics.com日本版(2026年8月)</a:t>
                      </a:r>
                    </a:p>
                  </a:txBody>
                  <a:tcPr>
                    <a:solidFill>
                      <a:srgbClr val="FFFFFF"/>
                    </a:solidFill>
                  </a:tcPr>
                </a:tc>
                <a:tc>
                  <a:txBody>
                    <a:bodyPr/>
                    <a:lstStyle/>
                    <a:p>
                      <a:pPr>
                        <a:defRPr sz="1200">
                          <a:solidFill>
                            <a:srgbClr val="121C1F"/>
                          </a:solidFill>
                          <a:latin typeface="Yu Gothic"/>
                        </a:defRPr>
                      </a:pPr>
                      <a:r>
                        <a:t>五輪実績との関連</a:t>
                      </a:r>
                    </a:p>
                  </a:txBody>
                  <a:tcPr>
                    <a:solidFill>
                      <a:srgbClr val="FFFFFF"/>
                    </a:solidFill>
                  </a:tcPr>
                </a:tc>
              </a:tr>
              <a:tr h="502920">
                <a:tc>
                  <a:txBody>
                    <a:bodyPr/>
                    <a:lstStyle/>
                    <a:p>
                      <a:pPr>
                        <a:defRPr sz="1200">
                          <a:solidFill>
                            <a:srgbClr val="121C1F"/>
                          </a:solidFill>
                          <a:latin typeface="Yu Gothic"/>
                        </a:defRPr>
                      </a:pPr>
                      <a:r>
                        <a:t>JOC公式サイト</a:t>
                      </a:r>
                    </a:p>
                  </a:txBody>
                  <a:tcPr>
                    <a:solidFill>
                      <a:srgbClr val="F0F7F4"/>
                    </a:solidFill>
                  </a:tcPr>
                </a:tc>
                <a:tc>
                  <a:txBody>
                    <a:bodyPr/>
                    <a:lstStyle/>
                    <a:p>
                      <a:pPr>
                        <a:defRPr sz="1200">
                          <a:solidFill>
                            <a:srgbClr val="121C1F"/>
                          </a:solidFill>
                          <a:latin typeface="Yu Gothic"/>
                        </a:defRPr>
                      </a:pPr>
                      <a:r>
                        <a:t>五輪金メダルの詳細</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スポーツファンとして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著名な五輪金メダリストの慶事を正確な事実とともに把握できる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フィギュアスケートに関心がある立場として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『りくりゅう』の7年間の歩みを時系列で振り返る機会になる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『婚約』と『結婚』を区別する視点が役立つ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世界選手権での実績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日本ペア初優勝 2023年世界選手権にて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五輪金メダルに先立つ大きな実績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本調査による整理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氷上プロポーズについて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氷上プロポーズについて確認します。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木原選手が氷上で片膝をつき、三浦選手にプロポーズする様子の写真が公開された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2人にとって長年の活動の場であったリンクでのプロポーズという点が話題になっている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具体的なプロポーズの日時・場所の詳細は本調査の範囲では確認できていない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モデルプレス(2026-08-23)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団体戦での実績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2大会連続 団体戦での銀メダル獲得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2022年北京五輪・2026年ミラノコルティナ五輪の団体戦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本調査による整理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婚約発表 情報まとめ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発表日</a:t>
                      </a:r>
                    </a:p>
                  </a:txBody>
                  <a:tcPr>
                    <a:solidFill>
                      <a:srgbClr val="FFFFFF"/>
                    </a:solidFill>
                  </a:tcPr>
                </a:tc>
                <a:tc>
                  <a:txBody>
                    <a:bodyPr/>
                    <a:lstStyle/>
                    <a:p>
                      <a:pPr>
                        <a:defRPr sz="1200">
                          <a:solidFill>
                            <a:srgbClr val="121C1F"/>
                          </a:solidFill>
                          <a:latin typeface="Yu Gothic"/>
                        </a:defRPr>
                      </a:pPr>
                      <a:r>
                        <a:t>2026年8月23日</a:t>
                      </a:r>
                    </a:p>
                  </a:txBody>
                  <a:tcPr>
                    <a:solidFill>
                      <a:srgbClr val="FFFFFF"/>
                    </a:solidFill>
                  </a:tcPr>
                </a:tc>
              </a:tr>
              <a:tr h="502920">
                <a:tc>
                  <a:txBody>
                    <a:bodyPr/>
                    <a:lstStyle/>
                    <a:p>
                      <a:pPr>
                        <a:defRPr sz="1200">
                          <a:solidFill>
                            <a:srgbClr val="121C1F"/>
                          </a:solidFill>
                          <a:latin typeface="Yu Gothic"/>
                        </a:defRPr>
                      </a:pPr>
                      <a:r>
                        <a:t>発表者</a:t>
                      </a:r>
                    </a:p>
                  </a:txBody>
                  <a:tcPr>
                    <a:solidFill>
                      <a:srgbClr val="F0F7F4"/>
                    </a:solidFill>
                  </a:tcPr>
                </a:tc>
                <a:tc>
                  <a:txBody>
                    <a:bodyPr/>
                    <a:lstStyle/>
                    <a:p>
                      <a:pPr>
                        <a:defRPr sz="1200">
                          <a:solidFill>
                            <a:srgbClr val="121C1F"/>
                          </a:solidFill>
                          <a:latin typeface="Yu Gothic"/>
                        </a:defRPr>
                      </a:pPr>
                      <a:r>
                        <a:t>三浦璃来選手・木原龍一選手</a:t>
                      </a:r>
                    </a:p>
                  </a:txBody>
                  <a:tcPr>
                    <a:solidFill>
                      <a:srgbClr val="F0F7F4"/>
                    </a:solidFill>
                  </a:tcPr>
                </a:tc>
              </a:tr>
              <a:tr h="502920">
                <a:tc>
                  <a:txBody>
                    <a:bodyPr/>
                    <a:lstStyle/>
                    <a:p>
                      <a:pPr>
                        <a:defRPr sz="1200">
                          <a:solidFill>
                            <a:srgbClr val="121C1F"/>
                          </a:solidFill>
                          <a:latin typeface="Yu Gothic"/>
                        </a:defRPr>
                      </a:pPr>
                      <a:r>
                        <a:t>公開された写真</a:t>
                      </a:r>
                    </a:p>
                  </a:txBody>
                  <a:tcPr>
                    <a:solidFill>
                      <a:srgbClr val="FFFFFF"/>
                    </a:solidFill>
                  </a:tcPr>
                </a:tc>
                <a:tc>
                  <a:txBody>
                    <a:bodyPr/>
                    <a:lstStyle/>
                    <a:p>
                      <a:pPr>
                        <a:defRPr sz="1200">
                          <a:solidFill>
                            <a:srgbClr val="121C1F"/>
                          </a:solidFill>
                          <a:latin typeface="Yu Gothic"/>
                        </a:defRPr>
                      </a:pPr>
                      <a:r>
                        <a:t>氷上プロポーズ・婚約指輪</a:t>
                      </a:r>
                    </a:p>
                  </a:txBody>
                  <a:tcPr>
                    <a:solidFill>
                      <a:srgbClr val="FFFFFF"/>
                    </a:solidFill>
                  </a:tcPr>
                </a:tc>
              </a:tr>
              <a:tr h="502920">
                <a:tc>
                  <a:txBody>
                    <a:bodyPr/>
                    <a:lstStyle/>
                    <a:p>
                      <a:pPr>
                        <a:defRPr sz="1200">
                          <a:solidFill>
                            <a:srgbClr val="121C1F"/>
                          </a:solidFill>
                          <a:latin typeface="Yu Gothic"/>
                        </a:defRPr>
                      </a:pPr>
                      <a:r>
                        <a:t>結婚(入籍・挙式)の時期</a:t>
                      </a:r>
                    </a:p>
                  </a:txBody>
                  <a:tcPr>
                    <a:solidFill>
                      <a:srgbClr val="F0F7F4"/>
                    </a:solidFill>
                  </a:tcPr>
                </a:tc>
                <a:tc>
                  <a:txBody>
                    <a:bodyPr/>
                    <a:lstStyle/>
                    <a:p>
                      <a:pPr>
                        <a:defRPr sz="1200">
                          <a:solidFill>
                            <a:srgbClr val="121C1F"/>
                          </a:solidFill>
                          <a:latin typeface="Yu Gothic"/>
                        </a:defRPr>
                      </a:pPr>
                      <a:r>
                        <a:t>確認できていない</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世界選手権優勝からの歩み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3年 世界選手権初優勝(2023年)から婚約発表(2026年)まで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この間に五輪金メダル・現役引退も経験している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国内メディアの報道時期</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B2A2E"/>
                    </a:solidFill>
                  </a:tcPr>
                </a:tc>
                <a:tc>
                  <a:txBody>
                    <a:bodyPr/>
                    <a:lstStyle/>
                    <a:p>
                      <a:pPr>
                        <a:defRPr sz="1300" b="1">
                          <a:solidFill>
                            <a:srgbClr val="FFFFFF"/>
                          </a:solidFill>
                          <a:latin typeface="Yu Gothic"/>
                        </a:defRPr>
                      </a:pPr>
                      <a:r>
                        <a:t>メディア</a:t>
                      </a:r>
                    </a:p>
                  </a:txBody>
                  <a:tcPr>
                    <a:solidFill>
                      <a:srgbClr val="1B2A2E"/>
                    </a:solidFill>
                  </a:tcPr>
                </a:tc>
              </a:tr>
              <a:tr h="502920">
                <a:tc>
                  <a:txBody>
                    <a:bodyPr/>
                    <a:lstStyle/>
                    <a:p>
                      <a:pPr>
                        <a:defRPr sz="1200">
                          <a:solidFill>
                            <a:srgbClr val="121C1F"/>
                          </a:solidFill>
                          <a:latin typeface="Yu Gothic"/>
                        </a:defRPr>
                      </a:pPr>
                      <a:r>
                        <a:t>2026年8月23日</a:t>
                      </a:r>
                    </a:p>
                  </a:txBody>
                  <a:tcPr>
                    <a:solidFill>
                      <a:srgbClr val="FFFFFF"/>
                    </a:solidFill>
                  </a:tcPr>
                </a:tc>
                <a:tc>
                  <a:txBody>
                    <a:bodyPr/>
                    <a:lstStyle/>
                    <a:p>
                      <a:pPr>
                        <a:defRPr sz="1200">
                          <a:solidFill>
                            <a:srgbClr val="121C1F"/>
                          </a:solidFill>
                          <a:latin typeface="Yu Gothic"/>
                        </a:defRPr>
                      </a:pPr>
                      <a:r>
                        <a:t>時事通信(速報)</a:t>
                      </a:r>
                    </a:p>
                  </a:txBody>
                  <a:tcPr>
                    <a:solidFill>
                      <a:srgbClr val="FFFFFF"/>
                    </a:solidFill>
                  </a:tcPr>
                </a:tc>
              </a:tr>
              <a:tr h="502920">
                <a:tc>
                  <a:txBody>
                    <a:bodyPr/>
                    <a:lstStyle/>
                    <a:p>
                      <a:pPr>
                        <a:defRPr sz="1200">
                          <a:solidFill>
                            <a:srgbClr val="121C1F"/>
                          </a:solidFill>
                          <a:latin typeface="Yu Gothic"/>
                        </a:defRPr>
                      </a:pPr>
                      <a:r>
                        <a:t>2026年8月23日</a:t>
                      </a:r>
                    </a:p>
                  </a:txBody>
                  <a:tcPr>
                    <a:solidFill>
                      <a:srgbClr val="F0F7F4"/>
                    </a:solidFill>
                  </a:tcPr>
                </a:tc>
                <a:tc>
                  <a:txBody>
                    <a:bodyPr/>
                    <a:lstStyle/>
                    <a:p>
                      <a:pPr>
                        <a:defRPr sz="1200">
                          <a:solidFill>
                            <a:srgbClr val="121C1F"/>
                          </a:solidFill>
                          <a:latin typeface="Yu Gothic"/>
                        </a:defRPr>
                      </a:pPr>
                      <a:r>
                        <a:t>モデルプレス(詳細)</a:t>
                      </a:r>
                    </a:p>
                  </a:txBody>
                  <a:tcPr>
                    <a:solidFill>
                      <a:srgbClr val="F0F7F4"/>
                    </a:solidFill>
                  </a:tcPr>
                </a:tc>
              </a:tr>
              <a:tr h="502920">
                <a:tc>
                  <a:txBody>
                    <a:bodyPr/>
                    <a:lstStyle/>
                    <a:p>
                      <a:pPr>
                        <a:defRPr sz="1200">
                          <a:solidFill>
                            <a:srgbClr val="121C1F"/>
                          </a:solidFill>
                          <a:latin typeface="Yu Gothic"/>
                        </a:defRPr>
                      </a:pPr>
                      <a:r>
                        <a:t>2026年8月23〜24日</a:t>
                      </a:r>
                    </a:p>
                  </a:txBody>
                  <a:tcPr>
                    <a:solidFill>
                      <a:srgbClr val="FFFFFF"/>
                    </a:solidFill>
                  </a:tcPr>
                </a:tc>
                <a:tc>
                  <a:txBody>
                    <a:bodyPr/>
                    <a:lstStyle/>
                    <a:p>
                      <a:pPr>
                        <a:defRPr sz="1200">
                          <a:solidFill>
                            <a:srgbClr val="121C1F"/>
                          </a:solidFill>
                          <a:latin typeface="Yu Gothic"/>
                        </a:defRPr>
                      </a:pPr>
                      <a:r>
                        <a:t>Olympics.com日本版ほか各メディア</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ペア結成からの主要タイトル数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世界選手権1回・五輪1回 「りくりゅう」が獲得した主要タイトル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いずれも日本ペアとして初の快挙と報じられている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本調査による整理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一般的な著名人の慶事報道 vs 今回の発表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一般的な著名人の慶事報道</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簡潔な発表にとどまるケースが多い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今回の「りくりゅう」の発表</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氷上プロポーズという競技に根差したエピソードが公開された</a:t>
            </a:r>
          </a:p>
        </p:txBody>
      </p:sp>
      <p:sp>
        <p:nvSpPr>
          <p:cNvPr id="16" name="Oval 15"/>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五輪金メダリストという実績も改めて注目された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今後注目される点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結婚(入籍・挙式)の具体的な発表があるかどうかに注目が集まる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プロとしての今後の活動(アイスショー出演等)にも関心が寄せられている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具体的な今後の予定は本テーマの範囲では断定せず、確認できた事実にとどめる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フィギュアスケートペア「りくりゅう」の三浦璃来選手・木原龍一選手が、2026年8月23日に婚約を発表した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木原選手による氷上プロポーズの様子、婚約指輪を披露する写真が公開された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2026年五輪ペア種目金メダル・団体銀メダル、2023年世界選手権優勝など、著名な実績を持つペアである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本テーマは『婚約』の発表であり、結婚(入籍・挙式)については確認できた情報がないことを正直にお伝えした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時事通信・モデルプレス等(2026-08-23)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「りくりゅう」三浦璃来・木原龍一組が婚約を発表。</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日本勢として五輪ペア種目初の金メダルを獲得したりくりゅうペアが、氷上プロポーズを経て婚約を発表しました。婚約と結婚を区別し、出典付きで整理してお届けしました。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