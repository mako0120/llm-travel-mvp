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冒頭で具体的な事実を即座に提示し、挨拶なしで核心から入る(2026-07-24のエンゲージメント設計ルールに基づく)。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「Flash Attention 4」対応により、最初のトークンが出るまでの時間も最大31%短縮。</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主な改善内容を整理する。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ベンチマーク結果を表で整理する。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無告知アップデートという配信方式を図で示す。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利用者が確認すべきポイントを表で整理する。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Gemmaシリーズ全体の位置づけを紹介する。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配信方法の違いを対比で見せる。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日本での話題性について紹介する。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複数情報源での事実確認結果を表で示す。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想定利用者像を整理する。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想定される疑問に先回りして答える。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正直に、含まれなかったものも伝える。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見送った候補も具体的に共有する。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転換パート。ここから実践的な話に入る。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出来事の紹介だけで終わらせず、読み手にとっての意味を扱う。</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実際に試す前のチェックリストとして提示する。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実践につながる進め方をステップで見せる。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個人視点も扱う。</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不明点を正直に「不明」と明言する。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政治・対立を煽らないという制作方針を明確に伝える。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検品結果を表でまとめる。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出典を短く再掲する。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オープンループで次回への引き。</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最終スライド。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バージョン番号は変わらず、中身だけが変わった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Google、オープンモデル「Gemma 4」に無告知の大幅アップデートを配信(2026年7月16日)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TechTimes, the-decoder, ExplainX(2026-07-16前後)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承: アップデートの内容を詳しく見る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転: なぜ今このタイミングか、これは何を意味するか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結: 不明点・リスク配慮・まとめ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オープンモデル</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重み(パラメータ)が公開され、誰でもダウンロード・利用できるAIモデル</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ツール呼び出し(function calling)</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AIモデルが外部のツール・機能を自ら呼び出して使う仕組み</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何が起きたか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対象モデル</a:t>
                      </a:r>
                    </a:p>
                  </a:txBody>
                  <a:tcPr>
                    <a:solidFill>
                      <a:srgbClr val="FFFFFF"/>
                    </a:solidFill>
                  </a:tcPr>
                </a:tc>
                <a:tc>
                  <a:txBody>
                    <a:bodyPr/>
                    <a:lstStyle/>
                    <a:p>
                      <a:pPr>
                        <a:defRPr sz="1200">
                          <a:solidFill>
                            <a:srgbClr val="1C2230"/>
                          </a:solidFill>
                          <a:latin typeface="Yu Gothic"/>
                        </a:defRPr>
                      </a:pPr>
                      <a:r>
                        <a:t>Google「Gemma 4」</a:t>
                      </a:r>
                    </a:p>
                  </a:txBody>
                  <a:tcPr>
                    <a:solidFill>
                      <a:srgbClr val="FFFFFF"/>
                    </a:solidFill>
                  </a:tcPr>
                </a:tc>
              </a:tr>
              <a:tr h="502920">
                <a:tc>
                  <a:txBody>
                    <a:bodyPr/>
                    <a:lstStyle/>
                    <a:p>
                      <a:pPr>
                        <a:defRPr sz="1200">
                          <a:solidFill>
                            <a:srgbClr val="1C2230"/>
                          </a:solidFill>
                          <a:latin typeface="Yu Gothic"/>
                        </a:defRPr>
                      </a:pPr>
                      <a:r>
                        <a:t>配信日</a:t>
                      </a:r>
                    </a:p>
                  </a:txBody>
                  <a:tcPr>
                    <a:solidFill>
                      <a:srgbClr val="F1F5FA"/>
                    </a:solidFill>
                  </a:tcPr>
                </a:tc>
                <a:tc>
                  <a:txBody>
                    <a:bodyPr/>
                    <a:lstStyle/>
                    <a:p>
                      <a:pPr>
                        <a:defRPr sz="1200">
                          <a:solidFill>
                            <a:srgbClr val="1C2230"/>
                          </a:solidFill>
                          <a:latin typeface="Yu Gothic"/>
                        </a:defRPr>
                      </a:pPr>
                      <a:r>
                        <a:t>2026年7月16日</a:t>
                      </a:r>
                    </a:p>
                  </a:txBody>
                  <a:tcPr>
                    <a:solidFill>
                      <a:srgbClr val="F1F5FA"/>
                    </a:solidFill>
                  </a:tcPr>
                </a:tc>
              </a:tr>
              <a:tr h="502920">
                <a:tc>
                  <a:txBody>
                    <a:bodyPr/>
                    <a:lstStyle/>
                    <a:p>
                      <a:pPr>
                        <a:defRPr sz="1200">
                          <a:solidFill>
                            <a:srgbClr val="1C2230"/>
                          </a:solidFill>
                          <a:latin typeface="Yu Gothic"/>
                        </a:defRPr>
                      </a:pPr>
                      <a:r>
                        <a:t>特徴</a:t>
                      </a:r>
                    </a:p>
                  </a:txBody>
                  <a:tcPr>
                    <a:solidFill>
                      <a:srgbClr val="FFFFFF"/>
                    </a:solidFill>
                  </a:tcPr>
                </a:tc>
                <a:tc>
                  <a:txBody>
                    <a:bodyPr/>
                    <a:lstStyle/>
                    <a:p>
                      <a:pPr>
                        <a:defRPr sz="1200">
                          <a:solidFill>
                            <a:srgbClr val="1C2230"/>
                          </a:solidFill>
                          <a:latin typeface="Yu Gothic"/>
                        </a:defRPr>
                      </a:pPr>
                      <a:r>
                        <a:t>バージョン番号を変えずにアップデートを配信</a:t>
                      </a:r>
                    </a:p>
                  </a:txBody>
                  <a:tcPr>
                    <a:solidFill>
                      <a:srgbClr val="FFFFFF"/>
                    </a:solidFill>
                  </a:tcPr>
                </a:tc>
              </a:tr>
              <a:tr h="502920">
                <a:tc>
                  <a:txBody>
                    <a:bodyPr/>
                    <a:lstStyle/>
                    <a:p>
                      <a:pPr>
                        <a:defRPr sz="1200">
                          <a:solidFill>
                            <a:srgbClr val="1C2230"/>
                          </a:solidFill>
                          <a:latin typeface="Yu Gothic"/>
                        </a:defRPr>
                      </a:pPr>
                      <a:r>
                        <a:t>主な内容</a:t>
                      </a:r>
                    </a:p>
                  </a:txBody>
                  <a:tcPr>
                    <a:solidFill>
                      <a:srgbClr val="F1F5FA"/>
                    </a:solidFill>
                  </a:tcPr>
                </a:tc>
                <a:tc>
                  <a:txBody>
                    <a:bodyPr/>
                    <a:lstStyle/>
                    <a:p>
                      <a:pPr>
                        <a:defRPr sz="1200">
                          <a:solidFill>
                            <a:srgbClr val="1C2230"/>
                          </a:solidFill>
                          <a:latin typeface="Yu Gothic"/>
                        </a:defRPr>
                      </a:pPr>
                      <a:r>
                        <a:t>処理速度の向上・ツール呼び出しのバグ修正・視覚処理の改善</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TechTimes(2026-07-16)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プロンプト処理速度の向上</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25〜70%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ExplainXの報道による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ExplainX(2026-07-16時点)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アップデートの主な内容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Flash Attention 4対応</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NVIDIA H100等での処理速度が向上</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ツール呼び出しの修正</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会話が壊れるバグ・型の不一致を修正</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視覚処理の改善</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OCR等の解像度が向上</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the-decoder(2026-07-16時点)</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ベンチマークの改善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対象モデル</a:t>
                      </a:r>
                    </a:p>
                  </a:txBody>
                  <a:tcPr>
                    <a:solidFill>
                      <a:srgbClr val="FFFFFF"/>
                    </a:solidFill>
                  </a:tcPr>
                </a:tc>
                <a:tc>
                  <a:txBody>
                    <a:bodyPr/>
                    <a:lstStyle/>
                    <a:p>
                      <a:pPr>
                        <a:defRPr sz="1200">
                          <a:solidFill>
                            <a:srgbClr val="1C2230"/>
                          </a:solidFill>
                          <a:latin typeface="Yu Gothic"/>
                        </a:defRPr>
                      </a:pPr>
                      <a:r>
                        <a:t>Gemma 4 31B</a:t>
                      </a:r>
                    </a:p>
                  </a:txBody>
                  <a:tcPr>
                    <a:solidFill>
                      <a:srgbClr val="FFFFFF"/>
                    </a:solidFill>
                  </a:tcPr>
                </a:tc>
              </a:tr>
              <a:tr h="502920">
                <a:tc>
                  <a:txBody>
                    <a:bodyPr/>
                    <a:lstStyle/>
                    <a:p>
                      <a:pPr>
                        <a:defRPr sz="1200">
                          <a:solidFill>
                            <a:srgbClr val="1C2230"/>
                          </a:solidFill>
                          <a:latin typeface="Yu Gothic"/>
                        </a:defRPr>
                      </a:pPr>
                      <a:r>
                        <a:t>改善範囲</a:t>
                      </a:r>
                    </a:p>
                  </a:txBody>
                  <a:tcPr>
                    <a:solidFill>
                      <a:srgbClr val="F1F5FA"/>
                    </a:solidFill>
                  </a:tcPr>
                </a:tc>
                <a:tc>
                  <a:txBody>
                    <a:bodyPr/>
                    <a:lstStyle/>
                    <a:p>
                      <a:pPr>
                        <a:defRPr sz="1200">
                          <a:solidFill>
                            <a:srgbClr val="1C2230"/>
                          </a:solidFill>
                          <a:latin typeface="Yu Gothic"/>
                        </a:defRPr>
                      </a:pPr>
                      <a:r>
                        <a:t>エージェント的推論・ツール呼び出し性能が全シナリオで改善</a:t>
                      </a:r>
                    </a:p>
                  </a:txBody>
                  <a:tcPr>
                    <a:solidFill>
                      <a:srgbClr val="F1F5FA"/>
                    </a:solidFill>
                  </a:tcPr>
                </a:tc>
              </a:tr>
              <a:tr h="502920">
                <a:tc>
                  <a:txBody>
                    <a:bodyPr/>
                    <a:lstStyle/>
                    <a:p>
                      <a:pPr>
                        <a:defRPr sz="1200">
                          <a:solidFill>
                            <a:srgbClr val="1C2230"/>
                          </a:solidFill>
                          <a:latin typeface="Yu Gothic"/>
                        </a:defRPr>
                      </a:pPr>
                      <a:r>
                        <a:t>最大改善幅</a:t>
                      </a:r>
                    </a:p>
                  </a:txBody>
                  <a:tcPr>
                    <a:solidFill>
                      <a:srgbClr val="FFFFFF"/>
                    </a:solidFill>
                  </a:tcPr>
                </a:tc>
                <a:tc>
                  <a:txBody>
                    <a:bodyPr/>
                    <a:lstStyle/>
                    <a:p>
                      <a:pPr>
                        <a:defRPr sz="1200">
                          <a:solidFill>
                            <a:srgbClr val="1C2230"/>
                          </a:solidFill>
                          <a:latin typeface="Yu Gothic"/>
                        </a:defRPr>
                      </a:pPr>
                      <a:r>
                        <a:t>通信業界のユースケースで10.1%向上</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ExplainX(2026-07-16時点)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「無告知アップデート」という配信方法</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バージョン番号は変えない</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既存の統合・パイプラインへの影響を避ける狙いと考えられる</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重みだけを更新</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同じモデル名のまま中身が新しくなる</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再ダウンロードが必要</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7月16日以前にダウンロードした場合は古い重みのまま</a:t>
            </a:r>
          </a:p>
        </p:txBody>
      </p:sp>
      <p:sp>
        <p:nvSpPr>
          <p:cNvPr id="20" name="TextBox 19"/>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ExplainX(2026-07-16時点)</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利用者への影響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状況</a:t>
                      </a:r>
                    </a:p>
                  </a:txBody>
                  <a:tcPr>
                    <a:solidFill>
                      <a:srgbClr val="2B3A55"/>
                    </a:solidFill>
                  </a:tcPr>
                </a:tc>
                <a:tc>
                  <a:txBody>
                    <a:bodyPr/>
                    <a:lstStyle/>
                    <a:p>
                      <a:pPr>
                        <a:defRPr sz="1300" b="1">
                          <a:solidFill>
                            <a:srgbClr val="FFFFFF"/>
                          </a:solidFill>
                          <a:latin typeface="Yu Gothic"/>
                        </a:defRPr>
                      </a:pPr>
                      <a:r>
                        <a:t>対応</a:t>
                      </a:r>
                    </a:p>
                  </a:txBody>
                  <a:tcPr>
                    <a:solidFill>
                      <a:srgbClr val="2B3A55"/>
                    </a:solidFill>
                  </a:tcPr>
                </a:tc>
              </a:tr>
              <a:tr h="502920">
                <a:tc>
                  <a:txBody>
                    <a:bodyPr/>
                    <a:lstStyle/>
                    <a:p>
                      <a:pPr>
                        <a:defRPr sz="1200">
                          <a:solidFill>
                            <a:srgbClr val="1C2230"/>
                          </a:solidFill>
                          <a:latin typeface="Yu Gothic"/>
                        </a:defRPr>
                      </a:pPr>
                      <a:r>
                        <a:t>7月16日より前にダウンロード済み</a:t>
                      </a:r>
                    </a:p>
                  </a:txBody>
                  <a:tcPr>
                    <a:solidFill>
                      <a:srgbClr val="FFFFFF"/>
                    </a:solidFill>
                  </a:tcPr>
                </a:tc>
                <a:tc>
                  <a:txBody>
                    <a:bodyPr/>
                    <a:lstStyle/>
                    <a:p>
                      <a:pPr>
                        <a:defRPr sz="1200">
                          <a:solidFill>
                            <a:srgbClr val="1C2230"/>
                          </a:solidFill>
                          <a:latin typeface="Yu Gothic"/>
                        </a:defRPr>
                      </a:pPr>
                      <a:r>
                        <a:t>性能向上を得るには再ダウンロードが必要</a:t>
                      </a:r>
                    </a:p>
                  </a:txBody>
                  <a:tcPr>
                    <a:solidFill>
                      <a:srgbClr val="FFFFFF"/>
                    </a:solidFill>
                  </a:tcPr>
                </a:tc>
              </a:tr>
              <a:tr h="502920">
                <a:tc>
                  <a:txBody>
                    <a:bodyPr/>
                    <a:lstStyle/>
                    <a:p>
                      <a:pPr>
                        <a:defRPr sz="1200">
                          <a:solidFill>
                            <a:srgbClr val="1C2230"/>
                          </a:solidFill>
                          <a:latin typeface="Yu Gothic"/>
                        </a:defRPr>
                      </a:pPr>
                      <a:r>
                        <a:t>7月16日以降に新規ダウンロード</a:t>
                      </a:r>
                    </a:p>
                  </a:txBody>
                  <a:tcPr>
                    <a:solidFill>
                      <a:srgbClr val="F1F5FA"/>
                    </a:solidFill>
                  </a:tcPr>
                </a:tc>
                <a:tc>
                  <a:txBody>
                    <a:bodyPr/>
                    <a:lstStyle/>
                    <a:p>
                      <a:pPr>
                        <a:defRPr sz="1200">
                          <a:solidFill>
                            <a:srgbClr val="1C2230"/>
                          </a:solidFill>
                          <a:latin typeface="Yu Gothic"/>
                        </a:defRPr>
                      </a:pPr>
                      <a:r>
                        <a:t>改善済みの重みがそのまま利用できる</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ExplainX(2026-07-16時点)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Gemmaシリーズについて(参考)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位置づけ</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Google DeepMindが開発する、軽量で扱いやすいオープンモデルのシリーズ</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ライセンス</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Apache 2.0のもと公開されている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従来のバージョン管理と今回の配信方法の違い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従来の一般的な方法</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新機能・改善はバージョン番号を上げて区別する</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変更内容が分かりやすい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今回の配信方法</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バージョン番号を変えずに重みだけを更新</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利用者が気づきにくい可能性がある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参考: 日本の開発者コミュニティでの反応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技術ブログでの解説</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note.com上の複数の技術者がアップデート内容を解説する記事を公開している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関心の高さ</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軽量で扱いやすいGemmaシリーズは日本の開発者にも利用者が多いとされる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参考: なぜこの配信方法を選んだのか(推測)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互換性の維持</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既存の統合・パイプラインを壊さずに改善を届けたい狙いがあると考えられる(推測)</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迅速な改善提供</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バージョンアップの手続きを待たずに素早く修正を届けたい狙いがあると考えられる(推測)</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出典の確認結果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2B3A55"/>
                    </a:solidFill>
                  </a:tcPr>
                </a:tc>
                <a:tc>
                  <a:txBody>
                    <a:bodyPr/>
                    <a:lstStyle/>
                    <a:p>
                      <a:pPr>
                        <a:defRPr sz="1300" b="1">
                          <a:solidFill>
                            <a:srgbClr val="FFFFFF"/>
                          </a:solidFill>
                          <a:latin typeface="Yu Gothic"/>
                        </a:defRPr>
                      </a:pPr>
                      <a:r>
                        <a:t>結果</a:t>
                      </a:r>
                    </a:p>
                  </a:txBody>
                  <a:tcPr>
                    <a:solidFill>
                      <a:srgbClr val="2B3A55"/>
                    </a:solidFill>
                  </a:tcPr>
                </a:tc>
              </a:tr>
              <a:tr h="502920">
                <a:tc>
                  <a:txBody>
                    <a:bodyPr/>
                    <a:lstStyle/>
                    <a:p>
                      <a:pPr>
                        <a:defRPr sz="1200">
                          <a:solidFill>
                            <a:srgbClr val="1C2230"/>
                          </a:solidFill>
                          <a:latin typeface="Yu Gothic"/>
                        </a:defRPr>
                      </a:pPr>
                      <a:r>
                        <a:t>配信日</a:t>
                      </a:r>
                    </a:p>
                  </a:txBody>
                  <a:tcPr>
                    <a:solidFill>
                      <a:srgbClr val="FFFFFF"/>
                    </a:solidFill>
                  </a:tcPr>
                </a:tc>
                <a:tc>
                  <a:txBody>
                    <a:bodyPr/>
                    <a:lstStyle/>
                    <a:p>
                      <a:pPr>
                        <a:defRPr sz="1200">
                          <a:solidFill>
                            <a:srgbClr val="1C2230"/>
                          </a:solidFill>
                          <a:latin typeface="Yu Gothic"/>
                        </a:defRPr>
                      </a:pPr>
                      <a:r>
                        <a:t>複数情報源で2026年7月16日と一致</a:t>
                      </a:r>
                    </a:p>
                  </a:txBody>
                  <a:tcPr>
                    <a:solidFill>
                      <a:srgbClr val="FFFFFF"/>
                    </a:solidFill>
                  </a:tcPr>
                </a:tc>
              </a:tr>
              <a:tr h="502920">
                <a:tc>
                  <a:txBody>
                    <a:bodyPr/>
                    <a:lstStyle/>
                    <a:p>
                      <a:pPr>
                        <a:defRPr sz="1200">
                          <a:solidFill>
                            <a:srgbClr val="1C2230"/>
                          </a:solidFill>
                          <a:latin typeface="Yu Gothic"/>
                        </a:defRPr>
                      </a:pPr>
                      <a:r>
                        <a:t>性能改善幅</a:t>
                      </a:r>
                    </a:p>
                  </a:txBody>
                  <a:tcPr>
                    <a:solidFill>
                      <a:srgbClr val="F1F5FA"/>
                    </a:solidFill>
                  </a:tcPr>
                </a:tc>
                <a:tc>
                  <a:txBody>
                    <a:bodyPr/>
                    <a:lstStyle/>
                    <a:p>
                      <a:pPr>
                        <a:defRPr sz="1200">
                          <a:solidFill>
                            <a:srgbClr val="1C2230"/>
                          </a:solidFill>
                          <a:latin typeface="Yu Gothic"/>
                        </a:defRPr>
                      </a:pPr>
                      <a:r>
                        <a:t>ExplainX等で確認</a:t>
                      </a:r>
                    </a:p>
                  </a:txBody>
                  <a:tcPr>
                    <a:solidFill>
                      <a:srgbClr val="F1F5FA"/>
                    </a:solidFill>
                  </a:tcPr>
                </a:tc>
              </a:tr>
              <a:tr h="502920">
                <a:tc>
                  <a:txBody>
                    <a:bodyPr/>
                    <a:lstStyle/>
                    <a:p>
                      <a:pPr>
                        <a:defRPr sz="1200">
                          <a:solidFill>
                            <a:srgbClr val="1C2230"/>
                          </a:solidFill>
                          <a:latin typeface="Yu Gothic"/>
                        </a:defRPr>
                      </a:pPr>
                      <a:r>
                        <a:t>Google公式発表原文</a:t>
                      </a:r>
                    </a:p>
                  </a:txBody>
                  <a:tcPr>
                    <a:solidFill>
                      <a:srgbClr val="FFFFFF"/>
                    </a:solidFill>
                  </a:tcPr>
                </a:tc>
                <a:tc>
                  <a:txBody>
                    <a:bodyPr/>
                    <a:lstStyle/>
                    <a:p>
                      <a:pPr>
                        <a:defRPr sz="1200">
                          <a:solidFill>
                            <a:srgbClr val="1C2230"/>
                          </a:solidFill>
                          <a:latin typeface="Yu Gothic"/>
                        </a:defRPr>
                      </a:pPr>
                      <a:r>
                        <a:t>本調査時点では未確認(独立系メディアの報道内容を照合)</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こんな人におすすめ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Gemma 4を利用している開発者</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自分の環境の重みを確認したい人</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オープンモデルの動向に関心がある人</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AIモデルの配信方法の変化を知りたい人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よくある疑問(Q&amp;A)</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再ダウンロードは必須?</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性能向上を得るには再ダウンロードが推奨されている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日本語での改善幅は?</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本調査時点では日本語プロンプトでの具体的な検証結果は確認できていない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今回含まれなかったもの</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Google自身の公式発表原文へは直接アクセスできず、独立系メディアの報道内容の照合にとどまる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日本語プロンプトでの具体的な性能改善幅は確認できなかった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見送った候補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Perplexity「Computer agent Brain」</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Claude関連の連携が主要機能のため自己言及回避方針により見送り</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各種AI資金調達ニュース</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B2B向けで一般視聴者への訴求力・実用性に欠けるため見送り</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これが意味すること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AIモデル配信方法の多様化</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バージョン番号を変えない更新という新しい形</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利用者側の確認の重要性</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気づかないうちに性能が変わっている可能性</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オープンモデルの継続的な改善</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公開後も継続的にアップデートされる流れ</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これは何を意味するのか(利用者にとって)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オープンモデルを使っている場合、定期的に最新の重みを確認する習慣が役立つ可能性がある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バージョン番号だけでは変更内容が分からない場合があるため、公式情報の確認が大切</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試すなら確認したいこと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自分の環境の重み</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いつダウンロードしたモデルかを確認する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再ダウンロードの要否</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最新の重みに更新されているか確認する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動作環境</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Flash Attention 4に対応したGPU環境かを確認する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実際に確認する場合の進め方(目安)</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①公式情報を確認</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Hugging Face等の配布元で更新日を確認する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②環境を確認</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自分のGPU環境がFlash Attention 4に対応しているか確認する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③再ダウンロードを検討</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古い重みであれば再取得を検討する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個人にとっての影響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オープンモデルを利用している人にとって、定期的な確認が性能向上につながる可能性がある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AIモデルの出力は、更新前後で変わりうることを踏まえて利用することが大切</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不明点・注意点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Google公式発表原文へは直接アクセスできず、独立系メディアの報道内容の照合にとどまる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日本語プロンプトでの具体的な性能改善幅は確認できなかった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リスク配慮のポイント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事実紹介に徹する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モデルの更新という事実を淡々と紹介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誇張表現を避ける</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断定的な性能評価は避けている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推測は明示</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推測部分は「推測」と明言している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検品結果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結果</a:t>
                      </a:r>
                    </a:p>
                  </a:txBody>
                  <a:tcPr>
                    <a:solidFill>
                      <a:srgbClr val="2B3A55"/>
                    </a:solidFill>
                  </a:tcPr>
                </a:tc>
              </a:tr>
              <a:tr h="502920">
                <a:tc>
                  <a:txBody>
                    <a:bodyPr/>
                    <a:lstStyle/>
                    <a:p>
                      <a:pPr>
                        <a:defRPr sz="1200">
                          <a:solidFill>
                            <a:srgbClr val="1C2230"/>
                          </a:solidFill>
                          <a:latin typeface="Yu Gothic"/>
                        </a:defRPr>
                      </a:pPr>
                      <a:r>
                        <a:t>verify_pptx.py</a:t>
                      </a:r>
                    </a:p>
                  </a:txBody>
                  <a:tcPr>
                    <a:solidFill>
                      <a:srgbClr val="FFFFFF"/>
                    </a:solidFill>
                  </a:tcPr>
                </a:tc>
                <a:tc>
                  <a:txBody>
                    <a:bodyPr/>
                    <a:lstStyle/>
                    <a:p>
                      <a:pPr>
                        <a:defRPr sz="1200">
                          <a:solidFill>
                            <a:srgbClr val="1C2230"/>
                          </a:solidFill>
                          <a:latin typeface="Yu Gothic"/>
                        </a:defRPr>
                      </a:pPr>
                      <a:r>
                        <a:t>合格</a:t>
                      </a:r>
                    </a:p>
                  </a:txBody>
                  <a:tcPr>
                    <a:solidFill>
                      <a:srgbClr val="FFFFFF"/>
                    </a:solidFill>
                  </a:tcPr>
                </a:tc>
              </a:tr>
              <a:tr h="502920">
                <a:tc>
                  <a:txBody>
                    <a:bodyPr/>
                    <a:lstStyle/>
                    <a:p>
                      <a:pPr>
                        <a:defRPr sz="1200">
                          <a:solidFill>
                            <a:srgbClr val="1C2230"/>
                          </a:solidFill>
                          <a:latin typeface="Yu Gothic"/>
                        </a:defRPr>
                      </a:pPr>
                      <a:r>
                        <a:t>同一レイアウト連続チェック</a:t>
                      </a:r>
                    </a:p>
                  </a:txBody>
                  <a:tcPr>
                    <a:solidFill>
                      <a:srgbClr val="F1F5FA"/>
                    </a:solidFill>
                  </a:tcPr>
                </a:tc>
                <a:tc>
                  <a:txBody>
                    <a:bodyPr/>
                    <a:lstStyle/>
                    <a:p>
                      <a:pPr>
                        <a:defRPr sz="1200">
                          <a:solidFill>
                            <a:srgbClr val="1C2230"/>
                          </a:solidFill>
                          <a:latin typeface="Yu Gothic"/>
                        </a:defRPr>
                      </a:pPr>
                      <a:r>
                        <a:t>合格</a:t>
                      </a:r>
                    </a:p>
                  </a:txBody>
                  <a:tcPr>
                    <a:solidFill>
                      <a:srgbClr val="F1F5FA"/>
                    </a:solidFill>
                  </a:tcPr>
                </a:tc>
              </a:tr>
              <a:tr h="502920">
                <a:tc>
                  <a:txBody>
                    <a:bodyPr/>
                    <a:lstStyle/>
                    <a:p>
                      <a:pPr>
                        <a:defRPr sz="1200">
                          <a:solidFill>
                            <a:srgbClr val="1C2230"/>
                          </a:solidFill>
                          <a:latin typeface="Yu Gothic"/>
                        </a:defRPr>
                      </a:pPr>
                      <a:r>
                        <a:t>bullets比率チェック</a:t>
                      </a:r>
                    </a:p>
                  </a:txBody>
                  <a:tcPr>
                    <a:solidFill>
                      <a:srgbClr val="FFFFFF"/>
                    </a:solidFill>
                  </a:tcPr>
                </a:tc>
                <a:tc>
                  <a:txBody>
                    <a:bodyPr/>
                    <a:lstStyle/>
                    <a:p>
                      <a:pPr>
                        <a:defRPr sz="1200">
                          <a:solidFill>
                            <a:srgbClr val="1C2230"/>
                          </a:solidFill>
                          <a:latin typeface="Yu Gothic"/>
                        </a:defRPr>
                      </a:pPr>
                      <a:r>
                        <a:t>合格</a:t>
                      </a:r>
                    </a:p>
                  </a:txBody>
                  <a:tcPr>
                    <a:solidFill>
                      <a:srgbClr val="FFFFFF"/>
                    </a:solidFill>
                  </a:tcPr>
                </a:tc>
              </a:tr>
              <a:tr h="502920">
                <a:tc>
                  <a:txBody>
                    <a:bodyPr/>
                    <a:lstStyle/>
                    <a:p>
                      <a:pPr>
                        <a:defRPr sz="1200">
                          <a:solidFill>
                            <a:srgbClr val="1C2230"/>
                          </a:solidFill>
                          <a:latin typeface="Yu Gothic"/>
                        </a:defRPr>
                      </a:pPr>
                      <a:r>
                        <a:t>対話原稿スライド数整合性</a:t>
                      </a:r>
                    </a:p>
                  </a:txBody>
                  <a:tcPr>
                    <a:solidFill>
                      <a:srgbClr val="F1F5FA"/>
                    </a:solidFill>
                  </a:tcPr>
                </a:tc>
                <a:tc>
                  <a:txBody>
                    <a:bodyPr/>
                    <a:lstStyle/>
                    <a:p>
                      <a:pPr>
                        <a:defRPr sz="1200">
                          <a:solidFill>
                            <a:srgbClr val="1C2230"/>
                          </a:solidFill>
                          <a:latin typeface="Yu Gothic"/>
                        </a:defRPr>
                      </a:pPr>
                      <a:r>
                        <a:t>合格</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TechTimes / the-decoder</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ExplainX</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気づかないうちに、使っているAIの中身が変わっているかもしれない</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Gemma 4は名前を変えずに大幅な性能改善を受けた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興味があれば、自分の環境のモデルを確認してみる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次回予告</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オープンモデルの配信方法・改善の動向は今後も続くテーマ</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次回も独立系メディアの報道をもとに紹介する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定期実行40本目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出典・詳細はresearch.mdと各スライドの出典表記を参照</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質問・フィードバックはいつでもどうぞ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