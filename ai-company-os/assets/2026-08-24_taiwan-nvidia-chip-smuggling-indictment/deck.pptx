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台湾の検察当局が、Nvidia製AIサーバーの不正輸出に関与したとして9人を起訴しました。何が発表されたのか、出典付きで正確に整理してお届けします。あくまで起訴段階であり、有罪が確定した事実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結論から確認します。台湾の検察当局が、Nvidia製AIサーバーの不正輸出に関与したとして9人を起訴しました。あくまで起訴段階であることを明記します。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今日は6つの流れでお伝えします。起訴の基本情報から摘発の経緯まで、正確に事実を引用しながら整理します。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このテーマを扱う理由です。先端半導体の輸出管理という社会的関心の高いテーマに注目しました。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起訴の基本情報です。台湾の検察当局が正式に発表した内容です。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最終使用者文書とは何かを確認します。輸出許可の根拠となる重要な公式文書です。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対象となったサーバーは130台で、うち74台が中国本土の顧客へ輸出されたとされています。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摘発までの流れを図にしました。税関による検知が今回の摘発のきっかけとなりました。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今回の起訴を3ステップで総括しました。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起訴された人物・容疑です。姓のみの報道であり、氏名の詳細は確認できていません。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130台のうち74台が、様々な経路で中国本土の顧客へ輸出されました。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輸出台数の内訳です。区分ごとに明確に区別してお伝えします。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国際ビジネス動向を追う立場にとっての意味です。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台湾税関による差し止めについてです。今回の摘発の重要な転機となりました。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『起訴』と『有罪判決』の違いを対比しました。本テーマは起訴段階の報道です。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検察は、最長6年の禁錮刑を求刑するとされています。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起訴容疑の内訳です。9人と8人という数字の違いについて正直にお伝えします。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横領容疑の金額は100万ドル超とされ、不正輸出容疑とは別の容疑として扱われています。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起訴されたのは、複数の企業に属する個人であり、企業自体が起訴されたわけではありません。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海外メディアの報道時期をまとめました。発表当日から幅広く報じられています。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起訴を発表したのは、台湾の基隆地方検察署です。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一般的な輸出規制違反事案の傾向と、今回の起訴を対比しました。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本編のまとめです。台湾での起訴について、出典付きで整理してお伝えしました。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台湾での起訴について、その中身を正確に整理してお伝えしました。あくまで起訴段階であり有罪が確定した事実ではないことを明記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台湾、Nvidia製</a:t>
            </a:r>
          </a:p>
          <a:p>
            <a:pPr algn="l">
              <a:lnSpc>
                <a:spcPct val="115000"/>
              </a:lnSpc>
            </a:pPr>
            <a:r>
              <a:rPr sz="4200" b="1">
                <a:solidFill>
                  <a:srgbClr val="FFFFFF"/>
                </a:solidFill>
                <a:latin typeface="Yu Gothic"/>
              </a:rPr>
              <a:t>AIサーバー不正輸出</a:t>
            </a:r>
          </a:p>
          <a:p>
            <a:pPr algn="l">
              <a:lnSpc>
                <a:spcPct val="115000"/>
              </a:lnSpc>
            </a:pPr>
            <a:r>
              <a:rPr sz="4200" b="1">
                <a:solidFill>
                  <a:srgbClr val="FFFFFF"/>
                </a:solidFill>
                <a:latin typeface="Yu Gothic"/>
              </a:rPr>
              <a:t>9人を起訴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Bloomberg・台北タイムズ(2026年8月24日)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9人 台湾・基隆地方検察署が起訴した人数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Nvidia製B300 GPU搭載のAIサーバー不正輸出に関与したとされる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Bloomberg・台北タイムズ(2026-08-24)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起訴の基本情報を確認する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対象となったサーバーの詳細を確認する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起訴された人物・容疑を確認する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台湾当局による摘発の経緯を確認する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着手日当日(2026年8月24日)、海外の主要メディアが一斉に報じた話題である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先端半導体を巡る国際的な輸出管理という、社会的関心の高いテーマである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130台という具体的な数字で経緯が示されており、数字のインパクトが大きい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Bloomberg・台北タイムズ(2026-08-24)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起訴の基本情報</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発表機関</a:t>
                      </a:r>
                    </a:p>
                  </a:txBody>
                  <a:tcPr>
                    <a:solidFill>
                      <a:srgbClr val="FFFFFF"/>
                    </a:solidFill>
                  </a:tcPr>
                </a:tc>
                <a:tc>
                  <a:txBody>
                    <a:bodyPr/>
                    <a:lstStyle/>
                    <a:p>
                      <a:pPr>
                        <a:defRPr sz="1200">
                          <a:solidFill>
                            <a:srgbClr val="121C1F"/>
                          </a:solidFill>
                          <a:latin typeface="Yu Gothic"/>
                        </a:defRPr>
                      </a:pPr>
                      <a:r>
                        <a:t>台湾・基隆地方検察署</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2026年8月24日</a:t>
                      </a:r>
                    </a:p>
                  </a:txBody>
                  <a:tcPr>
                    <a:solidFill>
                      <a:srgbClr val="F0F7F4"/>
                    </a:solidFill>
                  </a:tcPr>
                </a:tc>
              </a:tr>
              <a:tr h="502920">
                <a:tc>
                  <a:txBody>
                    <a:bodyPr/>
                    <a:lstStyle/>
                    <a:p>
                      <a:pPr>
                        <a:defRPr sz="1200">
                          <a:solidFill>
                            <a:srgbClr val="121C1F"/>
                          </a:solidFill>
                          <a:latin typeface="Yu Gothic"/>
                        </a:defRPr>
                      </a:pPr>
                      <a:r>
                        <a:t>起訴された人数</a:t>
                      </a:r>
                    </a:p>
                  </a:txBody>
                  <a:tcPr>
                    <a:solidFill>
                      <a:srgbClr val="FFFFFF"/>
                    </a:solidFill>
                  </a:tcPr>
                </a:tc>
                <a:tc>
                  <a:txBody>
                    <a:bodyPr/>
                    <a:lstStyle/>
                    <a:p>
                      <a:pPr>
                        <a:defRPr sz="1200">
                          <a:solidFill>
                            <a:srgbClr val="121C1F"/>
                          </a:solidFill>
                          <a:latin typeface="Yu Gothic"/>
                        </a:defRPr>
                      </a:pPr>
                      <a:r>
                        <a:t>9人</a:t>
                      </a:r>
                    </a:p>
                  </a:txBody>
                  <a:tcPr>
                    <a:solidFill>
                      <a:srgbClr val="FFFFFF"/>
                    </a:solidFill>
                  </a:tcPr>
                </a:tc>
              </a:tr>
              <a:tr h="502920">
                <a:tc>
                  <a:txBody>
                    <a:bodyPr/>
                    <a:lstStyle/>
                    <a:p>
                      <a:pPr>
                        <a:defRPr sz="1200">
                          <a:solidFill>
                            <a:srgbClr val="121C1F"/>
                          </a:solidFill>
                          <a:latin typeface="Yu Gothic"/>
                        </a:defRPr>
                      </a:pPr>
                      <a:r>
                        <a:t>対象製品</a:t>
                      </a:r>
                    </a:p>
                  </a:txBody>
                  <a:tcPr>
                    <a:solidFill>
                      <a:srgbClr val="F0F7F4"/>
                    </a:solidFill>
                  </a:tcPr>
                </a:tc>
                <a:tc>
                  <a:txBody>
                    <a:bodyPr/>
                    <a:lstStyle/>
                    <a:p>
                      <a:pPr>
                        <a:defRPr sz="1200">
                          <a:solidFill>
                            <a:srgbClr val="121C1F"/>
                          </a:solidFill>
                          <a:latin typeface="Yu Gothic"/>
                        </a:defRPr>
                      </a:pPr>
                      <a:r>
                        <a:t>Nvidia製B300 GPU搭載のSupermicro製AIサーバー</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Bloomberg・台北タイムズ(2026-08-24)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「最終使用者(エンドユーザー)文書」とは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前提知識を確認します。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先端半導体等の輸出時に、実際にどこで使用されるかを申告する公式文書である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先端AIチップは国際的な輸出規制の対象となることがあり、この文書が輸出許可の根拠となる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今回、この文書に虚偽の記載があったとされている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対象サーバーの総数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130台 今回の起訴の対象となったAIサーバーの総数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うち74台が中国本土の顧客へ輸出されたとされる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摘発までの流れ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虚偽の最終使用者文書を使用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台湾国内設置と申告</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130台中74台が中国へ輸出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直接輸送・第三国経由の両方</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残り56台の輸出を台湾税関が差し止め</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不審な点を検知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摘発までの流れ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台北タイムズ・Bloomberg(2026-08-24)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今回の起訴を3ステップで総括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虚偽文書で輸出許可を取得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台湾国内設置と申告</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中国本土等へ実際に輸出</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直接・第三国経由で74台</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残りを税関が差し止め、検察が起訴</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9人を起訴</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起訴された人物・容疑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起訴された人物・容疑を確認します。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起訴された人物には、Nvidia台湾支社の販売管理担当者(姓のみ報道)が含まれる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Supermicro台湾支社の営業担当者2名、正規代理店の最高経営責任者も含まれる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背信行為・文書偽造の容疑で起訴され、最長6年の禁錮刑が求刑されるとされている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台北タイムズ・Korea Times(2026-08-24)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確定していること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起訴された人数(9人)・対象サーバー数(130台)</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検察が起訴を発表した事実(8月24日)</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虚偽の最終使用者文書が使用されたとする検察の主張</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起訴された人物のフルネーム</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実際の裁判の見通し・スケジュール</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中国へ輸出された台数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74台 130台のうち中国本土の顧客へ輸出された台数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直接輸送のほかインドネシア・日本・香港経由も含まれる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輸出台数の内訳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2A2E"/>
                    </a:solidFill>
                  </a:tcPr>
                </a:tc>
                <a:tc>
                  <a:txBody>
                    <a:bodyPr/>
                    <a:lstStyle/>
                    <a:p>
                      <a:pPr>
                        <a:defRPr sz="1300" b="1">
                          <a:solidFill>
                            <a:srgbClr val="FFFFFF"/>
                          </a:solidFill>
                          <a:latin typeface="Yu Gothic"/>
                        </a:defRPr>
                      </a:pPr>
                      <a:r>
                        <a:t>台数</a:t>
                      </a:r>
                    </a:p>
                  </a:txBody>
                  <a:tcPr>
                    <a:solidFill>
                      <a:srgbClr val="1B2A2E"/>
                    </a:solidFill>
                  </a:tcPr>
                </a:tc>
              </a:tr>
              <a:tr h="502920">
                <a:tc>
                  <a:txBody>
                    <a:bodyPr/>
                    <a:lstStyle/>
                    <a:p>
                      <a:pPr>
                        <a:defRPr sz="1200">
                          <a:solidFill>
                            <a:srgbClr val="121C1F"/>
                          </a:solidFill>
                          <a:latin typeface="Yu Gothic"/>
                        </a:defRPr>
                      </a:pPr>
                      <a:r>
                        <a:t>対象サーバー総数</a:t>
                      </a:r>
                    </a:p>
                  </a:txBody>
                  <a:tcPr>
                    <a:solidFill>
                      <a:srgbClr val="FFFFFF"/>
                    </a:solidFill>
                  </a:tcPr>
                </a:tc>
                <a:tc>
                  <a:txBody>
                    <a:bodyPr/>
                    <a:lstStyle/>
                    <a:p>
                      <a:pPr>
                        <a:defRPr sz="1200">
                          <a:solidFill>
                            <a:srgbClr val="121C1F"/>
                          </a:solidFill>
                          <a:latin typeface="Yu Gothic"/>
                        </a:defRPr>
                      </a:pPr>
                      <a:r>
                        <a:t>130台</a:t>
                      </a:r>
                    </a:p>
                  </a:txBody>
                  <a:tcPr>
                    <a:solidFill>
                      <a:srgbClr val="FFFFFF"/>
                    </a:solidFill>
                  </a:tcPr>
                </a:tc>
              </a:tr>
              <a:tr h="502920">
                <a:tc>
                  <a:txBody>
                    <a:bodyPr/>
                    <a:lstStyle/>
                    <a:p>
                      <a:pPr>
                        <a:defRPr sz="1200">
                          <a:solidFill>
                            <a:srgbClr val="121C1F"/>
                          </a:solidFill>
                          <a:latin typeface="Yu Gothic"/>
                        </a:defRPr>
                      </a:pPr>
                      <a:r>
                        <a:t>中国本土へ輸出済み</a:t>
                      </a:r>
                    </a:p>
                  </a:txBody>
                  <a:tcPr>
                    <a:solidFill>
                      <a:srgbClr val="F0F7F4"/>
                    </a:solidFill>
                  </a:tcPr>
                </a:tc>
                <a:tc>
                  <a:txBody>
                    <a:bodyPr/>
                    <a:lstStyle/>
                    <a:p>
                      <a:pPr>
                        <a:defRPr sz="1200">
                          <a:solidFill>
                            <a:srgbClr val="121C1F"/>
                          </a:solidFill>
                          <a:latin typeface="Yu Gothic"/>
                        </a:defRPr>
                      </a:pPr>
                      <a:r>
                        <a:t>74台</a:t>
                      </a:r>
                    </a:p>
                  </a:txBody>
                  <a:tcPr>
                    <a:solidFill>
                      <a:srgbClr val="F0F7F4"/>
                    </a:solidFill>
                  </a:tcPr>
                </a:tc>
              </a:tr>
              <a:tr h="502920">
                <a:tc>
                  <a:txBody>
                    <a:bodyPr/>
                    <a:lstStyle/>
                    <a:p>
                      <a:pPr>
                        <a:defRPr sz="1200">
                          <a:solidFill>
                            <a:srgbClr val="121C1F"/>
                          </a:solidFill>
                          <a:latin typeface="Yu Gothic"/>
                        </a:defRPr>
                      </a:pPr>
                      <a:r>
                        <a:t>日本向けで税関により差し止め</a:t>
                      </a:r>
                    </a:p>
                  </a:txBody>
                  <a:tcPr>
                    <a:solidFill>
                      <a:srgbClr val="FFFFFF"/>
                    </a:solidFill>
                  </a:tcPr>
                </a:tc>
                <a:tc>
                  <a:txBody>
                    <a:bodyPr/>
                    <a:lstStyle/>
                    <a:p>
                      <a:pPr>
                        <a:defRPr sz="1200">
                          <a:solidFill>
                            <a:srgbClr val="121C1F"/>
                          </a:solidFill>
                          <a:latin typeface="Yu Gothic"/>
                        </a:defRPr>
                      </a:pPr>
                      <a:r>
                        <a:t>56台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台北タイムズ(2026-08-24)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視聴者にとっての意味—国際ビジネス動向を追う立場として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先端半導体を巡る国際的な輸出管理の実例を、具体的な事実とともに把握できる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『起訴』と『有罪判決』を区別する視点が役立つ</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サプライチェーンにおけるコンプライアンスの重要性を実例を通じて学べる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台湾税関による差し止めについて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台湾税関による差し止めを確認します。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残る56台は日本の企業向けに輸出される予定だったとされている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台湾の税関当局が不審な点を検知し、輸出を差し止めた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具体的にどのような不審点が検知の決め手になったかの詳細は、本調査の範囲では確認できていない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台北タイムズ(2026-08-24)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『起訴』と『有罪判決』の違いについて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起訴(今回の段階)</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検察が容疑を裁判所に提起した段階</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有罪判決(未確定)</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裁判を経て有罪が確定する段階</a:t>
            </a:r>
          </a:p>
        </p:txBody>
      </p:sp>
      <p:sp>
        <p:nvSpPr>
          <p:cNvPr id="16" name="Oval 15"/>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本テーマの範囲では未確定</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起訴された人物のフルネームは、報道では姓のみが公開されており確認できていない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実際の裁判の見通し・スケジュールは確認できていない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Nvidia・Supermicro両社としての組織的な関与の有無(起訴は個人が対象)は確認できていない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主な情報源</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報道内容</a:t>
                      </a:r>
                    </a:p>
                  </a:txBody>
                  <a:tcPr>
                    <a:solidFill>
                      <a:srgbClr val="1B2A2E"/>
                    </a:solidFill>
                  </a:tcPr>
                </a:tc>
              </a:tr>
              <a:tr h="502920">
                <a:tc>
                  <a:txBody>
                    <a:bodyPr/>
                    <a:lstStyle/>
                    <a:p>
                      <a:pPr>
                        <a:defRPr sz="1200">
                          <a:solidFill>
                            <a:srgbClr val="121C1F"/>
                          </a:solidFill>
                          <a:latin typeface="Yu Gothic"/>
                        </a:defRPr>
                      </a:pPr>
                      <a:r>
                        <a:t>Bloomberg(2026-08-24)</a:t>
                      </a:r>
                    </a:p>
                  </a:txBody>
                  <a:tcPr>
                    <a:solidFill>
                      <a:srgbClr val="FFFFFF"/>
                    </a:solidFill>
                  </a:tcPr>
                </a:tc>
                <a:tc>
                  <a:txBody>
                    <a:bodyPr/>
                    <a:lstStyle/>
                    <a:p>
                      <a:pPr>
                        <a:defRPr sz="1200">
                          <a:solidFill>
                            <a:srgbClr val="121C1F"/>
                          </a:solidFill>
                          <a:latin typeface="Yu Gothic"/>
                        </a:defRPr>
                      </a:pPr>
                      <a:r>
                        <a:t>起訴の詳細</a:t>
                      </a:r>
                    </a:p>
                  </a:txBody>
                  <a:tcPr>
                    <a:solidFill>
                      <a:srgbClr val="FFFFFF"/>
                    </a:solidFill>
                  </a:tcPr>
                </a:tc>
              </a:tr>
              <a:tr h="502920">
                <a:tc>
                  <a:txBody>
                    <a:bodyPr/>
                    <a:lstStyle/>
                    <a:p>
                      <a:pPr>
                        <a:defRPr sz="1200">
                          <a:solidFill>
                            <a:srgbClr val="121C1F"/>
                          </a:solidFill>
                          <a:latin typeface="Yu Gothic"/>
                        </a:defRPr>
                      </a:pPr>
                      <a:r>
                        <a:t>台北タイムズ(2026-08-24)</a:t>
                      </a:r>
                    </a:p>
                  </a:txBody>
                  <a:tcPr>
                    <a:solidFill>
                      <a:srgbClr val="F0F7F4"/>
                    </a:solidFill>
                  </a:tcPr>
                </a:tc>
                <a:tc>
                  <a:txBody>
                    <a:bodyPr/>
                    <a:lstStyle/>
                    <a:p>
                      <a:pPr>
                        <a:defRPr sz="1200">
                          <a:solidFill>
                            <a:srgbClr val="121C1F"/>
                          </a:solidFill>
                          <a:latin typeface="Yu Gothic"/>
                        </a:defRPr>
                      </a:pPr>
                      <a:r>
                        <a:t>検察発表の詳細</a:t>
                      </a:r>
                    </a:p>
                  </a:txBody>
                  <a:tcPr>
                    <a:solidFill>
                      <a:srgbClr val="F0F7F4"/>
                    </a:solidFill>
                  </a:tcPr>
                </a:tc>
              </a:tr>
              <a:tr h="502920">
                <a:tc>
                  <a:txBody>
                    <a:bodyPr/>
                    <a:lstStyle/>
                    <a:p>
                      <a:pPr>
                        <a:defRPr sz="1200">
                          <a:solidFill>
                            <a:srgbClr val="121C1F"/>
                          </a:solidFill>
                          <a:latin typeface="Yu Gothic"/>
                        </a:defRPr>
                      </a:pPr>
                      <a:r>
                        <a:t>TaiwanPlus(2026-08-24)</a:t>
                      </a:r>
                    </a:p>
                  </a:txBody>
                  <a:tcPr>
                    <a:solidFill>
                      <a:srgbClr val="FFFFFF"/>
                    </a:solidFill>
                  </a:tcPr>
                </a:tc>
                <a:tc>
                  <a:txBody>
                    <a:bodyPr/>
                    <a:lstStyle/>
                    <a:p>
                      <a:pPr>
                        <a:defRPr sz="1200">
                          <a:solidFill>
                            <a:srgbClr val="121C1F"/>
                          </a:solidFill>
                          <a:latin typeface="Yu Gothic"/>
                        </a:defRPr>
                      </a:pPr>
                      <a:r>
                        <a:t>起訴された人物の詳細</a:t>
                      </a:r>
                    </a:p>
                  </a:txBody>
                  <a:tcPr>
                    <a:solidFill>
                      <a:srgbClr val="FFFFFF"/>
                    </a:solidFill>
                  </a:tcPr>
                </a:tc>
              </a:tr>
              <a:tr h="502920">
                <a:tc>
                  <a:txBody>
                    <a:bodyPr/>
                    <a:lstStyle/>
                    <a:p>
                      <a:pPr>
                        <a:defRPr sz="1200">
                          <a:solidFill>
                            <a:srgbClr val="121C1F"/>
                          </a:solidFill>
                          <a:latin typeface="Yu Gothic"/>
                        </a:defRPr>
                      </a:pPr>
                      <a:r>
                        <a:t>Korea Times(2026-08-24)</a:t>
                      </a:r>
                    </a:p>
                  </a:txBody>
                  <a:tcPr>
                    <a:solidFill>
                      <a:srgbClr val="F0F7F4"/>
                    </a:solidFill>
                  </a:tcPr>
                </a:tc>
                <a:tc>
                  <a:txBody>
                    <a:bodyPr/>
                    <a:lstStyle/>
                    <a:p>
                      <a:pPr>
                        <a:defRPr sz="1200">
                          <a:solidFill>
                            <a:srgbClr val="121C1F"/>
                          </a:solidFill>
                          <a:latin typeface="Yu Gothic"/>
                        </a:defRPr>
                      </a:pPr>
                      <a:r>
                        <a:t>国際的な位置づけ</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国際ビジネス動向を追う立場として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先端半導体の輸出管理の実例を具体的な事実とともに把握できる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サプライチェーン管理に関心がある立場として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コンプライアンスの重要性を実例を通じて学べる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『起訴』と『有罪判決』を区別する視点が役立つ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求刑の上限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最長6年 検察が求刑するとされる禁錮刑の上限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不正輸出・横領(100万ドル超)を含む容疑</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起訴容疑の内訳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起訴容疑の内訳を確認します。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9人のうち8人が、背信行為および文書偽造の容疑で起訴されているとされる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不正輸出のほか、横領(100万ドル超)の容疑も含まれるとされている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9人全員が同一の容疑であるかどうかの詳細な内訳は、本調査の範囲では確認できていない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台北タイムズ(2026-08-24)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横領容疑の金額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100万ドル超 検察が指摘する横領容疑の金額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不正輸出容疑とは別の容疑として扱われている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起訴内容まとめ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起訴人数</a:t>
                      </a:r>
                    </a:p>
                  </a:txBody>
                  <a:tcPr>
                    <a:solidFill>
                      <a:srgbClr val="FFFFFF"/>
                    </a:solidFill>
                  </a:tcPr>
                </a:tc>
                <a:tc>
                  <a:txBody>
                    <a:bodyPr/>
                    <a:lstStyle/>
                    <a:p>
                      <a:pPr>
                        <a:defRPr sz="1200">
                          <a:solidFill>
                            <a:srgbClr val="121C1F"/>
                          </a:solidFill>
                          <a:latin typeface="Yu Gothic"/>
                        </a:defRPr>
                      </a:pPr>
                      <a:r>
                        <a:t>9人</a:t>
                      </a:r>
                    </a:p>
                  </a:txBody>
                  <a:tcPr>
                    <a:solidFill>
                      <a:srgbClr val="FFFFFF"/>
                    </a:solidFill>
                  </a:tcPr>
                </a:tc>
              </a:tr>
              <a:tr h="502920">
                <a:tc>
                  <a:txBody>
                    <a:bodyPr/>
                    <a:lstStyle/>
                    <a:p>
                      <a:pPr>
                        <a:defRPr sz="1200">
                          <a:solidFill>
                            <a:srgbClr val="121C1F"/>
                          </a:solidFill>
                          <a:latin typeface="Yu Gothic"/>
                        </a:defRPr>
                      </a:pPr>
                      <a:r>
                        <a:t>主な容疑</a:t>
                      </a:r>
                    </a:p>
                  </a:txBody>
                  <a:tcPr>
                    <a:solidFill>
                      <a:srgbClr val="F0F7F4"/>
                    </a:solidFill>
                  </a:tcPr>
                </a:tc>
                <a:tc>
                  <a:txBody>
                    <a:bodyPr/>
                    <a:lstStyle/>
                    <a:p>
                      <a:pPr>
                        <a:defRPr sz="1200">
                          <a:solidFill>
                            <a:srgbClr val="121C1F"/>
                          </a:solidFill>
                          <a:latin typeface="Yu Gothic"/>
                        </a:defRPr>
                      </a:pPr>
                      <a:r>
                        <a:t>背信行為・文書偽造・不正輸出</a:t>
                      </a:r>
                    </a:p>
                  </a:txBody>
                  <a:tcPr>
                    <a:solidFill>
                      <a:srgbClr val="F0F7F4"/>
                    </a:solidFill>
                  </a:tcPr>
                </a:tc>
              </a:tr>
              <a:tr h="502920">
                <a:tc>
                  <a:txBody>
                    <a:bodyPr/>
                    <a:lstStyle/>
                    <a:p>
                      <a:pPr>
                        <a:defRPr sz="1200">
                          <a:solidFill>
                            <a:srgbClr val="121C1F"/>
                          </a:solidFill>
                          <a:latin typeface="Yu Gothic"/>
                        </a:defRPr>
                      </a:pPr>
                      <a:r>
                        <a:t>横領容疑額</a:t>
                      </a:r>
                    </a:p>
                  </a:txBody>
                  <a:tcPr>
                    <a:solidFill>
                      <a:srgbClr val="FFFFFF"/>
                    </a:solidFill>
                  </a:tcPr>
                </a:tc>
                <a:tc>
                  <a:txBody>
                    <a:bodyPr/>
                    <a:lstStyle/>
                    <a:p>
                      <a:pPr>
                        <a:defRPr sz="1200">
                          <a:solidFill>
                            <a:srgbClr val="121C1F"/>
                          </a:solidFill>
                          <a:latin typeface="Yu Gothic"/>
                        </a:defRPr>
                      </a:pPr>
                      <a:r>
                        <a:t>100万ドル超</a:t>
                      </a:r>
                    </a:p>
                  </a:txBody>
                  <a:tcPr>
                    <a:solidFill>
                      <a:srgbClr val="FFFFFF"/>
                    </a:solidFill>
                  </a:tcPr>
                </a:tc>
              </a:tr>
              <a:tr h="502920">
                <a:tc>
                  <a:txBody>
                    <a:bodyPr/>
                    <a:lstStyle/>
                    <a:p>
                      <a:pPr>
                        <a:defRPr sz="1200">
                          <a:solidFill>
                            <a:srgbClr val="121C1F"/>
                          </a:solidFill>
                          <a:latin typeface="Yu Gothic"/>
                        </a:defRPr>
                      </a:pPr>
                      <a:r>
                        <a:t>求刑上限</a:t>
                      </a:r>
                    </a:p>
                  </a:txBody>
                  <a:tcPr>
                    <a:solidFill>
                      <a:srgbClr val="F0F7F4"/>
                    </a:solidFill>
                  </a:tcPr>
                </a:tc>
                <a:tc>
                  <a:txBody>
                    <a:bodyPr/>
                    <a:lstStyle/>
                    <a:p>
                      <a:pPr>
                        <a:defRPr sz="1200">
                          <a:solidFill>
                            <a:srgbClr val="121C1F"/>
                          </a:solidFill>
                          <a:latin typeface="Yu Gothic"/>
                        </a:defRPr>
                      </a:pPr>
                      <a:r>
                        <a:t>最長6年</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起訴された組織・立場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4つの立場 Nvidia台湾支社・Supermicro台湾支社・正規代理店の関係者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いずれも個人としての起訴であり、企業としての起訴ではない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メディア</a:t>
                      </a:r>
                    </a:p>
                  </a:txBody>
                  <a:tcPr>
                    <a:solidFill>
                      <a:srgbClr val="1B2A2E"/>
                    </a:solidFill>
                  </a:tcPr>
                </a:tc>
              </a:tr>
              <a:tr h="502920">
                <a:tc>
                  <a:txBody>
                    <a:bodyPr/>
                    <a:lstStyle/>
                    <a:p>
                      <a:pPr>
                        <a:defRPr sz="1200">
                          <a:solidFill>
                            <a:srgbClr val="121C1F"/>
                          </a:solidFill>
                          <a:latin typeface="Yu Gothic"/>
                        </a:defRPr>
                      </a:pPr>
                      <a:r>
                        <a:t>2026年8月24日</a:t>
                      </a:r>
                    </a:p>
                  </a:txBody>
                  <a:tcPr>
                    <a:solidFill>
                      <a:srgbClr val="FFFFFF"/>
                    </a:solidFill>
                  </a:tcPr>
                </a:tc>
                <a:tc>
                  <a:txBody>
                    <a:bodyPr/>
                    <a:lstStyle/>
                    <a:p>
                      <a:pPr>
                        <a:defRPr sz="1200">
                          <a:solidFill>
                            <a:srgbClr val="121C1F"/>
                          </a:solidFill>
                          <a:latin typeface="Yu Gothic"/>
                        </a:defRPr>
                      </a:pPr>
                      <a:r>
                        <a:t>Bloomberg・台北タイムズ(発表当日)</a:t>
                      </a:r>
                    </a:p>
                  </a:txBody>
                  <a:tcPr>
                    <a:solidFill>
                      <a:srgbClr val="FFFFFF"/>
                    </a:solidFill>
                  </a:tcPr>
                </a:tc>
              </a:tr>
              <a:tr h="502920">
                <a:tc>
                  <a:txBody>
                    <a:bodyPr/>
                    <a:lstStyle/>
                    <a:p>
                      <a:pPr>
                        <a:defRPr sz="1200">
                          <a:solidFill>
                            <a:srgbClr val="121C1F"/>
                          </a:solidFill>
                          <a:latin typeface="Yu Gothic"/>
                        </a:defRPr>
                      </a:pPr>
                      <a:r>
                        <a:t>2026年8月24日</a:t>
                      </a:r>
                    </a:p>
                  </a:txBody>
                  <a:tcPr>
                    <a:solidFill>
                      <a:srgbClr val="F0F7F4"/>
                    </a:solidFill>
                  </a:tcPr>
                </a:tc>
                <a:tc>
                  <a:txBody>
                    <a:bodyPr/>
                    <a:lstStyle/>
                    <a:p>
                      <a:pPr>
                        <a:defRPr sz="1200">
                          <a:solidFill>
                            <a:srgbClr val="121C1F"/>
                          </a:solidFill>
                          <a:latin typeface="Yu Gothic"/>
                        </a:defRPr>
                      </a:pPr>
                      <a:r>
                        <a:t>TaiwanPlus・Korea Times(同日報道)</a:t>
                      </a:r>
                    </a:p>
                  </a:txBody>
                  <a:tcPr>
                    <a:solidFill>
                      <a:srgbClr val="F0F7F4"/>
                    </a:solidFill>
                  </a:tcPr>
                </a:tc>
              </a:tr>
              <a:tr h="502920">
                <a:tc>
                  <a:txBody>
                    <a:bodyPr/>
                    <a:lstStyle/>
                    <a:p>
                      <a:pPr>
                        <a:defRPr sz="1200">
                          <a:solidFill>
                            <a:srgbClr val="121C1F"/>
                          </a:solidFill>
                          <a:latin typeface="Yu Gothic"/>
                        </a:defRPr>
                      </a:pPr>
                      <a:r>
                        <a:t>2026年8月24〜25日</a:t>
                      </a:r>
                    </a:p>
                  </a:txBody>
                  <a:tcPr>
                    <a:solidFill>
                      <a:srgbClr val="FFFFFF"/>
                    </a:solidFill>
                  </a:tcPr>
                </a:tc>
                <a:tc>
                  <a:txBody>
                    <a:bodyPr/>
                    <a:lstStyle/>
                    <a:p>
                      <a:pPr>
                        <a:defRPr sz="1200">
                          <a:solidFill>
                            <a:srgbClr val="121C1F"/>
                          </a:solidFill>
                          <a:latin typeface="Yu Gothic"/>
                        </a:defRPr>
                      </a:pPr>
                      <a:r>
                        <a:t>Unite.AI・Engadget(続報)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起訴機関の管轄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基隆地方検察署 今回の起訴を発表した台湾の検察機関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台湾国内の輸出関連事件を扱う地方検察機関の一つ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台北タイムズ(2026-08-24)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一般的な輸出規制違反事案 vs 今回の起訴</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一般的な輸出規制違反事案</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単一の輸出経路が指摘されることが多い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今回の起訴</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直接輸送・第三国経由の複数の輸出経路が指摘されている</a:t>
            </a:r>
          </a:p>
        </p:txBody>
      </p:sp>
      <p:sp>
        <p:nvSpPr>
          <p:cNvPr id="16" name="Oval 15"/>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台湾税関による差し止めが摘発の契機となった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今後注目される点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実際の裁判でどのような判断が下されるかに注目が集まる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先端半導体の輸出管理体制が今後どう強化されるかも注目点である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具体的な裁判結果の予測は本テーマの範囲では断定せず、確認できた事実にとどめる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台湾の検察当局が、2026年8月24日、Nvidia製AIサーバーの不正輸出に関与したとして9人を起訴した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130台のサーバーのうち74台が中国本土の顧客へ輸出され、残る56台は台湾税関により差し止められた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背信行為・文書偽造等の容疑で、最長6年の禁錮刑が求刑されるとされている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あくまで起訴段階であり、有罪が確定した事実ではないことを一貫して明記した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Bloomberg・台北タイムズ等(2026-08-24)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台湾、Nvidia製AIサーバーの不正輸出で9人を起訴。</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台湾の検察当局が、Nvidia製AIサーバーの不正輸出に関与したとして9人を起訴しました。起訴段階であることを含め、出典付きで整理してお届けしました。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