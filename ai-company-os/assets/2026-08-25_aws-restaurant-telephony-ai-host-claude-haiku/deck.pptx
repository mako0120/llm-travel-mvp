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AWSが、電話だけで注文を完結できるAIホストの設計図を公式ブログで公開しました。何が公開されたのか、出典付きで正確に整理してお届けします。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結論から確認します。AWSは、電話の会話だけで注文を受け付けるAIホストの設計図を公開し、10個のMCPツールと連携する構成を示しました。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本日の流れです。今回の記事から仕組み、そして確認できなかったことまで整理します。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電話でAIが注文を受けるという分かりやすいユースケースの、鮮度の高い技術解説です。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今回の記事は2026年8月24日、AWS公式ブログに掲載されました。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今回の記事では、アプリもWebサイトも使わず、電話の会話だけで注文が完結する仕組みが解説されています。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今回の記事概要です。設計図とあわせてサンプルコードも公式公開されています。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システムは、電話回線・音声・推論・バックエンド連携の4つの要素で構成されています。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AIエージェントは、Anthropicの「Claude Haiku 4.5」をシステムプロンプトに用いて定義されています。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電話の会話から、バックエンドの注文処理までを一気通貫でつなぐ構成です。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主要コンポーネントとその役割を整理しました。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MCPは、AIエージェントが外部のツールやデータに接続するための共通規格です。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エージェントには、合計10個のMCPツールへのアクセス権が付与されています。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登録・構築・公開という3段階の実装フローが解説されています。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アプリや会員登録の手間を省き、電話という使い慣れた手段でAIを活用できる点が特徴です。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確定していることと、まだ確認できていないことを整理します。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これらの項目は本調査の範囲では確認できておらず、推測で埋めていません。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本記事はAWS公式の設計図・参考実装であり、特定企業による商用導入事例として確認されたものではありません。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従来のスタッフによる電話対応と比べ、AIエージェントが応答する点が特徴です。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サンプルコード一式が公式に公開されており、開発者が自身で検証できる形になっています。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AWS公式ブログと公式サンプルリポジトリを出典としています。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アプリ型の注文と比べ、電話をかけるだけで完結する点が特徴です。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AIエージェントには、応答範囲を制御するガードレールが付与されています。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今回の記事の注目ポイントを3つにまとめました。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本テーマは、電話とAIエージェントを組み合わせた実用的なユースケースの一例として整理しています。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記事公開から本テーマ着手までのタイムラインです。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今後、実際の導入事例や他業種への応用拡大が注目されます。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AWSは、10個のMCPツールと連携するAIホストの設計図を公式に公開しました。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システム構成要素とその役割を一覧にまとめました。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本日はAWS公式のレストラン向けAIホスト設計図についてお届けしました。確認できなかったことは正直に開示しています。次回もお楽しみに。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電話に出るのは</a:t>
            </a:r>
          </a:p>
          <a:p>
            <a:pPr algn="l">
              <a:lnSpc>
                <a:spcPct val="115000"/>
              </a:lnSpc>
            </a:pPr>
            <a:r>
              <a:rPr sz="4200" b="1">
                <a:solidFill>
                  <a:srgbClr val="FFFFFF"/>
                </a:solidFill>
                <a:latin typeface="Yu Gothic"/>
              </a:rPr>
              <a:t>もう人間じゃない</a:t>
            </a:r>
          </a:p>
          <a:p>
            <a:pPr algn="l">
              <a:lnSpc>
                <a:spcPct val="115000"/>
              </a:lnSpc>
            </a:pPr>
            <a:r>
              <a:rPr sz="4200" b="1">
                <a:solidFill>
                  <a:srgbClr val="FFFFFF"/>
                </a:solidFill>
                <a:latin typeface="Yu Gothic"/>
              </a:rPr>
              <a:t>AWS公式AIホスト設計図</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Claude Haiku 4.5とMCPが支える音声注文システム——出典付きで整理する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AWS Machine Learning Blog(2026年8月24日)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MCPツール10個と連携するAIホスト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AWS公式が設計図(参考実装)を公開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AWS Machine Learning Blog(2026-08-24)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今回の記事を確認する</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システム構成を確認する</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MCPという仕組みを確認する</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「電話に出るAI」という分かりやすいユースケースの技術解説</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AWS公式ブログ+公式GitHubサンプルという一次情報の組み合わせ</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着手日の1日前に公開されたばかりの鮮度の高い情報</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AWS Machine Learning Blog(2026-08-24)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AWS Machine Learning Blog(2026-08-24)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公開日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2026年8月24日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AWS公式Machine Learningブログに掲載</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AWS Machine Learning Blog(2026-08-24)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今回の記事の内容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アプリ・Webサイト・サインイン不要で電話の会話だけで注文が完結</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レストラン向けの音声注文システムの構築方法を解説</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対応するサンプルコード一式をGitHubで公式公開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AWS Machine Learning Blog(2026-08-24)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AWS Machine Learning Blog(2026-08-24)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今回の記事概要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記事タイトル</a:t>
                      </a:r>
                    </a:p>
                  </a:txBody>
                  <a:tcPr>
                    <a:solidFill>
                      <a:srgbClr val="FFFFFF"/>
                    </a:solidFill>
                  </a:tcPr>
                </a:tc>
                <a:tc>
                  <a:txBody>
                    <a:bodyPr/>
                    <a:lstStyle/>
                    <a:p>
                      <a:pPr>
                        <a:defRPr sz="1200">
                          <a:solidFill>
                            <a:srgbClr val="20261F"/>
                          </a:solidFill>
                          <a:latin typeface="Yu Gothic"/>
                        </a:defRPr>
                      </a:pPr>
                      <a:r>
                        <a:t>Building a restaurant telephony AI host with Amazon Connect</a:t>
                      </a:r>
                    </a:p>
                  </a:txBody>
                  <a:tcPr>
                    <a:solidFill>
                      <a:srgbClr val="FFFFFF"/>
                    </a:solidFill>
                  </a:tcPr>
                </a:tc>
              </a:tr>
              <a:tr h="502920">
                <a:tc>
                  <a:txBody>
                    <a:bodyPr/>
                    <a:lstStyle/>
                    <a:p>
                      <a:pPr>
                        <a:defRPr sz="1200">
                          <a:solidFill>
                            <a:srgbClr val="20261F"/>
                          </a:solidFill>
                          <a:latin typeface="Yu Gothic"/>
                        </a:defRPr>
                      </a:pPr>
                      <a:r>
                        <a:t>公開元</a:t>
                      </a:r>
                    </a:p>
                  </a:txBody>
                  <a:tcPr>
                    <a:solidFill>
                      <a:srgbClr val="F4F1E6"/>
                    </a:solidFill>
                  </a:tcPr>
                </a:tc>
                <a:tc>
                  <a:txBody>
                    <a:bodyPr/>
                    <a:lstStyle/>
                    <a:p>
                      <a:pPr>
                        <a:defRPr sz="1200">
                          <a:solidFill>
                            <a:srgbClr val="20261F"/>
                          </a:solidFill>
                          <a:latin typeface="Yu Gothic"/>
                        </a:defRPr>
                      </a:pPr>
                      <a:r>
                        <a:t>AWS公式Machine Learningブログ</a:t>
                      </a:r>
                    </a:p>
                  </a:txBody>
                  <a:tcPr>
                    <a:solidFill>
                      <a:srgbClr val="F4F1E6"/>
                    </a:solidFill>
                  </a:tcPr>
                </a:tc>
              </a:tr>
              <a:tr h="502920">
                <a:tc>
                  <a:txBody>
                    <a:bodyPr/>
                    <a:lstStyle/>
                    <a:p>
                      <a:pPr>
                        <a:defRPr sz="1200">
                          <a:solidFill>
                            <a:srgbClr val="20261F"/>
                          </a:solidFill>
                          <a:latin typeface="Yu Gothic"/>
                        </a:defRPr>
                      </a:pPr>
                      <a:r>
                        <a:t>付随資料</a:t>
                      </a:r>
                    </a:p>
                  </a:txBody>
                  <a:tcPr>
                    <a:solidFill>
                      <a:srgbClr val="FFFFFF"/>
                    </a:solidFill>
                  </a:tcPr>
                </a:tc>
                <a:tc>
                  <a:txBody>
                    <a:bodyPr/>
                    <a:lstStyle/>
                    <a:p>
                      <a:pPr>
                        <a:defRPr sz="1200">
                          <a:solidFill>
                            <a:srgbClr val="20261F"/>
                          </a:solidFill>
                          <a:latin typeface="Yu Gothic"/>
                        </a:defRPr>
                      </a:pPr>
                      <a:r>
                        <a:t>GitHub公式サンプルコード一式</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AWS Machine Learning Blog(2026-08-24)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AWS Machine Learning Blog(2026-08-24)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システム構成要素4つ</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電話回線を扱う「Amazon Connect」</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リアルタイム音声を扱う「Amazon Connect Agentic Voice」</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推論を担う「Amazon Connect AI agent」・MCP連携の「AgentCore Gateway」</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AWS Machine Learning Blog(2026-08-24)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AWS Machine Learning Blog(2026-08-24)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使用AIモデル</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Claude Haiku 4.5</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ガードレール付きのシステムプロンプトで定義</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AWS Machine Learning Blog(2026-08-24)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システム構成(概念図)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Amazon Connect(電話回線・音声)</a:t>
            </a:r>
          </a:p>
        </p:txBody>
      </p:sp>
      <p:sp>
        <p:nvSpPr>
          <p:cNvPr id="9" name="Right Arrow 8"/>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AI agent(Claude Haiku 4.5・推論)</a:t>
            </a:r>
          </a:p>
        </p:txBody>
      </p:sp>
      <p:sp>
        <p:nvSpPr>
          <p:cNvPr id="13" name="Right Arrow 12"/>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AgentCore Gateway(MCP経由でバックエンド連携)</a:t>
            </a:r>
          </a:p>
        </p:txBody>
      </p:sp>
      <p:sp>
        <p:nvSpPr>
          <p:cNvPr id="17" name="TextBox 16"/>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電話の会話から、バックエンドの注文処理まで一気通貫</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AWS Machine Learning Blog(2026-08-24)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主要コンポーネント一覧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コンポーネント</a:t>
                      </a:r>
                    </a:p>
                  </a:txBody>
                  <a:tcPr>
                    <a:solidFill>
                      <a:srgbClr val="24523F"/>
                    </a:solidFill>
                  </a:tcPr>
                </a:tc>
                <a:tc>
                  <a:txBody>
                    <a:bodyPr/>
                    <a:lstStyle/>
                    <a:p>
                      <a:pPr>
                        <a:defRPr sz="1300" b="1">
                          <a:solidFill>
                            <a:srgbClr val="FFFFFF"/>
                          </a:solidFill>
                          <a:latin typeface="Yu Gothic"/>
                        </a:defRPr>
                      </a:pPr>
                      <a:r>
                        <a:t>役割</a:t>
                      </a:r>
                    </a:p>
                  </a:txBody>
                  <a:tcPr>
                    <a:solidFill>
                      <a:srgbClr val="24523F"/>
                    </a:solidFill>
                  </a:tcPr>
                </a:tc>
              </a:tr>
              <a:tr h="502920">
                <a:tc>
                  <a:txBody>
                    <a:bodyPr/>
                    <a:lstStyle/>
                    <a:p>
                      <a:pPr>
                        <a:defRPr sz="1200">
                          <a:solidFill>
                            <a:srgbClr val="20261F"/>
                          </a:solidFill>
                          <a:latin typeface="Yu Gothic"/>
                        </a:defRPr>
                      </a:pPr>
                      <a:r>
                        <a:t>Amazon Connect</a:t>
                      </a:r>
                    </a:p>
                  </a:txBody>
                  <a:tcPr>
                    <a:solidFill>
                      <a:srgbClr val="FFFFFF"/>
                    </a:solidFill>
                  </a:tcPr>
                </a:tc>
                <a:tc>
                  <a:txBody>
                    <a:bodyPr/>
                    <a:lstStyle/>
                    <a:p>
                      <a:pPr>
                        <a:defRPr sz="1200">
                          <a:solidFill>
                            <a:srgbClr val="20261F"/>
                          </a:solidFill>
                          <a:latin typeface="Yu Gothic"/>
                        </a:defRPr>
                      </a:pPr>
                      <a:r>
                        <a:t>電話回線の接続</a:t>
                      </a:r>
                    </a:p>
                  </a:txBody>
                  <a:tcPr>
                    <a:solidFill>
                      <a:srgbClr val="FFFFFF"/>
                    </a:solidFill>
                  </a:tcPr>
                </a:tc>
              </a:tr>
              <a:tr h="502920">
                <a:tc>
                  <a:txBody>
                    <a:bodyPr/>
                    <a:lstStyle/>
                    <a:p>
                      <a:pPr>
                        <a:defRPr sz="1200">
                          <a:solidFill>
                            <a:srgbClr val="20261F"/>
                          </a:solidFill>
                          <a:latin typeface="Yu Gothic"/>
                        </a:defRPr>
                      </a:pPr>
                      <a:r>
                        <a:t>Amazon Connect Agentic Voice</a:t>
                      </a:r>
                    </a:p>
                  </a:txBody>
                  <a:tcPr>
                    <a:solidFill>
                      <a:srgbClr val="F4F1E6"/>
                    </a:solidFill>
                  </a:tcPr>
                </a:tc>
                <a:tc>
                  <a:txBody>
                    <a:bodyPr/>
                    <a:lstStyle/>
                    <a:p>
                      <a:pPr>
                        <a:defRPr sz="1200">
                          <a:solidFill>
                            <a:srgbClr val="20261F"/>
                          </a:solidFill>
                          <a:latin typeface="Yu Gothic"/>
                        </a:defRPr>
                      </a:pPr>
                      <a:r>
                        <a:t>リアルタイム音声処理</a:t>
                      </a:r>
                    </a:p>
                  </a:txBody>
                  <a:tcPr>
                    <a:solidFill>
                      <a:srgbClr val="F4F1E6"/>
                    </a:solidFill>
                  </a:tcPr>
                </a:tc>
              </a:tr>
              <a:tr h="502920">
                <a:tc>
                  <a:txBody>
                    <a:bodyPr/>
                    <a:lstStyle/>
                    <a:p>
                      <a:pPr>
                        <a:defRPr sz="1200">
                          <a:solidFill>
                            <a:srgbClr val="20261F"/>
                          </a:solidFill>
                          <a:latin typeface="Yu Gothic"/>
                        </a:defRPr>
                      </a:pPr>
                      <a:r>
                        <a:t>AgentCore Gateway</a:t>
                      </a:r>
                    </a:p>
                  </a:txBody>
                  <a:tcPr>
                    <a:solidFill>
                      <a:srgbClr val="FFFFFF"/>
                    </a:solidFill>
                  </a:tcPr>
                </a:tc>
                <a:tc>
                  <a:txBody>
                    <a:bodyPr/>
                    <a:lstStyle/>
                    <a:p>
                      <a:pPr>
                        <a:defRPr sz="1200">
                          <a:solidFill>
                            <a:srgbClr val="20261F"/>
                          </a:solidFill>
                          <a:latin typeface="Yu Gothic"/>
                        </a:defRPr>
                      </a:pPr>
                      <a:r>
                        <a:t>MCP経由でのバックエンド連携</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AWS Machine Learning Blog(2026-08-24)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AWS Machine Learning Blog(2026-08-24)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MCPとは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AIエージェントが外部ツール・データに接続するための共通規格</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本システムでは、バックエンドの機能を「MCPツール」として呼び出す</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業界で急速に普及しつつある技術として知られる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AWS Machine Learning Blog(2026-08-24)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MCPツール数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10個のMCPツール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セキュリティプロファイルでアクセス権を付与</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AWS Machine Learning Blog(2026-08-24)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実装の流れ</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登録</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AgentCore GatewayをMCPサーバーとして登録</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構築</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Amazon Lex V2ボットを作成</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公開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Claude Haiku 4.5でエージェントを定義・公開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AWS Machine Learning Blog(2026-08-24)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なぜ電話×AIエージェントなのか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アプリのダウンロードや会員登録の手間を省ける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電話という誰もが使い慣れた手段でAIを活用できる</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MCPにより既存の予約・注文システムと柔軟に連携できる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AWS Machine Learning Blog(2026-08-24)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確定していること・確認できなかったこと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確定</a:t>
                      </a:r>
                    </a:p>
                  </a:txBody>
                  <a:tcPr>
                    <a:solidFill>
                      <a:srgbClr val="FFFFFF"/>
                    </a:solidFill>
                  </a:tcPr>
                </a:tc>
                <a:tc>
                  <a:txBody>
                    <a:bodyPr/>
                    <a:lstStyle/>
                    <a:p>
                      <a:pPr>
                        <a:defRPr sz="1200">
                          <a:solidFill>
                            <a:srgbClr val="20261F"/>
                          </a:solidFill>
                          <a:latin typeface="Yu Gothic"/>
                        </a:defRPr>
                      </a:pPr>
                      <a:r>
                        <a:t>公開日・システム構成・使用AIモデル・MCPツール数</a:t>
                      </a:r>
                    </a:p>
                  </a:txBody>
                  <a:tcPr>
                    <a:solidFill>
                      <a:srgbClr val="FFFFFF"/>
                    </a:solidFill>
                  </a:tcPr>
                </a:tc>
              </a:tr>
              <a:tr h="502920">
                <a:tc>
                  <a:txBody>
                    <a:bodyPr/>
                    <a:lstStyle/>
                    <a:p>
                      <a:pPr>
                        <a:defRPr sz="1200">
                          <a:solidFill>
                            <a:srgbClr val="20261F"/>
                          </a:solidFill>
                          <a:latin typeface="Yu Gothic"/>
                        </a:defRPr>
                      </a:pPr>
                      <a:r>
                        <a:t>確定</a:t>
                      </a:r>
                    </a:p>
                  </a:txBody>
                  <a:tcPr>
                    <a:solidFill>
                      <a:srgbClr val="F4F1E6"/>
                    </a:solidFill>
                  </a:tcPr>
                </a:tc>
                <a:tc>
                  <a:txBody>
                    <a:bodyPr/>
                    <a:lstStyle/>
                    <a:p>
                      <a:pPr>
                        <a:defRPr sz="1200">
                          <a:solidFill>
                            <a:srgbClr val="20261F"/>
                          </a:solidFill>
                          <a:latin typeface="Yu Gothic"/>
                        </a:defRPr>
                      </a:pPr>
                      <a:r>
                        <a:t>実装手順・サンプルコードの公式公開</a:t>
                      </a:r>
                    </a:p>
                  </a:txBody>
                  <a:tcPr>
                    <a:solidFill>
                      <a:srgbClr val="F4F1E6"/>
                    </a:solidFill>
                  </a:tcPr>
                </a:tc>
              </a:tr>
              <a:tr h="502920">
                <a:tc>
                  <a:txBody>
                    <a:bodyPr/>
                    <a:lstStyle/>
                    <a:p>
                      <a:pPr>
                        <a:defRPr sz="1200">
                          <a:solidFill>
                            <a:srgbClr val="20261F"/>
                          </a:solidFill>
                          <a:latin typeface="Yu Gothic"/>
                        </a:defRPr>
                      </a:pPr>
                      <a:r>
                        <a:t>未確認</a:t>
                      </a:r>
                    </a:p>
                  </a:txBody>
                  <a:tcPr>
                    <a:solidFill>
                      <a:srgbClr val="FFFFFF"/>
                    </a:solidFill>
                  </a:tcPr>
                </a:tc>
                <a:tc>
                  <a:txBody>
                    <a:bodyPr/>
                    <a:lstStyle/>
                    <a:p>
                      <a:pPr>
                        <a:defRPr sz="1200">
                          <a:solidFill>
                            <a:srgbClr val="20261F"/>
                          </a:solidFill>
                          <a:latin typeface="Yu Gothic"/>
                        </a:defRPr>
                      </a:pPr>
                      <a:r>
                        <a:t>実際の導入企業・具体的な性能数値</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AWS Machine Learning Blog(2026-08-24)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確認できなかったこと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実際にこのシステムを導入した具体的な飲食店・企業名</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注文の受付精度・応答速度などの具体的な性能数値</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運用にかかる具体的なコスト</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AWS Machine Learning Blog(2026-08-24)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本記事の位置づけ</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設計図(参考実装)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特定企業の商用導入事例ではない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AWS Machine Learning Blog(2026-08-24)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従来の電話注文 vs AIホスト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従来の電話注文</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スタッフが電話対応、対応時間に制約がある</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AIホスト(本設計図)</a:t>
            </a:r>
          </a:p>
        </p:txBody>
      </p:sp>
      <p:sp>
        <p:nvSpPr>
          <p:cNvPr id="14" name="Oval 13"/>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AIエージェントが電話に応答し注文を受け付け</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AWS Machine Learning Blog(2026-08-24)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サンプルコード公開について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AWS公式のGitHubリポジトリとしてサンプル一式が公開されている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開発者が自身の環境で構成を検証・カスタマイズできる</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特定サービスの利用を強く推奨する意図はない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AWS Machine Learning Blog(2026-08-24)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主要出典の一覧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24523F"/>
                    </a:solidFill>
                  </a:tcPr>
                </a:tc>
                <a:tc>
                  <a:txBody>
                    <a:bodyPr/>
                    <a:lstStyle/>
                    <a:p>
                      <a:pPr>
                        <a:defRPr sz="1300" b="1">
                          <a:solidFill>
                            <a:srgbClr val="FFFFFF"/>
                          </a:solidFill>
                          <a:latin typeface="Yu Gothic"/>
                        </a:defRPr>
                      </a:pPr>
                      <a:r>
                        <a:t>公開日</a:t>
                      </a:r>
                    </a:p>
                  </a:txBody>
                  <a:tcPr>
                    <a:solidFill>
                      <a:srgbClr val="24523F"/>
                    </a:solidFill>
                  </a:tcPr>
                </a:tc>
              </a:tr>
              <a:tr h="502920">
                <a:tc>
                  <a:txBody>
                    <a:bodyPr/>
                    <a:lstStyle/>
                    <a:p>
                      <a:pPr>
                        <a:defRPr sz="1200">
                          <a:solidFill>
                            <a:srgbClr val="20261F"/>
                          </a:solidFill>
                          <a:latin typeface="Yu Gothic"/>
                        </a:defRPr>
                      </a:pPr>
                      <a:r>
                        <a:t>AWS Machine Learning Blog(公式)</a:t>
                      </a:r>
                    </a:p>
                  </a:txBody>
                  <a:tcPr>
                    <a:solidFill>
                      <a:srgbClr val="FFFFFF"/>
                    </a:solidFill>
                  </a:tcPr>
                </a:tc>
                <a:tc>
                  <a:txBody>
                    <a:bodyPr/>
                    <a:lstStyle/>
                    <a:p>
                      <a:pPr>
                        <a:defRPr sz="1200">
                          <a:solidFill>
                            <a:srgbClr val="20261F"/>
                          </a:solidFill>
                          <a:latin typeface="Yu Gothic"/>
                        </a:defRPr>
                      </a:pPr>
                      <a:r>
                        <a:t>2026年8月24日</a:t>
                      </a:r>
                    </a:p>
                  </a:txBody>
                  <a:tcPr>
                    <a:solidFill>
                      <a:srgbClr val="FFFFFF"/>
                    </a:solidFill>
                  </a:tcPr>
                </a:tc>
              </a:tr>
              <a:tr h="502920">
                <a:tc>
                  <a:txBody>
                    <a:bodyPr/>
                    <a:lstStyle/>
                    <a:p>
                      <a:pPr>
                        <a:defRPr sz="1200">
                          <a:solidFill>
                            <a:srgbClr val="20261F"/>
                          </a:solidFill>
                          <a:latin typeface="Yu Gothic"/>
                        </a:defRPr>
                      </a:pPr>
                      <a:r>
                        <a:t>GitHub(aws-samples、公式サンプル)</a:t>
                      </a:r>
                    </a:p>
                  </a:txBody>
                  <a:tcPr>
                    <a:solidFill>
                      <a:srgbClr val="F4F1E6"/>
                    </a:solidFill>
                  </a:tcPr>
                </a:tc>
                <a:tc>
                  <a:txBody>
                    <a:bodyPr/>
                    <a:lstStyle/>
                    <a:p>
                      <a:pPr>
                        <a:defRPr sz="1200">
                          <a:solidFill>
                            <a:srgbClr val="20261F"/>
                          </a:solidFill>
                          <a:latin typeface="Yu Gothic"/>
                        </a:defRPr>
                      </a:pPr>
                      <a:r>
                        <a:t>2026年8月24日</a:t>
                      </a:r>
                    </a:p>
                  </a:txBody>
                  <a:tcPr>
                    <a:solidFill>
                      <a:srgbClr val="F4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AWS Machine Learning Blog(2026-08-24)</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アプリ型注文 vs 電話型AIホスト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アプリ型注文</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アプリのダウンロード・会員登録が必要</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電話型AIホスト(本設計図)</a:t>
            </a:r>
          </a:p>
        </p:txBody>
      </p:sp>
      <p:sp>
        <p:nvSpPr>
          <p:cNvPr id="14" name="Oval 13"/>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電話をかけるだけで注文が完結</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AWS Machine Learning Blog(2026-08-24)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安全設計</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ガードレール付き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AIエージェントの応答範囲を制御</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AWS Machine Learning Blog(2026-08-24)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今回の記事の3つの注目ポイント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01</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アプリ不要、電話だけで注文が完結する設計</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02</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Claude Haiku 4.5とMCPによるバックエンド連携</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03</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サンプルコードまで含めた公式公開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AWS Machine Learning Blog(2026-08-24)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視聴者にとっての意味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飲食店の業務効率化・AI活用に関心がある層に関係する情報</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電話×AIエージェントという実用的なユースケースの一例</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特定サービスの利用を強く推奨する意図はない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AWS Machine Learning Blog(2026-08-24)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タイムライン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24523F"/>
                    </a:solidFill>
                  </a:tcPr>
                </a:tc>
                <a:tc>
                  <a:txBody>
                    <a:bodyPr/>
                    <a:lstStyle/>
                    <a:p>
                      <a:pPr>
                        <a:defRPr sz="1300" b="1">
                          <a:solidFill>
                            <a:srgbClr val="FFFFFF"/>
                          </a:solidFill>
                          <a:latin typeface="Yu Gothic"/>
                        </a:defRPr>
                      </a:pPr>
                      <a:r>
                        <a:t>できごと</a:t>
                      </a:r>
                    </a:p>
                  </a:txBody>
                  <a:tcPr>
                    <a:solidFill>
                      <a:srgbClr val="24523F"/>
                    </a:solidFill>
                  </a:tcPr>
                </a:tc>
              </a:tr>
              <a:tr h="502920">
                <a:tc>
                  <a:txBody>
                    <a:bodyPr/>
                    <a:lstStyle/>
                    <a:p>
                      <a:pPr>
                        <a:defRPr sz="1200">
                          <a:solidFill>
                            <a:srgbClr val="20261F"/>
                          </a:solidFill>
                          <a:latin typeface="Yu Gothic"/>
                        </a:defRPr>
                      </a:pPr>
                      <a:r>
                        <a:t>2026年8月24日</a:t>
                      </a:r>
                    </a:p>
                  </a:txBody>
                  <a:tcPr>
                    <a:solidFill>
                      <a:srgbClr val="FFFFFF"/>
                    </a:solidFill>
                  </a:tcPr>
                </a:tc>
                <a:tc>
                  <a:txBody>
                    <a:bodyPr/>
                    <a:lstStyle/>
                    <a:p>
                      <a:pPr>
                        <a:defRPr sz="1200">
                          <a:solidFill>
                            <a:srgbClr val="20261F"/>
                          </a:solidFill>
                          <a:latin typeface="Yu Gothic"/>
                        </a:defRPr>
                      </a:pPr>
                      <a:r>
                        <a:t>AWS公式ブログに記事を掲載</a:t>
                      </a:r>
                    </a:p>
                  </a:txBody>
                  <a:tcPr>
                    <a:solidFill>
                      <a:srgbClr val="FFFFFF"/>
                    </a:solidFill>
                  </a:tcPr>
                </a:tc>
              </a:tr>
              <a:tr h="502920">
                <a:tc>
                  <a:txBody>
                    <a:bodyPr/>
                    <a:lstStyle/>
                    <a:p>
                      <a:pPr>
                        <a:defRPr sz="1200">
                          <a:solidFill>
                            <a:srgbClr val="20261F"/>
                          </a:solidFill>
                          <a:latin typeface="Yu Gothic"/>
                        </a:defRPr>
                      </a:pPr>
                      <a:r>
                        <a:t>同日</a:t>
                      </a:r>
                    </a:p>
                  </a:txBody>
                  <a:tcPr>
                    <a:solidFill>
                      <a:srgbClr val="F4F1E6"/>
                    </a:solidFill>
                  </a:tcPr>
                </a:tc>
                <a:tc>
                  <a:txBody>
                    <a:bodyPr/>
                    <a:lstStyle/>
                    <a:p>
                      <a:pPr>
                        <a:defRPr sz="1200">
                          <a:solidFill>
                            <a:srgbClr val="20261F"/>
                          </a:solidFill>
                          <a:latin typeface="Yu Gothic"/>
                        </a:defRPr>
                      </a:pPr>
                      <a:r>
                        <a:t>GitHubに公式サンプルコードを公開</a:t>
                      </a:r>
                    </a:p>
                  </a:txBody>
                  <a:tcPr>
                    <a:solidFill>
                      <a:srgbClr val="F4F1E6"/>
                    </a:solidFill>
                  </a:tcPr>
                </a:tc>
              </a:tr>
              <a:tr h="502920">
                <a:tc>
                  <a:txBody>
                    <a:bodyPr/>
                    <a:lstStyle/>
                    <a:p>
                      <a:pPr>
                        <a:defRPr sz="1200">
                          <a:solidFill>
                            <a:srgbClr val="20261F"/>
                          </a:solidFill>
                          <a:latin typeface="Yu Gothic"/>
                        </a:defRPr>
                      </a:pPr>
                      <a:r>
                        <a:t>2026年8月25日</a:t>
                      </a:r>
                    </a:p>
                  </a:txBody>
                  <a:tcPr>
                    <a:solidFill>
                      <a:srgbClr val="FFFFFF"/>
                    </a:solidFill>
                  </a:tcPr>
                </a:tc>
                <a:tc>
                  <a:txBody>
                    <a:bodyPr/>
                    <a:lstStyle/>
                    <a:p>
                      <a:pPr>
                        <a:defRPr sz="1200">
                          <a:solidFill>
                            <a:srgbClr val="20261F"/>
                          </a:solidFill>
                          <a:latin typeface="Yu Gothic"/>
                        </a:defRPr>
                      </a:pPr>
                      <a:r>
                        <a:t>本テーマとして着手・整理</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AWS Machine Learning Blog(2026-08-24)</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今後注目される点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実際の飲食店での導入事例の登場</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他業種(予約・受付等)への応用拡大</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現時点では未確認の情報として今後の続報を待つ必要がある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AWS Machine Learning Blog(2026-08-24)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今日のまとめの数字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MCPツール10個と連携</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AWS公式AIホスト設計図(2026年8月24日公開)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AWS Machine Learning Blog(2026-08-24)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システム構成要素の役割一覧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構成要素</a:t>
                      </a:r>
                    </a:p>
                  </a:txBody>
                  <a:tcPr>
                    <a:solidFill>
                      <a:srgbClr val="24523F"/>
                    </a:solidFill>
                  </a:tcPr>
                </a:tc>
                <a:tc>
                  <a:txBody>
                    <a:bodyPr/>
                    <a:lstStyle/>
                    <a:p>
                      <a:pPr>
                        <a:defRPr sz="1300" b="1">
                          <a:solidFill>
                            <a:srgbClr val="FFFFFF"/>
                          </a:solidFill>
                          <a:latin typeface="Yu Gothic"/>
                        </a:defRPr>
                      </a:pPr>
                      <a:r>
                        <a:t>役割</a:t>
                      </a:r>
                    </a:p>
                  </a:txBody>
                  <a:tcPr>
                    <a:solidFill>
                      <a:srgbClr val="24523F"/>
                    </a:solidFill>
                  </a:tcPr>
                </a:tc>
              </a:tr>
              <a:tr h="502920">
                <a:tc>
                  <a:txBody>
                    <a:bodyPr/>
                    <a:lstStyle/>
                    <a:p>
                      <a:pPr>
                        <a:defRPr sz="1200">
                          <a:solidFill>
                            <a:srgbClr val="20261F"/>
                          </a:solidFill>
                          <a:latin typeface="Yu Gothic"/>
                        </a:defRPr>
                      </a:pPr>
                      <a:r>
                        <a:t>Amazon Connect / Agentic Voice</a:t>
                      </a:r>
                    </a:p>
                  </a:txBody>
                  <a:tcPr>
                    <a:solidFill>
                      <a:srgbClr val="FFFFFF"/>
                    </a:solidFill>
                  </a:tcPr>
                </a:tc>
                <a:tc>
                  <a:txBody>
                    <a:bodyPr/>
                    <a:lstStyle/>
                    <a:p>
                      <a:pPr>
                        <a:defRPr sz="1200">
                          <a:solidFill>
                            <a:srgbClr val="20261F"/>
                          </a:solidFill>
                          <a:latin typeface="Yu Gothic"/>
                        </a:defRPr>
                      </a:pPr>
                      <a:r>
                        <a:t>電話回線・リアルタイム音声</a:t>
                      </a:r>
                    </a:p>
                  </a:txBody>
                  <a:tcPr>
                    <a:solidFill>
                      <a:srgbClr val="FFFFFF"/>
                    </a:solidFill>
                  </a:tcPr>
                </a:tc>
              </a:tr>
              <a:tr h="502920">
                <a:tc>
                  <a:txBody>
                    <a:bodyPr/>
                    <a:lstStyle/>
                    <a:p>
                      <a:pPr>
                        <a:defRPr sz="1200">
                          <a:solidFill>
                            <a:srgbClr val="20261F"/>
                          </a:solidFill>
                          <a:latin typeface="Yu Gothic"/>
                        </a:defRPr>
                      </a:pPr>
                      <a:r>
                        <a:t>AI agent(Claude Haiku 4.5)</a:t>
                      </a:r>
                    </a:p>
                  </a:txBody>
                  <a:tcPr>
                    <a:solidFill>
                      <a:srgbClr val="F4F1E6"/>
                    </a:solidFill>
                  </a:tcPr>
                </a:tc>
                <a:tc>
                  <a:txBody>
                    <a:bodyPr/>
                    <a:lstStyle/>
                    <a:p>
                      <a:pPr>
                        <a:defRPr sz="1200">
                          <a:solidFill>
                            <a:srgbClr val="20261F"/>
                          </a:solidFill>
                          <a:latin typeface="Yu Gothic"/>
                        </a:defRPr>
                      </a:pPr>
                      <a:r>
                        <a:t>推論・応答生成</a:t>
                      </a:r>
                    </a:p>
                  </a:txBody>
                  <a:tcPr>
                    <a:solidFill>
                      <a:srgbClr val="F4F1E6"/>
                    </a:solidFill>
                  </a:tcPr>
                </a:tc>
              </a:tr>
              <a:tr h="502920">
                <a:tc>
                  <a:txBody>
                    <a:bodyPr/>
                    <a:lstStyle/>
                    <a:p>
                      <a:pPr>
                        <a:defRPr sz="1200">
                          <a:solidFill>
                            <a:srgbClr val="20261F"/>
                          </a:solidFill>
                          <a:latin typeface="Yu Gothic"/>
                        </a:defRPr>
                      </a:pPr>
                      <a:r>
                        <a:t>AgentCore Gateway</a:t>
                      </a:r>
                    </a:p>
                  </a:txBody>
                  <a:tcPr>
                    <a:solidFill>
                      <a:srgbClr val="FFFFFF"/>
                    </a:solidFill>
                  </a:tcPr>
                </a:tc>
                <a:tc>
                  <a:txBody>
                    <a:bodyPr/>
                    <a:lstStyle/>
                    <a:p>
                      <a:pPr>
                        <a:defRPr sz="1200">
                          <a:solidFill>
                            <a:srgbClr val="20261F"/>
                          </a:solidFill>
                          <a:latin typeface="Yu Gothic"/>
                        </a:defRPr>
                      </a:pPr>
                      <a:r>
                        <a:t>MCP経由のバックエンド連携(10ツール)</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AWS Machine Learning Blog(2026-08-24)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AWS Machine Learning Blog(2026-08-24)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出典付きで、正確に。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AI Company OSは、確認できた事実だけをお届けします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次回もお楽しみに</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