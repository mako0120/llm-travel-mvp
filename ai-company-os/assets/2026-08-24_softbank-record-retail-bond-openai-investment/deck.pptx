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2026年8月24日、ソフトバンクグループが日本の発行体として過去最大となる約1兆円の個人向け社債の発行計画を発表しました。何のための資金なのか、出典付きで正確に整理してお届けします。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結論から確認します。ソフトバンクグループが約1兆円という、日本の発行体として過去最大規模の個人向け社債の発行計画を発表しました。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今日は6つの流れでお伝えします。社債の条件から資金使途、過去実績との比較まで、正確に事実を引用しながら整理します。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このテーマを扱う理由です。高い鮮度と、AI投資の資金の流れを示す具体性に注目しました。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社債の基本条件です。7年債で、想定クーポンは4.3%から4.9%のレンジとされています。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発行スケジュールです。9月上旬から中旬にかけて一連の手続きが予定されています。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調達資金の使途は大きく2つです。ABBのロボティクス事業買収と、OpenAIへの出資を支えたブリッジローンの返済に充てられます。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資金調達から返済までの流れを図にしました。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個人向け社債とは何かを確認します。証券会社を通じて一般の個人投資家が購入できる債券です。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ブリッジローンとは何かを確認します。本調達が完了するまでのつなぎ融資です。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過去の最高記録と今回の発行計画を対比しました。今回はこれまでの記録を大きく上回る規模です。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ソフトバンクとOpenAI投資の全体像です。累計600億ドル超という大規模なコミットメントの一部を、今回の社債が支えます。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発行規模の推移を一覧にまとめました。年々規模が拡大していることが分かります。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ソフトバンクはOpenAIへの投資として累計600億ドル超をコミットしています。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なぜ社債という手段を選んだのかについては、一般的な考え方を整理しつつ、公式な説明が確認できていないことも正直にお伝えします。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確定していることと、確認できていないことを対比しました。この区別が本テーマで重要なポイントです。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AI業界の資金調達動向における位置づけです。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想定クーポンは4.3%から4.9%のレンジです。発行規模とは別の指標である点を区別して理解する必要があります。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AI投資の資金動向を追う立場にとっての意味です。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本テーマは現時点でBloombergの報道を主な情報源としています。他メディアでの裏付けは限定的である点を正直にお伝えします。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今回の発行が実現すれば、2026年通年の累計発行額は2兆8000億円に達し、これも過去最大となる見通しです。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償還までの年数は7年で、2033年9月16日の償還が予定されています。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資金使途を一覧にまとめました。AI投資とロボティクス投資、両方の資金需要に対応する計画です。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個人投資家が注目すべき留意事項です。本テーマはあくまで情報提供であり、投資判断は必ず一次情報の確認の上で行っていただく必要があります。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本編のまとめです。ソフトバンクによる過去最大の個人向け社債発行計画について、出典付きで整理してお伝えしました。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ソフトバンクによる過去最大規模の個人向け社債発行計画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ソフトバンク、</a:t>
            </a:r>
          </a:p>
          <a:p>
            <a:pPr algn="l">
              <a:lnSpc>
                <a:spcPct val="115000"/>
              </a:lnSpc>
            </a:pPr>
            <a:r>
              <a:rPr sz="4200" b="1">
                <a:solidFill>
                  <a:srgbClr val="FFFFFF"/>
                </a:solidFill>
                <a:latin typeface="Yu Gothic"/>
              </a:rPr>
              <a:t>過去最大1兆円の</a:t>
            </a:r>
          </a:p>
          <a:p>
            <a:pPr algn="l">
              <a:lnSpc>
                <a:spcPct val="115000"/>
              </a:lnSpc>
            </a:pPr>
            <a:r>
              <a:rPr sz="4200" b="1">
                <a:solidFill>
                  <a:srgbClr val="FFFFFF"/>
                </a:solidFill>
                <a:latin typeface="Yu Gothic"/>
              </a:rPr>
              <a:t>個人向け社債</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2026年8月24日発表——OpenAI関連資金の穴埋めを出典付きで整理する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Bloomberg(2026年8月24日)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約1兆円(63億ドル) 過去最大の個人向け社債発行計画</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日本の発行体による個人向け社債として過去最大規模(2026年8月24日発表)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社債の基本条件を確認する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調達資金の使途を確認する</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過去の発行実績との比較を確認する</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ソフトバンクとOpenAI投資の全体像を確認する</a:t>
            </a:r>
          </a:p>
        </p:txBody>
      </p:sp>
      <p:sp>
        <p:nvSpPr>
          <p:cNvPr id="15" name="Oval 14"/>
          <p:cNvSpPr/>
          <p:nvPr/>
        </p:nvSpPr>
        <p:spPr>
          <a:xfrm>
            <a:off x="548640" y="58064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着手日当日(2026年8月24日)の発表という高い鮮度の話題である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日本の発行体として過去最大規模の個人向け社債という、金額のインパクトが大きい事案である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OpenAIへの投資という、AI業界の資金の流れを具体的な数字で示す事例である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Bloombergという信頼性の高いメディアが報じている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社債の基本条件</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発行規模</a:t>
                      </a:r>
                    </a:p>
                  </a:txBody>
                  <a:tcPr>
                    <a:solidFill>
                      <a:srgbClr val="FFFFFF"/>
                    </a:solidFill>
                  </a:tcPr>
                </a:tc>
                <a:tc>
                  <a:txBody>
                    <a:bodyPr/>
                    <a:lstStyle/>
                    <a:p>
                      <a:pPr>
                        <a:defRPr sz="1200">
                          <a:solidFill>
                            <a:srgbClr val="1C2230"/>
                          </a:solidFill>
                          <a:latin typeface="Yu Gothic"/>
                        </a:defRPr>
                      </a:pPr>
                      <a:r>
                        <a:t>約1兆円(63億ドル)</a:t>
                      </a:r>
                    </a:p>
                  </a:txBody>
                  <a:tcPr>
                    <a:solidFill>
                      <a:srgbClr val="FFFFFF"/>
                    </a:solidFill>
                  </a:tcPr>
                </a:tc>
              </a:tr>
              <a:tr h="502920">
                <a:tc>
                  <a:txBody>
                    <a:bodyPr/>
                    <a:lstStyle/>
                    <a:p>
                      <a:pPr>
                        <a:defRPr sz="1200">
                          <a:solidFill>
                            <a:srgbClr val="1C2230"/>
                          </a:solidFill>
                          <a:latin typeface="Yu Gothic"/>
                        </a:defRPr>
                      </a:pPr>
                      <a:r>
                        <a:t>年限</a:t>
                      </a:r>
                    </a:p>
                  </a:txBody>
                  <a:tcPr>
                    <a:solidFill>
                      <a:srgbClr val="F1F5FA"/>
                    </a:solidFill>
                  </a:tcPr>
                </a:tc>
                <a:tc>
                  <a:txBody>
                    <a:bodyPr/>
                    <a:lstStyle/>
                    <a:p>
                      <a:pPr>
                        <a:defRPr sz="1200">
                          <a:solidFill>
                            <a:srgbClr val="1C2230"/>
                          </a:solidFill>
                          <a:latin typeface="Yu Gothic"/>
                        </a:defRPr>
                      </a:pPr>
                      <a:r>
                        <a:t>7年債</a:t>
                      </a:r>
                    </a:p>
                  </a:txBody>
                  <a:tcPr>
                    <a:solidFill>
                      <a:srgbClr val="F1F5FA"/>
                    </a:solidFill>
                  </a:tcPr>
                </a:tc>
              </a:tr>
              <a:tr h="502920">
                <a:tc>
                  <a:txBody>
                    <a:bodyPr/>
                    <a:lstStyle/>
                    <a:p>
                      <a:pPr>
                        <a:defRPr sz="1200">
                          <a:solidFill>
                            <a:srgbClr val="1C2230"/>
                          </a:solidFill>
                          <a:latin typeface="Yu Gothic"/>
                        </a:defRPr>
                      </a:pPr>
                      <a:r>
                        <a:t>想定クーポン(表面利率)</a:t>
                      </a:r>
                    </a:p>
                  </a:txBody>
                  <a:tcPr>
                    <a:solidFill>
                      <a:srgbClr val="FFFFFF"/>
                    </a:solidFill>
                  </a:tcPr>
                </a:tc>
                <a:tc>
                  <a:txBody>
                    <a:bodyPr/>
                    <a:lstStyle/>
                    <a:p>
                      <a:pPr>
                        <a:defRPr sz="1200">
                          <a:solidFill>
                            <a:srgbClr val="1C2230"/>
                          </a:solidFill>
                          <a:latin typeface="Yu Gothic"/>
                        </a:defRPr>
                      </a:pPr>
                      <a:r>
                        <a:t>4.3%〜4.9%</a:t>
                      </a:r>
                    </a:p>
                  </a:txBody>
                  <a:tcPr>
                    <a:solidFill>
                      <a:srgbClr val="FFFFFF"/>
                    </a:solidFill>
                  </a:tcPr>
                </a:tc>
              </a:tr>
              <a:tr h="502920">
                <a:tc>
                  <a:txBody>
                    <a:bodyPr/>
                    <a:lstStyle/>
                    <a:p>
                      <a:pPr>
                        <a:defRPr sz="1200">
                          <a:solidFill>
                            <a:srgbClr val="1C2230"/>
                          </a:solidFill>
                          <a:latin typeface="Yu Gothic"/>
                        </a:defRPr>
                      </a:pPr>
                      <a:r>
                        <a:t>償還日</a:t>
                      </a:r>
                    </a:p>
                  </a:txBody>
                  <a:tcPr>
                    <a:solidFill>
                      <a:srgbClr val="F1F5FA"/>
                    </a:solidFill>
                  </a:tcPr>
                </a:tc>
                <a:tc>
                  <a:txBody>
                    <a:bodyPr/>
                    <a:lstStyle/>
                    <a:p>
                      <a:pPr>
                        <a:defRPr sz="1200">
                          <a:solidFill>
                            <a:srgbClr val="1C2230"/>
                          </a:solidFill>
                          <a:latin typeface="Yu Gothic"/>
                        </a:defRPr>
                      </a:pPr>
                      <a:r>
                        <a:t>2033年9月16日予定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発行スケジュール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今後の予定を確認します。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価格決定は9月5日を予定</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個人投資家向けの募集期間は9月7日から16日を予定</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発行日は9月17日を予定</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調達資金の使途</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2つの用途 ABBロボティクス事業買収 + OpenAI関連ブリッジローン返済</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AI投資とロボティクス投資、両方の資金需要に対応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資金調達から返済までの流れ</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ブリッジローンでOpenAI出資を先行実行</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つなぎ融資で資金を確保</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個人向け社債で約1兆円を調達</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2026年8月24日、発行計画を発表</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調達資金でブリッジローンを返済</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ABBロボティクス事業買収資金にも充当</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つなぎ融資から本調達への流れ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今回の発表の3ステップ総括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1. 発行計画の発表</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2026年8月24日、約1兆円規模と判明</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 価格決定・募集</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9月5日価格決定、9月7〜16日募集</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3. 発行・資金充当</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9月17日発行、ABB買収・ローン返済へ</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「個人向け社債」とは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前提知識を確認します。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機関投資家ではなく一般の個人投資家を対象に販売される債券である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証券会社を通じて購入でき、満期まで保有すると額面と利子が支払われる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ソフトバンクグループは近年、個人投資家からの資金調達を積極的に活用してきた実績がある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「ブリッジローン」とは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もう一つの前提知識です。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本命の資金調達が完了するまでの『つなぎ』として短期間で借り入れる融資のこと</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今回はOpenAIへの出資を先に実行するため、ブリッジローンで資金を確保していた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社債発行で得た資金でこのローンを返済する計画となっている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今回の発行 vs 過去の最高記録</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過去の最高記録(2025年)</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個人向け社債として6000億円</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今回の発行計画(2026年8月24日発表)</a:t>
            </a:r>
          </a:p>
        </p:txBody>
      </p:sp>
      <p:sp>
        <p:nvSpPr>
          <p:cNvPr id="14" name="Oval 13"/>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約1兆円と、過去最高記録を上回る規模</a:t>
            </a:r>
          </a:p>
        </p:txBody>
      </p:sp>
      <p:sp>
        <p:nvSpPr>
          <p:cNvPr id="16" name="Oval 15"/>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2026年通年の累計発行額は2兆8000億円に達し、これも過去最大の見通し</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ソフトバンクとOpenAI投資の全体像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背景を確認します。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ソフトバンクグループはOpenAIへの投資として累計600億ドル超をコミットしている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AI関連投資に加え、データセンターへの投資拡大も進めている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今回の社債発行は、こうした大型投資を支える資金調達の一環である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発行規模の推移</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2B3A55"/>
                    </a:solidFill>
                  </a:tcPr>
                </a:tc>
                <a:tc>
                  <a:txBody>
                    <a:bodyPr/>
                    <a:lstStyle/>
                    <a:p>
                      <a:pPr>
                        <a:defRPr sz="1300" b="1">
                          <a:solidFill>
                            <a:srgbClr val="FFFFFF"/>
                          </a:solidFill>
                          <a:latin typeface="Yu Gothic"/>
                        </a:defRPr>
                      </a:pPr>
                      <a:r>
                        <a:t>個人向け社債の発行規模</a:t>
                      </a:r>
                    </a:p>
                  </a:txBody>
                  <a:tcPr>
                    <a:solidFill>
                      <a:srgbClr val="2B3A55"/>
                    </a:solidFill>
                  </a:tcPr>
                </a:tc>
              </a:tr>
              <a:tr h="502920">
                <a:tc>
                  <a:txBody>
                    <a:bodyPr/>
                    <a:lstStyle/>
                    <a:p>
                      <a:pPr>
                        <a:defRPr sz="1200">
                          <a:solidFill>
                            <a:srgbClr val="1C2230"/>
                          </a:solidFill>
                          <a:latin typeface="Yu Gothic"/>
                        </a:defRPr>
                      </a:pPr>
                      <a:r>
                        <a:t>2025年</a:t>
                      </a:r>
                    </a:p>
                  </a:txBody>
                  <a:tcPr>
                    <a:solidFill>
                      <a:srgbClr val="FFFFFF"/>
                    </a:solidFill>
                  </a:tcPr>
                </a:tc>
                <a:tc>
                  <a:txBody>
                    <a:bodyPr/>
                    <a:lstStyle/>
                    <a:p>
                      <a:pPr>
                        <a:defRPr sz="1200">
                          <a:solidFill>
                            <a:srgbClr val="1C2230"/>
                          </a:solidFill>
                          <a:latin typeface="Yu Gothic"/>
                        </a:defRPr>
                      </a:pPr>
                      <a:r>
                        <a:t>6000億円(当時の過去最高)</a:t>
                      </a:r>
                    </a:p>
                  </a:txBody>
                  <a:tcPr>
                    <a:solidFill>
                      <a:srgbClr val="FFFFFF"/>
                    </a:solidFill>
                  </a:tcPr>
                </a:tc>
              </a:tr>
              <a:tr h="502920">
                <a:tc>
                  <a:txBody>
                    <a:bodyPr/>
                    <a:lstStyle/>
                    <a:p>
                      <a:pPr>
                        <a:defRPr sz="1200">
                          <a:solidFill>
                            <a:srgbClr val="1C2230"/>
                          </a:solidFill>
                          <a:latin typeface="Yu Gothic"/>
                        </a:defRPr>
                      </a:pPr>
                      <a:r>
                        <a:t>2026年8月24日発表分</a:t>
                      </a:r>
                    </a:p>
                  </a:txBody>
                  <a:tcPr>
                    <a:solidFill>
                      <a:srgbClr val="F1F5FA"/>
                    </a:solidFill>
                  </a:tcPr>
                </a:tc>
                <a:tc>
                  <a:txBody>
                    <a:bodyPr/>
                    <a:lstStyle/>
                    <a:p>
                      <a:pPr>
                        <a:defRPr sz="1200">
                          <a:solidFill>
                            <a:srgbClr val="1C2230"/>
                          </a:solidFill>
                          <a:latin typeface="Yu Gothic"/>
                        </a:defRPr>
                      </a:pPr>
                      <a:r>
                        <a:t>約1兆円(新たな過去最高)</a:t>
                      </a:r>
                    </a:p>
                  </a:txBody>
                  <a:tcPr>
                    <a:solidFill>
                      <a:srgbClr val="F1F5FA"/>
                    </a:solidFill>
                  </a:tcPr>
                </a:tc>
              </a:tr>
              <a:tr h="502920">
                <a:tc>
                  <a:txBody>
                    <a:bodyPr/>
                    <a:lstStyle/>
                    <a:p>
                      <a:pPr>
                        <a:defRPr sz="1200">
                          <a:solidFill>
                            <a:srgbClr val="1C2230"/>
                          </a:solidFill>
                          <a:latin typeface="Yu Gothic"/>
                        </a:defRPr>
                      </a:pPr>
                      <a:r>
                        <a:t>2026年通年累計見通し</a:t>
                      </a:r>
                    </a:p>
                  </a:txBody>
                  <a:tcPr>
                    <a:solidFill>
                      <a:srgbClr val="FFFFFF"/>
                    </a:solidFill>
                  </a:tcPr>
                </a:tc>
                <a:tc>
                  <a:txBody>
                    <a:bodyPr/>
                    <a:lstStyle/>
                    <a:p>
                      <a:pPr>
                        <a:defRPr sz="1200">
                          <a:solidFill>
                            <a:srgbClr val="1C2230"/>
                          </a:solidFill>
                          <a:latin typeface="Yu Gothic"/>
                        </a:defRPr>
                      </a:pPr>
                      <a:r>
                        <a:t>2兆8000億円(過去最大)</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OpenAIへの累計コミットメント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600億ドル超 ソフトバンクがOpenAIに投資として表明した累計額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今回の社債はこの一部を支える資金調達</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なぜ社債という手段を選んだのか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手段の選択について確認します。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個人投資家からの資金調達は、機関投資家向けと比べて幅広い層から資金を集められる手段である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ABB買収とOpenAI関連ローン返済という2つの大型資金需要をまとめて調達することで、発行コストを抑えられる可能性がある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具体的な選定理由の公式説明は、本調査の範囲では確認できていない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確定していること vs 確認できていないこと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確定していること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発行規模(約1兆円)・年限(7年)・想定クーポン</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発行スケジュール(価格決定9/5、募集9/7-16、発行9/17)</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資金使途(ABB買収・OpenAI関連ローン返済)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社債の信用格付け</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個人投資家向けの具体的な購入方法・取扱証券会社</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ABBロボティクス事業買収の具体的な買収金額</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AI業界の資金調達動向における位置づけ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業界内での注目点です。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AI関連投資の規模拡大に伴い、大手テック企業が多様な資金調達手段を活用する動きが広がっている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個人投資家を対象とした社債という手段は、AI投資資金の調達方法として一つの選択肢を示す事例である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今回の事案は、AI投資に伴う資金需要の大きさを具体的な金額で示す一例と言える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想定クーポン(表面利率)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4.3%〜4.9% 7年債の想定クーポンレンジ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発行規模(約1兆円)とは別の指標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視聴者にとっての意味—AI投資の資金動向を追う立場として</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AI企業への大型投資が、どのような資金調達手段で支えられているかを具体的に学べる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個人向け社債・ブリッジローンといった金融の仕組みを、実例を通じて理解できる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確定した事実(発行条件等)と確認できていないこと(格付け等)を区別する視点が役立つ</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社債の信用格付けは、本調査の範囲では確認できていない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個人投資家向けの具体的な購入方法・取扱証券会社の一覧は確認できていない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ABBロボティクス事業買収の具体的な買収金額は確認できていない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本テーマは単一の情報源(Bloomberg)による報道であり、他メディアでの裏付け確認は本調査の範囲では限定的である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確認できている事実</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発行規模・年限・想定クーポン</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発行スケジュール</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資金使途の大枠(ABB買収・ローン返済)</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今後の不確定要素</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実際の需要状況・最終的なクーポン確定水準</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信用格付けの評価</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ABB買収の具体的な金額・完了時期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主な情報源</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0058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2B3A55"/>
                    </a:solidFill>
                  </a:tcPr>
                </a:tc>
                <a:tc>
                  <a:txBody>
                    <a:bodyPr/>
                    <a:lstStyle/>
                    <a:p>
                      <a:pPr>
                        <a:defRPr sz="1300" b="1">
                          <a:solidFill>
                            <a:srgbClr val="FFFFFF"/>
                          </a:solidFill>
                          <a:latin typeface="Yu Gothic"/>
                        </a:defRPr>
                      </a:pPr>
                      <a:r>
                        <a:t>報道内容</a:t>
                      </a:r>
                    </a:p>
                  </a:txBody>
                  <a:tcPr>
                    <a:solidFill>
                      <a:srgbClr val="2B3A55"/>
                    </a:solidFill>
                  </a:tcPr>
                </a:tc>
              </a:tr>
              <a:tr h="502920">
                <a:tc>
                  <a:txBody>
                    <a:bodyPr/>
                    <a:lstStyle/>
                    <a:p>
                      <a:pPr>
                        <a:defRPr sz="1200">
                          <a:solidFill>
                            <a:srgbClr val="1C2230"/>
                          </a:solidFill>
                          <a:latin typeface="Yu Gothic"/>
                        </a:defRPr>
                      </a:pPr>
                      <a:r>
                        <a:t>Bloomberg(2026-08-24)</a:t>
                      </a:r>
                    </a:p>
                  </a:txBody>
                  <a:tcPr>
                    <a:solidFill>
                      <a:srgbClr val="FFFFFF"/>
                    </a:solidFill>
                  </a:tcPr>
                </a:tc>
                <a:tc>
                  <a:txBody>
                    <a:bodyPr/>
                    <a:lstStyle/>
                    <a:p>
                      <a:pPr>
                        <a:defRPr sz="1200">
                          <a:solidFill>
                            <a:srgbClr val="1C2230"/>
                          </a:solidFill>
                          <a:latin typeface="Yu Gothic"/>
                        </a:defRPr>
                      </a:pPr>
                      <a:r>
                        <a:t>社債発行計画の規模・条件・資金使途の詳細</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AI投資の資金動向を追う立場として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AI企業への大型投資を支える具体的な資金調達手段を把握できる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個人投資家の立場として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大型社債発行の仕組み・条件を実例を通じて学べる(投資助言ではない)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確定した発行条件と、確認できていない格付け等を明確に区別する視点が役立つ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2026年通年の累計発行見通し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2兆8000億円 今回の発行が実現した場合の2026年通年累計額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実現すればこれも過去最大の見通し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償還までの年数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7年 2033年9月16日償還予定</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発行日(9月17日予定)からの年限</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Bloomberg(2026-08-24)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資金使途のまとめ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使途</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ABBロボティクス事業買収</a:t>
                      </a:r>
                    </a:p>
                  </a:txBody>
                  <a:tcPr>
                    <a:solidFill>
                      <a:srgbClr val="FFFFFF"/>
                    </a:solidFill>
                  </a:tcPr>
                </a:tc>
                <a:tc>
                  <a:txBody>
                    <a:bodyPr/>
                    <a:lstStyle/>
                    <a:p>
                      <a:pPr>
                        <a:defRPr sz="1200">
                          <a:solidFill>
                            <a:srgbClr val="1C2230"/>
                          </a:solidFill>
                          <a:latin typeface="Yu Gothic"/>
                        </a:defRPr>
                      </a:pPr>
                      <a:r>
                        <a:t>多額の資金需要への充当(具体的な買収金額は不明)</a:t>
                      </a:r>
                    </a:p>
                  </a:txBody>
                  <a:tcPr>
                    <a:solidFill>
                      <a:srgbClr val="FFFFFF"/>
                    </a:solidFill>
                  </a:tcPr>
                </a:tc>
              </a:tr>
              <a:tr h="502920">
                <a:tc>
                  <a:txBody>
                    <a:bodyPr/>
                    <a:lstStyle/>
                    <a:p>
                      <a:pPr>
                        <a:defRPr sz="1200">
                          <a:solidFill>
                            <a:srgbClr val="1C2230"/>
                          </a:solidFill>
                          <a:latin typeface="Yu Gothic"/>
                        </a:defRPr>
                      </a:pPr>
                      <a:r>
                        <a:t>OpenAI関連ブリッジローン返済</a:t>
                      </a:r>
                    </a:p>
                  </a:txBody>
                  <a:tcPr>
                    <a:solidFill>
                      <a:srgbClr val="F1F5FA"/>
                    </a:solidFill>
                  </a:tcPr>
                </a:tc>
                <a:tc>
                  <a:txBody>
                    <a:bodyPr/>
                    <a:lstStyle/>
                    <a:p>
                      <a:pPr>
                        <a:defRPr sz="1200">
                          <a:solidFill>
                            <a:srgbClr val="1C2230"/>
                          </a:solidFill>
                          <a:latin typeface="Yu Gothic"/>
                        </a:defRPr>
                      </a:pPr>
                      <a:r>
                        <a:t>OpenAI出資の裏付けとなっていたつなぎ融資の返済</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Bloomberg(2026-08-24)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個人投資家が注目すべきポイント(留意事項)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留意事項を確認します。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本テーマは社債の仕組み・条件を解説する情報提供であり、購入を推奨する投資助言ではない</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利回りや信用格付けなど、投資判断に必要な情報は募集要項等の一次情報で必ず確認する必要がある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本調査では信用格付けを確認できておらず、リスク評価は視聴者自身が一次情報を確認して行う必要がある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本編のまとめです。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2026年8月24日、ソフトバンクグループが日本の発行体として過去最大となる約1兆円の個人向け社債発行計画を発表した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調達資金はABBロボティクス事業買収とOpenAI関連ブリッジローンの返済に充てられる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ソフトバンクはOpenAIへの投資として累計600億ドル超をコミットしている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社債の信用格付けや具体的な購入方法など、確認できていない点は正直にお伝えした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Bloomberg(2026-08-24)</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ソフトバンク、過去最大1兆円の個人向け社債。</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2026年8月24日、OpenAI関連の資金需要を背景に、日本の発行体として過去最大規模の個人向け社債発行計画が発表されました。確定した事実と確認できていないことを区別しながら、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