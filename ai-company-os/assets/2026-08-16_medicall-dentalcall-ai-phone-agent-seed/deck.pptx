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14日、韓国のスタートアップMedicallが、歯科医院向けAI電話エージェント『DentalCall』のシード資金調達を実施したと報じられました。金額は非公開です。今日はこ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結論から確認します。MedicallはDentalCallのシード資金調達を実施しましたが、金額は非公開です。AI Angel Clubが主導し、CNTTech・Tail Ventures・Antler Koreaが参加しました。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今日は6つの流れでお伝えします。専門用語をかみ砕きながら、事実と推測、確認できなかったことをはっきり分けて整理します。金額非公開という制約も正直にお伝えします。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このテーマは着手日から2日以内という新しい報道に基づいています。歯科医院の電話に24時間AIが出るという分かりやすさ、海外に先に顧客がいるという意外性が注目点です。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lは韓国のスタートアップで、歯科医院向けAI電話エージェント『DentalCall』を提供しています。より広いヘルスケアAIプラットフォーム構想の第一弾製品と位置付けられていますが、創業時期など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DentalCallの仕組みを図にしました。患者からの電話をAIが24時間受け、予約受付や変更、キャンセル、問い合わせに対応し、内容がクリニック側の運用に反映される流れです。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本題のキーワードを確認します。AI電話エージェントは受付業務をAIが担う仕組み、アウトバウンド患者管理はAIから患者へ電話をかける仕組みです。人間を完全に置き換えるものではありません。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DentalCallの受電対応を4つ紹介します。予約受付、予約変更、キャンセル対応、そして一般的な問い合わせ対応です。いずれも24時間対応と報じられています。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受電だけでなく、DentalCallはアウトバウンドの患者管理も行います。定期検診やスケーリングのリコール、術後フォローアップ、再来院リマインドの3つが報じられています。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Medicallの中期ビジョンです。電話応対・予約問診・リコール患者管理・マーケティングという複数の役割特化型AIエージェントを連携させる構想で、DentalCallはその第一弾製品です。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従来の一般的な課題と、DentalCall導入後の姿を比べました。左側は業界で一般的に指摘される課題の整理であり、Medicall固有の出典データではない点にご留意ください。右側は報じられている機能です。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今回のラウンドの投資家を紹介します。AI Angel Clubがリードし、CNTTech、Tail Ventures、Antler Koreaが参加したと報じられています。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調達金額について改めて確認します。金額は非公開で、Medicall・投資家側とも公表していません。本資料ではこの点を隠さず、架空の数字も一切使いません。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資金調達の概要を一覧にしました。発表日は2026年8月14日、投資家はAI Angel Club主導の4社です。調達金額・評価額はいずれも非公開・不明です。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資金の使いみちは3つ報じられています。製品改善、営業・パートナー網の拡大、そして採用です。金額の内訳までは報じられていません。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海外の有料顧客を確認します。タイの大手通信キャリア1社が、既にMedicallのサービスを有料で利用していると報じられています。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もう一つの海外実績です。フィリピンの主要医療機関複数が、既にMedicallのサービスを有料で利用していると報じられています。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海外実績を一覧にしました。タイ・フィリピンでは有料顧客として利用中と報じられていますが、韓国国内の具体的な導入クリニック数は確認できていません。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歯科医院の電話対応が課題になりやすい背景を整理しました。この内容は特定の出典データではなく、業界で一般的に指摘される文脈を当社が整理したものです。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AI電話エージェントの導入を検討する際の一般的な留意点です。対応範囲の切り分け、既存システムとの連携、患者への事前説明という3点を挙げました。特定製品を推奨する趣旨ではありません。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読者にとっての実践的な示唆をまとめました。クリニック経営者、医療AI導入検討者、投資動向を追う立場、それぞれで意識したい点です。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見出しの印象と実際の内容にはギャップがあります。金額は非公開で規模は判断できず、機能も電話応対中心の範囲にとどまることを確認しておきます。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同時期に報じられた紛らわしい別会社にも触れます。Salm Clinic、Allconnecはいずれも別会社・別ラウンドであり、本資料の数字とは混同していません。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確認できていないことを正直にお伝えします。調達金額、評価額、創業時期・正社員数・過去の調達履歴は、本調査の範囲では確認できていません。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ここで事実と推測を分けます。機能内容や投資家名は複数情報源が確認した事実、業界課題の整理は当社の推測、調達金額などは不明であることを明確にします。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ここで一度立ち止まります。調達金額は非公開と明記し、政治的評価は行わず、特定企業を強く推奨する結論にもしていません。別会社との混同も避けています。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本テーマの鮮度を確認します。中心となる報道は2026年8月14日、着手日は8月16日で、2日以内という基準を満たしています。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本編は以上です。今回はMedicallのDentalCallが金額非公開のままシード資金調達を実施した件をお伝えしました。確認できなかったことは正直にお伝えしました。次回もまた出典付きでお届けします。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歯科医院にかかってくる電話に、</a:t>
            </a:r>
          </a:p>
          <a:p>
            <a:pPr algn="l">
              <a:lnSpc>
                <a:spcPct val="115000"/>
              </a:lnSpc>
            </a:pPr>
            <a:r>
              <a:rPr sz="4200" b="1">
                <a:solidFill>
                  <a:srgbClr val="FFFFFF"/>
                </a:solidFill>
                <a:latin typeface="Yu Gothic"/>
              </a:rPr>
              <a:t>AIが24時間出るようになった。</a:t>
            </a:r>
          </a:p>
          <a:p>
            <a:pPr algn="l">
              <a:lnSpc>
                <a:spcPct val="115000"/>
              </a:lnSpc>
            </a:pPr>
            <a:r>
              <a:rPr sz="4200" b="1">
                <a:solidFill>
                  <a:srgbClr val="FFFFFF"/>
                </a:solidFill>
                <a:latin typeface="Yu Gothic"/>
              </a:rPr>
              <a:t>韓国発「DentalCall」が、金額非公開のままシード資金調達に成功した。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AI Angel Club主導・CNTTech/Tail Ventures/Antler Korea参加――出典付きで事実と不明点を整理する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WOWTALE(en.wowtale.net, 2026-08-14)・Dealroom.co news note・AI Market Watch funding category。調達金額は非公開。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まず結論から(金額は非公開)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金額非公開でシード調達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 Angel Clubが主導し、CNTTech・Tail Ventures・Antler Koreaが参加。歯科医院向けAI電話エージェント『DentalCall』への投資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WOWTALE・Dealroom.co(2026-08-14)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MedicallとDentalCallとは(初心者向け解説つき)</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DentalCallが実際にできること</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資金調達の中身(投資家・使途・金額非公開の理由)</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海外での導入実績と、確認できていないこと</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読者にとっての実践的な示唆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2026年8月14日の報道を、着手日から2日以内に複数の情報源が伝えている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「歯科医院の電話にAIが24時間出る」という具体的で分かりやすいユースケースがフックになる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韓国発の企業が、国内より先にタイ・フィリピンで有料顧客を獲得しているという意外性がある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WOWTALE・Dealroom.co(2026-08-14)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Medicallとは(初心者向け)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韓国のスタートアップで、歯科医院向けAI電話エージェント『DentalCall』を開発・提供している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ntalCallは、電話応対・予約・問診・リコール・患者管理・マーケティングを横断する複数の役割特化型AIエージェントを連携させる、より広いヘルスケアプラットフォーム構想の第一弾製品と位置付け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創業時期・正社員数・過去の調達履歴は、本調査の範囲では確認できていない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DentalCallの仕組み(概念図)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電話がかかってくる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患者からの予約・変更・キャンセル・問い合わせの着信</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AIが24時間応答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人手を介さず、DentalCallが内容を聞き取り対応する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予約・記録に反映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受け付けた内容がクリニック側の運用に反映される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DentalCallは歯科医院にかかってくる電話に24時間対応し、予約受付・変更・キャンセル・問い合わせに応答すると報じられている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前提知識:「AI電話エージェント」とは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AI電話エージェント: 人間の受付スタッフの代わりに、AIが電話を受けて用件を聞き取り対応する仕組み</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アウトバウンド患者管理: クリニック側からAIが患者に電話をかけ、リコールやフォローアップを行うこと</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いずれも人間の判断を完全に置き換えるものではなく、報じられている範囲では受付・案内業務が中心である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DentalCallの受電対応</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予約受付</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新規・既存患者からの来院予約をAIが電話で受け付ける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予約変更</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日時変更などの申し出に24時間対応する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キャンセル対応</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キャンセルの申し出を電話で受け付け、記録する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問い合わせ対応</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診療時間や一般的な質問など、患者からの問い合わせに応答する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DentalCallのアウトバウンド患者管理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定期検診・スケーリングのリコール</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検診やスケーリングの時期が近づいた患者に、AIが電話で案内する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術後フォローアップ</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治療後の患者に、AIが電話で経過を確認する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再来院リマインド</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しばらく来院がない患者に、AIが再来院を促す電話をかける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Medicallの中期ビジョン(複数エージェント連携)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電話応対</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DentalCall(第一弾製品)</a:t>
            </a:r>
          </a:p>
        </p:txBody>
      </p:sp>
      <p:sp>
        <p:nvSpPr>
          <p:cNvPr id="10" name="Right Arrow 9"/>
          <p:cNvSpPr/>
          <p:nvPr/>
        </p:nvSpPr>
        <p:spPr>
          <a:xfrm>
            <a:off x="25571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予約・問診</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来院前の情報収集を担うエージェント</a:t>
            </a:r>
          </a:p>
        </p:txBody>
      </p:sp>
      <p:sp>
        <p:nvSpPr>
          <p:cNvPr id="15" name="Right Arrow 14"/>
          <p:cNvSpPr/>
          <p:nvPr/>
        </p:nvSpPr>
        <p:spPr>
          <a:xfrm>
            <a:off x="57575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リコール・患者管理</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定期的な患者フォローを担うエージェント</a:t>
            </a:r>
          </a:p>
        </p:txBody>
      </p:sp>
      <p:sp>
        <p:nvSpPr>
          <p:cNvPr id="20" name="Right Arrow 19"/>
          <p:cNvSpPr/>
          <p:nvPr/>
        </p:nvSpPr>
        <p:spPr>
          <a:xfrm>
            <a:off x="89579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マーケティング</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クリニックの集患を支援するエージェント</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Medicallは、これらの役割特化型AIエージェントを連携させるヘルスケアプラットフォームを中期ビジョンとして掲げており、DentalCallはその第一弾製品と位置付けられている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歯科医院の電話対応:従来 / DentalCall導入後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従来の一般的な課題(業界の一般的な文脈)</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診療時間外は電話に出られないことが多い</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診療中はスタッフが電話対応に割かれる</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リコールの電話案内は手間がかかり後回しになりやすい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DentalCall導入後(報じられている機能)</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24時間電話に応答し、予約受付・変更・キャンセルに対応</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定期検診・術後フォロー等のアウトバウンド案内も自動化</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タイ・フィリピンでは既に有料顧客が利用している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主要投資家(今回のラウンド)</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AI Angel Club(リード)</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本ラウンドを主導した投資家</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CNTTech</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参加投資家</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Tail Ventures</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参加投資家</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E8871E"/>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3A4750"/>
                </a:solidFill>
                <a:latin typeface="Yu Gothic"/>
              </a:rPr>
              <a:t>Antler Korea</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参加投資家</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WOWTALE・Dealroom.co(2026-08-14)</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調達金額について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金額非公開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Medicall・投資家側とも本ラウンドの調達金額を公表していない。本資料では架空の数字を一切使わない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WOWTALE・Dealroom.co(2026-08-14)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資金調達サマリー</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発表日</a:t>
                      </a:r>
                    </a:p>
                  </a:txBody>
                  <a:tcPr>
                    <a:solidFill>
                      <a:srgbClr val="FFFFFF"/>
                    </a:solidFill>
                  </a:tcPr>
                </a:tc>
                <a:tc>
                  <a:txBody>
                    <a:bodyPr/>
                    <a:lstStyle/>
                    <a:p>
                      <a:pPr>
                        <a:defRPr sz="1200">
                          <a:solidFill>
                            <a:srgbClr val="1E2124"/>
                          </a:solidFill>
                          <a:latin typeface="Yu Gothic"/>
                        </a:defRPr>
                      </a:pPr>
                      <a:r>
                        <a:t>2026年8月14日</a:t>
                      </a:r>
                    </a:p>
                  </a:txBody>
                  <a:tcPr>
                    <a:solidFill>
                      <a:srgbClr val="FFFFFF"/>
                    </a:solidFill>
                  </a:tcPr>
                </a:tc>
              </a:tr>
              <a:tr h="502920">
                <a:tc>
                  <a:txBody>
                    <a:bodyPr/>
                    <a:lstStyle/>
                    <a:p>
                      <a:pPr>
                        <a:defRPr sz="1200">
                          <a:solidFill>
                            <a:srgbClr val="1E2124"/>
                          </a:solidFill>
                          <a:latin typeface="Yu Gothic"/>
                        </a:defRPr>
                      </a:pPr>
                      <a:r>
                        <a:t>リード投資家</a:t>
                      </a:r>
                    </a:p>
                  </a:txBody>
                  <a:tcPr>
                    <a:solidFill>
                      <a:srgbClr val="F7F4EF"/>
                    </a:solidFill>
                  </a:tcPr>
                </a:tc>
                <a:tc>
                  <a:txBody>
                    <a:bodyPr/>
                    <a:lstStyle/>
                    <a:p>
                      <a:pPr>
                        <a:defRPr sz="1200">
                          <a:solidFill>
                            <a:srgbClr val="1E2124"/>
                          </a:solidFill>
                          <a:latin typeface="Yu Gothic"/>
                        </a:defRPr>
                      </a:pPr>
                      <a:r>
                        <a:t>AI Angel Club</a:t>
                      </a:r>
                    </a:p>
                  </a:txBody>
                  <a:tcPr>
                    <a:solidFill>
                      <a:srgbClr val="F7F4EF"/>
                    </a:solidFill>
                  </a:tcPr>
                </a:tc>
              </a:tr>
              <a:tr h="502920">
                <a:tc>
                  <a:txBody>
                    <a:bodyPr/>
                    <a:lstStyle/>
                    <a:p>
                      <a:pPr>
                        <a:defRPr sz="1200">
                          <a:solidFill>
                            <a:srgbClr val="1E2124"/>
                          </a:solidFill>
                          <a:latin typeface="Yu Gothic"/>
                        </a:defRPr>
                      </a:pPr>
                      <a:r>
                        <a:t>参加投資家</a:t>
                      </a:r>
                    </a:p>
                  </a:txBody>
                  <a:tcPr>
                    <a:solidFill>
                      <a:srgbClr val="FFFFFF"/>
                    </a:solidFill>
                  </a:tcPr>
                </a:tc>
                <a:tc>
                  <a:txBody>
                    <a:bodyPr/>
                    <a:lstStyle/>
                    <a:p>
                      <a:pPr>
                        <a:defRPr sz="1200">
                          <a:solidFill>
                            <a:srgbClr val="1E2124"/>
                          </a:solidFill>
                          <a:latin typeface="Yu Gothic"/>
                        </a:defRPr>
                      </a:pPr>
                      <a:r>
                        <a:t>CNTTech・Tail Ventures・Antler Korea</a:t>
                      </a:r>
                    </a:p>
                  </a:txBody>
                  <a:tcPr>
                    <a:solidFill>
                      <a:srgbClr val="FFFFFF"/>
                    </a:solidFill>
                  </a:tcPr>
                </a:tc>
              </a:tr>
              <a:tr h="502920">
                <a:tc>
                  <a:txBody>
                    <a:bodyPr/>
                    <a:lstStyle/>
                    <a:p>
                      <a:pPr>
                        <a:defRPr sz="1200">
                          <a:solidFill>
                            <a:srgbClr val="1E2124"/>
                          </a:solidFill>
                          <a:latin typeface="Yu Gothic"/>
                        </a:defRPr>
                      </a:pPr>
                      <a:r>
                        <a:t>調達金額</a:t>
                      </a:r>
                    </a:p>
                  </a:txBody>
                  <a:tcPr>
                    <a:solidFill>
                      <a:srgbClr val="F7F4EF"/>
                    </a:solidFill>
                  </a:tcPr>
                </a:tc>
                <a:tc>
                  <a:txBody>
                    <a:bodyPr/>
                    <a:lstStyle/>
                    <a:p>
                      <a:pPr>
                        <a:defRPr sz="1200">
                          <a:solidFill>
                            <a:srgbClr val="1E2124"/>
                          </a:solidFill>
                          <a:latin typeface="Yu Gothic"/>
                        </a:defRPr>
                      </a:pPr>
                      <a:r>
                        <a:t>非公開</a:t>
                      </a:r>
                    </a:p>
                  </a:txBody>
                  <a:tcPr>
                    <a:solidFill>
                      <a:srgbClr val="F7F4EF"/>
                    </a:solidFill>
                  </a:tcPr>
                </a:tc>
              </a:tr>
              <a:tr h="502920">
                <a:tc>
                  <a:txBody>
                    <a:bodyPr/>
                    <a:lstStyle/>
                    <a:p>
                      <a:pPr>
                        <a:defRPr sz="1200">
                          <a:solidFill>
                            <a:srgbClr val="1E2124"/>
                          </a:solidFill>
                          <a:latin typeface="Yu Gothic"/>
                        </a:defRPr>
                      </a:pPr>
                      <a:r>
                        <a:t>評価額</a:t>
                      </a:r>
                    </a:p>
                  </a:txBody>
                  <a:tcPr>
                    <a:solidFill>
                      <a:srgbClr val="FFFFFF"/>
                    </a:solidFill>
                  </a:tcPr>
                </a:tc>
                <a:tc>
                  <a:txBody>
                    <a:bodyPr/>
                    <a:lstStyle/>
                    <a:p>
                      <a:pPr>
                        <a:defRPr sz="1200">
                          <a:solidFill>
                            <a:srgbClr val="1E2124"/>
                          </a:solidFill>
                          <a:latin typeface="Yu Gothic"/>
                        </a:defRPr>
                      </a:pPr>
                      <a:r>
                        <a:t>報道されておらず不明</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WOWTALE・Dealroom.co(2026-08-14)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資金の使いみち</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製品改善</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DentalCallの機能・精度を高めるための開発投資に充てる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営業・パートナー網の拡大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国内外での販売・提携先の開拓に充てる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採用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開発・営業体制を強化するための人員採用に充てる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海外の有料顧客(1)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タイの大手通信キャリア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タイの大手通信キャリア1社が、Medicallのサービスを既に有料で利用しているとされる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WOWTALE(2026-08-14)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海外の有料顧客(2)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フィリピンの主要医療機関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フィリピンの主要医療機関複数が、Medicallのサービスを既に有料で利用しているとされる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WOWTALE(2026-08-14)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海外実績まとめ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地域</a:t>
                      </a:r>
                    </a:p>
                  </a:txBody>
                  <a:tcPr>
                    <a:solidFill>
                      <a:srgbClr val="3A4750"/>
                    </a:solidFill>
                  </a:tcPr>
                </a:tc>
                <a:tc>
                  <a:txBody>
                    <a:bodyPr/>
                    <a:lstStyle/>
                    <a:p>
                      <a:pPr>
                        <a:defRPr sz="1300" b="1">
                          <a:solidFill>
                            <a:srgbClr val="FFFFFF"/>
                          </a:solidFill>
                          <a:latin typeface="Yu Gothic"/>
                        </a:defRPr>
                      </a:pPr>
                      <a:r>
                        <a:t>顧客カテゴリ</a:t>
                      </a:r>
                    </a:p>
                  </a:txBody>
                  <a:tcPr>
                    <a:solidFill>
                      <a:srgbClr val="3A4750"/>
                    </a:solidFill>
                  </a:tcPr>
                </a:tc>
                <a:tc>
                  <a:txBody>
                    <a:bodyPr/>
                    <a:lstStyle/>
                    <a:p>
                      <a:pPr>
                        <a:defRPr sz="1300" b="1">
                          <a:solidFill>
                            <a:srgbClr val="FFFFFF"/>
                          </a:solidFill>
                          <a:latin typeface="Yu Gothic"/>
                        </a:defRPr>
                      </a:pPr>
                      <a:r>
                        <a:t>利用状況</a:t>
                      </a:r>
                    </a:p>
                  </a:txBody>
                  <a:tcPr>
                    <a:solidFill>
                      <a:srgbClr val="3A4750"/>
                    </a:solidFill>
                  </a:tcPr>
                </a:tc>
              </a:tr>
              <a:tr h="502920">
                <a:tc>
                  <a:txBody>
                    <a:bodyPr/>
                    <a:lstStyle/>
                    <a:p>
                      <a:pPr>
                        <a:defRPr sz="1200">
                          <a:solidFill>
                            <a:srgbClr val="1E2124"/>
                          </a:solidFill>
                          <a:latin typeface="Yu Gothic"/>
                        </a:defRPr>
                      </a:pPr>
                      <a:r>
                        <a:t>タイ</a:t>
                      </a:r>
                    </a:p>
                  </a:txBody>
                  <a:tcPr>
                    <a:solidFill>
                      <a:srgbClr val="FFFFFF"/>
                    </a:solidFill>
                  </a:tcPr>
                </a:tc>
                <a:tc>
                  <a:txBody>
                    <a:bodyPr/>
                    <a:lstStyle/>
                    <a:p>
                      <a:pPr>
                        <a:defRPr sz="1200">
                          <a:solidFill>
                            <a:srgbClr val="1E2124"/>
                          </a:solidFill>
                          <a:latin typeface="Yu Gothic"/>
                        </a:defRPr>
                      </a:pPr>
                      <a:r>
                        <a:t>大手通信キャリア(1社)</a:t>
                      </a:r>
                    </a:p>
                  </a:txBody>
                  <a:tcPr>
                    <a:solidFill>
                      <a:srgbClr val="FFFFFF"/>
                    </a:solidFill>
                  </a:tcPr>
                </a:tc>
                <a:tc>
                  <a:txBody>
                    <a:bodyPr/>
                    <a:lstStyle/>
                    <a:p>
                      <a:pPr>
                        <a:defRPr sz="1200">
                          <a:solidFill>
                            <a:srgbClr val="1E2124"/>
                          </a:solidFill>
                          <a:latin typeface="Yu Gothic"/>
                        </a:defRPr>
                      </a:pPr>
                      <a:r>
                        <a:t>有料顧客として利用中と報じられる</a:t>
                      </a:r>
                    </a:p>
                  </a:txBody>
                  <a:tcPr>
                    <a:solidFill>
                      <a:srgbClr val="FFFFFF"/>
                    </a:solidFill>
                  </a:tcPr>
                </a:tc>
              </a:tr>
              <a:tr h="502920">
                <a:tc>
                  <a:txBody>
                    <a:bodyPr/>
                    <a:lstStyle/>
                    <a:p>
                      <a:pPr>
                        <a:defRPr sz="1200">
                          <a:solidFill>
                            <a:srgbClr val="1E2124"/>
                          </a:solidFill>
                          <a:latin typeface="Yu Gothic"/>
                        </a:defRPr>
                      </a:pPr>
                      <a:r>
                        <a:t>フィリピン</a:t>
                      </a:r>
                    </a:p>
                  </a:txBody>
                  <a:tcPr>
                    <a:solidFill>
                      <a:srgbClr val="F7F4EF"/>
                    </a:solidFill>
                  </a:tcPr>
                </a:tc>
                <a:tc>
                  <a:txBody>
                    <a:bodyPr/>
                    <a:lstStyle/>
                    <a:p>
                      <a:pPr>
                        <a:defRPr sz="1200">
                          <a:solidFill>
                            <a:srgbClr val="1E2124"/>
                          </a:solidFill>
                          <a:latin typeface="Yu Gothic"/>
                        </a:defRPr>
                      </a:pPr>
                      <a:r>
                        <a:t>主要医療機関(複数)</a:t>
                      </a:r>
                    </a:p>
                  </a:txBody>
                  <a:tcPr>
                    <a:solidFill>
                      <a:srgbClr val="F7F4EF"/>
                    </a:solidFill>
                  </a:tcPr>
                </a:tc>
                <a:tc>
                  <a:txBody>
                    <a:bodyPr/>
                    <a:lstStyle/>
                    <a:p>
                      <a:pPr>
                        <a:defRPr sz="1200">
                          <a:solidFill>
                            <a:srgbClr val="1E2124"/>
                          </a:solidFill>
                          <a:latin typeface="Yu Gothic"/>
                        </a:defRPr>
                      </a:pPr>
                      <a:r>
                        <a:t>有料顧客として利用中と報じられる</a:t>
                      </a:r>
                    </a:p>
                  </a:txBody>
                  <a:tcPr>
                    <a:solidFill>
                      <a:srgbClr val="F7F4EF"/>
                    </a:solidFill>
                  </a:tcPr>
                </a:tc>
              </a:tr>
              <a:tr h="502920">
                <a:tc>
                  <a:txBody>
                    <a:bodyPr/>
                    <a:lstStyle/>
                    <a:p>
                      <a:pPr>
                        <a:defRPr sz="1200">
                          <a:solidFill>
                            <a:srgbClr val="1E2124"/>
                          </a:solidFill>
                          <a:latin typeface="Yu Gothic"/>
                        </a:defRPr>
                      </a:pPr>
                      <a:r>
                        <a:t>韓国国内</a:t>
                      </a:r>
                    </a:p>
                  </a:txBody>
                  <a:tcPr>
                    <a:solidFill>
                      <a:srgbClr val="FFFFFF"/>
                    </a:solidFill>
                  </a:tcPr>
                </a:tc>
                <a:tc>
                  <a:txBody>
                    <a:bodyPr/>
                    <a:lstStyle/>
                    <a:p>
                      <a:pPr>
                        <a:defRPr sz="1200">
                          <a:solidFill>
                            <a:srgbClr val="1E2124"/>
                          </a:solidFill>
                          <a:latin typeface="Yu Gothic"/>
                        </a:defRPr>
                      </a:pPr>
                      <a:r>
                        <a:t>DentalCallの主戦場と位置付けられる歯科医院</a:t>
                      </a:r>
                    </a:p>
                  </a:txBody>
                  <a:tcPr>
                    <a:solidFill>
                      <a:srgbClr val="FFFFFF"/>
                    </a:solidFill>
                  </a:tcPr>
                </a:tc>
                <a:tc>
                  <a:txBody>
                    <a:bodyPr/>
                    <a:lstStyle/>
                    <a:p>
                      <a:pPr>
                        <a:defRPr sz="1200">
                          <a:solidFill>
                            <a:srgbClr val="1E2124"/>
                          </a:solidFill>
                          <a:latin typeface="Yu Gothic"/>
                        </a:defRPr>
                      </a:pPr>
                      <a:r>
                        <a:t>具体的な導入クリニック数は本調査の範囲では確認できていない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WOWTALE(2026-08-14)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なぜ歯科医院の電話対応が課題になりやすいのか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業界で一般的に指摘される背景を整理します(特定の出典データではなく、当社による一般的な整理です)。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歯科医院は診療中、スタッフが電話対応に人手を割きにくいと一般的に言われる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診療時間外の予約・キャンセル連絡を受けられないと、機会損失につながりうる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リコールの電話案内は手間がかかり、後回しになりやすい業務とされる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一般的に指摘される業務課題(当社整理、特定の出典なし)</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AI電話エージェント導入を検討する際の注意点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特定製品の推奨ではなく、一般的な留意点として整理します。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AIが対応できる範囲(予約・問い合わせ等)と、人による対応が必要な範囲の切り分け</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既存の予約管理システムとの連携方法・データの取り扱い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AI対応で患者の信頼・満足度がどう変わるか、事前の説明・同意の設計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クリニック経営者として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電話対応の負荷軽減という切り口に関心があれば、機能範囲や国内実績を個別に確認する視点を持つ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医療AI導入を検討する立場として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『代替』ではなく『電話応対の自動化』という限定的な範囲で報じられている点を踏まえて評価する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投資・スタートアップ動向を追う立場として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金額非公開のラウンドである点、海外先行の顧客獲得という特徴を踏まえて注目する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大型の資金調達が行われた</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歯科医院の受付が完全に自動化される</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評価額を含め調達条件が詳細に明らかになっている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調達金額は非公開で、規模の大小は判断できない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報じられている機能は電話応対・予約・リコール等が中心</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評価額・創業時期・過去の調達履歴は報じられていない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同時期の別会社との混同に注意</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紛らわしい同時期のニュースにも触れておきます。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 Angel Clubは同時期、別の韓国ヘルスケアAIスタートアップ『Salm Clinic』のシードラウンドにも参加しているが、Medicallとは別会社・別ラウンドである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『Allconnec』という韓国のAI歯科プラットフォーム企業も同クラブから出資を受けているが、これもMedicall/DentalCallとは別会社・別製品である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本資料の数字・事実は、すべてMedicall/DentalCallに関するものに限定して整理している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Dealroom.co(Salm Clinic・Allconnecの各news note)</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確認できていないこと(1)</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調達金額の具体的な数字(非公開)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評価額</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Medicallの創業時期・正社員数・過去の調達履歴</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状況</a:t>
                      </a:r>
                    </a:p>
                  </a:txBody>
                  <a:tcPr>
                    <a:solidFill>
                      <a:srgbClr val="3A4750"/>
                    </a:solidFill>
                  </a:tcPr>
                </a:tc>
              </a:tr>
              <a:tr h="502920">
                <a:tc>
                  <a:txBody>
                    <a:bodyPr/>
                    <a:lstStyle/>
                    <a:p>
                      <a:pPr>
                        <a:defRPr sz="1200">
                          <a:solidFill>
                            <a:srgbClr val="1E2124"/>
                          </a:solidFill>
                          <a:latin typeface="Yu Gothic"/>
                        </a:defRPr>
                      </a:pPr>
                      <a:r>
                        <a:t>調達金額</a:t>
                      </a:r>
                    </a:p>
                  </a:txBody>
                  <a:tcPr>
                    <a:solidFill>
                      <a:srgbClr val="FFFFFF"/>
                    </a:solidFill>
                  </a:tcPr>
                </a:tc>
                <a:tc>
                  <a:txBody>
                    <a:bodyPr/>
                    <a:lstStyle/>
                    <a:p>
                      <a:pPr>
                        <a:defRPr sz="1200">
                          <a:solidFill>
                            <a:srgbClr val="1E2124"/>
                          </a:solidFill>
                          <a:latin typeface="Yu Gothic"/>
                        </a:defRPr>
                      </a:pPr>
                      <a:r>
                        <a:t>非公開。本資料では架空の数字を一切使用していない</a:t>
                      </a:r>
                    </a:p>
                  </a:txBody>
                  <a:tcPr>
                    <a:solidFill>
                      <a:srgbClr val="FFFFFF"/>
                    </a:solidFill>
                  </a:tcPr>
                </a:tc>
              </a:tr>
              <a:tr h="502920">
                <a:tc>
                  <a:txBody>
                    <a:bodyPr/>
                    <a:lstStyle/>
                    <a:p>
                      <a:pPr>
                        <a:defRPr sz="1200">
                          <a:solidFill>
                            <a:srgbClr val="1E2124"/>
                          </a:solidFill>
                          <a:latin typeface="Yu Gothic"/>
                        </a:defRPr>
                      </a:pPr>
                      <a:r>
                        <a:t>評価額</a:t>
                      </a:r>
                    </a:p>
                  </a:txBody>
                  <a:tcPr>
                    <a:solidFill>
                      <a:srgbClr val="F7F4EF"/>
                    </a:solidFill>
                  </a:tcPr>
                </a:tc>
                <a:tc>
                  <a:txBody>
                    <a:bodyPr/>
                    <a:lstStyle/>
                    <a:p>
                      <a:pPr>
                        <a:defRPr sz="1200">
                          <a:solidFill>
                            <a:srgbClr val="1E2124"/>
                          </a:solidFill>
                          <a:latin typeface="Yu Gothic"/>
                        </a:defRPr>
                      </a:pPr>
                      <a:r>
                        <a:t>報道されておらず不明。言及・推測もしていない</a:t>
                      </a:r>
                    </a:p>
                  </a:txBody>
                  <a:tcPr>
                    <a:solidFill>
                      <a:srgbClr val="F7F4EF"/>
                    </a:solidFill>
                  </a:tcPr>
                </a:tc>
              </a:tr>
              <a:tr h="502920">
                <a:tc>
                  <a:txBody>
                    <a:bodyPr/>
                    <a:lstStyle/>
                    <a:p>
                      <a:pPr>
                        <a:defRPr sz="1200">
                          <a:solidFill>
                            <a:srgbClr val="1E2124"/>
                          </a:solidFill>
                          <a:latin typeface="Yu Gothic"/>
                        </a:defRPr>
                      </a:pPr>
                      <a:r>
                        <a:t>創業時期・正社員数・過去の調達履歴</a:t>
                      </a:r>
                    </a:p>
                  </a:txBody>
                  <a:tcPr>
                    <a:solidFill>
                      <a:srgbClr val="FFFFFF"/>
                    </a:solidFill>
                  </a:tcPr>
                </a:tc>
                <a:tc>
                  <a:txBody>
                    <a:bodyPr/>
                    <a:lstStyle/>
                    <a:p>
                      <a:pPr>
                        <a:defRPr sz="1200">
                          <a:solidFill>
                            <a:srgbClr val="1E2124"/>
                          </a:solidFill>
                          <a:latin typeface="Yu Gothic"/>
                        </a:defRPr>
                      </a:pPr>
                      <a:r>
                        <a:t>いずれの情報源でも確認できていない</a:t>
                      </a:r>
                    </a:p>
                  </a:txBody>
                  <a:tcPr>
                    <a:solidFill>
                      <a:srgbClr val="FFFFFF"/>
                    </a:solidFill>
                  </a:tcPr>
                </a:tc>
              </a:tr>
              <a:tr h="502920">
                <a:tc>
                  <a:txBody>
                    <a:bodyPr/>
                    <a:lstStyle/>
                    <a:p>
                      <a:pPr>
                        <a:defRPr sz="1200">
                          <a:solidFill>
                            <a:srgbClr val="1E2124"/>
                          </a:solidFill>
                          <a:latin typeface="Yu Gothic"/>
                        </a:defRPr>
                      </a:pPr>
                      <a:r>
                        <a:t>競合他社との定量比較</a:t>
                      </a:r>
                    </a:p>
                  </a:txBody>
                  <a:tcPr>
                    <a:solidFill>
                      <a:srgbClr val="F7F4EF"/>
                    </a:solidFill>
                  </a:tcPr>
                </a:tc>
                <a:tc>
                  <a:txBody>
                    <a:bodyPr/>
                    <a:lstStyle/>
                    <a:p>
                      <a:pPr>
                        <a:defRPr sz="1200">
                          <a:solidFill>
                            <a:srgbClr val="1E2124"/>
                          </a:solidFill>
                          <a:latin typeface="Yu Gothic"/>
                        </a:defRPr>
                      </a:pPr>
                      <a:r>
                        <a:t>本リサーチの範囲内では確認できていない</a:t>
                      </a:r>
                    </a:p>
                  </a:txBody>
                  <a:tcPr>
                    <a:solidFill>
                      <a:srgbClr val="F7F4EF"/>
                    </a:solidFill>
                  </a:tcPr>
                </a:tc>
              </a:tr>
              <a:tr h="502920">
                <a:tc>
                  <a:txBody>
                    <a:bodyPr/>
                    <a:lstStyle/>
                    <a:p>
                      <a:pPr>
                        <a:defRPr sz="1200">
                          <a:solidFill>
                            <a:srgbClr val="1E2124"/>
                          </a:solidFill>
                          <a:latin typeface="Yu Gothic"/>
                        </a:defRPr>
                      </a:pPr>
                      <a:r>
                        <a:t>韓国国内の導入クリニック数</a:t>
                      </a:r>
                    </a:p>
                  </a:txBody>
                  <a:tcPr>
                    <a:solidFill>
                      <a:srgbClr val="FFFFFF"/>
                    </a:solidFill>
                  </a:tcPr>
                </a:tc>
                <a:tc>
                  <a:txBody>
                    <a:bodyPr/>
                    <a:lstStyle/>
                    <a:p>
                      <a:pPr>
                        <a:defRPr sz="1200">
                          <a:solidFill>
                            <a:srgbClr val="1E2124"/>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DentalCallの受電対応・アウトバウンド患者管理の機能内容、投資家4社の名前、資金使途はWOWTALE・Dealroom.coが一致して報じている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タイの通信キャリア・フィリピンの医療機関が有料顧客として利用しているという点も報じられている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歯科医院の電話対応の負荷が高いという一般的な業界課題(当社の整理)</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調達金額・評価額・創業時期・韓国国内の導入クリニック数</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調達金額は一貫して『非公開』と明記し、架空の数字を書いていない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Medicall・DentalCall・歯科AI電話エージェント全般への政治的評価(良い/悪いの判断)は行わない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特定企業・製品の利用を強く推奨する結論にはしない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同時期の別会社(Salm Clinic・Allconnec)と数字を混同しないよう明示している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WOWTALE・Dealroom.coの報道はいずれも2026年8月14日。着手日(2026年8月16日)を含めて2日以内という基準を満たす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日付</a:t>
                      </a:r>
                    </a:p>
                  </a:txBody>
                  <a:tcPr>
                    <a:solidFill>
                      <a:srgbClr val="3A4750"/>
                    </a:solidFill>
                  </a:tcPr>
                </a:tc>
              </a:tr>
              <a:tr h="502920">
                <a:tc>
                  <a:txBody>
                    <a:bodyPr/>
                    <a:lstStyle/>
                    <a:p>
                      <a:pPr>
                        <a:defRPr sz="1200">
                          <a:solidFill>
                            <a:srgbClr val="1E2124"/>
                          </a:solidFill>
                          <a:latin typeface="Yu Gothic"/>
                        </a:defRPr>
                      </a:pPr>
                      <a:r>
                        <a:t>WOWTALE(en.wowtale.net)</a:t>
                      </a:r>
                    </a:p>
                  </a:txBody>
                  <a:tcPr>
                    <a:solidFill>
                      <a:srgbClr val="FFFFFF"/>
                    </a:solidFill>
                  </a:tcPr>
                </a:tc>
                <a:tc>
                  <a:txBody>
                    <a:bodyPr/>
                    <a:lstStyle/>
                    <a:p>
                      <a:pPr>
                        <a:defRPr sz="1200">
                          <a:solidFill>
                            <a:srgbClr val="1E2124"/>
                          </a:solidFill>
                          <a:latin typeface="Yu Gothic"/>
                        </a:defRPr>
                      </a:pPr>
                      <a:r>
                        <a:t>2026-08-14(週刊まとめは2026-08-15)</a:t>
                      </a:r>
                    </a:p>
                  </a:txBody>
                  <a:tcPr>
                    <a:solidFill>
                      <a:srgbClr val="FFFFFF"/>
                    </a:solidFill>
                  </a:tcPr>
                </a:tc>
              </a:tr>
              <a:tr h="502920">
                <a:tc>
                  <a:txBody>
                    <a:bodyPr/>
                    <a:lstStyle/>
                    <a:p>
                      <a:pPr>
                        <a:defRPr sz="1200">
                          <a:solidFill>
                            <a:srgbClr val="1E2124"/>
                          </a:solidFill>
                          <a:latin typeface="Yu Gothic"/>
                        </a:defRPr>
                      </a:pPr>
                      <a:r>
                        <a:t>Dealroom.co news note</a:t>
                      </a:r>
                    </a:p>
                  </a:txBody>
                  <a:tcPr>
                    <a:solidFill>
                      <a:srgbClr val="F7F4EF"/>
                    </a:solidFill>
                  </a:tcPr>
                </a:tc>
                <a:tc>
                  <a:txBody>
                    <a:bodyPr/>
                    <a:lstStyle/>
                    <a:p>
                      <a:pPr>
                        <a:defRPr sz="1200">
                          <a:solidFill>
                            <a:srgbClr val="1E2124"/>
                          </a:solidFill>
                          <a:latin typeface="Yu Gothic"/>
                        </a:defRPr>
                      </a:pPr>
                      <a:r>
                        <a:t>2026-08-14</a:t>
                      </a:r>
                    </a:p>
                  </a:txBody>
                  <a:tcPr>
                    <a:solidFill>
                      <a:srgbClr val="F7F4EF"/>
                    </a:solidFill>
                  </a:tcPr>
                </a:tc>
              </a:tr>
              <a:tr h="502920">
                <a:tc>
                  <a:txBody>
                    <a:bodyPr/>
                    <a:lstStyle/>
                    <a:p>
                      <a:pPr>
                        <a:defRPr sz="1200">
                          <a:solidFill>
                            <a:srgbClr val="1E2124"/>
                          </a:solidFill>
                          <a:latin typeface="Yu Gothic"/>
                        </a:defRPr>
                      </a:pPr>
                      <a:r>
                        <a:t>AI Market Watch funding category</a:t>
                      </a:r>
                    </a:p>
                  </a:txBody>
                  <a:tcPr>
                    <a:solidFill>
                      <a:srgbClr val="FFFFFF"/>
                    </a:solidFill>
                  </a:tcPr>
                </a:tc>
                <a:tc>
                  <a:txBody>
                    <a:bodyPr/>
                    <a:lstStyle/>
                    <a:p>
                      <a:pPr>
                        <a:defRPr sz="1200">
                          <a:solidFill>
                            <a:srgbClr val="1E2124"/>
                          </a:solidFill>
                          <a:latin typeface="Yu Gothic"/>
                        </a:defRPr>
                      </a:pPr>
                      <a:r>
                        <a:t>参照(オーケストレーター提供の確認済み情報源)</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WOWTALE・Dealroom.co(2026-08-14)｜round137・本日1本目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歯科医院の電話にAIが出る未来は、金額非公開のまま、静かに動き出している。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特定企業への評価ではなく、事実関係の整理として、今後も出典付きで追いたいポイントです。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