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2026年8月10日、Amazon傘下のZooxが、ラスベガスで専用設計の自動運転車による有料配車サービスを開始しました。ハンドルもブレーキペダルも持たない車が、米国で初めて乗客から運賃を徴収する日です。今日はこの発表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Zooxは本日、ラスベガスで有料配車サービスを開始しました。ハンドル・ペダルを持たない専用設計車が乗客から運賃を取るのは、米国で今回が初めてです。運賃はUberXの上位帯より2〜4割ほど高い水準に設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なぜ今このニュースを扱うのか。本日まさに開始した出来事であり、鮮度基準を完全に満たしています。複数の独立したメディアが同じ内容を報じている点も採用理由です。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複数の独立したメディアが同じ内容を報じています。TechCrunch・CNBCという一次報道に加え、地元紙・地元局も同じ開始日・料金水準を確認しています。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『米国初』が何を指すのか、詳しく見ます。人間用の運転操作系を一切持たない専用設計車が、実際に乗客からお金を取るのは、これが米国で初めての出来事です。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時系列を確認します。7月末に規制上の許可が出て、8月5日に開始予告が報じられ、そして本日、実際にサービスが始まりました。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ここで用語を整理します。ロボタクシーは運転手のいらない配車サービスの通称です。Zoox車両は最初から自動運転専用に設計されており、前後の区別がない対称な形をしています。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車両の特徴は主に3つです。ハンドル・ペダルがない、前後対称で双方向に走れる、そしてAmazon傘下企業が開発した専用車両であることです。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料金の仕組みを見ます。基本料金に距離と時間を加えて算出され、想定より長いルートでも追加料金は発生しません。ただし空港や大型イベント会場では追加料金がありえます。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料金についてここまでの内容をまとめました。価格帯は分かっていますが、具体的な基本運賃の金額はZooxが公表しておらず、不明です。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無料期間と有料化後を比べます。これまでは試乗という位置づけでしたが、本日から正式に運賃を取る商用サービスへ切り替わりました。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予約方法を確認します。今すぐ使えるのはZoox自社アプリです。Uberアプリでの連携は年内予定とされていますが、具体的な開始日はまだ分かっていません。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Uber連携の背景です。2026年3月に提携が発表され、ラスベガスに続きロサンゼルスへの拡大も報じられています。ただし具体的な開始日はまだ確認できていません。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有料化を可能にした前提を振り返ります。7月末にNHTSAが出した適用除外がなければ、そもそもハンドルのない車が運賃を取ることはできませんでした。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既存テーマとの関係を整理します。前回は規制上の許可を扱いましたが、本テーマはその許可を使って実際に商用サービスが始まったという、別の出来事です。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図にするとこうなります。規制上の許可があって、約1週間の準備を経て、本日実際にサービスが始まりました。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ここで確認できなかったことを一覧にします。基本運賃の金額、車両台数、Uber連携の日程、他都市展開、いずれも本調査の範囲では確定できませんでした。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ここからは実践的な視点です。ラスベガスを訪れる人にとっては、配車の選択肢が一つ増え、予約前に運賃を確認できる点がポイントです。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業界にとっての意味も見ておきます。先行するWaymoとの比較軸が増えたこと、規制の実運用例になったこと、Amazonの投資が収益化段階に入ったことが挙げられます。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実践的な視点として、対象エリアの確認、運賃の比較、追加料金の確認、そして最新情報を公式で確認することをおすすめします。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ここで一度、本テーマの扱い方についてお伝えします。見出しは注目を集める表現ですが、本文は事実に基づき、特定企業の推奨や安全性の断定はしていません。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ここまでの内容を仕様早見表としてまとめました。詳細はresearch.mdをご確認ください。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運賃の水準をもう一度確認します。UberXの標準運賃より2〜4割ほど高い、コンフォート帯の価格設定です。具体的な基本運賃の金額は非公表です。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本日を境に変わったことを整理します。試乗から商用サービスへ、投資から収益化へ、規制の許可から実際の運用へという3つの変化です。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最後にもう一度確認します。本日、Zooxはハンドルのない専用設計車で米国初の有料配車をラスベガスで開始しました。基本運賃や車両台数などの詳細は非公表であり、その旨を正直にお伝えしています。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本編は以上です。今回はZooxがラスベガスで開始した有料ロボタクシーサービスをお伝えしました。非公開の情報は不明として扱い、推測部分は推測と明記しています。次回もまた出典付きでお届けします。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本日、米国で初めて</a:t>
            </a:r>
          </a:p>
          <a:p>
            <a:pPr algn="l">
              <a:lnSpc>
                <a:spcPct val="115000"/>
              </a:lnSpc>
            </a:pPr>
            <a:r>
              <a:rPr sz="4200" b="1">
                <a:solidFill>
                  <a:srgbClr val="FFFFFF"/>
                </a:solidFill>
                <a:latin typeface="Yu Gothic"/>
              </a:rPr>
              <a:t>『ハンドルのない車』が、</a:t>
            </a:r>
          </a:p>
          <a:p>
            <a:pPr algn="l">
              <a:lnSpc>
                <a:spcPct val="115000"/>
              </a:lnSpc>
            </a:pPr>
            <a:r>
              <a:rPr sz="4200" b="1">
                <a:solidFill>
                  <a:srgbClr val="FFFFFF"/>
                </a:solidFill>
                <a:latin typeface="Yu Gothic"/>
              </a:rPr>
              <a:t>お金を取り始めた。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Amazon傘下Zoox、ラスベガスで専用設計ロボタクシーの有料サービスを2026年8月10日に開始。運賃はUberXの『コンフォート』帯より約20〜40%高い水準——ハンドル・ペダルを持たない車が、米国で初めて乗客から運賃を徴収した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TechCrunch(2026-08-05)、CNBC(2026-08-05)ほか。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米国初、ハンドルなし車が運賃を徴収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Amazon傘下Zoox、2026年8月10日よりラスベガスで有料サービス開始。運賃はUberXコンフォート帯より約20〜40%高い水準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TechCrunch(2026-08-05)ほか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何が起きたのか(『米国初』の意味)</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料金の仕組みと水準(具体的なドル額は非公表)</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車両の特徴、予約方法とUber連携の計画</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7月末のNHTSA適用除外との関係、既存テーマとの違い</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確認できなかったこと、読み解く上での注意点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本日2026年8月10日に実際に開始した、着手日当日の事象。鮮度基準(2日以内)を例外なく完全に満たす</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CNBC・TechCrunchという一次報道に加え、Las Vegas Sun・KTNV・TechTimes等、独立した複数メディアが同一の開始日・料金水準を報じている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『ハンドルのない車が、初めて運賃を取った』という象徴的な出来事で、意外性が高い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既存テーマ(規制上の適用除外取得)とは異なる、実際の商用サービス開始という別の具体的な事象</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research/2026-08-10_theme-evaluation-round91.md</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確認できる内容</a:t>
                      </a:r>
                    </a:p>
                  </a:txBody>
                  <a:tcPr>
                    <a:solidFill>
                      <a:srgbClr val="2B3A55"/>
                    </a:solidFill>
                  </a:tcPr>
                </a:tc>
              </a:tr>
              <a:tr h="502920">
                <a:tc>
                  <a:txBody>
                    <a:bodyPr/>
                    <a:lstStyle/>
                    <a:p>
                      <a:pPr>
                        <a:defRPr sz="1200">
                          <a:solidFill>
                            <a:srgbClr val="1C2230"/>
                          </a:solidFill>
                          <a:latin typeface="Yu Gothic"/>
                        </a:defRPr>
                      </a:pPr>
                      <a:r>
                        <a:t>TechCrunch(2026-08-05)</a:t>
                      </a:r>
                    </a:p>
                  </a:txBody>
                  <a:tcPr>
                    <a:solidFill>
                      <a:srgbClr val="FFFFFF"/>
                    </a:solidFill>
                  </a:tcPr>
                </a:tc>
                <a:tc>
                  <a:txBody>
                    <a:bodyPr/>
                    <a:lstStyle/>
                    <a:p>
                      <a:pPr>
                        <a:defRPr sz="1200">
                          <a:solidFill>
                            <a:srgbClr val="1C2230"/>
                          </a:solidFill>
                          <a:latin typeface="Yu Gothic"/>
                        </a:defRPr>
                      </a:pPr>
                      <a:r>
                        <a:t>開始日・料金水準・予約方法を詳しく報じる予告記事</a:t>
                      </a:r>
                    </a:p>
                  </a:txBody>
                  <a:tcPr>
                    <a:solidFill>
                      <a:srgbClr val="FFFFFF"/>
                    </a:solidFill>
                  </a:tcPr>
                </a:tc>
              </a:tr>
              <a:tr h="502920">
                <a:tc>
                  <a:txBody>
                    <a:bodyPr/>
                    <a:lstStyle/>
                    <a:p>
                      <a:pPr>
                        <a:defRPr sz="1200">
                          <a:solidFill>
                            <a:srgbClr val="1C2230"/>
                          </a:solidFill>
                          <a:latin typeface="Yu Gothic"/>
                        </a:defRPr>
                      </a:pPr>
                      <a:r>
                        <a:t>CNBC(2026-08-05)</a:t>
                      </a:r>
                    </a:p>
                  </a:txBody>
                  <a:tcPr>
                    <a:solidFill>
                      <a:srgbClr val="F1F5FA"/>
                    </a:solidFill>
                  </a:tcPr>
                </a:tc>
                <a:tc>
                  <a:txBody>
                    <a:bodyPr/>
                    <a:lstStyle/>
                    <a:p>
                      <a:pPr>
                        <a:defRPr sz="1200">
                          <a:solidFill>
                            <a:srgbClr val="1C2230"/>
                          </a:solidFill>
                          <a:latin typeface="Yu Gothic"/>
                        </a:defRPr>
                      </a:pPr>
                      <a:r>
                        <a:t>同内容を報じる一次報道</a:t>
                      </a:r>
                    </a:p>
                  </a:txBody>
                  <a:tcPr>
                    <a:solidFill>
                      <a:srgbClr val="F1F5FA"/>
                    </a:solidFill>
                  </a:tcPr>
                </a:tc>
              </a:tr>
              <a:tr h="502920">
                <a:tc>
                  <a:txBody>
                    <a:bodyPr/>
                    <a:lstStyle/>
                    <a:p>
                      <a:pPr>
                        <a:defRPr sz="1200">
                          <a:solidFill>
                            <a:srgbClr val="1C2230"/>
                          </a:solidFill>
                          <a:latin typeface="Yu Gothic"/>
                        </a:defRPr>
                      </a:pPr>
                      <a:r>
                        <a:t>Las Vegas Sun(2026-08-06)</a:t>
                      </a:r>
                    </a:p>
                  </a:txBody>
                  <a:tcPr>
                    <a:solidFill>
                      <a:srgbClr val="FFFFFF"/>
                    </a:solidFill>
                  </a:tcPr>
                </a:tc>
                <a:tc>
                  <a:txBody>
                    <a:bodyPr/>
                    <a:lstStyle/>
                    <a:p>
                      <a:pPr>
                        <a:defRPr sz="1200">
                          <a:solidFill>
                            <a:srgbClr val="1C2230"/>
                          </a:solidFill>
                          <a:latin typeface="Yu Gothic"/>
                        </a:defRPr>
                      </a:pPr>
                      <a:r>
                        <a:t>地元紙による有料化の続報</a:t>
                      </a:r>
                    </a:p>
                  </a:txBody>
                  <a:tcPr>
                    <a:solidFill>
                      <a:srgbClr val="FFFFFF"/>
                    </a:solidFill>
                  </a:tcPr>
                </a:tc>
              </a:tr>
              <a:tr h="502920">
                <a:tc>
                  <a:txBody>
                    <a:bodyPr/>
                    <a:lstStyle/>
                    <a:p>
                      <a:pPr>
                        <a:defRPr sz="1200">
                          <a:solidFill>
                            <a:srgbClr val="1C2230"/>
                          </a:solidFill>
                          <a:latin typeface="Yu Gothic"/>
                        </a:defRPr>
                      </a:pPr>
                      <a:r>
                        <a:t>KTNV / TechTimes</a:t>
                      </a:r>
                    </a:p>
                  </a:txBody>
                  <a:tcPr>
                    <a:solidFill>
                      <a:srgbClr val="F1F5FA"/>
                    </a:solidFill>
                  </a:tcPr>
                </a:tc>
                <a:tc>
                  <a:txBody>
                    <a:bodyPr/>
                    <a:lstStyle/>
                    <a:p>
                      <a:pPr>
                        <a:defRPr sz="1200">
                          <a:solidFill>
                            <a:srgbClr val="1C2230"/>
                          </a:solidFill>
                          <a:latin typeface="Yu Gothic"/>
                        </a:defRPr>
                      </a:pPr>
                      <a:r>
                        <a:t>地元局・専門メディアによる裏付け報道</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『米国初』とは何を指すのか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ハンドル・ブレーキペダルを持たない専用設計の自動運転車が、米国で乗客から運賃を徴収するのは今回が初めて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TechCrunch(2026-08-05)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規制上の許可から、本日の開始までの時系列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2026年7月31日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NHTSAがZooxに人間用運転操作系の適用除外を許可(前提条件、既存テーマ)</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2026年8月5日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CNBC・TechCrunchが『8月10日から有料化』と予告報道</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2026年8月10日(本日)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ラスベガスで実際に有料サービスを開始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規制上の許可から、実際の商用開始までの流れ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各社報道より作成</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用語解説: そもそも『ロボタクシー』『専用設計車』とは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『ロボタクシー』は、運転手を必要としない自動運転車による配車サービスの通称</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Zooxの車両は『専用設計(purpose-built)』——既存の乗用車を改造したものではなく、最初から自動運転専用に設計された車両</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『双方向対称(bidirectional)』とは、前後どちらの向きにも同じ形で走行できる、Zoox車両特有の構造</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Zooxは2020年にAmazonが買収した自動運転企業</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TechCrunch(2026-08-05)経由</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車両の特徴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ハンドル・ペダルなし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人間用の運転操作系を一切持たない設計</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双方向対称デザイン</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前後の区別がなく、どちらの向きにも走行できる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Amazon傘下Zoox開発</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2020年にAmazonが買収した自動運転企業の専用車両</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TechCrunch(2026-08-05)</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料金の仕組み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仕組み</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基本料金+距離+時間</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移動距離・移動時間から運賃を算出</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保証</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長距離走行でも追加なし</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予定より長いルートでも乗客の負担は増えない保証付き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目的地により追加料金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空港送迎やSphere・T-Mobile Arena等の高需要イベント時は追加料金が発生しうる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TechCrunch(2026-08-05)</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料金まとめ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価格帯</a:t>
                      </a:r>
                    </a:p>
                  </a:txBody>
                  <a:tcPr>
                    <a:solidFill>
                      <a:srgbClr val="FFFFFF"/>
                    </a:solidFill>
                  </a:tcPr>
                </a:tc>
                <a:tc>
                  <a:txBody>
                    <a:bodyPr/>
                    <a:lstStyle/>
                    <a:p>
                      <a:pPr>
                        <a:defRPr sz="1200">
                          <a:solidFill>
                            <a:srgbClr val="1C2230"/>
                          </a:solidFill>
                          <a:latin typeface="Yu Gothic"/>
                        </a:defRPr>
                      </a:pPr>
                      <a:r>
                        <a:t>UberXの『コンフォート』帯に相当。標準運賃より約20〜40%高い</a:t>
                      </a:r>
                    </a:p>
                  </a:txBody>
                  <a:tcPr>
                    <a:solidFill>
                      <a:srgbClr val="FFFFFF"/>
                    </a:solidFill>
                  </a:tcPr>
                </a:tc>
              </a:tr>
              <a:tr h="502920">
                <a:tc>
                  <a:txBody>
                    <a:bodyPr/>
                    <a:lstStyle/>
                    <a:p>
                      <a:pPr>
                        <a:defRPr sz="1200">
                          <a:solidFill>
                            <a:srgbClr val="1C2230"/>
                          </a:solidFill>
                          <a:latin typeface="Yu Gothic"/>
                        </a:defRPr>
                      </a:pPr>
                      <a:r>
                        <a:t>基本運賃の金額</a:t>
                      </a:r>
                    </a:p>
                  </a:txBody>
                  <a:tcPr>
                    <a:solidFill>
                      <a:srgbClr val="F1F5FA"/>
                    </a:solidFill>
                  </a:tcPr>
                </a:tc>
                <a:tc>
                  <a:txBody>
                    <a:bodyPr/>
                    <a:lstStyle/>
                    <a:p>
                      <a:pPr>
                        <a:defRPr sz="1200">
                          <a:solidFill>
                            <a:srgbClr val="1C2230"/>
                          </a:solidFill>
                          <a:latin typeface="Yu Gothic"/>
                        </a:defRPr>
                      </a:pPr>
                      <a:r>
                        <a:t>Zoox非公表(不明)</a:t>
                      </a:r>
                    </a:p>
                  </a:txBody>
                  <a:tcPr>
                    <a:solidFill>
                      <a:srgbClr val="F1F5FA"/>
                    </a:solidFill>
                  </a:tcPr>
                </a:tc>
              </a:tr>
              <a:tr h="502920">
                <a:tc>
                  <a:txBody>
                    <a:bodyPr/>
                    <a:lstStyle/>
                    <a:p>
                      <a:pPr>
                        <a:defRPr sz="1200">
                          <a:solidFill>
                            <a:srgbClr val="1C2230"/>
                          </a:solidFill>
                          <a:latin typeface="Yu Gothic"/>
                        </a:defRPr>
                      </a:pPr>
                      <a:r>
                        <a:t>算出方法</a:t>
                      </a:r>
                    </a:p>
                  </a:txBody>
                  <a:tcPr>
                    <a:solidFill>
                      <a:srgbClr val="FFFFFF"/>
                    </a:solidFill>
                  </a:tcPr>
                </a:tc>
                <a:tc>
                  <a:txBody>
                    <a:bodyPr/>
                    <a:lstStyle/>
                    <a:p>
                      <a:pPr>
                        <a:defRPr sz="1200">
                          <a:solidFill>
                            <a:srgbClr val="1C2230"/>
                          </a:solidFill>
                          <a:latin typeface="Yu Gothic"/>
                        </a:defRPr>
                      </a:pPr>
                      <a:r>
                        <a:t>基本料金+移動距離+移動時間</a:t>
                      </a:r>
                    </a:p>
                  </a:txBody>
                  <a:tcPr>
                    <a:solidFill>
                      <a:srgbClr val="FFFFFF"/>
                    </a:solidFill>
                  </a:tcPr>
                </a:tc>
              </a:tr>
              <a:tr h="502920">
                <a:tc>
                  <a:txBody>
                    <a:bodyPr/>
                    <a:lstStyle/>
                    <a:p>
                      <a:pPr>
                        <a:defRPr sz="1200">
                          <a:solidFill>
                            <a:srgbClr val="1C2230"/>
                          </a:solidFill>
                          <a:latin typeface="Yu Gothic"/>
                        </a:defRPr>
                      </a:pPr>
                      <a:r>
                        <a:t>ルート超過時の保証</a:t>
                      </a:r>
                    </a:p>
                  </a:txBody>
                  <a:tcPr>
                    <a:solidFill>
                      <a:srgbClr val="F1F5FA"/>
                    </a:solidFill>
                  </a:tcPr>
                </a:tc>
                <a:tc>
                  <a:txBody>
                    <a:bodyPr/>
                    <a:lstStyle/>
                    <a:p>
                      <a:pPr>
                        <a:defRPr sz="1200">
                          <a:solidFill>
                            <a:srgbClr val="1C2230"/>
                          </a:solidFill>
                          <a:latin typeface="Yu Gothic"/>
                        </a:defRPr>
                      </a:pPr>
                      <a:r>
                        <a:t>予定より長いルートでも追加料金なし</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TechCrunch(2026-08-05)、CNBC(2026-08-05)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8月9日まで / 8月10日から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8月9日まで(無料期間)</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ラスベガスのストリップ周辺等で無料試乗を提供</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運賃の概念自体が存在しなかった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8月10日から(有料開始)</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UberXコンフォート帯より20〜40%高い運賃を徴収</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Zooxアプリで予約・支払いが完結</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予約方法・アプリ</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予約はどうすればいいのか整理します。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Zoox自社アプリで、既に予約・利用が可能</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Uberアプリとの連携は2026年内(later this year)に計画されている段階で、具体的な開始日は不明</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予約前に、最終的な運賃全額が画面に表示される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Uber連携の計画自体は2026年3月に発表済みで、ラスベガスに続きロサンゼルスへの拡大も報じられている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TechCrunch(2026-08-05)、CNBC(2026-03-11)</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Uber連携の計画(背景)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2026年3月</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提携を発表</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ZooxとUberがラスベガスでの連携配車を計画していると発表</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計画</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ラスベガス→LA</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ラスベガスでの連携開始後、ロサンゼルスへの拡大も報じられている(2027年半ば目標)</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不明</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具体的な開始日</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本日開始した有料サービスとは別に、Uber連携の正式な開始日は本調査の範囲で確認できていない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CNBC(2026-03-11)、TechCrunch(2026-03-11)</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何が有料化を可能にしたか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有料化を可能にした法的な前提を振り返ります。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2026年7月31日、NHTSA(米国運輸省道路交通安全局)がZooxに、人間用運転操作系を求める連邦自動車安全基準の一部から一時的な適用除外を許可</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適用除外は年間最大2,500台、2026年7月31日から2028年7月31日までの2年間有効</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この許可がなければ、ハンドル・ペダルを持たない車両が公道で乗客から運賃を取ることはできなかった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詳細は既存テーマ『2026-08-03_zoox-nhtsa-safety-exemption』を参照</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Federal Register(2026-07-31)、NHTSA公式(既存テーマ経由)</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既存テーマとの関係</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a:t>
                      </a:r>
                    </a:p>
                  </a:txBody>
                  <a:tcPr>
                    <a:solidFill>
                      <a:srgbClr val="2B3A55"/>
                    </a:solidFill>
                  </a:tcPr>
                </a:tc>
                <a:tc>
                  <a:txBody>
                    <a:bodyPr/>
                    <a:lstStyle/>
                    <a:p>
                      <a:pPr>
                        <a:defRPr sz="1300" b="1">
                          <a:solidFill>
                            <a:srgbClr val="FFFFFF"/>
                          </a:solidFill>
                          <a:latin typeface="Yu Gothic"/>
                        </a:defRPr>
                      </a:pPr>
                      <a:r>
                        <a:t>テーマ</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95本目(2026-08-03)</a:t>
                      </a:r>
                    </a:p>
                  </a:txBody>
                  <a:tcPr>
                    <a:solidFill>
                      <a:srgbClr val="FFFFFF"/>
                    </a:solidFill>
                  </a:tcPr>
                </a:tc>
                <a:tc>
                  <a:txBody>
                    <a:bodyPr/>
                    <a:lstStyle/>
                    <a:p>
                      <a:pPr>
                        <a:defRPr sz="1200">
                          <a:solidFill>
                            <a:srgbClr val="1C2230"/>
                          </a:solidFill>
                          <a:latin typeface="Yu Gothic"/>
                        </a:defRPr>
                      </a:pPr>
                      <a:r>
                        <a:t>2026-08-03_zoox-nhtsa-safety-exemption</a:t>
                      </a:r>
                    </a:p>
                  </a:txBody>
                  <a:tcPr>
                    <a:solidFill>
                      <a:srgbClr val="FFFFFF"/>
                    </a:solidFill>
                  </a:tcPr>
                </a:tc>
                <a:tc>
                  <a:txBody>
                    <a:bodyPr/>
                    <a:lstStyle/>
                    <a:p>
                      <a:pPr>
                        <a:defRPr sz="1200">
                          <a:solidFill>
                            <a:srgbClr val="1C2230"/>
                          </a:solidFill>
                          <a:latin typeface="Yu Gothic"/>
                        </a:defRPr>
                      </a:pPr>
                      <a:r>
                        <a:t>NHTSAによる規制上の適用除外取得(前提条件)</a:t>
                      </a:r>
                    </a:p>
                  </a:txBody>
                  <a:tcPr>
                    <a:solidFill>
                      <a:srgbClr val="FFFFFF"/>
                    </a:solidFill>
                  </a:tcPr>
                </a:tc>
              </a:tr>
              <a:tr h="502920">
                <a:tc>
                  <a:txBody>
                    <a:bodyPr/>
                    <a:lstStyle/>
                    <a:p>
                      <a:pPr>
                        <a:defRPr sz="1200">
                          <a:solidFill>
                            <a:srgbClr val="1C2230"/>
                          </a:solidFill>
                          <a:latin typeface="Yu Gothic"/>
                        </a:defRPr>
                      </a:pPr>
                      <a:r>
                        <a:t>153本目(本テーマ)</a:t>
                      </a:r>
                    </a:p>
                  </a:txBody>
                  <a:tcPr>
                    <a:solidFill>
                      <a:srgbClr val="F1F5FA"/>
                    </a:solidFill>
                  </a:tcPr>
                </a:tc>
                <a:tc>
                  <a:txBody>
                    <a:bodyPr/>
                    <a:lstStyle/>
                    <a:p>
                      <a:pPr>
                        <a:defRPr sz="1200">
                          <a:solidFill>
                            <a:srgbClr val="1C2230"/>
                          </a:solidFill>
                          <a:latin typeface="Yu Gothic"/>
                        </a:defRPr>
                      </a:pPr>
                      <a:r>
                        <a:t>2026-08-10_zoox-paid-robotaxi-launch</a:t>
                      </a:r>
                    </a:p>
                  </a:txBody>
                  <a:tcPr>
                    <a:solidFill>
                      <a:srgbClr val="F1F5FA"/>
                    </a:solidFill>
                  </a:tcPr>
                </a:tc>
                <a:tc>
                  <a:txBody>
                    <a:bodyPr/>
                    <a:lstStyle/>
                    <a:p>
                      <a:pPr>
                        <a:defRPr sz="1200">
                          <a:solidFill>
                            <a:srgbClr val="1C2230"/>
                          </a:solidFill>
                          <a:latin typeface="Yu Gothic"/>
                        </a:defRPr>
                      </a:pPr>
                      <a:r>
                        <a:t>実際の商用有料サービス開始(本日)</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各テーマREADME参照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規制上の許可から商用化までの流れ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規制上の許可(95本目)</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2026年7月31日、NHTSAが適用除外を許可</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約1週間の準備期間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料金体系・予約アプリ等の準備</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商用サービス開始(本テーマ)</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2026年8月10日、実際に運賃徴収を開始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規制上の前提条件から、消費者向けサービスの開始までの流れ</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正直に『不明』として扱う項目です。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具体的な基本運賃のドル金額(Zoox非公表)</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有料サービス開始時点でラスベガスに投入されている車両の正確な台数</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Uberアプリ連携の具体的な開始日</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サンフランシスコ等、他都市への有料化拡大の有無・時期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これは利用者にとって何を意味するか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選択肢が一つ増える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ラスベガスでは今後、UberX・Lyftに加えロボタクシーも有料の選択肢になる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価格はコンフォート帯目安</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最安の配車を探している場合は、他の選択肢と比較する余地がある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予約前に運賃を確認できる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最終運賃が予約前に表示されるため、事前確認がしやすい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これは業界にとって何を意味するか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Waymo等との競争の新局面</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米国で先行するWaymoに対し、専用設計車での有料化という新たな比較軸が生まれる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規制の実運用の先例に</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NHTSAの適用除外が、実際の商用化にどうつながるかの具体例になる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Amazonの事業化フェーズ</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買収から数年を経て、実際に収益を生む段階に入ったことを示す一例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実践: 利用を検討する際に確認したいこと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実際に利用を検討する場合の整理です。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サービス対象エリアが、自分の移動ルートをカバーしているかを確認する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予約前に表示される運賃と、他の配車サービスの運賃を比較する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目的地(空港・イベント会場等)で追加料金が発生するかを予約時に確認する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最新情報はZoox公式アプリ・公式サイトで確認する(本記事の情報は2026年8月10日時点)</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誇張回避・特定企業推奨に関する注記</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本テーマの扱い方についてです。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冒頭の見出しは注目を集める表現だが、本文の内容自体は誇張していない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具体的な基本運賃・車両台数・他都市展開など、確認できていない数値は創作せず不明として明記している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本テーマはZoox・Amazon等への言及を含むが、特定企業・製品の利用を強く推奨する結論にはしていない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安全性についての断定的な評価は行わず、NHTSAの適用除外が『安全性を保証するもの』であるとは書いていない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他都市への拡大時期</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サンフランシスコ等、既存の無料試乗都市が有料化されるタイミングが注目される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Uber連携の実際の開始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2026年内とされる計画が、具体的にいつ実現するか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Waymoとの価格競争</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先行するWaymoとの間で、価格・サービスエリアの競争がどう進展するか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具体的な基本運賃の開示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Zooxが正式な基本運賃を公表するかどうか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Uber連携の正式開始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2026年内とされるUberアプリ連携がいつ実現するか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他都市への拡大</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サンフランシスコ等、無料試乗都市の有料化があるかどうか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車両・サービス仕様早見表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提供エリア</a:t>
                      </a:r>
                    </a:p>
                  </a:txBody>
                  <a:tcPr>
                    <a:solidFill>
                      <a:srgbClr val="FFFFFF"/>
                    </a:solidFill>
                  </a:tcPr>
                </a:tc>
                <a:tc>
                  <a:txBody>
                    <a:bodyPr/>
                    <a:lstStyle/>
                    <a:p>
                      <a:pPr>
                        <a:defRPr sz="1200">
                          <a:solidFill>
                            <a:srgbClr val="1C2230"/>
                          </a:solidFill>
                          <a:latin typeface="Yu Gothic"/>
                        </a:defRPr>
                      </a:pPr>
                      <a:r>
                        <a:t>ラスベガス(本日8月10日開始)</a:t>
                      </a:r>
                    </a:p>
                  </a:txBody>
                  <a:tcPr>
                    <a:solidFill>
                      <a:srgbClr val="FFFFFF"/>
                    </a:solidFill>
                  </a:tcPr>
                </a:tc>
              </a:tr>
              <a:tr h="502920">
                <a:tc>
                  <a:txBody>
                    <a:bodyPr/>
                    <a:lstStyle/>
                    <a:p>
                      <a:pPr>
                        <a:defRPr sz="1200">
                          <a:solidFill>
                            <a:srgbClr val="1C2230"/>
                          </a:solidFill>
                          <a:latin typeface="Yu Gothic"/>
                        </a:defRPr>
                      </a:pPr>
                      <a:r>
                        <a:t>車両の特徴</a:t>
                      </a:r>
                    </a:p>
                  </a:txBody>
                  <a:tcPr>
                    <a:solidFill>
                      <a:srgbClr val="F1F5FA"/>
                    </a:solidFill>
                  </a:tcPr>
                </a:tc>
                <a:tc>
                  <a:txBody>
                    <a:bodyPr/>
                    <a:lstStyle/>
                    <a:p>
                      <a:pPr>
                        <a:defRPr sz="1200">
                          <a:solidFill>
                            <a:srgbClr val="1C2230"/>
                          </a:solidFill>
                          <a:latin typeface="Yu Gothic"/>
                        </a:defRPr>
                      </a:pPr>
                      <a:r>
                        <a:t>ハンドル・ペダルなし、双方向対称の専用設計車</a:t>
                      </a:r>
                    </a:p>
                  </a:txBody>
                  <a:tcPr>
                    <a:solidFill>
                      <a:srgbClr val="F1F5FA"/>
                    </a:solidFill>
                  </a:tcPr>
                </a:tc>
              </a:tr>
              <a:tr h="502920">
                <a:tc>
                  <a:txBody>
                    <a:bodyPr/>
                    <a:lstStyle/>
                    <a:p>
                      <a:pPr>
                        <a:defRPr sz="1200">
                          <a:solidFill>
                            <a:srgbClr val="1C2230"/>
                          </a:solidFill>
                          <a:latin typeface="Yu Gothic"/>
                        </a:defRPr>
                      </a:pPr>
                      <a:r>
                        <a:t>運営元</a:t>
                      </a:r>
                    </a:p>
                  </a:txBody>
                  <a:tcPr>
                    <a:solidFill>
                      <a:srgbClr val="FFFFFF"/>
                    </a:solidFill>
                  </a:tcPr>
                </a:tc>
                <a:tc>
                  <a:txBody>
                    <a:bodyPr/>
                    <a:lstStyle/>
                    <a:p>
                      <a:pPr>
                        <a:defRPr sz="1200">
                          <a:solidFill>
                            <a:srgbClr val="1C2230"/>
                          </a:solidFill>
                          <a:latin typeface="Yu Gothic"/>
                        </a:defRPr>
                      </a:pPr>
                      <a:r>
                        <a:t>Amazon傘下Zoox</a:t>
                      </a:r>
                    </a:p>
                  </a:txBody>
                  <a:tcPr>
                    <a:solidFill>
                      <a:srgbClr val="FFFFFF"/>
                    </a:solidFill>
                  </a:tcPr>
                </a:tc>
              </a:tr>
              <a:tr h="502920">
                <a:tc>
                  <a:txBody>
                    <a:bodyPr/>
                    <a:lstStyle/>
                    <a:p>
                      <a:pPr>
                        <a:defRPr sz="1200">
                          <a:solidFill>
                            <a:srgbClr val="1C2230"/>
                          </a:solidFill>
                          <a:latin typeface="Yu Gothic"/>
                        </a:defRPr>
                      </a:pPr>
                      <a:r>
                        <a:t>予約方法</a:t>
                      </a:r>
                    </a:p>
                  </a:txBody>
                  <a:tcPr>
                    <a:solidFill>
                      <a:srgbClr val="F1F5FA"/>
                    </a:solidFill>
                  </a:tcPr>
                </a:tc>
                <a:tc>
                  <a:txBody>
                    <a:bodyPr/>
                    <a:lstStyle/>
                    <a:p>
                      <a:pPr>
                        <a:defRPr sz="1200">
                          <a:solidFill>
                            <a:srgbClr val="1C2230"/>
                          </a:solidFill>
                          <a:latin typeface="Yu Gothic"/>
                        </a:defRPr>
                      </a:pPr>
                      <a:r>
                        <a:t>Zoox自社アプリ(Uber連携は年内予定、開始日不明)</a:t>
                      </a:r>
                    </a:p>
                  </a:txBody>
                  <a:tcPr>
                    <a:solidFill>
                      <a:srgbClr val="F1F5FA"/>
                    </a:solidFill>
                  </a:tcPr>
                </a:tc>
              </a:tr>
              <a:tr h="502920">
                <a:tc>
                  <a:txBody>
                    <a:bodyPr/>
                    <a:lstStyle/>
                    <a:p>
                      <a:pPr>
                        <a:defRPr sz="1200">
                          <a:solidFill>
                            <a:srgbClr val="1C2230"/>
                          </a:solidFill>
                          <a:latin typeface="Yu Gothic"/>
                        </a:defRPr>
                      </a:pPr>
                      <a:r>
                        <a:t>法的根拠</a:t>
                      </a:r>
                    </a:p>
                  </a:txBody>
                  <a:tcPr>
                    <a:solidFill>
                      <a:srgbClr val="FFFFFF"/>
                    </a:solidFill>
                  </a:tcPr>
                </a:tc>
                <a:tc>
                  <a:txBody>
                    <a:bodyPr/>
                    <a:lstStyle/>
                    <a:p>
                      <a:pPr>
                        <a:defRPr sz="1200">
                          <a:solidFill>
                            <a:srgbClr val="1C2230"/>
                          </a:solidFill>
                          <a:latin typeface="Yu Gothic"/>
                        </a:defRPr>
                      </a:pPr>
                      <a:r>
                        <a:t>2026年7月31日付NHTSA適用除外(2028年7月31日まで有効)</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TechCrunch(2026-08-05)、CNBC(2026-08-05)、既存テーマresearch.md</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運賃の水準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20〜40%高</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ZooxのロボタクシーはUberXの標準運賃より約20〜40%高い『コンフォート』帯の価格設定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TechCrunch(2026-08-05)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この日を境に何が変わったか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変化1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無料→有料</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試乗という位置づけから、正式な商用サービスへ</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変化2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体験→事業</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Amazonにとって、投資回収に向けた収益化の第一歩</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変化3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規制→実運用</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NHTSAの適用除外が、実際の消費者向けサービスとして動き出した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2026/8/10 有料化開始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Amazon傘下Zooxが、ハンドル・ペダルなしの専用設計車で米国初の有料配車をラスベガスで開始。具体的な基本運賃・車両台数・他都市展開は非公表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TechCrunch(2026-08-05)ほか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TechCrunch(2026-08-05)</a:t>
                      </a:r>
                    </a:p>
                  </a:txBody>
                  <a:tcPr>
                    <a:solidFill>
                      <a:srgbClr val="FFFFFF"/>
                    </a:solidFill>
                  </a:tcPr>
                </a:tc>
                <a:tc>
                  <a:txBody>
                    <a:bodyPr/>
                    <a:lstStyle/>
                    <a:p>
                      <a:pPr>
                        <a:defRPr sz="1200">
                          <a:solidFill>
                            <a:srgbClr val="1C2230"/>
                          </a:solidFill>
                          <a:latin typeface="Yu Gothic"/>
                        </a:defRPr>
                      </a:pPr>
                      <a:r>
                        <a:t>開始日・料金水準・予約方法を報じる記事</a:t>
                      </a:r>
                    </a:p>
                  </a:txBody>
                  <a:tcPr>
                    <a:solidFill>
                      <a:srgbClr val="FFFFFF"/>
                    </a:solidFill>
                  </a:tcPr>
                </a:tc>
              </a:tr>
              <a:tr h="502920">
                <a:tc>
                  <a:txBody>
                    <a:bodyPr/>
                    <a:lstStyle/>
                    <a:p>
                      <a:pPr>
                        <a:defRPr sz="1200">
                          <a:solidFill>
                            <a:srgbClr val="1C2230"/>
                          </a:solidFill>
                          <a:latin typeface="Yu Gothic"/>
                        </a:defRPr>
                      </a:pPr>
                      <a:r>
                        <a:t>CNBC(2026-08-05)</a:t>
                      </a:r>
                    </a:p>
                  </a:txBody>
                  <a:tcPr>
                    <a:solidFill>
                      <a:srgbClr val="F1F5FA"/>
                    </a:solidFill>
                  </a:tcPr>
                </a:tc>
                <a:tc>
                  <a:txBody>
                    <a:bodyPr/>
                    <a:lstStyle/>
                    <a:p>
                      <a:pPr>
                        <a:defRPr sz="1200">
                          <a:solidFill>
                            <a:srgbClr val="1C2230"/>
                          </a:solidFill>
                          <a:latin typeface="Yu Gothic"/>
                        </a:defRPr>
                      </a:pPr>
                      <a:r>
                        <a:t>同内容を報じる一次報道</a:t>
                      </a:r>
                    </a:p>
                  </a:txBody>
                  <a:tcPr>
                    <a:solidFill>
                      <a:srgbClr val="F1F5FA"/>
                    </a:solidFill>
                  </a:tcPr>
                </a:tc>
              </a:tr>
              <a:tr h="502920">
                <a:tc>
                  <a:txBody>
                    <a:bodyPr/>
                    <a:lstStyle/>
                    <a:p>
                      <a:pPr>
                        <a:defRPr sz="1200">
                          <a:solidFill>
                            <a:srgbClr val="1C2230"/>
                          </a:solidFill>
                          <a:latin typeface="Yu Gothic"/>
                        </a:defRPr>
                      </a:pPr>
                      <a:r>
                        <a:t>Las Vegas Sun(2026-08-06)</a:t>
                      </a:r>
                    </a:p>
                  </a:txBody>
                  <a:tcPr>
                    <a:solidFill>
                      <a:srgbClr val="FFFFFF"/>
                    </a:solidFill>
                  </a:tcPr>
                </a:tc>
                <a:tc>
                  <a:txBody>
                    <a:bodyPr/>
                    <a:lstStyle/>
                    <a:p>
                      <a:pPr>
                        <a:defRPr sz="1200">
                          <a:solidFill>
                            <a:srgbClr val="1C2230"/>
                          </a:solidFill>
                          <a:latin typeface="Yu Gothic"/>
                        </a:defRPr>
                      </a:pPr>
                      <a:r>
                        <a:t>地元紙による続報</a:t>
                      </a:r>
                    </a:p>
                  </a:txBody>
                  <a:tcPr>
                    <a:solidFill>
                      <a:srgbClr val="FFFFFF"/>
                    </a:solidFill>
                  </a:tcPr>
                </a:tc>
              </a:tr>
              <a:tr h="502920">
                <a:tc>
                  <a:txBody>
                    <a:bodyPr/>
                    <a:lstStyle/>
                    <a:p>
                      <a:pPr>
                        <a:defRPr sz="1200">
                          <a:solidFill>
                            <a:srgbClr val="1C2230"/>
                          </a:solidFill>
                          <a:latin typeface="Yu Gothic"/>
                        </a:defRPr>
                      </a:pPr>
                      <a:r>
                        <a:t>KTNV / TechTimes</a:t>
                      </a:r>
                    </a:p>
                  </a:txBody>
                  <a:tcPr>
                    <a:solidFill>
                      <a:srgbClr val="F1F5FA"/>
                    </a:solidFill>
                  </a:tcPr>
                </a:tc>
                <a:tc>
                  <a:txBody>
                    <a:bodyPr/>
                    <a:lstStyle/>
                    <a:p>
                      <a:pPr>
                        <a:defRPr sz="1200">
                          <a:solidFill>
                            <a:srgbClr val="1C2230"/>
                          </a:solidFill>
                          <a:latin typeface="Yu Gothic"/>
                        </a:defRPr>
                      </a:pPr>
                      <a:r>
                        <a:t>地元局・専門メディアによる裏付け報道</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TechCrunch(2026-08-05)ほか｜153本目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ハンドルのない車が、今日から運賃を取っている。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具体的な基本運賃や他都市展開が明らかになれば、続報として出典付きでお届けします。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