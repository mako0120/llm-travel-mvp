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Amazonが自社デバイスの価格を静かに引き上げていたことが分かりました。何が起きているのか、出典付きで正確に整理してお届けします。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結論から確認します。Amazonは複数のデバイス製品ラインで、最大60%の値上げを実施したと報じられています。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本日の流れです。具体的な値上げ内容から背景、そして確認できなかったことまで整理します。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AIインフラ投資の余波が家庭用デバイスの価格に直接影響するという、身近で分かりやすい話題です。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代表例として、Echo Dotのベースモデルは49.99ドルから79.99ドルへと約60%値上げされました。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値上げの対象は、Echo・Fire TV・Kindle・eeroという主要な自社デバイス製品ラインに及んでいます。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確認できた主な値上げの一覧です。製品によって値上げ率は異なります。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Amazonはメモリ・部品コストの大幅な上昇を理由として説明しています。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Amazonは2026年7月末、2026年の設備投資額を2,000億ドルから2,200億ドルへ上方修正すると発表しました。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背景には、AIデータセンター投資の拡大に伴うメモリ需要の急増があります。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AIデータセンター投資の拡大からメモリ価格上昇、そして消費者向け製品への価格転嫁という連鎖が起きています。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値上げ率は製品によって大きく異なり、一律ではありません。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消費者にとっては、Amazonデバイスの購入コストが上昇するという直接的な影響があります。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Kindle Paperwhite(16GB)は159.99ドルから199.99ドルへと約25%値上げされました。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8月21日のFortuneの独占報道から、複数メディアが追随し、着手日前日まで報道が続いています。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値上げの対象は、ほぼ全ての主要なAmazonハードウェア製品ラインに及んでいます。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 TV Stick 4K Maxは59.99ドルから84.99ドルへと約42%値上げされました。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値上げ前後を比較すると、いずれの製品も大きく価格が上昇しています。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メモリ価格高騰は業界全体の課題であり、Amazon固有の事象ではありません。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複数の独立したメディアが同一の値上げ額を報じており、報道内容としての一貫性を確認しています。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既存テーマのNvidia値上げとは、対象製品も値上げの主体も異なる別の事象です。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Echo Show 11は219.99ドルから249.99ドルへと値上げされました。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本テーマは、AIインフラ投資が消費者生活に波及する具体例として整理しています。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値上げ幅は製品によって大きく異なり、一律ではない点に注意が必要です。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メモリ・部品コストの高騰により、Amazonのデバイス価格は最大60%値上げされました。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本日はAmazonデバイスの値上げについてお届けしました。確認できなかったことは正直に開示しています。次回もお楽しみに。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Amazonデバイスが</a:t>
            </a:r>
          </a:p>
          <a:p>
            <a:pPr algn="l">
              <a:lnSpc>
                <a:spcPct val="115000"/>
              </a:lnSpc>
            </a:pPr>
            <a:r>
              <a:rPr sz="4200" b="1">
                <a:solidFill>
                  <a:srgbClr val="FFFFFF"/>
                </a:solidFill>
                <a:latin typeface="Yu Gothic"/>
              </a:rPr>
              <a:t>最大60%値上げ</a:t>
            </a:r>
          </a:p>
          <a:p>
            <a:pPr algn="l">
              <a:lnSpc>
                <a:spcPct val="115000"/>
              </a:lnSpc>
            </a:pPr>
            <a:r>
              <a:rPr sz="4200" b="1">
                <a:solidFill>
                  <a:srgbClr val="FFFFFF"/>
                </a:solidFill>
                <a:latin typeface="Yu Gothic"/>
              </a:rPr>
              <a:t>メモリ高騰の余波</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AIデータセンター投資の裏側で——出典付きで整理する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Fortune(2026年8月21日)、Tom's Guide(2026年8月)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最大60%値上げ Echo・Kindle・Fire TVが対象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メモリ・部品コストの上昇が理由と説明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Tom's Guide(2026年8月)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何がどれだけ値上げされたのか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値上げの理由・背景を確認する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既存テーマ(Nvidia値上げ)との違い</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Fortuneが8月21日に独占報道し、8月24日時点でも複数メディアが追随</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AIデータセンター投資拡大の余波が消費者に直接及ぶ具体例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身近な製品(Echo・Kindle等)という切り口の話題性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Fortune(2026-08-21)</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Echo Dotの値上げ</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49.99ドル→79.99ドル Echo Dot(ベースモデル)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約60%の値上げ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Tom's Guide(2026年8月)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何が値上げされたのか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Echo(スマートスピーカー)シリーズ</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Fire TV(ストリーミングデバイス)シリーズ</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Kindle(電子書籍リーダー)シリーズ、eero(Wi-Fiルーター)も対象</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Tom's Guide(2026年8月)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主な値上げ一覧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製品</a:t>
                      </a:r>
                    </a:p>
                  </a:txBody>
                  <a:tcPr>
                    <a:solidFill>
                      <a:srgbClr val="1B2A2E"/>
                    </a:solidFill>
                  </a:tcPr>
                </a:tc>
                <a:tc>
                  <a:txBody>
                    <a:bodyPr/>
                    <a:lstStyle/>
                    <a:p>
                      <a:pPr>
                        <a:defRPr sz="1300" b="1">
                          <a:solidFill>
                            <a:srgbClr val="FFFFFF"/>
                          </a:solidFill>
                          <a:latin typeface="Yu Gothic"/>
                        </a:defRPr>
                      </a:pPr>
                      <a:r>
                        <a:t>旧価格</a:t>
                      </a:r>
                    </a:p>
                  </a:txBody>
                  <a:tcPr>
                    <a:solidFill>
                      <a:srgbClr val="1B2A2E"/>
                    </a:solidFill>
                  </a:tcPr>
                </a:tc>
                <a:tc>
                  <a:txBody>
                    <a:bodyPr/>
                    <a:lstStyle/>
                    <a:p>
                      <a:pPr>
                        <a:defRPr sz="1300" b="1">
                          <a:solidFill>
                            <a:srgbClr val="FFFFFF"/>
                          </a:solidFill>
                          <a:latin typeface="Yu Gothic"/>
                        </a:defRPr>
                      </a:pPr>
                      <a:r>
                        <a:t>新価格</a:t>
                      </a:r>
                    </a:p>
                  </a:txBody>
                  <a:tcPr>
                    <a:solidFill>
                      <a:srgbClr val="1B2A2E"/>
                    </a:solidFill>
                  </a:tcPr>
                </a:tc>
              </a:tr>
              <a:tr h="502920">
                <a:tc>
                  <a:txBody>
                    <a:bodyPr/>
                    <a:lstStyle/>
                    <a:p>
                      <a:pPr>
                        <a:defRPr sz="1200">
                          <a:solidFill>
                            <a:srgbClr val="121C1F"/>
                          </a:solidFill>
                          <a:latin typeface="Yu Gothic"/>
                        </a:defRPr>
                      </a:pPr>
                      <a:r>
                        <a:t>Echo Dot(ベース)</a:t>
                      </a:r>
                    </a:p>
                  </a:txBody>
                  <a:tcPr>
                    <a:solidFill>
                      <a:srgbClr val="FFFFFF"/>
                    </a:solidFill>
                  </a:tcPr>
                </a:tc>
                <a:tc>
                  <a:txBody>
                    <a:bodyPr/>
                    <a:lstStyle/>
                    <a:p>
                      <a:pPr>
                        <a:defRPr sz="1200">
                          <a:solidFill>
                            <a:srgbClr val="121C1F"/>
                          </a:solidFill>
                          <a:latin typeface="Yu Gothic"/>
                        </a:defRPr>
                      </a:pPr>
                      <a:r>
                        <a:t>49.99ドル</a:t>
                      </a:r>
                    </a:p>
                  </a:txBody>
                  <a:tcPr>
                    <a:solidFill>
                      <a:srgbClr val="FFFFFF"/>
                    </a:solidFill>
                  </a:tcPr>
                </a:tc>
                <a:tc>
                  <a:txBody>
                    <a:bodyPr/>
                    <a:lstStyle/>
                    <a:p>
                      <a:pPr>
                        <a:defRPr sz="1200">
                          <a:solidFill>
                            <a:srgbClr val="121C1F"/>
                          </a:solidFill>
                          <a:latin typeface="Yu Gothic"/>
                        </a:defRPr>
                      </a:pPr>
                      <a:r>
                        <a:t>79.99ドル</a:t>
                      </a:r>
                    </a:p>
                  </a:txBody>
                  <a:tcPr>
                    <a:solidFill>
                      <a:srgbClr val="FFFFFF"/>
                    </a:solidFill>
                  </a:tcPr>
                </a:tc>
              </a:tr>
              <a:tr h="502920">
                <a:tc>
                  <a:txBody>
                    <a:bodyPr/>
                    <a:lstStyle/>
                    <a:p>
                      <a:pPr>
                        <a:defRPr sz="1200">
                          <a:solidFill>
                            <a:srgbClr val="121C1F"/>
                          </a:solidFill>
                          <a:latin typeface="Yu Gothic"/>
                        </a:defRPr>
                      </a:pPr>
                      <a:r>
                        <a:t>Echo Show 11</a:t>
                      </a:r>
                    </a:p>
                  </a:txBody>
                  <a:tcPr>
                    <a:solidFill>
                      <a:srgbClr val="F0F7F4"/>
                    </a:solidFill>
                  </a:tcPr>
                </a:tc>
                <a:tc>
                  <a:txBody>
                    <a:bodyPr/>
                    <a:lstStyle/>
                    <a:p>
                      <a:pPr>
                        <a:defRPr sz="1200">
                          <a:solidFill>
                            <a:srgbClr val="121C1F"/>
                          </a:solidFill>
                          <a:latin typeface="Yu Gothic"/>
                        </a:defRPr>
                      </a:pPr>
                      <a:r>
                        <a:t>219.99ドル</a:t>
                      </a:r>
                    </a:p>
                  </a:txBody>
                  <a:tcPr>
                    <a:solidFill>
                      <a:srgbClr val="F0F7F4"/>
                    </a:solidFill>
                  </a:tcPr>
                </a:tc>
                <a:tc>
                  <a:txBody>
                    <a:bodyPr/>
                    <a:lstStyle/>
                    <a:p>
                      <a:pPr>
                        <a:defRPr sz="1200">
                          <a:solidFill>
                            <a:srgbClr val="121C1F"/>
                          </a:solidFill>
                          <a:latin typeface="Yu Gothic"/>
                        </a:defRPr>
                      </a:pPr>
                      <a:r>
                        <a:t>249.99ドル</a:t>
                      </a:r>
                    </a:p>
                  </a:txBody>
                  <a:tcPr>
                    <a:solidFill>
                      <a:srgbClr val="F0F7F4"/>
                    </a:solidFill>
                  </a:tcPr>
                </a:tc>
              </a:tr>
              <a:tr h="502920">
                <a:tc>
                  <a:txBody>
                    <a:bodyPr/>
                    <a:lstStyle/>
                    <a:p>
                      <a:pPr>
                        <a:defRPr sz="1200">
                          <a:solidFill>
                            <a:srgbClr val="121C1F"/>
                          </a:solidFill>
                          <a:latin typeface="Yu Gothic"/>
                        </a:defRPr>
                      </a:pPr>
                      <a:r>
                        <a:t>Kindle(16GB)</a:t>
                      </a:r>
                    </a:p>
                  </a:txBody>
                  <a:tcPr>
                    <a:solidFill>
                      <a:srgbClr val="FFFFFF"/>
                    </a:solidFill>
                  </a:tcPr>
                </a:tc>
                <a:tc>
                  <a:txBody>
                    <a:bodyPr/>
                    <a:lstStyle/>
                    <a:p>
                      <a:pPr>
                        <a:defRPr sz="1200">
                          <a:solidFill>
                            <a:srgbClr val="121C1F"/>
                          </a:solidFill>
                          <a:latin typeface="Yu Gothic"/>
                        </a:defRPr>
                      </a:pPr>
                      <a:r>
                        <a:t>109.99ドル</a:t>
                      </a:r>
                    </a:p>
                  </a:txBody>
                  <a:tcPr>
                    <a:solidFill>
                      <a:srgbClr val="FFFFFF"/>
                    </a:solidFill>
                  </a:tcPr>
                </a:tc>
                <a:tc>
                  <a:txBody>
                    <a:bodyPr/>
                    <a:lstStyle/>
                    <a:p>
                      <a:pPr>
                        <a:defRPr sz="1200">
                          <a:solidFill>
                            <a:srgbClr val="121C1F"/>
                          </a:solidFill>
                          <a:latin typeface="Yu Gothic"/>
                        </a:defRPr>
                      </a:pPr>
                      <a:r>
                        <a:t>149.99ドル</a:t>
                      </a:r>
                    </a:p>
                  </a:txBody>
                  <a:tcPr>
                    <a:solidFill>
                      <a:srgbClr val="FFFFFF"/>
                    </a:solidFill>
                  </a:tcPr>
                </a:tc>
              </a:tr>
              <a:tr h="502920">
                <a:tc>
                  <a:txBody>
                    <a:bodyPr/>
                    <a:lstStyle/>
                    <a:p>
                      <a:pPr>
                        <a:defRPr sz="1200">
                          <a:solidFill>
                            <a:srgbClr val="121C1F"/>
                          </a:solidFill>
                          <a:latin typeface="Yu Gothic"/>
                        </a:defRPr>
                      </a:pPr>
                      <a:r>
                        <a:t>Fire TV Stick 4K Max</a:t>
                      </a:r>
                    </a:p>
                  </a:txBody>
                  <a:tcPr>
                    <a:solidFill>
                      <a:srgbClr val="F0F7F4"/>
                    </a:solidFill>
                  </a:tcPr>
                </a:tc>
                <a:tc>
                  <a:txBody>
                    <a:bodyPr/>
                    <a:lstStyle/>
                    <a:p>
                      <a:pPr>
                        <a:defRPr sz="1200">
                          <a:solidFill>
                            <a:srgbClr val="121C1F"/>
                          </a:solidFill>
                          <a:latin typeface="Yu Gothic"/>
                        </a:defRPr>
                      </a:pPr>
                      <a:r>
                        <a:t>59.99ドル</a:t>
                      </a:r>
                    </a:p>
                  </a:txBody>
                  <a:tcPr>
                    <a:solidFill>
                      <a:srgbClr val="F0F7F4"/>
                    </a:solidFill>
                  </a:tcPr>
                </a:tc>
                <a:tc>
                  <a:txBody>
                    <a:bodyPr/>
                    <a:lstStyle/>
                    <a:p>
                      <a:pPr>
                        <a:defRPr sz="1200">
                          <a:solidFill>
                            <a:srgbClr val="121C1F"/>
                          </a:solidFill>
                          <a:latin typeface="Yu Gothic"/>
                        </a:defRPr>
                      </a:pPr>
                      <a:r>
                        <a:t>84.99ドル</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Tom's Guide(2026年8月)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値上げの理由</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Amazon広報担当者は「メモリ・部品コストの大幅な上昇」を理由と説明</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これまで吸収してきたコスト上昇を、製品ライン全体の価格に反映</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値上げは「静かに(quietly)」実施されたと報じられている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Tom's Guide(2026年8月)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Amazonの2026年設備投資額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2,200億ドルへ上方修正 従来予想の2,000億ドルから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主にAIデータセンターの構築・整備に充当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Amazon決算説明(2026年7月末)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背景にあるAIデータセンター投資</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AIサービスを支えるデータセンターの構築・整備が投資拡大の主因</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アンディ・ジャシーCEOはメモリコストの上昇が一因と説明</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AI需要の急拡大がメモリ市場全体を押し上げている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Amazon決算説明(2026年7月末)</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値上げに至る連鎖(概念図)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AIデータセンター投資拡大</a:t>
            </a:r>
          </a:p>
        </p:txBody>
      </p:sp>
      <p:sp>
        <p:nvSpPr>
          <p:cNvPr id="9" name="Right Arrow 8"/>
          <p:cNvSpPr/>
          <p:nvPr/>
        </p:nvSpPr>
        <p:spPr>
          <a:xfrm>
            <a:off x="25571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メモリ需要急増・価格上昇</a:t>
            </a:r>
          </a:p>
        </p:txBody>
      </p:sp>
      <p:sp>
        <p:nvSpPr>
          <p:cNvPr id="13" name="Right Arrow 12"/>
          <p:cNvSpPr/>
          <p:nvPr/>
        </p:nvSpPr>
        <p:spPr>
          <a:xfrm>
            <a:off x="57575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デバイス製造コスト上昇</a:t>
            </a:r>
          </a:p>
        </p:txBody>
      </p:sp>
      <p:sp>
        <p:nvSpPr>
          <p:cNvPr id="17" name="Right Arrow 16"/>
          <p:cNvSpPr/>
          <p:nvPr/>
        </p:nvSpPr>
        <p:spPr>
          <a:xfrm>
            <a:off x="89579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消費者向け価格に反映</a:t>
            </a:r>
          </a:p>
        </p:txBody>
      </p:sp>
      <p:sp>
        <p:nvSpPr>
          <p:cNvPr id="21" name="TextBox 20"/>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AIインフラ投資の余波が家庭用デバイスの価格に及ぶ</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値上げ前後の比較(代表例)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製品</a:t>
                      </a:r>
                    </a:p>
                  </a:txBody>
                  <a:tcPr>
                    <a:solidFill>
                      <a:srgbClr val="1B2A2E"/>
                    </a:solidFill>
                  </a:tcPr>
                </a:tc>
                <a:tc>
                  <a:txBody>
                    <a:bodyPr/>
                    <a:lstStyle/>
                    <a:p>
                      <a:pPr>
                        <a:defRPr sz="1300" b="1">
                          <a:solidFill>
                            <a:srgbClr val="FFFFFF"/>
                          </a:solidFill>
                          <a:latin typeface="Yu Gothic"/>
                        </a:defRPr>
                      </a:pPr>
                      <a:r>
                        <a:t>値上げ前</a:t>
                      </a:r>
                    </a:p>
                  </a:txBody>
                  <a:tcPr>
                    <a:solidFill>
                      <a:srgbClr val="1B2A2E"/>
                    </a:solidFill>
                  </a:tcPr>
                </a:tc>
                <a:tc>
                  <a:txBody>
                    <a:bodyPr/>
                    <a:lstStyle/>
                    <a:p>
                      <a:pPr>
                        <a:defRPr sz="1300" b="1">
                          <a:solidFill>
                            <a:srgbClr val="FFFFFF"/>
                          </a:solidFill>
                          <a:latin typeface="Yu Gothic"/>
                        </a:defRPr>
                      </a:pPr>
                      <a:r>
                        <a:t>値上げ後</a:t>
                      </a:r>
                    </a:p>
                  </a:txBody>
                  <a:tcPr>
                    <a:solidFill>
                      <a:srgbClr val="1B2A2E"/>
                    </a:solidFill>
                  </a:tcPr>
                </a:tc>
                <a:tc>
                  <a:txBody>
                    <a:bodyPr/>
                    <a:lstStyle/>
                    <a:p>
                      <a:pPr>
                        <a:defRPr sz="1300" b="1">
                          <a:solidFill>
                            <a:srgbClr val="FFFFFF"/>
                          </a:solidFill>
                          <a:latin typeface="Yu Gothic"/>
                        </a:defRPr>
                      </a:pPr>
                      <a:r>
                        <a:t>値上げ率の目安</a:t>
                      </a:r>
                    </a:p>
                  </a:txBody>
                  <a:tcPr>
                    <a:solidFill>
                      <a:srgbClr val="1B2A2E"/>
                    </a:solidFill>
                  </a:tcPr>
                </a:tc>
              </a:tr>
              <a:tr h="502920">
                <a:tc>
                  <a:txBody>
                    <a:bodyPr/>
                    <a:lstStyle/>
                    <a:p>
                      <a:pPr>
                        <a:defRPr sz="1200">
                          <a:solidFill>
                            <a:srgbClr val="121C1F"/>
                          </a:solidFill>
                          <a:latin typeface="Yu Gothic"/>
                        </a:defRPr>
                      </a:pPr>
                      <a:r>
                        <a:t>Echo Dot</a:t>
                      </a:r>
                    </a:p>
                  </a:txBody>
                  <a:tcPr>
                    <a:solidFill>
                      <a:srgbClr val="FFFFFF"/>
                    </a:solidFill>
                  </a:tcPr>
                </a:tc>
                <a:tc>
                  <a:txBody>
                    <a:bodyPr/>
                    <a:lstStyle/>
                    <a:p>
                      <a:pPr>
                        <a:defRPr sz="1200">
                          <a:solidFill>
                            <a:srgbClr val="121C1F"/>
                          </a:solidFill>
                          <a:latin typeface="Yu Gothic"/>
                        </a:defRPr>
                      </a:pPr>
                      <a:r>
                        <a:t>49.99ドル</a:t>
                      </a:r>
                    </a:p>
                  </a:txBody>
                  <a:tcPr>
                    <a:solidFill>
                      <a:srgbClr val="FFFFFF"/>
                    </a:solidFill>
                  </a:tcPr>
                </a:tc>
                <a:tc>
                  <a:txBody>
                    <a:bodyPr/>
                    <a:lstStyle/>
                    <a:p>
                      <a:pPr>
                        <a:defRPr sz="1200">
                          <a:solidFill>
                            <a:srgbClr val="121C1F"/>
                          </a:solidFill>
                          <a:latin typeface="Yu Gothic"/>
                        </a:defRPr>
                      </a:pPr>
                      <a:r>
                        <a:t>79.99ドル</a:t>
                      </a:r>
                    </a:p>
                  </a:txBody>
                  <a:tcPr>
                    <a:solidFill>
                      <a:srgbClr val="FFFFFF"/>
                    </a:solidFill>
                  </a:tcPr>
                </a:tc>
                <a:tc>
                  <a:txBody>
                    <a:bodyPr/>
                    <a:lstStyle/>
                    <a:p>
                      <a:pPr>
                        <a:defRPr sz="1200">
                          <a:solidFill>
                            <a:srgbClr val="121C1F"/>
                          </a:solidFill>
                          <a:latin typeface="Yu Gothic"/>
                        </a:defRPr>
                      </a:pPr>
                      <a:r>
                        <a:t>約60%</a:t>
                      </a:r>
                    </a:p>
                  </a:txBody>
                  <a:tcPr>
                    <a:solidFill>
                      <a:srgbClr val="FFFFFF"/>
                    </a:solidFill>
                  </a:tcPr>
                </a:tc>
              </a:tr>
              <a:tr h="502920">
                <a:tc>
                  <a:txBody>
                    <a:bodyPr/>
                    <a:lstStyle/>
                    <a:p>
                      <a:pPr>
                        <a:defRPr sz="1200">
                          <a:solidFill>
                            <a:srgbClr val="121C1F"/>
                          </a:solidFill>
                          <a:latin typeface="Yu Gothic"/>
                        </a:defRPr>
                      </a:pPr>
                      <a:r>
                        <a:t>Kindle Paperwhite(16GB)</a:t>
                      </a:r>
                    </a:p>
                  </a:txBody>
                  <a:tcPr>
                    <a:solidFill>
                      <a:srgbClr val="F0F7F4"/>
                    </a:solidFill>
                  </a:tcPr>
                </a:tc>
                <a:tc>
                  <a:txBody>
                    <a:bodyPr/>
                    <a:lstStyle/>
                    <a:p>
                      <a:pPr>
                        <a:defRPr sz="1200">
                          <a:solidFill>
                            <a:srgbClr val="121C1F"/>
                          </a:solidFill>
                          <a:latin typeface="Yu Gothic"/>
                        </a:defRPr>
                      </a:pPr>
                      <a:r>
                        <a:t>159.99ドル</a:t>
                      </a:r>
                    </a:p>
                  </a:txBody>
                  <a:tcPr>
                    <a:solidFill>
                      <a:srgbClr val="F0F7F4"/>
                    </a:solidFill>
                  </a:tcPr>
                </a:tc>
                <a:tc>
                  <a:txBody>
                    <a:bodyPr/>
                    <a:lstStyle/>
                    <a:p>
                      <a:pPr>
                        <a:defRPr sz="1200">
                          <a:solidFill>
                            <a:srgbClr val="121C1F"/>
                          </a:solidFill>
                          <a:latin typeface="Yu Gothic"/>
                        </a:defRPr>
                      </a:pPr>
                      <a:r>
                        <a:t>199.99ドル</a:t>
                      </a:r>
                    </a:p>
                  </a:txBody>
                  <a:tcPr>
                    <a:solidFill>
                      <a:srgbClr val="F0F7F4"/>
                    </a:solidFill>
                  </a:tcPr>
                </a:tc>
                <a:tc>
                  <a:txBody>
                    <a:bodyPr/>
                    <a:lstStyle/>
                    <a:p>
                      <a:pPr>
                        <a:defRPr sz="1200">
                          <a:solidFill>
                            <a:srgbClr val="121C1F"/>
                          </a:solidFill>
                          <a:latin typeface="Yu Gothic"/>
                        </a:defRPr>
                      </a:pPr>
                      <a:r>
                        <a:t>約25%</a:t>
                      </a:r>
                    </a:p>
                  </a:txBody>
                  <a:tcPr>
                    <a:solidFill>
                      <a:srgbClr val="F0F7F4"/>
                    </a:solidFill>
                  </a:tcPr>
                </a:tc>
              </a:tr>
              <a:tr h="502920">
                <a:tc>
                  <a:txBody>
                    <a:bodyPr/>
                    <a:lstStyle/>
                    <a:p>
                      <a:pPr>
                        <a:defRPr sz="1200">
                          <a:solidFill>
                            <a:srgbClr val="121C1F"/>
                          </a:solidFill>
                          <a:latin typeface="Yu Gothic"/>
                        </a:defRPr>
                      </a:pPr>
                      <a:r>
                        <a:t>Fire TV Stick HD</a:t>
                      </a:r>
                    </a:p>
                  </a:txBody>
                  <a:tcPr>
                    <a:solidFill>
                      <a:srgbClr val="FFFFFF"/>
                    </a:solidFill>
                  </a:tcPr>
                </a:tc>
                <a:tc>
                  <a:txBody>
                    <a:bodyPr/>
                    <a:lstStyle/>
                    <a:p>
                      <a:pPr>
                        <a:defRPr sz="1200">
                          <a:solidFill>
                            <a:srgbClr val="121C1F"/>
                          </a:solidFill>
                          <a:latin typeface="Yu Gothic"/>
                        </a:defRPr>
                      </a:pPr>
                      <a:r>
                        <a:t>34.99ドル</a:t>
                      </a:r>
                    </a:p>
                  </a:txBody>
                  <a:tcPr>
                    <a:solidFill>
                      <a:srgbClr val="FFFFFF"/>
                    </a:solidFill>
                  </a:tcPr>
                </a:tc>
                <a:tc>
                  <a:txBody>
                    <a:bodyPr/>
                    <a:lstStyle/>
                    <a:p>
                      <a:pPr>
                        <a:defRPr sz="1200">
                          <a:solidFill>
                            <a:srgbClr val="121C1F"/>
                          </a:solidFill>
                          <a:latin typeface="Yu Gothic"/>
                        </a:defRPr>
                      </a:pPr>
                      <a:r>
                        <a:t>39.99ドル</a:t>
                      </a:r>
                    </a:p>
                  </a:txBody>
                  <a:tcPr>
                    <a:solidFill>
                      <a:srgbClr val="FFFFFF"/>
                    </a:solidFill>
                  </a:tcPr>
                </a:tc>
                <a:tc>
                  <a:txBody>
                    <a:bodyPr/>
                    <a:lstStyle/>
                    <a:p>
                      <a:pPr>
                        <a:defRPr sz="1200">
                          <a:solidFill>
                            <a:srgbClr val="121C1F"/>
                          </a:solidFill>
                          <a:latin typeface="Yu Gothic"/>
                        </a:defRPr>
                      </a:pPr>
                      <a:r>
                        <a:t>約14%</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Tom's Guide(2026年8月)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消費者への影響</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Amazonデバイスの購入コストが全体的に上昇</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セール時期の実質値引き幅にも影響する可能性がある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他社の同種製品の価格動向にも今後波及する可能性がある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Kindle Paperwhiteの値上げ</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159.99ドル→199.99ドル Kindle Paperwhite(16GB)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約25%の値上げ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Tom's Guide(2026年8月)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報道の経緯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8月21日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Fortuneが独占報道</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8月21〜24日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Tom's Guide等が追随報道</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8月24日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techstartups.com等のまとめ記事に掲載</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対象製品ラインの広がり</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スマートスピーカー(Echo)から電子書籍リーダー(Kindle)まで幅広い</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ストリーミングデバイス(Fire TV)、Wi-Fiルーター(eero)も対象</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ほぼ全ての主要ハードウェア製品ラインに及んでいる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Tom's Guide(2026年8月)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確定</a:t>
                      </a:r>
                    </a:p>
                  </a:txBody>
                  <a:tcPr>
                    <a:solidFill>
                      <a:srgbClr val="FFFFFF"/>
                    </a:solidFill>
                  </a:tcPr>
                </a:tc>
                <a:tc>
                  <a:txBody>
                    <a:bodyPr/>
                    <a:lstStyle/>
                    <a:p>
                      <a:pPr>
                        <a:defRPr sz="1200">
                          <a:solidFill>
                            <a:srgbClr val="121C1F"/>
                          </a:solidFill>
                          <a:latin typeface="Yu Gothic"/>
                        </a:defRPr>
                      </a:pPr>
                      <a:r>
                        <a:t>複数製品の具体的な値上げ額・値上げ理由の公式説明</a:t>
                      </a:r>
                    </a:p>
                  </a:txBody>
                  <a:tcPr>
                    <a:solidFill>
                      <a:srgbClr val="FFFFFF"/>
                    </a:solidFill>
                  </a:tcPr>
                </a:tc>
              </a:tr>
              <a:tr h="502920">
                <a:tc>
                  <a:txBody>
                    <a:bodyPr/>
                    <a:lstStyle/>
                    <a:p>
                      <a:pPr>
                        <a:defRPr sz="1200">
                          <a:solidFill>
                            <a:srgbClr val="121C1F"/>
                          </a:solidFill>
                          <a:latin typeface="Yu Gothic"/>
                        </a:defRPr>
                      </a:pPr>
                      <a:r>
                        <a:t>確定</a:t>
                      </a:r>
                    </a:p>
                  </a:txBody>
                  <a:tcPr>
                    <a:solidFill>
                      <a:srgbClr val="F0F7F4"/>
                    </a:solidFill>
                  </a:tcPr>
                </a:tc>
                <a:tc>
                  <a:txBody>
                    <a:bodyPr/>
                    <a:lstStyle/>
                    <a:p>
                      <a:pPr>
                        <a:defRPr sz="1200">
                          <a:solidFill>
                            <a:srgbClr val="121C1F"/>
                          </a:solidFill>
                          <a:latin typeface="Yu Gothic"/>
                        </a:defRPr>
                      </a:pPr>
                      <a:r>
                        <a:t>2026年設備投資額の上方修正(2,000億→2,200億ドル)</a:t>
                      </a:r>
                    </a:p>
                  </a:txBody>
                  <a:tcPr>
                    <a:solidFill>
                      <a:srgbClr val="F0F7F4"/>
                    </a:solidFill>
                  </a:tcPr>
                </a:tc>
              </a:tr>
              <a:tr h="502920">
                <a:tc>
                  <a:txBody>
                    <a:bodyPr/>
                    <a:lstStyle/>
                    <a:p>
                      <a:pPr>
                        <a:defRPr sz="1200">
                          <a:solidFill>
                            <a:srgbClr val="121C1F"/>
                          </a:solidFill>
                          <a:latin typeface="Yu Gothic"/>
                        </a:defRPr>
                      </a:pPr>
                      <a:r>
                        <a:t>未確認</a:t>
                      </a:r>
                    </a:p>
                  </a:txBody>
                  <a:tcPr>
                    <a:solidFill>
                      <a:srgbClr val="FFFFFF"/>
                    </a:solidFill>
                  </a:tcPr>
                </a:tc>
                <a:tc>
                  <a:txBody>
                    <a:bodyPr/>
                    <a:lstStyle/>
                    <a:p>
                      <a:pPr>
                        <a:defRPr sz="1200">
                          <a:solidFill>
                            <a:srgbClr val="121C1F"/>
                          </a:solidFill>
                          <a:latin typeface="Yu Gothic"/>
                        </a:defRPr>
                      </a:pPr>
                      <a:r>
                        <a:t>値上げの正確な実施日、全製品ラインの値上げ率一覧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値上げの正確な実施日(「静かに」実施されたとのみ報じられている)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全製品ラインにおける値上げ率の一覧</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今後さらなる値上げが予定されているかどうか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Fire TV Stick 4K Maxの値上げ</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59.99ドル→84.99ドル Fire TV Stick 4K Max</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約42%の値上げ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Tom's Guide(2026年8月)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値上げ前 vs 値上げ後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値上げ前</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Echo Dot 49.99ドル</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Kindle 109.99ドル</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値上げ後</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Echo Dot 79.99ドル</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Kindle 149.99ドル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業界全体の動き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AI需要拡大に伴うメモリ価格高騰は業界共通の課題</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他の大手テック企業でも同様のコスト上昇圧力が報じられている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AIインフラ投資と消費者向け製品価格の関連が改めて注目されている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主要出典の一覧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報道日</a:t>
                      </a:r>
                    </a:p>
                  </a:txBody>
                  <a:tcPr>
                    <a:solidFill>
                      <a:srgbClr val="1B2A2E"/>
                    </a:solidFill>
                  </a:tcPr>
                </a:tc>
              </a:tr>
              <a:tr h="502920">
                <a:tc>
                  <a:txBody>
                    <a:bodyPr/>
                    <a:lstStyle/>
                    <a:p>
                      <a:pPr>
                        <a:defRPr sz="1200">
                          <a:solidFill>
                            <a:srgbClr val="121C1F"/>
                          </a:solidFill>
                          <a:latin typeface="Yu Gothic"/>
                        </a:defRPr>
                      </a:pPr>
                      <a:r>
                        <a:t>Fortune(独占報道)</a:t>
                      </a:r>
                    </a:p>
                  </a:txBody>
                  <a:tcPr>
                    <a:solidFill>
                      <a:srgbClr val="FFFFFF"/>
                    </a:solidFill>
                  </a:tcPr>
                </a:tc>
                <a:tc>
                  <a:txBody>
                    <a:bodyPr/>
                    <a:lstStyle/>
                    <a:p>
                      <a:pPr>
                        <a:defRPr sz="1200">
                          <a:solidFill>
                            <a:srgbClr val="121C1F"/>
                          </a:solidFill>
                          <a:latin typeface="Yu Gothic"/>
                        </a:defRPr>
                      </a:pPr>
                      <a:r>
                        <a:t>2026年8月21日</a:t>
                      </a:r>
                    </a:p>
                  </a:txBody>
                  <a:tcPr>
                    <a:solidFill>
                      <a:srgbClr val="FFFFFF"/>
                    </a:solidFill>
                  </a:tcPr>
                </a:tc>
              </a:tr>
              <a:tr h="502920">
                <a:tc>
                  <a:txBody>
                    <a:bodyPr/>
                    <a:lstStyle/>
                    <a:p>
                      <a:pPr>
                        <a:defRPr sz="1200">
                          <a:solidFill>
                            <a:srgbClr val="121C1F"/>
                          </a:solidFill>
                          <a:latin typeface="Yu Gothic"/>
                        </a:defRPr>
                      </a:pPr>
                      <a:r>
                        <a:t>Tom's Guide</a:t>
                      </a:r>
                    </a:p>
                  </a:txBody>
                  <a:tcPr>
                    <a:solidFill>
                      <a:srgbClr val="F0F7F4"/>
                    </a:solidFill>
                  </a:tcPr>
                </a:tc>
                <a:tc>
                  <a:txBody>
                    <a:bodyPr/>
                    <a:lstStyle/>
                    <a:p>
                      <a:pPr>
                        <a:defRPr sz="1200">
                          <a:solidFill>
                            <a:srgbClr val="121C1F"/>
                          </a:solidFill>
                          <a:latin typeface="Yu Gothic"/>
                        </a:defRPr>
                      </a:pPr>
                      <a:r>
                        <a:t>2026年8月</a:t>
                      </a:r>
                    </a:p>
                  </a:txBody>
                  <a:tcPr>
                    <a:solidFill>
                      <a:srgbClr val="F0F7F4"/>
                    </a:solidFill>
                  </a:tcPr>
                </a:tc>
              </a:tr>
              <a:tr h="502920">
                <a:tc>
                  <a:txBody>
                    <a:bodyPr/>
                    <a:lstStyle/>
                    <a:p>
                      <a:pPr>
                        <a:defRPr sz="1200">
                          <a:solidFill>
                            <a:srgbClr val="121C1F"/>
                          </a:solidFill>
                          <a:latin typeface="Yu Gothic"/>
                        </a:defRPr>
                      </a:pPr>
                      <a:r>
                        <a:t>Gadget Review</a:t>
                      </a:r>
                    </a:p>
                  </a:txBody>
                  <a:tcPr>
                    <a:solidFill>
                      <a:srgbClr val="FFFFFF"/>
                    </a:solidFill>
                  </a:tcPr>
                </a:tc>
                <a:tc>
                  <a:txBody>
                    <a:bodyPr/>
                    <a:lstStyle/>
                    <a:p>
                      <a:pPr>
                        <a:defRPr sz="1200">
                          <a:solidFill>
                            <a:srgbClr val="121C1F"/>
                          </a:solidFill>
                          <a:latin typeface="Yu Gothic"/>
                        </a:defRPr>
                      </a:pPr>
                      <a:r>
                        <a:t>2026年8月</a:t>
                      </a:r>
                    </a:p>
                  </a:txBody>
                  <a:tcPr>
                    <a:solidFill>
                      <a:srgbClr val="FFFFFF"/>
                    </a:solidFill>
                  </a:tcPr>
                </a:tc>
              </a:tr>
              <a:tr h="502920">
                <a:tc>
                  <a:txBody>
                    <a:bodyPr/>
                    <a:lstStyle/>
                    <a:p>
                      <a:pPr>
                        <a:defRPr sz="1200">
                          <a:solidFill>
                            <a:srgbClr val="121C1F"/>
                          </a:solidFill>
                          <a:latin typeface="Yu Gothic"/>
                        </a:defRPr>
                      </a:pPr>
                      <a:r>
                        <a:t>TechTimes</a:t>
                      </a:r>
                    </a:p>
                  </a:txBody>
                  <a:tcPr>
                    <a:solidFill>
                      <a:srgbClr val="F0F7F4"/>
                    </a:solidFill>
                  </a:tcPr>
                </a:tc>
                <a:tc>
                  <a:txBody>
                    <a:bodyPr/>
                    <a:lstStyle/>
                    <a:p>
                      <a:pPr>
                        <a:defRPr sz="1200">
                          <a:solidFill>
                            <a:srgbClr val="121C1F"/>
                          </a:solidFill>
                          <a:latin typeface="Yu Gothic"/>
                        </a:defRPr>
                      </a:pPr>
                      <a:r>
                        <a:t>2026年8月24日</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Amazon(消費者向け)vs Nvidia(AI半導体)の値上げ事例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Amazon</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Echo・Kindle等の消費者向けデバイス</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最大60%程度の値上げ</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Nvidia(既存テーマ)</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AI半導体(チップ)製品</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約15%の値上げと報じられている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Echo Show 11の値上げ</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219.99ドル→249.99ドル Echo Show 11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約14%の値上げ</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Tom's Guide(2026年8月)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値上げ幅は製品により最大60%と大きい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AIデータセンター投資の余波が消費者に直結</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ほぼ全ての主要ハードウェア製品ラインが対象</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Amazonデバイスの購入を検討している人に直接関係する情報</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AIインフラ投資が生活にどう波及するかを知る具体例になる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特定製品の購入・非購入を推奨するものではない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2A2E"/>
                    </a:solidFill>
                  </a:tcPr>
                </a:tc>
                <a:tc>
                  <a:txBody>
                    <a:bodyPr/>
                    <a:lstStyle/>
                    <a:p>
                      <a:pPr>
                        <a:defRPr sz="1300" b="1">
                          <a:solidFill>
                            <a:srgbClr val="FFFFFF"/>
                          </a:solidFill>
                          <a:latin typeface="Yu Gothic"/>
                        </a:defRPr>
                      </a:pPr>
                      <a:r>
                        <a:t>できごと</a:t>
                      </a:r>
                    </a:p>
                  </a:txBody>
                  <a:tcPr>
                    <a:solidFill>
                      <a:srgbClr val="1B2A2E"/>
                    </a:solidFill>
                  </a:tcPr>
                </a:tc>
              </a:tr>
              <a:tr h="502920">
                <a:tc>
                  <a:txBody>
                    <a:bodyPr/>
                    <a:lstStyle/>
                    <a:p>
                      <a:pPr>
                        <a:defRPr sz="1200">
                          <a:solidFill>
                            <a:srgbClr val="121C1F"/>
                          </a:solidFill>
                          <a:latin typeface="Yu Gothic"/>
                        </a:defRPr>
                      </a:pPr>
                      <a:r>
                        <a:t>2026年7月末</a:t>
                      </a:r>
                    </a:p>
                  </a:txBody>
                  <a:tcPr>
                    <a:solidFill>
                      <a:srgbClr val="FFFFFF"/>
                    </a:solidFill>
                  </a:tcPr>
                </a:tc>
                <a:tc>
                  <a:txBody>
                    <a:bodyPr/>
                    <a:lstStyle/>
                    <a:p>
                      <a:pPr>
                        <a:defRPr sz="1200">
                          <a:solidFill>
                            <a:srgbClr val="121C1F"/>
                          </a:solidFill>
                          <a:latin typeface="Yu Gothic"/>
                        </a:defRPr>
                      </a:pPr>
                      <a:r>
                        <a:t>Amazonが2026年設備投資額を2,200億ドルに上方修正</a:t>
                      </a:r>
                    </a:p>
                  </a:txBody>
                  <a:tcPr>
                    <a:solidFill>
                      <a:srgbClr val="FFFFFF"/>
                    </a:solidFill>
                  </a:tcPr>
                </a:tc>
              </a:tr>
              <a:tr h="502920">
                <a:tc>
                  <a:txBody>
                    <a:bodyPr/>
                    <a:lstStyle/>
                    <a:p>
                      <a:pPr>
                        <a:defRPr sz="1200">
                          <a:solidFill>
                            <a:srgbClr val="121C1F"/>
                          </a:solidFill>
                          <a:latin typeface="Yu Gothic"/>
                        </a:defRPr>
                      </a:pPr>
                      <a:r>
                        <a:t>2026年8月21日</a:t>
                      </a:r>
                    </a:p>
                  </a:txBody>
                  <a:tcPr>
                    <a:solidFill>
                      <a:srgbClr val="F0F7F4"/>
                    </a:solidFill>
                  </a:tcPr>
                </a:tc>
                <a:tc>
                  <a:txBody>
                    <a:bodyPr/>
                    <a:lstStyle/>
                    <a:p>
                      <a:pPr>
                        <a:defRPr sz="1200">
                          <a:solidFill>
                            <a:srgbClr val="121C1F"/>
                          </a:solidFill>
                          <a:latin typeface="Yu Gothic"/>
                        </a:defRPr>
                      </a:pPr>
                      <a:r>
                        <a:t>Fortuneが値上げを独占報道</a:t>
                      </a:r>
                    </a:p>
                  </a:txBody>
                  <a:tcPr>
                    <a:solidFill>
                      <a:srgbClr val="F0F7F4"/>
                    </a:solidFill>
                  </a:tcPr>
                </a:tc>
              </a:tr>
              <a:tr h="502920">
                <a:tc>
                  <a:txBody>
                    <a:bodyPr/>
                    <a:lstStyle/>
                    <a:p>
                      <a:pPr>
                        <a:defRPr sz="1200">
                          <a:solidFill>
                            <a:srgbClr val="121C1F"/>
                          </a:solidFill>
                          <a:latin typeface="Yu Gothic"/>
                        </a:defRPr>
                      </a:pPr>
                      <a:r>
                        <a:t>2026年8月24日</a:t>
                      </a:r>
                    </a:p>
                  </a:txBody>
                  <a:tcPr>
                    <a:solidFill>
                      <a:srgbClr val="FFFFFF"/>
                    </a:solidFill>
                  </a:tcPr>
                </a:tc>
                <a:tc>
                  <a:txBody>
                    <a:bodyPr/>
                    <a:lstStyle/>
                    <a:p>
                      <a:pPr>
                        <a:defRPr sz="1200">
                          <a:solidFill>
                            <a:srgbClr val="121C1F"/>
                          </a:solidFill>
                          <a:latin typeface="Yu Gothic"/>
                        </a:defRPr>
                      </a:pPr>
                      <a:r>
                        <a:t>複数メディアが追随報道、まとめ記事にも掲載</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値上げ幅の大小(代表例)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値上げ幅が大きい例</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Echo Dot 約60%</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Fire TV Stick 4K Max 約42%</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値上げ幅が比較的小さい例</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Fire TV Stick HD 約14%</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Echo Show 11 約14%</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Fortune等(2026-08-21〜24)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最大60%値上げ メモリ高騰がAmazonデバイスを直撃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Tom's Guide(2026年8月)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