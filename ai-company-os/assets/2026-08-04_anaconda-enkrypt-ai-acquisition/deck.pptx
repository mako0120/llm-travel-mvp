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件数(単位:千)</c:v>
                </c:pt>
              </c:strCache>
            </c:strRef>
          </c:tx>
          <c:spPr>
            <a:solidFill>
              <a:srgbClr val="2E2A72"/>
            </a:solidFill>
          </c:spPr>
          <c:cat>
            <c:strRef>
              <c:f>Sheet1!$A$2:$A$4</c:f>
              <c:strCache>
                <c:ptCount val="3"/>
                <c:pt idx="0">
                  <c:v>MCPサーバー数</c:v>
                </c:pt>
                <c:pt idx="1">
                  <c:v>ツール数</c:v>
                </c:pt>
                <c:pt idx="2">
                  <c:v>脆弱性件数</c:v>
                </c:pt>
              </c:strCache>
            </c:strRef>
          </c:cat>
          <c:val>
            <c:numRef>
              <c:f>Sheet1!$B$2:$B$4</c:f>
              <c:numCache>
                <c:formatCode>General</c:formatCode>
                <c:ptCount val="3"/>
                <c:pt idx="0">
                  <c:v>25</c:v>
                </c:pt>
                <c:pt idx="1">
                  <c:v>268</c:v>
                </c:pt>
                <c:pt idx="2">
                  <c:v>143</c:v>
                </c:pt>
              </c:numCache>
            </c:numRef>
          </c:val>
        </c:ser>
        <c:dLbls>
          <c:numFmt formatCode="#,##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スキャンしたMCPサーバーの73%が脆弱かもしれない、14万3000件の穴を見つけた企業を、データサイエンス・AIプラットフォーム企業のAnacondaが買収しました。AIセキュリティ・コンプライアンス企業Enkrypt AIの買収を、2026年8月4日に発表しています。買収金額は非公開です。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今日わかることは6つです。何が起きたのか、14万3000件という数字の中身、初心者向けにMCPとは何か、Enkrypt AIが2か月で見つけたこと、Anacondaによる買収の狙いと文脈、そして確認できたこと・できなかったこと・鮮度についてです。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何が起きたのか整理します。Anacondaが、AIセキュリティ・コンプライアンス企業Enkrypt AIを買収したと発表しました。買収金額は非公開です。Enkrypt AIは買収発表までの2か月間で、25,000のMCPサーバーにまたがる268,000のツールをスキャンし、143,000件の脆弱性を発見したとしています。これはスキャン対象MCPサーバーの73%に影響する規模だといいます。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今回明らかになった脆弱性の件数はこちら、143,000件です。Enkrypt AIが買収発表までの2か月間でスキャンして発見した数として公表されています。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買収概要を表にまとめました。買収する側はAnaconda、買収される側はAIセキュリティ・コンプライアンス企業のEnkrypt AIです。発表日は2026年8月4日、買収金額は非公開で、直前には2026年7月にコーディングエージェント「Kilo Code」の買収も発表されています。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統合される主な機能です。300以上の攻撃カテゴリにわたる事前配備のレッドチーミング、実行時のランタイムガードレール、そしてNISTやEU AI Act準拠の自動化機能が統合されるとされています。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Enkrypt AIのスキャンの流れを概要図で示します。25,000のMCPサーバーを対象に268,000のツールをスキャンし、143,000件の脆弱性を発見、これは対象サーバーの73%に影響する規模だとしています。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MCPとは、AIエージェントが外部のツールやデータに接続するための共通規格です。MCPサーバー・ツールが増えるほど、AIエージェントが扱える処理は広がりますが、その分セキュリティ上の抜け穴も増える可能性があります。今回Enkrypt AIが行ったのは、こうしたMCPサーバー・ツール群の脆弱性を洗い出すスキャンでした。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スキャンされたツールの数はこちら、268,000個です。25,000のMCPサーバーにまたがってスキャンされた数として公表されています。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数字を整理しました。MCPサーバー数25,000、ツール数268,000、脆弱性数143,000、割合は73%、スキャン期間は買収発表までの2か月間です。いずれもEnkrypt AI自身の公表値である点にご注意ください。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スキャン規模を比較します。単位は千件です。MCPサーバー数25千、ツール数268千、脆弱性件数143千で、ツール数が最も多く、脆弱性件数はツール数の半分以上を占めています。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脆弱性が見つかったMCPサーバーの割合はこちら、73%です。スキャン対象の25,000サーバーのうち、7割超で脆弱性が見つかったとされています。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Anacondaとはどんな会社か紹介します。データサイエンス・AIプラットフォーム企業で、直近では2026年7月にオープンソースのコーディングエージェント「Kilo Code」を買収しています。今回の買収により、プロンプトを書く段階から本番稼働まで一貫してAIセキュリティ・ガバナンス・コンプライアンスを提供するとしています。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Enkrypt AIとはどんな会社か紹介します。AIセキュリティ・コンプライアンス企業で、買収発表時点では2か月で25,000のMCPサーバー・268,000のツールをスキャンし143,000件の脆弱性を発見したと公表しています。一方、創業者名・従業員数・設立年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前と買収後のAnacondaを比較します。買収前はデータサイエンス・AIプラットフォームとコーディングエージェントが中心でしたが、買収後はプロンプトを書く段階から本番稼働まで、AIセキュリティ・ガバナンス・コンプライアンスを一貫して提供するとAnacondaは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Anacondaが説明する開発パイプライン全体像です。プロンプト作成、開発・実装、事前配備のレッドチーミング、そして本番稼働時のランタイムガードレールまで、一連の流れをカバーするとしています。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文脈を確認します。今回の買収は、2026年7月に行われたコーディングエージェント「Kilo Code」買収に続くものです。開発を強化したKilo Code買収に続き、今回はセキュリティを強化する形になっており、両買収とも金額は非公開です。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Anacondaの事業ポートフォリオ拡大を概要図で示します。既存のデータサイエンス・AIプラットフォーム事業に、2026年7月のKilo Code買収、2026年8月のEnkrypt AI買収が続く形で加わっています。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事実と未確認情報を区別します。買収の発表やスキャン実績の数字、統合される機能は確認できていますが、買収金額や創業者情報、脆弱性の内訳、統合スケジュール、他社との技術的な違い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確認できたこと・できなかったことを正直に整理します。買収金額は非公開、Enkrypt AIの創業者情報や脆弱性の内訳、統合スケジュール、他社との技術的な違いはいずれも確認できていません。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未確認事項を一覧にしました。買収金額、創業者情報、脆弱性の深刻度別内訳、統合スケジュール、他社との技術的な違い、いずれも本調査の範囲では確認できていません。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業界文脈です。ここからは推測になります。AIエージェントやMCPの普及に伴い、セキュリティ企業の買収・統合が業界で進んでいると考えられますが、Enkrypt AI固有の技術的優位性は確認できていません。本テーマは事実の紹介に留めます。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直近141本目のテーマとの関係を確認します。141本目はObsidian Securityの資金調達でしたが、本テーマはAnacondaによるEnkrypt AIの買収です。分野は近いものの、事象と対象企業が異なるため重複ではありません。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公平性・中立性について開示します。実在企業名はテキストとしてのみ使用し、特定企業・製品の利用を強く推奨する結論にはしていません。政治的中立性も保っています。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出典一覧です。HPCwire/AIwireの報道記事と、Anaconda公式ブログの2つを主な出典としています。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鮮度と採用スコアを開示します。発表は2026年8月4日、着手日は2026年8月5日で、1日以内という良好な鮮度です。採用スコアは75点、良好な鮮度と具体的な数字が評価されました。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既存テーマとの関係を確認しました。Anaconda/Enkrypt AI買収を主題とした既存テーマはなく、141本目のObsidian Securityとも事象・対象企業が異なるため重複ではありません。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特定製品を推奨しないことを改めて確認します。本テーマは買収という事実の紹介に留め、製品導入を断定的に推奨してはいません。143,000件という数字もEnkrypt AI自身の公表値であり、第三者検証ではない点に留意しています。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AIエージェントの数だけ増える穴、セキュリティ企業の買収は今後どこまで続くのでしょうか。Anaconda/Enkrypt AIの続報を、確定事実と未確認情報を区別しながら注目していきましょう。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まとめです。Anacondaが、AIセキュリティ・コンプライアンス企業Enkrypt AIを買収したと発表しました。Enkrypt AIは2か月で25,000のMCPサーバー・268,000のツールをスキャンし、143,000件の脆弱性を発見したと公表しています。一方で買収金額や創業者情報、脆弱性の内訳、統合スケジュール、競合との違いは未確認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スキャンしたMCPサーバーの73%が脆弱?14万3000件の穴を見つけた企業をAnacondaが買収</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Anaconda、AIセキュリティ企業Enkrypt AIを買収(2026年8月4日発表、買収額非公開)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HPCwire/AIwire(2026-08-04)ほか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何が起きたのか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衝撃の数字: 14万3000件の脆弱性とは</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初心者向け: MCPとは何か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Enkrypt AIが2か月で見つけたこと</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Anacondaによる買収の狙いと文脈</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Anacondaが2026年8月4日、AIセキュリティ・コンプライアンス企業Enkrypt AIを買収したと発表</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買収金額は非公開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Enkrypt AIは買収発表までの2か月間で、25,000のMCPサーバーにまたがる268,000のツールをスキャンした</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スキャンの結果、143,000件の脆弱性を発見。これはスキャン対象MCPサーバーの73%に影響する規模だという</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HPCwire/AIwire(2026-08-04)、Anaconda公式ブログ</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今回明らかになった脆弱性の件数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143,000件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Enkrypt AIが買収発表までの2か月間でスキャンして発見した脆弱性の件数(同社公表値)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HPCwire/AIwire(2026-08-04)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買収概要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企業名(買収する側)</a:t>
                      </a:r>
                    </a:p>
                  </a:txBody>
                  <a:tcPr>
                    <a:solidFill>
                      <a:srgbClr val="FFFFFF"/>
                    </a:solidFill>
                  </a:tcPr>
                </a:tc>
                <a:tc>
                  <a:txBody>
                    <a:bodyPr/>
                    <a:lstStyle/>
                    <a:p>
                      <a:pPr>
                        <a:defRPr sz="1200">
                          <a:solidFill>
                            <a:srgbClr val="1C1B33"/>
                          </a:solidFill>
                          <a:latin typeface="Yu Gothic"/>
                        </a:defRPr>
                      </a:pPr>
                      <a:r>
                        <a:t>Anaconda</a:t>
                      </a:r>
                    </a:p>
                  </a:txBody>
                  <a:tcPr>
                    <a:solidFill>
                      <a:srgbClr val="FFFFFF"/>
                    </a:solidFill>
                  </a:tcPr>
                </a:tc>
              </a:tr>
              <a:tr h="502920">
                <a:tc>
                  <a:txBody>
                    <a:bodyPr/>
                    <a:lstStyle/>
                    <a:p>
                      <a:pPr>
                        <a:defRPr sz="1200">
                          <a:solidFill>
                            <a:srgbClr val="1C1B33"/>
                          </a:solidFill>
                          <a:latin typeface="Yu Gothic"/>
                        </a:defRPr>
                      </a:pPr>
                      <a:r>
                        <a:t>企業名(買収される側)</a:t>
                      </a:r>
                    </a:p>
                  </a:txBody>
                  <a:tcPr>
                    <a:solidFill>
                      <a:srgbClr val="F4F3FC"/>
                    </a:solidFill>
                  </a:tcPr>
                </a:tc>
                <a:tc>
                  <a:txBody>
                    <a:bodyPr/>
                    <a:lstStyle/>
                    <a:p>
                      <a:pPr>
                        <a:defRPr sz="1200">
                          <a:solidFill>
                            <a:srgbClr val="1C1B33"/>
                          </a:solidFill>
                          <a:latin typeface="Yu Gothic"/>
                        </a:defRPr>
                      </a:pPr>
                      <a:r>
                        <a:t>Enkrypt AI</a:t>
                      </a:r>
                    </a:p>
                  </a:txBody>
                  <a:tcPr>
                    <a:solidFill>
                      <a:srgbClr val="F4F3FC"/>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2026年8月4日</a:t>
                      </a:r>
                    </a:p>
                  </a:txBody>
                  <a:tcPr>
                    <a:solidFill>
                      <a:srgbClr val="FFFFFF"/>
                    </a:solidFill>
                  </a:tcPr>
                </a:tc>
              </a:tr>
              <a:tr h="502920">
                <a:tc>
                  <a:txBody>
                    <a:bodyPr/>
                    <a:lstStyle/>
                    <a:p>
                      <a:pPr>
                        <a:defRPr sz="1200">
                          <a:solidFill>
                            <a:srgbClr val="1C1B33"/>
                          </a:solidFill>
                          <a:latin typeface="Yu Gothic"/>
                        </a:defRPr>
                      </a:pPr>
                      <a:r>
                        <a:t>買収金額</a:t>
                      </a:r>
                    </a:p>
                  </a:txBody>
                  <a:tcPr>
                    <a:solidFill>
                      <a:srgbClr val="F4F3FC"/>
                    </a:solidFill>
                  </a:tcPr>
                </a:tc>
                <a:tc>
                  <a:txBody>
                    <a:bodyPr/>
                    <a:lstStyle/>
                    <a:p>
                      <a:pPr>
                        <a:defRPr sz="1200">
                          <a:solidFill>
                            <a:srgbClr val="1C1B33"/>
                          </a:solidFill>
                          <a:latin typeface="Yu Gothic"/>
                        </a:defRPr>
                      </a:pPr>
                      <a:r>
                        <a:t>非公開</a:t>
                      </a:r>
                    </a:p>
                  </a:txBody>
                  <a:tcPr>
                    <a:solidFill>
                      <a:srgbClr val="F4F3FC"/>
                    </a:solidFill>
                  </a:tcPr>
                </a:tc>
              </a:tr>
              <a:tr h="502920">
                <a:tc>
                  <a:txBody>
                    <a:bodyPr/>
                    <a:lstStyle/>
                    <a:p>
                      <a:pPr>
                        <a:defRPr sz="1200">
                          <a:solidFill>
                            <a:srgbClr val="1C1B33"/>
                          </a:solidFill>
                          <a:latin typeface="Yu Gothic"/>
                        </a:defRPr>
                      </a:pPr>
                      <a:r>
                        <a:t>Anacondaの事業領域</a:t>
                      </a:r>
                    </a:p>
                  </a:txBody>
                  <a:tcPr>
                    <a:solidFill>
                      <a:srgbClr val="FFFFFF"/>
                    </a:solidFill>
                  </a:tcPr>
                </a:tc>
                <a:tc>
                  <a:txBody>
                    <a:bodyPr/>
                    <a:lstStyle/>
                    <a:p>
                      <a:pPr>
                        <a:defRPr sz="1200">
                          <a:solidFill>
                            <a:srgbClr val="1C1B33"/>
                          </a:solidFill>
                          <a:latin typeface="Yu Gothic"/>
                        </a:defRPr>
                      </a:pPr>
                      <a:r>
                        <a:t>データサイエンス・AIプラットフォーム</a:t>
                      </a:r>
                    </a:p>
                  </a:txBody>
                  <a:tcPr>
                    <a:solidFill>
                      <a:srgbClr val="FFFFFF"/>
                    </a:solidFill>
                  </a:tcPr>
                </a:tc>
              </a:tr>
              <a:tr h="502920">
                <a:tc>
                  <a:txBody>
                    <a:bodyPr/>
                    <a:lstStyle/>
                    <a:p>
                      <a:pPr>
                        <a:defRPr sz="1200">
                          <a:solidFill>
                            <a:srgbClr val="1C1B33"/>
                          </a:solidFill>
                          <a:latin typeface="Yu Gothic"/>
                        </a:defRPr>
                      </a:pPr>
                      <a:r>
                        <a:t>Enkrypt AIの事業領域</a:t>
                      </a:r>
                    </a:p>
                  </a:txBody>
                  <a:tcPr>
                    <a:solidFill>
                      <a:srgbClr val="F4F3FC"/>
                    </a:solidFill>
                  </a:tcPr>
                </a:tc>
                <a:tc>
                  <a:txBody>
                    <a:bodyPr/>
                    <a:lstStyle/>
                    <a:p>
                      <a:pPr>
                        <a:defRPr sz="1200">
                          <a:solidFill>
                            <a:srgbClr val="1C1B33"/>
                          </a:solidFill>
                          <a:latin typeface="Yu Gothic"/>
                        </a:defRPr>
                      </a:pPr>
                      <a:r>
                        <a:t>AIセキュリティ・コンプライアンス</a:t>
                      </a:r>
                    </a:p>
                  </a:txBody>
                  <a:tcPr>
                    <a:solidFill>
                      <a:srgbClr val="F4F3FC"/>
                    </a:solidFill>
                  </a:tcPr>
                </a:tc>
              </a:tr>
              <a:tr h="502920">
                <a:tc>
                  <a:txBody>
                    <a:bodyPr/>
                    <a:lstStyle/>
                    <a:p>
                      <a:pPr>
                        <a:defRPr sz="1200">
                          <a:solidFill>
                            <a:srgbClr val="1C1B33"/>
                          </a:solidFill>
                          <a:latin typeface="Yu Gothic"/>
                        </a:defRPr>
                      </a:pPr>
                      <a:r>
                        <a:t>直前の関連買収</a:t>
                      </a:r>
                    </a:p>
                  </a:txBody>
                  <a:tcPr>
                    <a:solidFill>
                      <a:srgbClr val="FFFFFF"/>
                    </a:solidFill>
                  </a:tcPr>
                </a:tc>
                <a:tc>
                  <a:txBody>
                    <a:bodyPr/>
                    <a:lstStyle/>
                    <a:p>
                      <a:pPr>
                        <a:defRPr sz="1200">
                          <a:solidFill>
                            <a:srgbClr val="1C1B33"/>
                          </a:solidFill>
                          <a:latin typeface="Yu Gothic"/>
                        </a:defRPr>
                      </a:pPr>
                      <a:r>
                        <a:t>2026年7月に発表されたオープンソースのコーディングエージェント「Kilo Code」の買収</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統合される主な機能</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事前配備(pre-deployment)のレッドチーミング</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300以上の攻撃カテゴリにわたる評価</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実行時(ランタイム)ガードレール</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稼働中のAIエージェントの挙動を監視・制御</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コンプライアンス自動化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NIST・EU AI Act準拠の自動化機能</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Enkrypt AIのスキャンの流れ(報道内容に基づく概要)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MCPサーバー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25,000のMCPサーバーが調査対象</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ツール</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268,000のツールをスキャン</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発見された脆弱性</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143,000件、対象サーバーの73%に影響</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報道内容に基づく概要図。スキャン手法の技術的な詳細は未確認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 MCPとは何か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MCP(Model Context Protocol)とは、AIエージェントが外部のツールやデータに接続するための共通規格</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AIエージェントはMCPサーバーを通じて、社内システムやAPIなど様々な「ツール」を呼び出して動作する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MCPサーバー・ツールが増えるほどAIエージェントが扱える処理は広がるが、その分セキュリティ上の抜け穴も増える可能性がある</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今回Enkrypt AIが実施したのは、こうしたMCPサーバー・ツール群の脆弱性を洗い出すスキャンだった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HPCwire/AIwire(2026-08-04)の報道内容に基づく一般的な整理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スキャンされたツールの数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268,000個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25,000のMCPサーバーにまたがってスキャンされたツールの総数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HPCwire/AIwire(2026-08-04)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数字の整理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E2A72"/>
                    </a:solidFill>
                  </a:tcPr>
                </a:tc>
                <a:tc>
                  <a:txBody>
                    <a:bodyPr/>
                    <a:lstStyle/>
                    <a:p>
                      <a:pPr>
                        <a:defRPr sz="1300" b="1">
                          <a:solidFill>
                            <a:srgbClr val="FFFFFF"/>
                          </a:solidFill>
                          <a:latin typeface="Yu Gothic"/>
                        </a:defRPr>
                      </a:pPr>
                      <a:r>
                        <a:t>数値</a:t>
                      </a:r>
                    </a:p>
                  </a:txBody>
                  <a:tcPr>
                    <a:solidFill>
                      <a:srgbClr val="2E2A72"/>
                    </a:solidFill>
                  </a:tcPr>
                </a:tc>
              </a:tr>
              <a:tr h="502920">
                <a:tc>
                  <a:txBody>
                    <a:bodyPr/>
                    <a:lstStyle/>
                    <a:p>
                      <a:pPr>
                        <a:defRPr sz="1200">
                          <a:solidFill>
                            <a:srgbClr val="1C1B33"/>
                          </a:solidFill>
                          <a:latin typeface="Yu Gothic"/>
                        </a:defRPr>
                      </a:pPr>
                      <a:r>
                        <a:t>スキャン対象のMCPサーバー数</a:t>
                      </a:r>
                    </a:p>
                  </a:txBody>
                  <a:tcPr>
                    <a:solidFill>
                      <a:srgbClr val="FFFFFF"/>
                    </a:solidFill>
                  </a:tcPr>
                </a:tc>
                <a:tc>
                  <a:txBody>
                    <a:bodyPr/>
                    <a:lstStyle/>
                    <a:p>
                      <a:pPr>
                        <a:defRPr sz="1200">
                          <a:solidFill>
                            <a:srgbClr val="1C1B33"/>
                          </a:solidFill>
                          <a:latin typeface="Yu Gothic"/>
                        </a:defRPr>
                      </a:pPr>
                      <a:r>
                        <a:t>25,000</a:t>
                      </a:r>
                    </a:p>
                  </a:txBody>
                  <a:tcPr>
                    <a:solidFill>
                      <a:srgbClr val="FFFFFF"/>
                    </a:solidFill>
                  </a:tcPr>
                </a:tc>
              </a:tr>
              <a:tr h="502920">
                <a:tc>
                  <a:txBody>
                    <a:bodyPr/>
                    <a:lstStyle/>
                    <a:p>
                      <a:pPr>
                        <a:defRPr sz="1200">
                          <a:solidFill>
                            <a:srgbClr val="1C1B33"/>
                          </a:solidFill>
                          <a:latin typeface="Yu Gothic"/>
                        </a:defRPr>
                      </a:pPr>
                      <a:r>
                        <a:t>スキャンされたツール数</a:t>
                      </a:r>
                    </a:p>
                  </a:txBody>
                  <a:tcPr>
                    <a:solidFill>
                      <a:srgbClr val="F4F3FC"/>
                    </a:solidFill>
                  </a:tcPr>
                </a:tc>
                <a:tc>
                  <a:txBody>
                    <a:bodyPr/>
                    <a:lstStyle/>
                    <a:p>
                      <a:pPr>
                        <a:defRPr sz="1200">
                          <a:solidFill>
                            <a:srgbClr val="1C1B33"/>
                          </a:solidFill>
                          <a:latin typeface="Yu Gothic"/>
                        </a:defRPr>
                      </a:pPr>
                      <a:r>
                        <a:t>268,000</a:t>
                      </a:r>
                    </a:p>
                  </a:txBody>
                  <a:tcPr>
                    <a:solidFill>
                      <a:srgbClr val="F4F3FC"/>
                    </a:solidFill>
                  </a:tcPr>
                </a:tc>
              </a:tr>
              <a:tr h="502920">
                <a:tc>
                  <a:txBody>
                    <a:bodyPr/>
                    <a:lstStyle/>
                    <a:p>
                      <a:pPr>
                        <a:defRPr sz="1200">
                          <a:solidFill>
                            <a:srgbClr val="1C1B33"/>
                          </a:solidFill>
                          <a:latin typeface="Yu Gothic"/>
                        </a:defRPr>
                      </a:pPr>
                      <a:r>
                        <a:t>発見された脆弱性数</a:t>
                      </a:r>
                    </a:p>
                  </a:txBody>
                  <a:tcPr>
                    <a:solidFill>
                      <a:srgbClr val="FFFFFF"/>
                    </a:solidFill>
                  </a:tcPr>
                </a:tc>
                <a:tc>
                  <a:txBody>
                    <a:bodyPr/>
                    <a:lstStyle/>
                    <a:p>
                      <a:pPr>
                        <a:defRPr sz="1200">
                          <a:solidFill>
                            <a:srgbClr val="1C1B33"/>
                          </a:solidFill>
                          <a:latin typeface="Yu Gothic"/>
                        </a:defRPr>
                      </a:pPr>
                      <a:r>
                        <a:t>143,000</a:t>
                      </a:r>
                    </a:p>
                  </a:txBody>
                  <a:tcPr>
                    <a:solidFill>
                      <a:srgbClr val="FFFFFF"/>
                    </a:solidFill>
                  </a:tcPr>
                </a:tc>
              </a:tr>
              <a:tr h="502920">
                <a:tc>
                  <a:txBody>
                    <a:bodyPr/>
                    <a:lstStyle/>
                    <a:p>
                      <a:pPr>
                        <a:defRPr sz="1200">
                          <a:solidFill>
                            <a:srgbClr val="1C1B33"/>
                          </a:solidFill>
                          <a:latin typeface="Yu Gothic"/>
                        </a:defRPr>
                      </a:pPr>
                      <a:r>
                        <a:t>脆弱性が見つかったMCPサーバーの割合</a:t>
                      </a:r>
                    </a:p>
                  </a:txBody>
                  <a:tcPr>
                    <a:solidFill>
                      <a:srgbClr val="F4F3FC"/>
                    </a:solidFill>
                  </a:tcPr>
                </a:tc>
                <a:tc>
                  <a:txBody>
                    <a:bodyPr/>
                    <a:lstStyle/>
                    <a:p>
                      <a:pPr>
                        <a:defRPr sz="1200">
                          <a:solidFill>
                            <a:srgbClr val="1C1B33"/>
                          </a:solidFill>
                          <a:latin typeface="Yu Gothic"/>
                        </a:defRPr>
                      </a:pPr>
                      <a:r>
                        <a:t>73%</a:t>
                      </a:r>
                    </a:p>
                  </a:txBody>
                  <a:tcPr>
                    <a:solidFill>
                      <a:srgbClr val="F4F3FC"/>
                    </a:solidFill>
                  </a:tcPr>
                </a:tc>
              </a:tr>
              <a:tr h="502920">
                <a:tc>
                  <a:txBody>
                    <a:bodyPr/>
                    <a:lstStyle/>
                    <a:p>
                      <a:pPr>
                        <a:defRPr sz="1200">
                          <a:solidFill>
                            <a:srgbClr val="1C1B33"/>
                          </a:solidFill>
                          <a:latin typeface="Yu Gothic"/>
                        </a:defRPr>
                      </a:pPr>
                      <a:r>
                        <a:t>スキャン期間</a:t>
                      </a:r>
                    </a:p>
                  </a:txBody>
                  <a:tcPr>
                    <a:solidFill>
                      <a:srgbClr val="FFFFFF"/>
                    </a:solidFill>
                  </a:tcPr>
                </a:tc>
                <a:tc>
                  <a:txBody>
                    <a:bodyPr/>
                    <a:lstStyle/>
                    <a:p>
                      <a:pPr>
                        <a:defRPr sz="1200">
                          <a:solidFill>
                            <a:srgbClr val="1C1B33"/>
                          </a:solidFill>
                          <a:latin typeface="Yu Gothic"/>
                        </a:defRPr>
                      </a:pPr>
                      <a:r>
                        <a:t>買収発表までの2か月間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HPCwire/AIwire(2026-08-04)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スキャン規模の比較(単位: 千)</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HPCwire/AIwire(2026-08-04)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脆弱性が見つかったMCPサーバーの割合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73%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スキャン対象の25,000サーバーのうち、脆弱性が見つかった割合(Enkrypt AI公表値)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HPCwire/AIwire(2026-08-04)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Anacondaとはどんな会社か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事業領域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データサイエンス・AIプラットフォーム企業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直近の動き</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2026年7月にオープンソースのコーディングエージェント「Kilo Code」を買収</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今回の買収の狙い(Anacondaの説明)</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プロンプトを書く段階から本番稼働まで、AIセキュリティ・ガバナンス・コンプライアンスを一貫して提供する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Enkrypt AIとはどんな会社か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事業領域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AIセキュリティ・コンプライアンス企業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主な実績(買収発表時点で公表)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2か月で25,000のMCPサーバー・268,000のツールをスキャンし143,000件の脆弱性を発見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創業者・従業員数・設立年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不明(本調査の範囲では確認できていない)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買収前 vs 買収後(Anacondaの説明に基づく)</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買収前のAnaconda</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データサイエンス・AIプラットフォームとコーディングエージェント(Kilo Code)が中心</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AIエージェントのセキュリティ・コンプライアンス機能は自社に持っていなかった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買収後のAnaconda(同社の説明)</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プロンプトを書く最初の段階から本番稼働まで、AIセキュリティ・ガバナンス・コンプライアンスを一貫して提供するとする</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事前配備のレッドチーミング・ランタイムガードレール・コンプライアンス自動化を統合</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Anacondaが説明する開発パイプライン全体像</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1. プロンプト作成</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開発者が最初にプロンプトを書く段階</a:t>
            </a:r>
          </a:p>
        </p:txBody>
      </p:sp>
      <p:sp>
        <p:nvSpPr>
          <p:cNvPr id="11" name="Chevron 10"/>
          <p:cNvSpPr/>
          <p:nvPr/>
        </p:nvSpPr>
        <p:spPr>
          <a:xfrm>
            <a:off x="3068040"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2. 開発・実装</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AIネイティブなアプリケーションを構築する段階</a:t>
            </a:r>
          </a:p>
        </p:txBody>
      </p:sp>
      <p:sp>
        <p:nvSpPr>
          <p:cNvPr id="17" name="Chevron 16"/>
          <p:cNvSpPr/>
          <p:nvPr/>
        </p:nvSpPr>
        <p:spPr>
          <a:xfrm>
            <a:off x="5978804"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3. 事前配備のレッドチーミング</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本番稼働前に300以上の攻撃カテゴリで評価(Enkrypt AI由来の機能)</a:t>
            </a:r>
          </a:p>
        </p:txBody>
      </p:sp>
      <p:sp>
        <p:nvSpPr>
          <p:cNvPr id="23" name="Chevron 22"/>
          <p:cNvSpPr/>
          <p:nvPr/>
        </p:nvSpPr>
        <p:spPr>
          <a:xfrm>
            <a:off x="8889568"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4. 本番稼働・ランタイムガードレール</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稼働中の挙動を監視・制御し、NIST・EU AI Act準拠を自動化</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文脈: Kilo Code買収に続く動き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今回の買収は、Anacondaが2026年7月に行ったオープンソースのコーディングエージェント「Kilo Code」買収に続くもの</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Kilo Code買収でAIエージェントの「開発」を、今回のEnkrypt AI買収で「セキュリティ」を強化する形になっている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Anacondaはこれにより、開発からセキュリティまでを自社内でカバーする方針とみられる(報道内容に基づく整理)</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両買収の金額はいずれも非公開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HPCwire/AIwire(2026-08-04)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Anacondaの事業ポートフォリオ拡大(概要)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データサイエンス・AIプラットフォーム(既存事業)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Anacondaの中核事業</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Kilo Code(2026年7月買収)</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オープンソースのコーディングエージェント</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Enkrypt AI(2026年8月買収)</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AIセキュリティ・コンプライアンス</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報道内容に基づく概要図。買収による具体的な統合スケジュールは未確認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確定事実と未確認情報の区別</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確定事実(複数媒体で確認)</a:t>
                      </a:r>
                    </a:p>
                  </a:txBody>
                  <a:tcPr>
                    <a:solidFill>
                      <a:srgbClr val="FFFFFF"/>
                    </a:solidFill>
                  </a:tcPr>
                </a:tc>
                <a:tc>
                  <a:txBody>
                    <a:bodyPr/>
                    <a:lstStyle/>
                    <a:p>
                      <a:pPr>
                        <a:defRPr sz="1200">
                          <a:solidFill>
                            <a:srgbClr val="1C1B33"/>
                          </a:solidFill>
                          <a:latin typeface="Yu Gothic"/>
                        </a:defRPr>
                      </a:pPr>
                      <a:r>
                        <a:t>買収の発表・買収額非公開・スキャン実績の数字(25,000サーバー・268,000ツール・143,000件・73%)・統合される機能</a:t>
                      </a:r>
                    </a:p>
                  </a:txBody>
                  <a:tcPr>
                    <a:solidFill>
                      <a:srgbClr val="FFFFFF"/>
                    </a:solidFill>
                  </a:tcPr>
                </a:tc>
              </a:tr>
              <a:tr h="502920">
                <a:tc>
                  <a:txBody>
                    <a:bodyPr/>
                    <a:lstStyle/>
                    <a:p>
                      <a:pPr>
                        <a:defRPr sz="1200">
                          <a:solidFill>
                            <a:srgbClr val="1C1B33"/>
                          </a:solidFill>
                          <a:latin typeface="Yu Gothic"/>
                        </a:defRPr>
                      </a:pPr>
                      <a:r>
                        <a:t>未確認・不明</a:t>
                      </a:r>
                    </a:p>
                  </a:txBody>
                  <a:tcPr>
                    <a:solidFill>
                      <a:srgbClr val="F4F3FC"/>
                    </a:solidFill>
                  </a:tcPr>
                </a:tc>
                <a:tc>
                  <a:txBody>
                    <a:bodyPr/>
                    <a:lstStyle/>
                    <a:p>
                      <a:pPr>
                        <a:defRPr sz="1200">
                          <a:solidFill>
                            <a:srgbClr val="1C1B33"/>
                          </a:solidFill>
                          <a:latin typeface="Yu Gothic"/>
                        </a:defRPr>
                      </a:pPr>
                      <a:r>
                        <a:t>買収金額・Enkrypt AIの創業者名や従業員数や設立年・脆弱性の深刻度別内訳・統合の具体的スケジュール・他社との技術的な違い</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買収金額は非公開のため不明</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Enkrypt AIの創業者名・従業員数・設立年は本調査の範囲では確認できていない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143,000件の脆弱性の具体的な内訳(深刻度別の分類など)は確認できていない</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買収後の製品統合の具体的なスケジュールは確認できていない</a:t>
            </a:r>
          </a:p>
        </p:txBody>
      </p:sp>
      <p:sp>
        <p:nvSpPr>
          <p:cNvPr id="14" name="Oval 13"/>
          <p:cNvSpPr/>
          <p:nvPr/>
        </p:nvSpPr>
        <p:spPr>
          <a:xfrm>
            <a:off x="457200" y="459028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他のAIセキュリティ企業(例: Obsidian Security・Zenity等)との技術的な違い・競合関係は確認できていない</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HPCwire/AIwire、Anaconda公式ブログ(research.md参照)</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未確認事項一覧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買収金額</a:t>
                      </a:r>
                    </a:p>
                  </a:txBody>
                  <a:tcPr>
                    <a:solidFill>
                      <a:srgbClr val="FFFFFF"/>
                    </a:solidFill>
                  </a:tcPr>
                </a:tc>
                <a:tc>
                  <a:txBody>
                    <a:bodyPr/>
                    <a:lstStyle/>
                    <a:p>
                      <a:pPr>
                        <a:defRPr sz="1200">
                          <a:solidFill>
                            <a:srgbClr val="1C1B33"/>
                          </a:solidFill>
                          <a:latin typeface="Yu Gothic"/>
                        </a:defRPr>
                      </a:pPr>
                      <a:r>
                        <a:t>非公開のため不明</a:t>
                      </a:r>
                    </a:p>
                  </a:txBody>
                  <a:tcPr>
                    <a:solidFill>
                      <a:srgbClr val="FFFFFF"/>
                    </a:solidFill>
                  </a:tcPr>
                </a:tc>
              </a:tr>
              <a:tr h="502920">
                <a:tc>
                  <a:txBody>
                    <a:bodyPr/>
                    <a:lstStyle/>
                    <a:p>
                      <a:pPr>
                        <a:defRPr sz="1200">
                          <a:solidFill>
                            <a:srgbClr val="1C1B33"/>
                          </a:solidFill>
                          <a:latin typeface="Yu Gothic"/>
                        </a:defRPr>
                      </a:pPr>
                      <a:r>
                        <a:t>Enkrypt AIの創業者名・従業員数・設立年</a:t>
                      </a:r>
                    </a:p>
                  </a:txBody>
                  <a:tcPr>
                    <a:solidFill>
                      <a:srgbClr val="F4F3FC"/>
                    </a:solidFill>
                  </a:tcPr>
                </a:tc>
                <a:tc>
                  <a:txBody>
                    <a:bodyPr/>
                    <a:lstStyle/>
                    <a:p>
                      <a:pPr>
                        <a:defRPr sz="1200">
                          <a:solidFill>
                            <a:srgbClr val="1C1B33"/>
                          </a:solidFill>
                          <a:latin typeface="Yu Gothic"/>
                        </a:defRPr>
                      </a:pPr>
                      <a:r>
                        <a:t>未確認</a:t>
                      </a:r>
                    </a:p>
                  </a:txBody>
                  <a:tcPr>
                    <a:solidFill>
                      <a:srgbClr val="F4F3FC"/>
                    </a:solidFill>
                  </a:tcPr>
                </a:tc>
              </a:tr>
              <a:tr h="502920">
                <a:tc>
                  <a:txBody>
                    <a:bodyPr/>
                    <a:lstStyle/>
                    <a:p>
                      <a:pPr>
                        <a:defRPr sz="1200">
                          <a:solidFill>
                            <a:srgbClr val="1C1B33"/>
                          </a:solidFill>
                          <a:latin typeface="Yu Gothic"/>
                        </a:defRPr>
                      </a:pPr>
                      <a:r>
                        <a:t>143,000件の脆弱性の深刻度別内訳</a:t>
                      </a:r>
                    </a:p>
                  </a:txBody>
                  <a:tcPr>
                    <a:solidFill>
                      <a:srgbClr val="FFFFFF"/>
                    </a:solidFill>
                  </a:tcPr>
                </a:tc>
                <a:tc>
                  <a:txBody>
                    <a:bodyPr/>
                    <a:lstStyle/>
                    <a:p>
                      <a:pPr>
                        <a:defRPr sz="1200">
                          <a:solidFill>
                            <a:srgbClr val="1C1B33"/>
                          </a:solidFill>
                          <a:latin typeface="Yu Gothic"/>
                        </a:defRPr>
                      </a:pPr>
                      <a:r>
                        <a:t>未確認</a:t>
                      </a:r>
                    </a:p>
                  </a:txBody>
                  <a:tcPr>
                    <a:solidFill>
                      <a:srgbClr val="FFFFFF"/>
                    </a:solidFill>
                  </a:tcPr>
                </a:tc>
              </a:tr>
              <a:tr h="502920">
                <a:tc>
                  <a:txBody>
                    <a:bodyPr/>
                    <a:lstStyle/>
                    <a:p>
                      <a:pPr>
                        <a:defRPr sz="1200">
                          <a:solidFill>
                            <a:srgbClr val="1C1B33"/>
                          </a:solidFill>
                          <a:latin typeface="Yu Gothic"/>
                        </a:defRPr>
                      </a:pPr>
                      <a:r>
                        <a:t>買収後の製品統合の具体的なスケジュール</a:t>
                      </a:r>
                    </a:p>
                  </a:txBody>
                  <a:tcPr>
                    <a:solidFill>
                      <a:srgbClr val="F4F3FC"/>
                    </a:solidFill>
                  </a:tcPr>
                </a:tc>
                <a:tc>
                  <a:txBody>
                    <a:bodyPr/>
                    <a:lstStyle/>
                    <a:p>
                      <a:pPr>
                        <a:defRPr sz="1200">
                          <a:solidFill>
                            <a:srgbClr val="1C1B33"/>
                          </a:solidFill>
                          <a:latin typeface="Yu Gothic"/>
                        </a:defRPr>
                      </a:pPr>
                      <a:r>
                        <a:t>未確認</a:t>
                      </a:r>
                    </a:p>
                  </a:txBody>
                  <a:tcPr>
                    <a:solidFill>
                      <a:srgbClr val="F4F3FC"/>
                    </a:solidFill>
                  </a:tcPr>
                </a:tc>
              </a:tr>
              <a:tr h="502920">
                <a:tc>
                  <a:txBody>
                    <a:bodyPr/>
                    <a:lstStyle/>
                    <a:p>
                      <a:pPr>
                        <a:defRPr sz="1200">
                          <a:solidFill>
                            <a:srgbClr val="1C1B33"/>
                          </a:solidFill>
                          <a:latin typeface="Yu Gothic"/>
                        </a:defRPr>
                      </a:pPr>
                      <a:r>
                        <a:t>他のAIセキュリティ企業との技術的な違い・競合関係</a:t>
                      </a:r>
                    </a:p>
                  </a:txBody>
                  <a:tcPr>
                    <a:solidFill>
                      <a:srgbClr val="FFFFFF"/>
                    </a:solidFill>
                  </a:tcPr>
                </a:tc>
                <a:tc>
                  <a:txBody>
                    <a:bodyPr/>
                    <a:lstStyle/>
                    <a:p>
                      <a:pPr>
                        <a:defRPr sz="1200">
                          <a:solidFill>
                            <a:srgbClr val="1C1B33"/>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業界文脈(ここからは推測、確定情報ではない)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業界文脈(推測)</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AIエージェント・MCPの普及に伴い、セキュリティ企業の買収・統合が業界で進んでいると考えられる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注意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Enkrypt AI固有の技術的優位性や市場シェアは本調査の範囲では確認できていない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本テーマの立場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買収という事実の紹介に留め、特定製品の利用を推奨しない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直近テーマ(141本目)との関係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直近の関連テーマ</a:t>
                      </a:r>
                    </a:p>
                  </a:txBody>
                  <a:tcPr>
                    <a:solidFill>
                      <a:srgbClr val="FFFFFF"/>
                    </a:solidFill>
                  </a:tcPr>
                </a:tc>
                <a:tc>
                  <a:txBody>
                    <a:bodyPr/>
                    <a:lstStyle/>
                    <a:p>
                      <a:pPr>
                        <a:defRPr sz="1200">
                          <a:solidFill>
                            <a:srgbClr val="1C1B33"/>
                          </a:solidFill>
                          <a:latin typeface="Yu Gothic"/>
                        </a:defRPr>
                      </a:pPr>
                      <a:r>
                        <a:t>141本目「Obsidian Security シリーズD調達」(2026-08-04発表)</a:t>
                      </a:r>
                    </a:p>
                  </a:txBody>
                  <a:tcPr>
                    <a:solidFill>
                      <a:srgbClr val="FFFFFF"/>
                    </a:solidFill>
                  </a:tcPr>
                </a:tc>
              </a:tr>
              <a:tr h="502920">
                <a:tc>
                  <a:txBody>
                    <a:bodyPr/>
                    <a:lstStyle/>
                    <a:p>
                      <a:pPr>
                        <a:defRPr sz="1200">
                          <a:solidFill>
                            <a:srgbClr val="1C1B33"/>
                          </a:solidFill>
                          <a:latin typeface="Yu Gothic"/>
                        </a:defRPr>
                      </a:pPr>
                      <a:r>
                        <a:t>分野の近さ</a:t>
                      </a:r>
                    </a:p>
                  </a:txBody>
                  <a:tcPr>
                    <a:solidFill>
                      <a:srgbClr val="F4F3FC"/>
                    </a:solidFill>
                  </a:tcPr>
                </a:tc>
                <a:tc>
                  <a:txBody>
                    <a:bodyPr/>
                    <a:lstStyle/>
                    <a:p>
                      <a:pPr>
                        <a:defRPr sz="1200">
                          <a:solidFill>
                            <a:srgbClr val="1C1B33"/>
                          </a:solidFill>
                          <a:latin typeface="Yu Gothic"/>
                        </a:defRPr>
                      </a:pPr>
                      <a:r>
                        <a:t>いずれもAIエージェント・非人間IDのセキュリティという近い分野を扱う</a:t>
                      </a:r>
                    </a:p>
                  </a:txBody>
                  <a:tcPr>
                    <a:solidFill>
                      <a:srgbClr val="F4F3FC"/>
                    </a:solidFill>
                  </a:tcPr>
                </a:tc>
              </a:tr>
              <a:tr h="502920">
                <a:tc>
                  <a:txBody>
                    <a:bodyPr/>
                    <a:lstStyle/>
                    <a:p>
                      <a:pPr>
                        <a:defRPr sz="1200">
                          <a:solidFill>
                            <a:srgbClr val="1C1B33"/>
                          </a:solidFill>
                          <a:latin typeface="Yu Gothic"/>
                        </a:defRPr>
                      </a:pPr>
                      <a:r>
                        <a:t>事象の違い</a:t>
                      </a:r>
                    </a:p>
                  </a:txBody>
                  <a:tcPr>
                    <a:solidFill>
                      <a:srgbClr val="FFFFFF"/>
                    </a:solidFill>
                  </a:tcPr>
                </a:tc>
                <a:tc>
                  <a:txBody>
                    <a:bodyPr/>
                    <a:lstStyle/>
                    <a:p>
                      <a:pPr>
                        <a:defRPr sz="1200">
                          <a:solidFill>
                            <a:srgbClr val="1C1B33"/>
                          </a:solidFill>
                          <a:latin typeface="Yu Gothic"/>
                        </a:defRPr>
                      </a:pPr>
                      <a:r>
                        <a:t>141本目は資金調達(シリーズD)、本テーマ(143本目)はM&amp;A(買収)という異なる事象</a:t>
                      </a:r>
                    </a:p>
                  </a:txBody>
                  <a:tcPr>
                    <a:solidFill>
                      <a:srgbClr val="FFFFFF"/>
                    </a:solidFill>
                  </a:tcPr>
                </a:tc>
              </a:tr>
              <a:tr h="502920">
                <a:tc>
                  <a:txBody>
                    <a:bodyPr/>
                    <a:lstStyle/>
                    <a:p>
                      <a:pPr>
                        <a:defRPr sz="1200">
                          <a:solidFill>
                            <a:srgbClr val="1C1B33"/>
                          </a:solidFill>
                          <a:latin typeface="Yu Gothic"/>
                        </a:defRPr>
                      </a:pPr>
                      <a:r>
                        <a:t>対象企業の違い</a:t>
                      </a:r>
                    </a:p>
                  </a:txBody>
                  <a:tcPr>
                    <a:solidFill>
                      <a:srgbClr val="F4F3FC"/>
                    </a:solidFill>
                  </a:tcPr>
                </a:tc>
                <a:tc>
                  <a:txBody>
                    <a:bodyPr/>
                    <a:lstStyle/>
                    <a:p>
                      <a:pPr>
                        <a:defRPr sz="1200">
                          <a:solidFill>
                            <a:srgbClr val="1C1B33"/>
                          </a:solidFill>
                          <a:latin typeface="Yu Gothic"/>
                        </a:defRPr>
                      </a:pPr>
                      <a:r>
                        <a:t>Obsidian SecurityとAnaconda/Enkrypt AIは別企業であり重複ではない</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実在企業名(Anaconda・Enkrypt AI・Kilo Code等)はテキストとしてのみ使用し、ロゴ・写真は使用しない</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Anaconda・Enkrypt AIの製品導入を強く推奨する結論にはしていない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政治的中立性を保ち、特定国・地域を名指しで脅威主体として扱っていない</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出典記事の文章はそのまま引用せず、要約・独自の言葉で記述している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日付</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HPCwire/AIwire</a:t>
                      </a:r>
                    </a:p>
                  </a:txBody>
                  <a:tcPr>
                    <a:solidFill>
                      <a:srgbClr val="FFFFFF"/>
                    </a:solidFill>
                  </a:tcPr>
                </a:tc>
                <a:tc>
                  <a:txBody>
                    <a:bodyPr/>
                    <a:lstStyle/>
                    <a:p>
                      <a:pPr>
                        <a:defRPr sz="1200">
                          <a:solidFill>
                            <a:srgbClr val="1C1B33"/>
                          </a:solidFill>
                          <a:latin typeface="Yu Gothic"/>
                        </a:defRPr>
                      </a:pPr>
                      <a:r>
                        <a:t>2026-08-04</a:t>
                      </a:r>
                    </a:p>
                  </a:txBody>
                  <a:tcPr>
                    <a:solidFill>
                      <a:srgbClr val="FFFFFF"/>
                    </a:solidFill>
                  </a:tcPr>
                </a:tc>
                <a:tc>
                  <a:txBody>
                    <a:bodyPr/>
                    <a:lstStyle/>
                    <a:p>
                      <a:pPr>
                        <a:defRPr sz="1200">
                          <a:solidFill>
                            <a:srgbClr val="1C1B33"/>
                          </a:solidFill>
                          <a:latin typeface="Yu Gothic"/>
                        </a:defRPr>
                      </a:pPr>
                      <a:r>
                        <a:t>買収の発表・スキャン実績の数字・統合される機能の報道</a:t>
                      </a:r>
                    </a:p>
                  </a:txBody>
                  <a:tcPr>
                    <a:solidFill>
                      <a:srgbClr val="FFFFFF"/>
                    </a:solidFill>
                  </a:tcPr>
                </a:tc>
              </a:tr>
              <a:tr h="502920">
                <a:tc>
                  <a:txBody>
                    <a:bodyPr/>
                    <a:lstStyle/>
                    <a:p>
                      <a:pPr>
                        <a:defRPr sz="1200">
                          <a:solidFill>
                            <a:srgbClr val="1C1B33"/>
                          </a:solidFill>
                          <a:latin typeface="Yu Gothic"/>
                        </a:defRPr>
                      </a:pPr>
                      <a:r>
                        <a:t>Anaconda公式ブログ</a:t>
                      </a:r>
                    </a:p>
                  </a:txBody>
                  <a:tcPr>
                    <a:solidFill>
                      <a:srgbClr val="F4F3FC"/>
                    </a:solidFill>
                  </a:tcPr>
                </a:tc>
                <a:tc>
                  <a:txBody>
                    <a:bodyPr/>
                    <a:lstStyle/>
                    <a:p>
                      <a:pPr>
                        <a:defRPr sz="1200">
                          <a:solidFill>
                            <a:srgbClr val="1C1B33"/>
                          </a:solidFill>
                          <a:latin typeface="Yu Gothic"/>
                        </a:defRPr>
                      </a:pPr>
                      <a:r>
                        <a:t>2026-08-04</a:t>
                      </a:r>
                    </a:p>
                  </a:txBody>
                  <a:tcPr>
                    <a:solidFill>
                      <a:srgbClr val="F4F3FC"/>
                    </a:solidFill>
                  </a:tcPr>
                </a:tc>
                <a:tc>
                  <a:txBody>
                    <a:bodyPr/>
                    <a:lstStyle/>
                    <a:p>
                      <a:pPr>
                        <a:defRPr sz="1200">
                          <a:solidFill>
                            <a:srgbClr val="1C1B33"/>
                          </a:solidFill>
                          <a:latin typeface="Yu Gothic"/>
                        </a:defRPr>
                      </a:pPr>
                      <a:r>
                        <a:t>買収発表の公式ブログ</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鮮度と採用スコアの開示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2026年8月4日</a:t>
                      </a:r>
                    </a:p>
                  </a:txBody>
                  <a:tcPr>
                    <a:solidFill>
                      <a:srgbClr val="FFFFFF"/>
                    </a:solidFill>
                  </a:tcPr>
                </a:tc>
              </a:tr>
              <a:tr h="502920">
                <a:tc>
                  <a:txBody>
                    <a:bodyPr/>
                    <a:lstStyle/>
                    <a:p>
                      <a:pPr>
                        <a:defRPr sz="1200">
                          <a:solidFill>
                            <a:srgbClr val="1C1B33"/>
                          </a:solidFill>
                          <a:latin typeface="Yu Gothic"/>
                        </a:defRPr>
                      </a:pPr>
                      <a:r>
                        <a:t>着手日</a:t>
                      </a:r>
                    </a:p>
                  </a:txBody>
                  <a:tcPr>
                    <a:solidFill>
                      <a:srgbClr val="F4F3FC"/>
                    </a:solidFill>
                  </a:tcPr>
                </a:tc>
                <a:tc>
                  <a:txBody>
                    <a:bodyPr/>
                    <a:lstStyle/>
                    <a:p>
                      <a:pPr>
                        <a:defRPr sz="1200">
                          <a:solidFill>
                            <a:srgbClr val="1C1B33"/>
                          </a:solidFill>
                          <a:latin typeface="Yu Gothic"/>
                        </a:defRPr>
                      </a:pPr>
                      <a:r>
                        <a:t>2026年8月5日</a:t>
                      </a:r>
                    </a:p>
                  </a:txBody>
                  <a:tcPr>
                    <a:solidFill>
                      <a:srgbClr val="F4F3FC"/>
                    </a:solidFill>
                  </a:tcPr>
                </a:tc>
              </a:tr>
              <a:tr h="502920">
                <a:tc>
                  <a:txBody>
                    <a:bodyPr/>
                    <a:lstStyle/>
                    <a:p>
                      <a:pPr>
                        <a:defRPr sz="1200">
                          <a:solidFill>
                            <a:srgbClr val="1C1B33"/>
                          </a:solidFill>
                          <a:latin typeface="Yu Gothic"/>
                        </a:defRPr>
                      </a:pPr>
                      <a:r>
                        <a:t>鮮度</a:t>
                      </a:r>
                    </a:p>
                  </a:txBody>
                  <a:tcPr>
                    <a:solidFill>
                      <a:srgbClr val="FFFFFF"/>
                    </a:solidFill>
                  </a:tcPr>
                </a:tc>
                <a:tc>
                  <a:txBody>
                    <a:bodyPr/>
                    <a:lstStyle/>
                    <a:p>
                      <a:pPr>
                        <a:defRPr sz="1200">
                          <a:solidFill>
                            <a:srgbClr val="1C1B33"/>
                          </a:solidFill>
                          <a:latin typeface="Yu Gothic"/>
                        </a:defRPr>
                      </a:pPr>
                      <a:r>
                        <a:t>着手日から1日以内という良好な鮮度</a:t>
                      </a:r>
                    </a:p>
                  </a:txBody>
                  <a:tcPr>
                    <a:solidFill>
                      <a:srgbClr val="FFFFFF"/>
                    </a:solidFill>
                  </a:tcPr>
                </a:tc>
              </a:tr>
              <a:tr h="502920">
                <a:tc>
                  <a:txBody>
                    <a:bodyPr/>
                    <a:lstStyle/>
                    <a:p>
                      <a:pPr>
                        <a:defRPr sz="1200">
                          <a:solidFill>
                            <a:srgbClr val="1C1B33"/>
                          </a:solidFill>
                          <a:latin typeface="Yu Gothic"/>
                        </a:defRPr>
                      </a:pPr>
                      <a:r>
                        <a:t>採用スコア</a:t>
                      </a:r>
                    </a:p>
                  </a:txBody>
                  <a:tcPr>
                    <a:solidFill>
                      <a:srgbClr val="F4F3FC"/>
                    </a:solidFill>
                  </a:tcPr>
                </a:tc>
                <a:tc>
                  <a:txBody>
                    <a:bodyPr/>
                    <a:lstStyle/>
                    <a:p>
                      <a:pPr>
                        <a:defRPr sz="1200">
                          <a:solidFill>
                            <a:srgbClr val="1C1B33"/>
                          </a:solidFill>
                          <a:latin typeface="Yu Gothic"/>
                        </a:defRPr>
                      </a:pPr>
                      <a:r>
                        <a:t>75/100</a:t>
                      </a:r>
                    </a:p>
                  </a:txBody>
                  <a:tcPr>
                    <a:solidFill>
                      <a:srgbClr val="F4F3FC"/>
                    </a:solidFill>
                  </a:tcPr>
                </a:tc>
              </a:tr>
              <a:tr h="502920">
                <a:tc>
                  <a:txBody>
                    <a:bodyPr/>
                    <a:lstStyle/>
                    <a:p>
                      <a:pPr>
                        <a:defRPr sz="1200">
                          <a:solidFill>
                            <a:srgbClr val="1C1B33"/>
                          </a:solidFill>
                          <a:latin typeface="Yu Gothic"/>
                        </a:defRPr>
                      </a:pPr>
                      <a:r>
                        <a:t>採用理由</a:t>
                      </a:r>
                    </a:p>
                  </a:txBody>
                  <a:tcPr>
                    <a:solidFill>
                      <a:srgbClr val="FFFFFF"/>
                    </a:solidFill>
                  </a:tcPr>
                </a:tc>
                <a:tc>
                  <a:txBody>
                    <a:bodyPr/>
                    <a:lstStyle/>
                    <a:p>
                      <a:pPr>
                        <a:defRPr sz="1200">
                          <a:solidFill>
                            <a:srgbClr val="1C1B33"/>
                          </a:solidFill>
                          <a:latin typeface="Yu Gothic"/>
                        </a:defRPr>
                      </a:pPr>
                      <a:r>
                        <a:t>良好な鮮度、複数媒体での事実の一致、143,000件という具体的でバズりやすい数字</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E2A72"/>
                    </a:solidFill>
                  </a:tcPr>
                </a:tc>
                <a:tc>
                  <a:txBody>
                    <a:bodyPr/>
                    <a:lstStyle/>
                    <a:p>
                      <a:pPr>
                        <a:defRPr sz="1300" b="1">
                          <a:solidFill>
                            <a:srgbClr val="FFFFFF"/>
                          </a:solidFill>
                          <a:latin typeface="Yu Gothic"/>
                        </a:defRPr>
                      </a:pPr>
                      <a:r>
                        <a:t>結果</a:t>
                      </a:r>
                    </a:p>
                  </a:txBody>
                  <a:tcPr>
                    <a:solidFill>
                      <a:srgbClr val="2E2A72"/>
                    </a:solidFill>
                  </a:tcPr>
                </a:tc>
              </a:tr>
              <a:tr h="502920">
                <a:tc>
                  <a:txBody>
                    <a:bodyPr/>
                    <a:lstStyle/>
                    <a:p>
                      <a:pPr>
                        <a:defRPr sz="1200">
                          <a:solidFill>
                            <a:srgbClr val="1C1B33"/>
                          </a:solidFill>
                          <a:latin typeface="Yu Gothic"/>
                        </a:defRPr>
                      </a:pPr>
                      <a:r>
                        <a:t>Anaconda/Enkrypt AI買収を主題とした既存テーマ</a:t>
                      </a:r>
                    </a:p>
                  </a:txBody>
                  <a:tcPr>
                    <a:solidFill>
                      <a:srgbClr val="FFFFFF"/>
                    </a:solidFill>
                  </a:tcPr>
                </a:tc>
                <a:tc>
                  <a:txBody>
                    <a:bodyPr/>
                    <a:lstStyle/>
                    <a:p>
                      <a:pPr>
                        <a:defRPr sz="1200">
                          <a:solidFill>
                            <a:srgbClr val="1C1B33"/>
                          </a:solidFill>
                          <a:latin typeface="Yu Gothic"/>
                        </a:defRPr>
                      </a:pPr>
                      <a:r>
                        <a:t>既存テーマになし</a:t>
                      </a:r>
                    </a:p>
                  </a:txBody>
                  <a:tcPr>
                    <a:solidFill>
                      <a:srgbClr val="FFFFFF"/>
                    </a:solidFill>
                  </a:tcPr>
                </a:tc>
              </a:tr>
              <a:tr h="502920">
                <a:tc>
                  <a:txBody>
                    <a:bodyPr/>
                    <a:lstStyle/>
                    <a:p>
                      <a:pPr>
                        <a:defRPr sz="1200">
                          <a:solidFill>
                            <a:srgbClr val="1C1B33"/>
                          </a:solidFill>
                          <a:latin typeface="Yu Gothic"/>
                        </a:defRPr>
                      </a:pPr>
                      <a:r>
                        <a:t>分野が近い直近テーマ(141本目Obsidian Security)との関係</a:t>
                      </a:r>
                    </a:p>
                  </a:txBody>
                  <a:tcPr>
                    <a:solidFill>
                      <a:srgbClr val="F4F3FC"/>
                    </a:solidFill>
                  </a:tcPr>
                </a:tc>
                <a:tc>
                  <a:txBody>
                    <a:bodyPr/>
                    <a:lstStyle/>
                    <a:p>
                      <a:pPr>
                        <a:defRPr sz="1200">
                          <a:solidFill>
                            <a:srgbClr val="1C1B33"/>
                          </a:solidFill>
                          <a:latin typeface="Yu Gothic"/>
                        </a:defRPr>
                      </a:pPr>
                      <a:r>
                        <a:t>事象(資金調達 vs 買収)・対象企業が異なり重複ではない</a:t>
                      </a:r>
                    </a:p>
                  </a:txBody>
                  <a:tcPr>
                    <a:solidFill>
                      <a:srgbClr val="F4F3FC"/>
                    </a:solidFill>
                  </a:tcPr>
                </a:tc>
              </a:tr>
              <a:tr h="502920">
                <a:tc>
                  <a:txBody>
                    <a:bodyPr/>
                    <a:lstStyle/>
                    <a:p>
                      <a:pPr>
                        <a:defRPr sz="1200">
                          <a:solidFill>
                            <a:srgbClr val="1C1B33"/>
                          </a:solidFill>
                          <a:latin typeface="Yu Gothic"/>
                        </a:defRPr>
                      </a:pPr>
                      <a:r>
                        <a:t>判定</a:t>
                      </a:r>
                    </a:p>
                  </a:txBody>
                  <a:tcPr>
                    <a:solidFill>
                      <a:srgbClr val="FFFFFF"/>
                    </a:solidFill>
                  </a:tcPr>
                </a:tc>
                <a:tc>
                  <a:txBody>
                    <a:bodyPr/>
                    <a:lstStyle/>
                    <a:p>
                      <a:pPr>
                        <a:defRPr sz="1200">
                          <a:solidFill>
                            <a:srgbClr val="1C1B33"/>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特定製品を推奨しないことの確認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本テーマは「Anacondaによる買収」という事実の紹介に留め、Anaconda/Enkrypt AIの製品を「導入すべき」と断定する結論にはしていない</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143,000件という脆弱性の件数は、あくまでEnkrypt AI自身が公表した数字であり、第三者による検証結果ではない点に留意</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買収金額が非公開であるため、規模感を推測で補っていない</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統合の具体的なスケジュールなど未確定の事項は「不明」として扱っている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AIエージェントの数だけ増える“穴”、セキュリティ企業の買収はどこまで続くか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Anaconda/Enkrypt AIの続報を、確定事実と未確認情報を区別しながら注目していきましょう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Anacondaが2026年8月4日、AIセキュリティ・コンプライアンス企業Enkrypt AIを買収したと発表(買収金額は非公開)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Enkrypt AIは2か月で25,000のMCPサーバー・268,000のツールをスキャンし、143,000件の脆弱性(対象サーバーの73%相当)を発見したと公表</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統合される機能は事前配備のレッドチーミング・ランタイムガードレール・NIST/EU AI Act準拠の自動化</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買収金額・Enkrypt AIの創業者情報・脆弱性の内訳・統合スケジュール・競合との違いは未確認であることを正直に開示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HPCwire/AIwire(2026-08-04)ほか｜定期実行143本目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