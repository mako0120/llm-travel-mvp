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2026年8月、NvidiaはAIサーバー向けチップ搭載システムの価格を15%超引き上げると主要顧客に通知したと報じられました。何が起きているのか、出典付きで正確に整理してお届けします。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結論から確認します。Nvidiaは旗艦チップを搭載するAIサーバーの価格を15%超引き上げると、主要顧客に通知したと報じられています。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今日は6つの流れでお伝えします。値上げの数字から背景、影響範囲まで、正確に事実を引用しながら整理します。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このテーマを扱う理由です。高い鮮度と、AIインフラ投資の裏側にある物理的な制約という切り口に注目しました。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核心となる数字をまとめました。報道機関によって値上げ幅の数字にやや幅がある点も正直にお伝えします。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値上げの詳細です。すべての製品に一律の値上げ率が適用されるわけではない点に留意が必要です。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値上げの主因はDRAM(メモリ)価格の急騰です。AI向けの高性能メモリ生産が、他の生産ラインを圧迫しています。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メモリ供給不足の背景です。AI向け需要が、メモリ業界全体の生産構造を変えつつあります。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メモリ供給不足から値上げ通知までの流れを図にしました。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今回の報道を3ステップで総括しました。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値上げの通知先です。まずは受託製造企業に通知され、そこからクラウド大手へ波及する構図です。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最終的にコストを負担するとされる主体です。これはNvidiaチップを利用するAI関連企業という一般的な文脈での言及であり、個別に値上げ通知を受けたことを直接意味するものではない点に留意が必要です。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値上げの通知を直接受ける層と、最終的にコストを負担するとされる層を対比しました。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供給不足がいつまで続くかは、予測機関によって見通しが分かれています。断定的な結論は避けます。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1ギガワット規模のデータセンターの建設コストが、少なくとも50億ドル増加する可能性があるとされています。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業界全体の文脈です。AI投資の拡大と、その裏側にある供給制約という緊張関係が背景にあります。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報道機関によって数字にやや幅がある点を、混同しないよう整理しました。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業界内での位置づけです。AI企業側のコスト増と、メモリメーカー側の増収機会という両面がある事象です。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値上げは2027年早期に出荷されるシステムから適用される見通しです。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AI・半導体業界動向を追う立場にとっての意味です。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確認できなかったことを正直にお伝えします。特に、Nvidia自身の公式発表がまだ確認できていない点は重要な留保です。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確認できている事実と、今後の不確定要素を整理しました。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 Hynixの2026年分の生産能力は実質完売状態にあると報じられています。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主な情報源です。各記事には検索結果経由でアクセスしている点を正直にお伝えします。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AI企業側が取りうる対応の選択肢です。本調査ではどの対応が実際に取られるかまでは確認できていません。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AI向け先端メモリを供給できるのは、実質的にSamsung・SK Hynix・Micronの3社に限られています。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メモリ大手3社の動向をまとめました。いずれもAI向け需要への対応を優先する方向性が共通しています。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本編のまとめです。AIブームを支えるインフラの裏側にあるコスト構造の変化について、出典付きで整理してお伝えしました。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NvidiaのAIサーバー価格値上げについて、その中身を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AIブームの</a:t>
            </a:r>
          </a:p>
          <a:p>
            <a:pPr algn="l">
              <a:lnSpc>
                <a:spcPct val="115000"/>
              </a:lnSpc>
            </a:pPr>
            <a:r>
              <a:rPr sz="4200" b="1">
                <a:solidFill>
                  <a:srgbClr val="FFFFFF"/>
                </a:solidFill>
                <a:latin typeface="Yu Gothic"/>
              </a:rPr>
              <a:t>請求書が届いた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2026年8月22〜23日報道——Nvidiaのサーバー値上げ15%超の中身を出典付きで整理する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Fortune(2026年8月22日)・24/7 Wall Street(2026年8月23日)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15%超 Nvidiaが通知したAIサーバー価格の値上げ幅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旗艦チップ『Vera Rubin』『Grace Blackwell』搭載システムが対象(2026年8月報道)</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Fortune(2026-08-22)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値上げの核心となる数字を確認する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値上げの背景(DRAM価格急騰)を確認する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影響を受ける顧客を確認する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業界全体の文脈を確認する</a:t>
            </a:r>
          </a:p>
        </p:txBody>
      </p:sp>
      <p:sp>
        <p:nvSpPr>
          <p:cNvPr id="15" name="Oval 14"/>
          <p:cNvSpPr/>
          <p:nvPr/>
        </p:nvSpPr>
        <p:spPr>
          <a:xfrm>
            <a:off x="548640" y="58064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着手日前日〜前々日(2026年8月22〜23日)報道という高い鮮度の話題である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『AIブームの隠れたコスト』という、これまであまり注目されてこなかった切り口の話題である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具体的な数字(値上げ幅15%超・データセンター建設コスト増50億ドル)を伴う事実である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複数の独立した主要メディアで確認できる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Fortune・24/7 Wall Street(2026-08-22/23)</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核心となる数字</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値上げ幅(Bloomberg報道)</a:t>
                      </a:r>
                    </a:p>
                  </a:txBody>
                  <a:tcPr>
                    <a:solidFill>
                      <a:srgbClr val="FFFFFF"/>
                    </a:solidFill>
                  </a:tcPr>
                </a:tc>
                <a:tc>
                  <a:txBody>
                    <a:bodyPr/>
                    <a:lstStyle/>
                    <a:p>
                      <a:pPr>
                        <a:defRPr sz="1200">
                          <a:solidFill>
                            <a:srgbClr val="121C1F"/>
                          </a:solidFill>
                          <a:latin typeface="Yu Gothic"/>
                        </a:defRPr>
                      </a:pPr>
                      <a:r>
                        <a:t>15%超</a:t>
                      </a:r>
                    </a:p>
                  </a:txBody>
                  <a:tcPr>
                    <a:solidFill>
                      <a:srgbClr val="FFFFFF"/>
                    </a:solidFill>
                  </a:tcPr>
                </a:tc>
              </a:tr>
              <a:tr h="502920">
                <a:tc>
                  <a:txBody>
                    <a:bodyPr/>
                    <a:lstStyle/>
                    <a:p>
                      <a:pPr>
                        <a:defRPr sz="1200">
                          <a:solidFill>
                            <a:srgbClr val="121C1F"/>
                          </a:solidFill>
                          <a:latin typeface="Yu Gothic"/>
                        </a:defRPr>
                      </a:pPr>
                      <a:r>
                        <a:t>値上げ幅(The Information報道、一部顧客)</a:t>
                      </a:r>
                    </a:p>
                  </a:txBody>
                  <a:tcPr>
                    <a:solidFill>
                      <a:srgbClr val="F0F7F4"/>
                    </a:solidFill>
                  </a:tcPr>
                </a:tc>
                <a:tc>
                  <a:txBody>
                    <a:bodyPr/>
                    <a:lstStyle/>
                    <a:p>
                      <a:pPr>
                        <a:defRPr sz="1200">
                          <a:solidFill>
                            <a:srgbClr val="121C1F"/>
                          </a:solidFill>
                          <a:latin typeface="Yu Gothic"/>
                        </a:defRPr>
                      </a:pPr>
                      <a:r>
                        <a:t>最大約17%</a:t>
                      </a:r>
                    </a:p>
                  </a:txBody>
                  <a:tcPr>
                    <a:solidFill>
                      <a:srgbClr val="F0F7F4"/>
                    </a:solidFill>
                  </a:tcPr>
                </a:tc>
              </a:tr>
              <a:tr h="502920">
                <a:tc>
                  <a:txBody>
                    <a:bodyPr/>
                    <a:lstStyle/>
                    <a:p>
                      <a:pPr>
                        <a:defRPr sz="1200">
                          <a:solidFill>
                            <a:srgbClr val="121C1F"/>
                          </a:solidFill>
                          <a:latin typeface="Yu Gothic"/>
                        </a:defRPr>
                      </a:pPr>
                      <a:r>
                        <a:t>1ギガワット規模データセンターの建設コスト増</a:t>
                      </a:r>
                    </a:p>
                  </a:txBody>
                  <a:tcPr>
                    <a:solidFill>
                      <a:srgbClr val="FFFFFF"/>
                    </a:solidFill>
                  </a:tcPr>
                </a:tc>
                <a:tc>
                  <a:txBody>
                    <a:bodyPr/>
                    <a:lstStyle/>
                    <a:p>
                      <a:pPr>
                        <a:defRPr sz="1200">
                          <a:solidFill>
                            <a:srgbClr val="121C1F"/>
                          </a:solidFill>
                          <a:latin typeface="Yu Gothic"/>
                        </a:defRPr>
                      </a:pPr>
                      <a:r>
                        <a:t>少なくとも50億ドル</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Fortune(2026-08-22)・24/7 Wall Street(2026-08-23)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対象チップ・適用時期</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値上げの詳細を確認します。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対象は旗艦チップ『Vera Rubin』『Grace Blackwell』を搭載するシステム</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値上げは来年(2027年)早期に出荷されるシステムから適用される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値上げ幅はチップ世代とメモリ構成によって変動するとされ、一律ではない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Fortune(2026-08-22)</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値上げの主因</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DRAM価格の急騰 メモリコスト上昇が値上げの主因</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AIアクセラレータ向けHBM生産が標準DRAMの約3倍のウエハー生産能力を消費</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業界メディアの報道内容の要約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メモリ供給不足の背景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なぜメモリが不足しているのかを確認します。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SK Hynixは2026年分のHBM・DRAM・NAND生産能力が『実質完売』状態にあると報じられている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Micronは消費者向けメモリ市場から撤退し、エンタープライズ・AI向け顧客に注力する方針を示している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複数の市場調査機関が、過去15年で最も深刻なメモリ供給不足であると指摘している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業界メディアの報道内容の要約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値上げに至るまでの流れ</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AI向けHBM生産がメモリ生産能力を圧迫</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標準DRAMの約3倍のウエハーを消費</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DRAM価格が急騰</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過去15年で最も深刻な供給不足との指摘</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Nvidiaがサーバー価格を15%超値上げ</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2027年早期出荷分から適用</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メモリ供給不足からNvidiaの値上げ通知までの流れ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業界メディアの報道内容の要約</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今回の報道の3ステップ総括</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1. メモリ価格の急騰</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AI向けHBM需要が供給を圧迫</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 Nvidiaの値上げ通知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サーバー価格が15%超上昇</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3. 顧客への影響波及</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クラウド大手・AI研究機関が負担</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値上げの通知先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誰が値上げを通知されているかを確認します。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Microsoft・Google・Oracle向けにサーバーを製造する受託製造企業には、既に値上げの通知が行われているとされる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受託製造企業からクラウド大手への価格転嫁が見込まれる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具体的にどのクラウド企業がいつ通知を受けたかの詳細は、本調査の範囲では確認できていない</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24/7 Wall Street(2026-08-23)</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最終的にコストを負担するとされる主体</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分類</a:t>
                      </a:r>
                    </a:p>
                  </a:txBody>
                  <a:tcPr>
                    <a:solidFill>
                      <a:srgbClr val="1B2A2E"/>
                    </a:solidFill>
                  </a:tcPr>
                </a:tc>
                <a:tc>
                  <a:txBody>
                    <a:bodyPr/>
                    <a:lstStyle/>
                    <a:p>
                      <a:pPr>
                        <a:defRPr sz="1300" b="1">
                          <a:solidFill>
                            <a:srgbClr val="FFFFFF"/>
                          </a:solidFill>
                          <a:latin typeface="Yu Gothic"/>
                        </a:defRPr>
                      </a:pPr>
                      <a:r>
                        <a:t>企業・組織</a:t>
                      </a:r>
                    </a:p>
                  </a:txBody>
                  <a:tcPr>
                    <a:solidFill>
                      <a:srgbClr val="1B2A2E"/>
                    </a:solidFill>
                  </a:tcPr>
                </a:tc>
              </a:tr>
              <a:tr h="502920">
                <a:tc>
                  <a:txBody>
                    <a:bodyPr/>
                    <a:lstStyle/>
                    <a:p>
                      <a:pPr>
                        <a:defRPr sz="1200">
                          <a:solidFill>
                            <a:srgbClr val="121C1F"/>
                          </a:solidFill>
                          <a:latin typeface="Yu Gothic"/>
                        </a:defRPr>
                      </a:pPr>
                      <a:r>
                        <a:t>クラウド大手</a:t>
                      </a:r>
                    </a:p>
                  </a:txBody>
                  <a:tcPr>
                    <a:solidFill>
                      <a:srgbClr val="FFFFFF"/>
                    </a:solidFill>
                  </a:tcPr>
                </a:tc>
                <a:tc>
                  <a:txBody>
                    <a:bodyPr/>
                    <a:lstStyle/>
                    <a:p>
                      <a:pPr>
                        <a:defRPr sz="1200">
                          <a:solidFill>
                            <a:srgbClr val="121C1F"/>
                          </a:solidFill>
                          <a:latin typeface="Yu Gothic"/>
                        </a:defRPr>
                      </a:pPr>
                      <a:r>
                        <a:t>Amazon・Microsoft・Google・Meta</a:t>
                      </a:r>
                    </a:p>
                  </a:txBody>
                  <a:tcPr>
                    <a:solidFill>
                      <a:srgbClr val="FFFFFF"/>
                    </a:solidFill>
                  </a:tcPr>
                </a:tc>
              </a:tr>
              <a:tr h="502920">
                <a:tc>
                  <a:txBody>
                    <a:bodyPr/>
                    <a:lstStyle/>
                    <a:p>
                      <a:pPr>
                        <a:defRPr sz="1200">
                          <a:solidFill>
                            <a:srgbClr val="121C1F"/>
                          </a:solidFill>
                          <a:latin typeface="Yu Gothic"/>
                        </a:defRPr>
                      </a:pPr>
                      <a:r>
                        <a:t>AI研究機関</a:t>
                      </a:r>
                    </a:p>
                  </a:txBody>
                  <a:tcPr>
                    <a:solidFill>
                      <a:srgbClr val="F0F7F4"/>
                    </a:solidFill>
                  </a:tcPr>
                </a:tc>
                <a:tc>
                  <a:txBody>
                    <a:bodyPr/>
                    <a:lstStyle/>
                    <a:p>
                      <a:pPr>
                        <a:defRPr sz="1200">
                          <a:solidFill>
                            <a:srgbClr val="121C1F"/>
                          </a:solidFill>
                          <a:latin typeface="Yu Gothic"/>
                        </a:defRPr>
                      </a:pPr>
                      <a:r>
                        <a:t>OpenAI・Anthropic</a:t>
                      </a:r>
                    </a:p>
                  </a:txBody>
                  <a:tcPr>
                    <a:solidFill>
                      <a:srgbClr val="F0F7F4"/>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24/7 Wall Street(2026-08-23)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受託製造企業 vs クラウド大手・AI研究機関</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受託製造企業</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Nvidiaから直接値上げの通知を受ける</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Microsoft・Google・Oracle向けにサーバーを製造</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クラウド大手・AI研究機関</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最終的にコストを負担するとされる主体</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Amazon・Microsoft・Google・Meta、OpenAI・Anthropic等</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供給不足の今後の見通し</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いつまで続くのかを確認します。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見通しは機関によって分かれている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ある予測では2027年前半まで供給逼迫が続くとされる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別の予測では、意味のある新規生産能力の追加は2029〜2030年までないとされる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業界メディアの報道内容の要約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データセンター建設コストへの影響</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少なくとも50億ドル 1ギガワット規模データセンターの建設コスト増加額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The Information誌の報道による(一部サーバーメーカーへの通知内容に基づく)</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業界メディアの報道内容の要約(The Information)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業界全体の文脈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半導体業界全体の背景を確認します。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2026年前半には大規模なチップ株の急落も発生しており、AIインフラ投資の持続可能性への懸念が市場でくすぶっている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AIインフラへの投資が過熱する中、その裏側にあるメモリ供給制約が『AIブームの隠れたコスト』として注目されている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半導体各社(SK Hynix・Samsung・Micron)は、この供給不足を背景に業績・戦略を見直している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業界メディアの報道内容の要約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報道機関間の数字の違い(混同しないための整理)</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Bloomberg報道</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値上げ幅15%超</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Nvidiaが主要顧客に通知</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The Information報道</a:t>
            </a:r>
          </a:p>
        </p:txBody>
      </p:sp>
      <p:sp>
        <p:nvSpPr>
          <p:cNvPr id="16" name="Oval 15"/>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一部サーバーメーカーには最大約17%の通知</a:t>
            </a:r>
          </a:p>
        </p:txBody>
      </p:sp>
      <p:sp>
        <p:nvSpPr>
          <p:cNvPr id="18" name="Oval 17"/>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1GWデータセンターで50億ドル増</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AI・ビジネス業界における位置づけ</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業界内での注目点です。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AIインフラへの投資拡大の裏側にある物理的な制約(メモリ供給)を象徴する事象として位置づけられる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この値上げが、AI企業の今後の投資判断・収益性にどう影響するかは、本調査の範囲では確認できていない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メモリ業界(SK Hynix・Samsung・Micron)にとっては、価格上昇による増収要因となる可能性がある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値上げの適用時期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2027年早期 値上げが適用される出荷時期の見通し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来年早期に出荷されるシステムから適用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Fortune(2026-08-22)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視聴者にとっての意味—AI・半導体業界動向を追う立場として</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視聴者にとっての意味を確認します。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AIインフラ投資のコスト構造の変化を、具体的な数字で把握できる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メモリ供給制約という、AIブームを支える物理的な制約の存在を理解する視点が役立つ</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報道機関間で数字にやや幅がある点を踏まえ、複数の情報源を確認する姿勢が有効である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正直に開示する未確認事項です。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Nvidia自身による公式な価格改定の発表は確認できていない(複数の報道機関による報道にとどまる)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『最大17%』という数字はThe Information誌の報道に基づくものであり、Nvidiaの公式発表としては確認できていない</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OpenAI・Anthropicへの言及は一般的な文脈でのものであり、個別の値上げ通知を受けたことを直接意味するものではない</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供給不足がいつまで続くかについては、機関により見通しが分かれている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確認できている事実 vs 今後の不確定要素</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確認できている事実</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複数メディアが報じる値上げ幅(15%超)</a:t>
            </a:r>
          </a:p>
        </p:txBody>
      </p:sp>
      <p:sp>
        <p:nvSpPr>
          <p:cNvPr id="11" name="Oval 10"/>
          <p:cNvSpPr/>
          <p:nvPr/>
        </p:nvSpPr>
        <p:spPr>
          <a:xfrm>
            <a:off x="777240"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対象チップ(Vera Rubin・Grace Blackwell)</a:t>
            </a:r>
          </a:p>
        </p:txBody>
      </p:sp>
      <p:sp>
        <p:nvSpPr>
          <p:cNvPr id="13" name="Oval 12"/>
          <p:cNvSpPr/>
          <p:nvPr/>
        </p:nvSpPr>
        <p:spPr>
          <a:xfrm>
            <a:off x="777240"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メモリ供給不足という背景</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今後の不確定要素</a:t>
            </a:r>
          </a:p>
        </p:txBody>
      </p:sp>
      <p:sp>
        <p:nvSpPr>
          <p:cNvPr id="18" name="Oval 17"/>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Nvidia自身による公式発表の有無</a:t>
            </a:r>
          </a:p>
        </p:txBody>
      </p:sp>
      <p:sp>
        <p:nvSpPr>
          <p:cNvPr id="20" name="Oval 19"/>
          <p:cNvSpPr/>
          <p:nvPr/>
        </p:nvSpPr>
        <p:spPr>
          <a:xfrm>
            <a:off x="6598767" y="308152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供給不足の終息時期</a:t>
            </a:r>
          </a:p>
        </p:txBody>
      </p:sp>
      <p:sp>
        <p:nvSpPr>
          <p:cNvPr id="22" name="Oval 21"/>
          <p:cNvSpPr/>
          <p:nvPr/>
        </p:nvSpPr>
        <p:spPr>
          <a:xfrm>
            <a:off x="6598767" y="363016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AI企業の投資判断への実際の影響</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メモリ産業の生産能力状況</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実質完売 SK Hynixの2026年分メモリ生産能力の状況(報道による)</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HBM・DRAM・NAND全体を含む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業界メディアの報道内容の要約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主な情報源</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メディア</a:t>
                      </a:r>
                    </a:p>
                  </a:txBody>
                  <a:tcPr>
                    <a:solidFill>
                      <a:srgbClr val="1B2A2E"/>
                    </a:solidFill>
                  </a:tcPr>
                </a:tc>
                <a:tc>
                  <a:txBody>
                    <a:bodyPr/>
                    <a:lstStyle/>
                    <a:p>
                      <a:pPr>
                        <a:defRPr sz="1300" b="1">
                          <a:solidFill>
                            <a:srgbClr val="FFFFFF"/>
                          </a:solidFill>
                          <a:latin typeface="Yu Gothic"/>
                        </a:defRPr>
                      </a:pPr>
                      <a:r>
                        <a:t>報道内容</a:t>
                      </a:r>
                    </a:p>
                  </a:txBody>
                  <a:tcPr>
                    <a:solidFill>
                      <a:srgbClr val="1B2A2E"/>
                    </a:solidFill>
                  </a:tcPr>
                </a:tc>
              </a:tr>
              <a:tr h="502920">
                <a:tc>
                  <a:txBody>
                    <a:bodyPr/>
                    <a:lstStyle/>
                    <a:p>
                      <a:pPr>
                        <a:defRPr sz="1200">
                          <a:solidFill>
                            <a:srgbClr val="121C1F"/>
                          </a:solidFill>
                          <a:latin typeface="Yu Gothic"/>
                        </a:defRPr>
                      </a:pPr>
                      <a:r>
                        <a:t>Fortune(2026-08-22)</a:t>
                      </a:r>
                    </a:p>
                  </a:txBody>
                  <a:tcPr>
                    <a:solidFill>
                      <a:srgbClr val="FFFFFF"/>
                    </a:solidFill>
                  </a:tcPr>
                </a:tc>
                <a:tc>
                  <a:txBody>
                    <a:bodyPr/>
                    <a:lstStyle/>
                    <a:p>
                      <a:pPr>
                        <a:defRPr sz="1200">
                          <a:solidFill>
                            <a:srgbClr val="121C1F"/>
                          </a:solidFill>
                          <a:latin typeface="Yu Gothic"/>
                        </a:defRPr>
                      </a:pPr>
                      <a:r>
                        <a:t>値上げの詳細・対象チップ</a:t>
                      </a:r>
                    </a:p>
                  </a:txBody>
                  <a:tcPr>
                    <a:solidFill>
                      <a:srgbClr val="FFFFFF"/>
                    </a:solidFill>
                  </a:tcPr>
                </a:tc>
              </a:tr>
              <a:tr h="502920">
                <a:tc>
                  <a:txBody>
                    <a:bodyPr/>
                    <a:lstStyle/>
                    <a:p>
                      <a:pPr>
                        <a:defRPr sz="1200">
                          <a:solidFill>
                            <a:srgbClr val="121C1F"/>
                          </a:solidFill>
                          <a:latin typeface="Yu Gothic"/>
                        </a:defRPr>
                      </a:pPr>
                      <a:r>
                        <a:t>24/7 Wall Street(2026-08-23)</a:t>
                      </a:r>
                    </a:p>
                  </a:txBody>
                  <a:tcPr>
                    <a:solidFill>
                      <a:srgbClr val="F0F7F4"/>
                    </a:solidFill>
                  </a:tcPr>
                </a:tc>
                <a:tc>
                  <a:txBody>
                    <a:bodyPr/>
                    <a:lstStyle/>
                    <a:p>
                      <a:pPr>
                        <a:defRPr sz="1200">
                          <a:solidFill>
                            <a:srgbClr val="121C1F"/>
                          </a:solidFill>
                          <a:latin typeface="Yu Gothic"/>
                        </a:defRPr>
                      </a:pPr>
                      <a:r>
                        <a:t>コスト負担主体・業界文脈</a:t>
                      </a:r>
                    </a:p>
                  </a:txBody>
                  <a:tcPr>
                    <a:solidFill>
                      <a:srgbClr val="F0F7F4"/>
                    </a:solidFill>
                  </a:tcPr>
                </a:tc>
              </a:tr>
              <a:tr h="502920">
                <a:tc>
                  <a:txBody>
                    <a:bodyPr/>
                    <a:lstStyle/>
                    <a:p>
                      <a:pPr>
                        <a:defRPr sz="1200">
                          <a:solidFill>
                            <a:srgbClr val="121C1F"/>
                          </a:solidFill>
                          <a:latin typeface="Yu Gothic"/>
                        </a:defRPr>
                      </a:pPr>
                      <a:r>
                        <a:t>Tom's Hardware・The Decoder</a:t>
                      </a:r>
                    </a:p>
                  </a:txBody>
                  <a:tcPr>
                    <a:solidFill>
                      <a:srgbClr val="FFFFFF"/>
                    </a:solidFill>
                  </a:tcPr>
                </a:tc>
                <a:tc>
                  <a:txBody>
                    <a:bodyPr/>
                    <a:lstStyle/>
                    <a:p>
                      <a:pPr>
                        <a:defRPr sz="1200">
                          <a:solidFill>
                            <a:srgbClr val="121C1F"/>
                          </a:solidFill>
                          <a:latin typeface="Yu Gothic"/>
                        </a:defRPr>
                      </a:pPr>
                      <a:r>
                        <a:t>メモリ供給不足の技術的背景</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AI・半導体業界動向を追う立場として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AIインフラ投資のコスト構造の変化を、具体的な数字とともに把握できる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クラウド・AI企業の動向に関心がある立場として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値上げが最終的にどの企業に波及するかという構図が参考になる</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00D2A0"/>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B2A2E"/>
                </a:solidFill>
                <a:latin typeface="Yu Gothic"/>
              </a:rPr>
              <a:t>情報を正確に受け取りたい立場として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報道機関間の数字の違い、Nvidia自身の公式発表の有無を区別する視点が役立つ</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AI企業側の対応の選択肢</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AI企業側が取りうる対応です。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値上げされたコストを利用者向けの料金に転嫁する</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自社設計のカスタムチップへの移行を加速する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メモリ効率の良いモデル・アーキテクチャの採用を進める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選択肢の少なさ</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3社寡占 AI向け先端メモリを供給できる主要メーカー数</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Samsung・SK Hynix・Micron</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業界メディアの報道内容の要約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メモリ大手3社の動向まとめ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企業</a:t>
                      </a:r>
                    </a:p>
                  </a:txBody>
                  <a:tcPr>
                    <a:solidFill>
                      <a:srgbClr val="1B2A2E"/>
                    </a:solidFill>
                  </a:tcPr>
                </a:tc>
                <a:tc>
                  <a:txBody>
                    <a:bodyPr/>
                    <a:lstStyle/>
                    <a:p>
                      <a:pPr>
                        <a:defRPr sz="1300" b="1">
                          <a:solidFill>
                            <a:srgbClr val="FFFFFF"/>
                          </a:solidFill>
                          <a:latin typeface="Yu Gothic"/>
                        </a:defRPr>
                      </a:pPr>
                      <a:r>
                        <a:t>動向</a:t>
                      </a:r>
                    </a:p>
                  </a:txBody>
                  <a:tcPr>
                    <a:solidFill>
                      <a:srgbClr val="1B2A2E"/>
                    </a:solidFill>
                  </a:tcPr>
                </a:tc>
              </a:tr>
              <a:tr h="502920">
                <a:tc>
                  <a:txBody>
                    <a:bodyPr/>
                    <a:lstStyle/>
                    <a:p>
                      <a:pPr>
                        <a:defRPr sz="1200">
                          <a:solidFill>
                            <a:srgbClr val="121C1F"/>
                          </a:solidFill>
                          <a:latin typeface="Yu Gothic"/>
                        </a:defRPr>
                      </a:pPr>
                      <a:r>
                        <a:t>SK Hynix</a:t>
                      </a:r>
                    </a:p>
                  </a:txBody>
                  <a:tcPr>
                    <a:solidFill>
                      <a:srgbClr val="FFFFFF"/>
                    </a:solidFill>
                  </a:tcPr>
                </a:tc>
                <a:tc>
                  <a:txBody>
                    <a:bodyPr/>
                    <a:lstStyle/>
                    <a:p>
                      <a:pPr>
                        <a:defRPr sz="1200">
                          <a:solidFill>
                            <a:srgbClr val="121C1F"/>
                          </a:solidFill>
                          <a:latin typeface="Yu Gothic"/>
                        </a:defRPr>
                      </a:pPr>
                      <a:r>
                        <a:t>2026年分の生産能力が実質完売と報じられる</a:t>
                      </a:r>
                    </a:p>
                  </a:txBody>
                  <a:tcPr>
                    <a:solidFill>
                      <a:srgbClr val="FFFFFF"/>
                    </a:solidFill>
                  </a:tcPr>
                </a:tc>
              </a:tr>
              <a:tr h="502920">
                <a:tc>
                  <a:txBody>
                    <a:bodyPr/>
                    <a:lstStyle/>
                    <a:p>
                      <a:pPr>
                        <a:defRPr sz="1200">
                          <a:solidFill>
                            <a:srgbClr val="121C1F"/>
                          </a:solidFill>
                          <a:latin typeface="Yu Gothic"/>
                        </a:defRPr>
                      </a:pPr>
                      <a:r>
                        <a:t>Micron</a:t>
                      </a:r>
                    </a:p>
                  </a:txBody>
                  <a:tcPr>
                    <a:solidFill>
                      <a:srgbClr val="F0F7F4"/>
                    </a:solidFill>
                  </a:tcPr>
                </a:tc>
                <a:tc>
                  <a:txBody>
                    <a:bodyPr/>
                    <a:lstStyle/>
                    <a:p>
                      <a:pPr>
                        <a:defRPr sz="1200">
                          <a:solidFill>
                            <a:srgbClr val="121C1F"/>
                          </a:solidFill>
                          <a:latin typeface="Yu Gothic"/>
                        </a:defRPr>
                      </a:pPr>
                      <a:r>
                        <a:t>消費者向け市場から撤退し、AI・エンタープライズ向けに注力</a:t>
                      </a:r>
                    </a:p>
                  </a:txBody>
                  <a:tcPr>
                    <a:solidFill>
                      <a:srgbClr val="F0F7F4"/>
                    </a:solidFill>
                  </a:tcPr>
                </a:tc>
              </a:tr>
              <a:tr h="502920">
                <a:tc>
                  <a:txBody>
                    <a:bodyPr/>
                    <a:lstStyle/>
                    <a:p>
                      <a:pPr>
                        <a:defRPr sz="1200">
                          <a:solidFill>
                            <a:srgbClr val="121C1F"/>
                          </a:solidFill>
                          <a:latin typeface="Yu Gothic"/>
                        </a:defRPr>
                      </a:pPr>
                      <a:r>
                        <a:t>Samsung</a:t>
                      </a:r>
                    </a:p>
                  </a:txBody>
                  <a:tcPr>
                    <a:solidFill>
                      <a:srgbClr val="FFFFFF"/>
                    </a:solidFill>
                  </a:tcPr>
                </a:tc>
                <a:tc>
                  <a:txBody>
                    <a:bodyPr/>
                    <a:lstStyle/>
                    <a:p>
                      <a:pPr>
                        <a:defRPr sz="1200">
                          <a:solidFill>
                            <a:srgbClr val="121C1F"/>
                          </a:solidFill>
                          <a:latin typeface="Yu Gothic"/>
                        </a:defRPr>
                      </a:pPr>
                      <a:r>
                        <a:t>HBM等の先端メモリ生産能力の拡大を進めているとされる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業界メディアの報道内容の要約</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まとめ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7168"/>
                </a:solidFill>
                <a:latin typeface="Yu Gothic"/>
              </a:rPr>
              <a:t>本編のまとめです。</a:t>
            </a:r>
          </a:p>
        </p:txBody>
      </p:sp>
      <p:sp>
        <p:nvSpPr>
          <p:cNvPr id="7" name="Oval 6"/>
          <p:cNvSpPr/>
          <p:nvPr/>
        </p:nvSpPr>
        <p:spPr>
          <a:xfrm>
            <a:off x="457200" y="21214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2026年8月、NvidiaはAIサーバー向けシステムの価格を15%超値上げすると主要顧客に通知したと複数のメディアが報じた</a:t>
            </a:r>
          </a:p>
        </p:txBody>
      </p:sp>
      <p:sp>
        <p:nvSpPr>
          <p:cNvPr id="9" name="Oval 8"/>
          <p:cNvSpPr/>
          <p:nvPr/>
        </p:nvSpPr>
        <p:spPr>
          <a:xfrm>
            <a:off x="457200" y="289864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主因はDRAM(メモリ)価格の急騰で、旗艦チップVera Rubin・Grace Blackwell搭載システムが対象である</a:t>
            </a:r>
          </a:p>
        </p:txBody>
      </p:sp>
      <p:sp>
        <p:nvSpPr>
          <p:cNvPr id="11" name="Oval 10"/>
          <p:cNvSpPr/>
          <p:nvPr/>
        </p:nvSpPr>
        <p:spPr>
          <a:xfrm>
            <a:off x="457200" y="367588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最終的にクラウド大手・AI研究機関がコストを負担するとされている</a:t>
            </a:r>
          </a:p>
        </p:txBody>
      </p:sp>
      <p:sp>
        <p:nvSpPr>
          <p:cNvPr id="13" name="Oval 12"/>
          <p:cNvSpPr/>
          <p:nvPr/>
        </p:nvSpPr>
        <p:spPr>
          <a:xfrm>
            <a:off x="457200" y="4453127"/>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Nvidia自身の公式発表は確認できていない点など、留保事項も正直に開示した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本調査による整理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Fortune・24/7 Wall Street(2026-08-22/23)</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AIブームの請求書が届いた。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2026年8月、Nvidiaがサーバー価格を15%超値上げすると報じられました。AIブームを支えるメモリ供給の裏側を、出典付きで正確に整理してお届けしました。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