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フェイエノールトの得点差</c:v>
                </c:pt>
              </c:strCache>
            </c:strRef>
          </c:tx>
          <c:spPr>
            <a:ln w="31750">
              <a:solidFill>
                <a:srgbClr val="D9A441"/>
              </a:solidFill>
            </a:ln>
          </c:spPr>
          <c:cat>
            <c:strRef>
              <c:f>Sheet1!$A$2:$A$5</c:f>
              <c:strCache>
                <c:ptCount val="4"/>
                <c:pt idx="0">
                  <c:v>キックオフ(0分)</c:v>
                </c:pt>
                <c:pt idx="1">
                  <c:v>32分(1点目)</c:v>
                </c:pt>
                <c:pt idx="2">
                  <c:v>38分(2点目)</c:v>
                </c:pt>
                <c:pt idx="3">
                  <c:v>試合終了(2-2)</c:v>
                </c:pt>
              </c:strCache>
            </c:strRef>
          </c:cat>
          <c:val>
            <c:numRef>
              <c:f>Sheet1!$B$2:$B$5</c:f>
              <c:numCache>
                <c:formatCode>General</c:formatCode>
                <c:ptCount val="4"/>
                <c:pt idx="0">
                  <c:v>0</c:v>
                </c:pt>
                <c:pt idx="1">
                  <c:v>1</c:v>
                </c:pt>
                <c:pt idx="2">
                  <c:v>2</c:v>
                </c:pt>
                <c:pt idx="3">
                  <c:v>0</c:v>
                </c:pt>
              </c:numCache>
            </c:numRef>
          </c:val>
          <c:smooth val="0"/>
        </c:ser>
        <c:dLbls>
          <c:numFmt formatCode="#,##0" sourceLinked="0"/>
          <c:txPr>
            <a:bodyPr/>
            <a:lstStyle/>
            <a:p>
              <a:pPr>
                <a:defRPr sz="1100">
                  <a:solidFill>
                    <a:srgbClr val="1E2761"/>
                  </a:solidFill>
                  <a:latin typeface="Yu Gothic"/>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経過時間(分)</c:v>
                </c:pt>
              </c:strCache>
            </c:strRef>
          </c:tx>
          <c:spPr>
            <a:solidFill>
              <a:srgbClr val="1E2761"/>
            </a:solidFill>
          </c:spPr>
          <c:cat>
            <c:strRef>
              <c:f>Sheet1!$A$2:$A$3</c:f>
              <c:strCache>
                <c:ptCount val="2"/>
                <c:pt idx="0">
                  <c:v>アシスト</c:v>
                </c:pt>
                <c:pt idx="1">
                  <c:v>ゴール</c:v>
                </c:pt>
              </c:strCache>
            </c:strRef>
          </c:cat>
          <c:val>
            <c:numRef>
              <c:f>Sheet1!$B$2:$B$3</c:f>
              <c:numCache>
                <c:formatCode>General</c:formatCode>
                <c:ptCount val="2"/>
                <c:pt idx="0">
                  <c:v>32</c:v>
                </c:pt>
                <c:pt idx="1">
                  <c:v>38</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オランダ1部フェイエノールトの本拠地で行われたゴーアヘッド・イーグルス戦、日本代表FW上田綺世選手が32分にアシスト、38分に豪快なダイビングヘッドでゴールを決め、今季初ゴール・初アシストを記録しました。ただしチームは2点リードを守れず2-2の引き分けに終わっています。今日はこの試合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上田綺世選手が32分にアシスト、38分にダイビングヘッドでゴールを決め、今季初ゴール・初アシストを記録しました。ただしフェイエノールトは2点リードを守れず、2-2の引き分けに終わっています。個人の活躍とチーム結果を分けて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当日のタイムラインから、アシストとゴールという2つの得点関与、そして『移籍期限前のアピール』という報道フレームの正確な意味まで、正確に数字を引用しながら整理します。誇張や創作は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報道ともに鮮度基準を満たす新しい話題であることに加えて、前シーズン得点王が開幕戦から結果を出したという内容が最大の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上田綺世選手の前提を確認します。27歳の日本代表FWで、オランダ1部リーグのフェイエノールトに所属しています。前シーズンはリーグ得点王(25ゴール)を記録したエースストライカーで、今回の試合には先発出場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アシストは得点に直接つながったプレーをした選手に記録される数字で、意図的なパスに限らずシュートが当たってゴールになった場合も記録されることがあります。ダイビングヘッドは体を投げ出して頭でボールに合わせるプレーです。『今季初』はこのシーズンで最初という意味で、キャリア通算の初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当日のタイムラインです。上田選手が先発出場し、32分にゼヒール選手のシュートが自分に当たる形でアシストを記録、38分には豪快なダイビングヘッドでゴールを決めました。しかしチームは2点リードを守れず、最終的に2-2の引き分け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得点差の推移がよく分かります。32分・38分と前半のうちに2点をリードしましたが、試合終了までに追いつかれ、最終的な得点差は0、つまり2-2の引き分けに終わりました。個人の好調とチームの結果は別のものである点を、まずこのグラフ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得点関与です。32分、ゼヒール選手のシュートが上田選手に当たってゴールとなり、今季初アシストを記録しました。本人も『幸運な形』と話しているとおり、意図的なラストパスというより偶然が重なった形のアシス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得点関与です。38分、右サイドからのハジ・ムサ選手のクロスに、上田選手が豪快なダイビングヘッドで合わせ、今季初ゴールを記録しました。こちらは反応と技術が求められる、はっきりとした得点シーン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得点関与の関係を図にしました。32分の幸運なアシストから、わずか6分後の38分に、今度は技術が求められるダイビングヘッドでのゴール。性質の異なる2つの関与が、同じ前半のうちに立て続けに生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2つの得点関与の違いを表にしました。同じ『今季初』でも、経緯や性質はまったく異なります。この違いを混同せず、それぞれ正確に扱います。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この試合のポイント3つです。前シーズン得点王の先発、前半での2得点関与、そしてそれでも引き分けに終わったという結果、いずれも複数のメディアが一致して報じている内容です。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上田選手の実績を確認します。前シーズンはリーグ得点王として25ゴールを記録しました。今シーズンの通算成績(この試合以外を含む数字)は本調査の範囲では確認できておらず、憶測では述べません。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この試合でフェイエノールトが決めた得点は2つで、そのいずれにも上田選手が直接関与しています。32分はアシスト、38分は自らのゴールです。個人としては十分な結果を出したことが分かります。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得点関与のタイミングをグラフにしました。32分のアシストから38分のゴールまで、わずか6分の間に前半のうちに2回関与しています。集中して結果を出した時間帯だったことが分かります。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が注目された理由を3つにまとめました。得点王の初戦、印象的なダイビングヘッド、そして移籍市場のタイミングという文脈、それぞれが話題性につながっています。次は3つ目の『移籍期限前のアピール』について正確に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期限前の最後のアピール』という表現を正確に確認します。これは一部メディアが活躍のタイミングを移籍市場のクローズ間際という文脈で捉えた表現であり、移籍が実際に成立するかどうかを示す確定情報ではありません。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の活躍とチーム結果を並べて比較します。上田選手個人は今季初ゴール・初アシストという結果を出しましたが、チームとしては2点リードを守れず引き分けています。この2つを混同した表現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誇張を避けるための補足です。個人の活躍とチーム結果を混同した表現は使わず、数字はすべて出典どおり正確に扱います。移籍の成否についても断定的な表現は一切行いません。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個人の好調とチームの状態は必ずしも一致しないという分かりやすい一例です。移籍先や今シーズンの通算成績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視聴者にとっての実践的な示唆をまとめました。サッカーファンとして、移籍報道を追う立場として、情報を発信する立場として、それぞれで意識したい点です。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改めてプロフィールを確認します。27歳の日本代表FWで、フェイエノールト所属です。前シーズンはリーグ得点王でした。今シーズンの通算成績や契約の詳細は確認できておらず、正直にお伝えします。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見出しの印象と実際の内容にはギャップが生まれがちです。今回はあくまで個人の好プレーであり、チームの勝利でも、移籍の確定でも、今後の得点王確実視でもありません。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確認できていないことを正直にお伝えします。移籍先や移籍金、今シーズンの通算成績、年俸・契約期間の詳細は、本調査の範囲では確認できていません。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32分・38分の得点関与と最終スコアは複数の情報源で確認できた事実です。『移籍期限前のアピール』は報道の文脈フレームであり確定情報ではありません。今後の好調さについての評価はあくまで一般的な推測であり、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本テーマの鮮度を数字で確認します。試合開催・日本語報道いずれも着手日を基準に2日以内です。当社の鮮度基準を満たしています。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上田綺世選手が、ゴーアヘッド・イーグルス戦で今季初ゴール・初アシストを記録しながらも、チームは2点リードを守れず2-2の引き分けに終わっ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前シーズン得点王が、今季初ゴール。</a:t>
            </a:r>
          </a:p>
          <a:p>
            <a:pPr algn="l">
              <a:lnSpc>
                <a:spcPct val="115000"/>
              </a:lnSpc>
            </a:pPr>
            <a:r>
              <a:rPr sz="4200" b="1">
                <a:solidFill>
                  <a:srgbClr val="FFFFFF"/>
                </a:solidFill>
                <a:latin typeface="Yu Gothic"/>
              </a:rPr>
              <a:t>32分アシスト、38分ダイビングヘッド。</a:t>
            </a:r>
          </a:p>
          <a:p>
            <a:pPr algn="l">
              <a:lnSpc>
                <a:spcPct val="115000"/>
              </a:lnSpc>
            </a:pPr>
            <a:r>
              <a:rPr sz="4200" b="1">
                <a:solidFill>
                  <a:srgbClr val="FFFFFF"/>
                </a:solidFill>
                <a:latin typeface="Yu Gothic"/>
              </a:rPr>
              <a:t>それでもチームは2-2の引き分け。</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2026年8月16日、フェイエノールト対ゴーアヘッド・イーグルス――出典付きで整理する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livedoor News(2件)・Yahoo!ニュース(SOCCER DIGEST Web配信)・サッカーダイジェストWeb・チバテレ+プラス・東スポWEB・フットボールチャンネル(いずれも2026年8月16〜17日)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今季初ゴール&amp;初アシスト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2026年8月16日、ゴーアヘッド・イーグルス戦。上田綺世選手が32分のアシスト、38分のダイビングヘッドゴールを記録した。ただしチームは2点リードを守れず2-2の引き分けに終わった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livedoor News・サッカーダイジェストWeb(2026-08-16/17)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上田綺世選手とは(初心者向け解説つき)</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試合当日のタイムラインと得点差の推移</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2つの得点関与(アシストとゴール)を数字で比較する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『移籍期限前の最後のアピール』が意味すること・読者への示唆</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試合開催(2026年8月16日)・日本語報道(8月16〜17日)が、着手日を基準に2日以内という鮮度基準を満たす話題である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前シーズン得点王という実績を持つ選手が、開幕2戦目で今季初ゴール・初アシストを記録したというストーリー性がある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6媒体以上の独立したメディアが得点経緯・試合結果を一致させて報じている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News・Yahoo!ニュース・サッカーダイジェストWeb 他(2026-08-16/17)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上田綺世選手とは(初心者向け)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27歳、日本代表FW。オランダ1部リーグ・フェイエノールト所属</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前シーズンはリーグ得点王(25ゴール)を記録したエースストライカー</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今回の試合(開幕2戦目)には先発出場した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News・フットボールチャンネル(2026-08-16/17)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前提知識:「アシスト」「ダイビングヘッド」とは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アシスト: 得点に直接つながったパスやプレーをした選手に記録される。シュートがその選手に当たってゴールになった場合も記録されることがある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ダイビングヘッド: 体を投げ出すように飛び込み、頭でボールをゴールに合わせるプレー</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『今季初』: このシーズン(2026-27シーズン)の中で最初、という意味。選手のキャリア通算の初ではない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試合当日のタイムライン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先発出場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上田選手が本拠地でのゴーアヘッド・イーグルス戦に先発出場</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32分</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ゼヒール選手のシュートが上田選手に当たってゴール。今季初アシストを記録(本人談『幸運な形』)</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38分</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ハジ・ムサ選手のクロスに、上田選手が豪快なダイビングヘッドで合わせて今季初ゴール</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試合終了</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2点リードを守れず、ゴーアヘッド・イーグルスに追いつかれ2-2で引き分け</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得点差の推移(フェイエノールト視点)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News・Yahoo!ニュース・サッカーダイジェストWeb(2026-08-16/17)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32分:今季初アシスト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32分・今季初アシスト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ゼヒール選手のシュートが上田選手に当たってゴールとなり、今季初アシストを記録した。本人いわく『幸運な形』のアシストだった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livedoor News・Yahoo!ニュース・サッカーダイジェストWeb(2026-08-16/17)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38分:今季初ゴール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38分・今季初ゴール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右サイドからのハジ・ムサ選手のクロスに、上田選手が豪快なダイビングヘッドで合わせて今季初ゴールを記録した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livedoor News・東スポWEB・フットボールチャンネル(2026-08-16/17)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2つの得点関与の関係(概念図)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32分:アシスト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ゼヒールのシュートが上田に当たりゴール(本人談・幸運な形)</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同じ前半のうちに</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6分後、続けて得点関与</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38分:ゴール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ハジ・ムサのクロスにダイビングヘッドで合わせる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前半のうちに、性質の異なる2つの得点関与(幸運なアシストと技ありのゴール)が立て続けに生まれた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News・サッカーダイジェストWeb(2026-08-16/17)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アシストとゴール、経緯の違いを比較する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32分:アシスト</a:t>
                      </a:r>
                    </a:p>
                  </a:txBody>
                  <a:tcPr>
                    <a:solidFill>
                      <a:srgbClr val="1E2761"/>
                    </a:solidFill>
                  </a:tcPr>
                </a:tc>
                <a:tc>
                  <a:txBody>
                    <a:bodyPr/>
                    <a:lstStyle/>
                    <a:p>
                      <a:pPr>
                        <a:defRPr sz="1300" b="1">
                          <a:solidFill>
                            <a:srgbClr val="FFFFFF"/>
                          </a:solidFill>
                          <a:latin typeface="Yu Gothic"/>
                        </a:defRPr>
                      </a:pPr>
                      <a:r>
                        <a:t>38分:ゴール</a:t>
                      </a:r>
                    </a:p>
                  </a:txBody>
                  <a:tcPr>
                    <a:solidFill>
                      <a:srgbClr val="1E2761"/>
                    </a:solidFill>
                  </a:tcPr>
                </a:tc>
              </a:tr>
              <a:tr h="502920">
                <a:tc>
                  <a:txBody>
                    <a:bodyPr/>
                    <a:lstStyle/>
                    <a:p>
                      <a:pPr>
                        <a:defRPr sz="1200">
                          <a:solidFill>
                            <a:srgbClr val="1A1A2E"/>
                          </a:solidFill>
                          <a:latin typeface="Yu Gothic"/>
                        </a:defRPr>
                      </a:pPr>
                      <a:r>
                        <a:t>経緯</a:t>
                      </a:r>
                    </a:p>
                  </a:txBody>
                  <a:tcPr>
                    <a:solidFill>
                      <a:srgbClr val="FFFFFF"/>
                    </a:solidFill>
                  </a:tcPr>
                </a:tc>
                <a:tc>
                  <a:txBody>
                    <a:bodyPr/>
                    <a:lstStyle/>
                    <a:p>
                      <a:pPr>
                        <a:defRPr sz="1200">
                          <a:solidFill>
                            <a:srgbClr val="1A1A2E"/>
                          </a:solidFill>
                          <a:latin typeface="Yu Gothic"/>
                        </a:defRPr>
                      </a:pPr>
                      <a:r>
                        <a:t>ゼヒール選手のシュートが上田選手に当たる</a:t>
                      </a:r>
                    </a:p>
                  </a:txBody>
                  <a:tcPr>
                    <a:solidFill>
                      <a:srgbClr val="FFFFFF"/>
                    </a:solidFill>
                  </a:tcPr>
                </a:tc>
                <a:tc>
                  <a:txBody>
                    <a:bodyPr/>
                    <a:lstStyle/>
                    <a:p>
                      <a:pPr>
                        <a:defRPr sz="1200">
                          <a:solidFill>
                            <a:srgbClr val="1A1A2E"/>
                          </a:solidFill>
                          <a:latin typeface="Yu Gothic"/>
                        </a:defRPr>
                      </a:pPr>
                      <a:r>
                        <a:t>ハジ・ムサ選手のクロスにダイビングヘッド</a:t>
                      </a:r>
                    </a:p>
                  </a:txBody>
                  <a:tcPr>
                    <a:solidFill>
                      <a:srgbClr val="FFFFFF"/>
                    </a:solidFill>
                  </a:tcPr>
                </a:tc>
              </a:tr>
              <a:tr h="502920">
                <a:tc>
                  <a:txBody>
                    <a:bodyPr/>
                    <a:lstStyle/>
                    <a:p>
                      <a:pPr>
                        <a:defRPr sz="1200">
                          <a:solidFill>
                            <a:srgbClr val="1A1A2E"/>
                          </a:solidFill>
                          <a:latin typeface="Yu Gothic"/>
                        </a:defRPr>
                      </a:pPr>
                      <a:r>
                        <a:t>性質</a:t>
                      </a:r>
                    </a:p>
                  </a:txBody>
                  <a:tcPr>
                    <a:solidFill>
                      <a:srgbClr val="F3F6FC"/>
                    </a:solidFill>
                  </a:tcPr>
                </a:tc>
                <a:tc>
                  <a:txBody>
                    <a:bodyPr/>
                    <a:lstStyle/>
                    <a:p>
                      <a:pPr>
                        <a:defRPr sz="1200">
                          <a:solidFill>
                            <a:srgbClr val="1A1A2E"/>
                          </a:solidFill>
                          <a:latin typeface="Yu Gothic"/>
                        </a:defRPr>
                      </a:pPr>
                      <a:r>
                        <a:t>本人談『幸運な形』</a:t>
                      </a:r>
                    </a:p>
                  </a:txBody>
                  <a:tcPr>
                    <a:solidFill>
                      <a:srgbClr val="F3F6FC"/>
                    </a:solidFill>
                  </a:tcPr>
                </a:tc>
                <a:tc>
                  <a:txBody>
                    <a:bodyPr/>
                    <a:lstStyle/>
                    <a:p>
                      <a:pPr>
                        <a:defRPr sz="1200">
                          <a:solidFill>
                            <a:srgbClr val="1A1A2E"/>
                          </a:solidFill>
                          <a:latin typeface="Yu Gothic"/>
                        </a:defRPr>
                      </a:pPr>
                      <a:r>
                        <a:t>反応・技術が求められる得点</a:t>
                      </a:r>
                    </a:p>
                  </a:txBody>
                  <a:tcPr>
                    <a:solidFill>
                      <a:srgbClr val="F3F6FC"/>
                    </a:solidFill>
                  </a:tcPr>
                </a:tc>
              </a:tr>
              <a:tr h="502920">
                <a:tc>
                  <a:txBody>
                    <a:bodyPr/>
                    <a:lstStyle/>
                    <a:p>
                      <a:pPr>
                        <a:defRPr sz="1200">
                          <a:solidFill>
                            <a:srgbClr val="1A1A2E"/>
                          </a:solidFill>
                          <a:latin typeface="Yu Gothic"/>
                        </a:defRPr>
                      </a:pPr>
                      <a:r>
                        <a:t>記録</a:t>
                      </a:r>
                    </a:p>
                  </a:txBody>
                  <a:tcPr>
                    <a:solidFill>
                      <a:srgbClr val="FFFFFF"/>
                    </a:solidFill>
                  </a:tcPr>
                </a:tc>
                <a:tc>
                  <a:txBody>
                    <a:bodyPr/>
                    <a:lstStyle/>
                    <a:p>
                      <a:pPr>
                        <a:defRPr sz="1200">
                          <a:solidFill>
                            <a:srgbClr val="1A1A2E"/>
                          </a:solidFill>
                          <a:latin typeface="Yu Gothic"/>
                        </a:defRPr>
                      </a:pPr>
                      <a:r>
                        <a:t>今季初アシスト</a:t>
                      </a:r>
                    </a:p>
                  </a:txBody>
                  <a:tcPr>
                    <a:solidFill>
                      <a:srgbClr val="FFFFFF"/>
                    </a:solidFill>
                  </a:tcPr>
                </a:tc>
                <a:tc>
                  <a:txBody>
                    <a:bodyPr/>
                    <a:lstStyle/>
                    <a:p>
                      <a:pPr>
                        <a:defRPr sz="1200">
                          <a:solidFill>
                            <a:srgbClr val="1A1A2E"/>
                          </a:solidFill>
                          <a:latin typeface="Yu Gothic"/>
                        </a:defRPr>
                      </a:pPr>
                      <a:r>
                        <a:t>今季初ゴール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News・Yahoo!ニュース・サッカーダイジェストWeb(2026-08-16/17)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この試合のポイント3つ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開幕2戦目の先発</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前シーズン得点王が本拠地の試合に先発出場した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前半での2得点関与</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32分アシスト・38分ゴールと、前半のうちに立て続けに関与した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それでも2-2の引き分け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2点リードを守れず、格下とされる相手に追いつかれた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前シーズン25ゴールで得点王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前シーズン25ゴール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上田選手は前シーズン、リーグ得点王(25ゴール)を記録したエースストライカーである。今シーズンの通算成績は本調査の範囲では確認できていない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livedoor News・フットボールチャンネル(2026-08-16/17)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フェイエノールトの得点、いずれも上田選手が関与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2得点とも上田選手が関与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この試合でフェイエノールトが決めた2得点(32分・38分)は、いずれも上田選手が直接関与したものだった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livedoor News・サッカーダイジェストWeb(2026-08-16/17)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得点関与のタイミング(前半のうちに2回)</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News・Yahoo!ニュース(2026-08-16/17)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この試合が注目された3つの理由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得点王の初戦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前シーズン得点王が開幕2戦目で結果を出した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豪快なゴール</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ダイビングヘッドという印象的な形での今季初ゴール</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移籍市場のタイミング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一部メディアが移籍市場のクローズ間際という文脈で報じた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「移籍期限前の最後のアピール」というフレームを正確に確認する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一部メディア(東スポWEB、フットボールチャンネル)が、活躍のタイミングを移籍市場のクローズ間際という文脈で『最後のアピール』と表現している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これは報道側の見立て・文脈の紹介であり、具体的な移籍先や移籍が実際に成立するかどうかを示す確定情報ではない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本テーマでは『移籍する』『移籍が決まった』という断定は一切行わない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東スポWEB・フットボールチャンネル(2026-08-16/17、報道内の文脈紹介)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個人の活躍とチーム結果、混同しないために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上田選手個人の結果</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32分アシスト・38分ゴール(ダイビングヘッド)</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今季初ゴール&amp;初アシストを記録</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前シーズン得点王としての存在感を示した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フェイエノールトのチーム結果</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2点リードを守れず2-2の引き分け</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格下とされる相手に追いつかれた</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開幕2連勝を逃した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誇張回避のための補足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『上田の活躍でフェイエノールトが勝利』のような、個人の活躍とチーム結果を混同した表現は使わない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数字(32分・38分・前シーズン25ゴール・最終スコア2-2)はすべて出典どおり正確に扱う</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移籍の成否について断定的な表現(『移籍する』『移籍しない』)は一切行わない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上田選手は今季初ゴール・初アシストを記録し、開幕戦から存在感を示した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一方でチームは2点リードを守れず引き分けており、個人の好調とチーム状態は分けて評価する必要がある一例である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移籍先・今シーズン通算成績・移籍の成否は、本調査の範囲では確認できていない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サッカーファンとして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個人の活躍とチームの勝敗を分けて見ると、試合内容の理解が深まる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移籍報道を追う立場として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『移籍期限前のアピール』のような文脈フレームは、確定情報と切り分けて捉える習慣が役立つ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個人の活躍とチーム結果を混同せず、出典付きで正確に伝える姿勢が信頼につながる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上田綺世選手のプロフィール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改めて選手のプロフィールを確認します。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27歳、日本代表FW、オランダ1部リーグ・フェイエノールト所属</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前シーズンはリーグ得点王(25ゴール)を記録した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今シーズンの通算成績・契約に関する詳細は本調査の範囲では確認できていない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livedoor News・フットボールチャンネル(2026-08-16/17)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フェイエノールトが快勝した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上田選手の移籍がすでに決まった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今季も得点王を確実視できる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結果は2点リードを守れず2-2の引き分け</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『移籍期限前のアピール』はあくまで報道の文脈紹介であり移籍は未確定</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今シーズンの通算成績は本調査の範囲では確認できていない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上田選手の具体的な移籍先・移籍金・移籍が実際に成立するかどうか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上田選手の今シーズン通算成績(本試合以外を含む出場数・得点数・アシスト数)</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上田選手の年俸・契約期間の詳細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ゴーアヘッド・イーグルスの同点弾の経緯</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r h="502920">
                <a:tc>
                  <a:txBody>
                    <a:bodyPr/>
                    <a:lstStyle/>
                    <a:p>
                      <a:pPr>
                        <a:defRPr sz="1200">
                          <a:solidFill>
                            <a:srgbClr val="1A1A2E"/>
                          </a:solidFill>
                          <a:latin typeface="Yu Gothic"/>
                        </a:defRPr>
                      </a:pPr>
                      <a:r>
                        <a:t>移籍市場のクローズ日程の詳細</a:t>
                      </a:r>
                    </a:p>
                  </a:txBody>
                  <a:tcPr>
                    <a:solidFill>
                      <a:srgbClr val="F3F6FC"/>
                    </a:solidFill>
                  </a:tcPr>
                </a:tc>
                <a:tc>
                  <a:txBody>
                    <a:bodyPr/>
                    <a:lstStyle/>
                    <a:p>
                      <a:pPr>
                        <a:defRPr sz="1200">
                          <a:solidFill>
                            <a:srgbClr val="1A1A2E"/>
                          </a:solidFill>
                          <a:latin typeface="Yu Gothic"/>
                        </a:defRPr>
                      </a:pPr>
                      <a:r>
                        <a:t>本調査の範囲では確認できていない</a:t>
                      </a:r>
                    </a:p>
                  </a:txBody>
                  <a:tcPr>
                    <a:solidFill>
                      <a:srgbClr val="F3F6FC"/>
                    </a:solidFill>
                  </a:tcPr>
                </a:tc>
              </a:tr>
              <a:tr h="502920">
                <a:tc>
                  <a:txBody>
                    <a:bodyPr/>
                    <a:lstStyle/>
                    <a:p>
                      <a:pPr>
                        <a:defRPr sz="1200">
                          <a:solidFill>
                            <a:srgbClr val="1A1A2E"/>
                          </a:solidFill>
                          <a:latin typeface="Yu Gothic"/>
                        </a:defRPr>
                      </a:pPr>
                      <a:r>
                        <a:t>上田選手の今シーズン通算成績</a:t>
                      </a:r>
                    </a:p>
                  </a:txBody>
                  <a:tcPr>
                    <a:solidFill>
                      <a:srgbClr val="FFFFFF"/>
                    </a:solidFill>
                  </a:tcPr>
                </a:tc>
                <a:tc>
                  <a:txBody>
                    <a:bodyPr/>
                    <a:lstStyle/>
                    <a:p>
                      <a:pPr>
                        <a:defRPr sz="1200">
                          <a:solidFill>
                            <a:srgbClr val="1A1A2E"/>
                          </a:solidFill>
                          <a:latin typeface="Yu Gothic"/>
                        </a:defRPr>
                      </a:pPr>
                      <a:r>
                        <a:t>本調査の範囲では確認できていない(推測で補わない)</a:t>
                      </a:r>
                    </a:p>
                  </a:txBody>
                  <a:tcPr>
                    <a:solidFill>
                      <a:srgbClr val="FFFFFF"/>
                    </a:solidFill>
                  </a:tcPr>
                </a:tc>
              </a:tr>
              <a:tr h="502920">
                <a:tc>
                  <a:txBody>
                    <a:bodyPr/>
                    <a:lstStyle/>
                    <a:p>
                      <a:pPr>
                        <a:defRPr sz="1200">
                          <a:solidFill>
                            <a:srgbClr val="1A1A2E"/>
                          </a:solidFill>
                          <a:latin typeface="Yu Gothic"/>
                        </a:defRPr>
                      </a:pPr>
                      <a:r>
                        <a:t>移籍の成否</a:t>
                      </a:r>
                    </a:p>
                  </a:txBody>
                  <a:tcPr>
                    <a:solidFill>
                      <a:srgbClr val="F3F6FC"/>
                    </a:solidFill>
                  </a:tcPr>
                </a:tc>
                <a:tc>
                  <a:txBody>
                    <a:bodyPr/>
                    <a:lstStyle/>
                    <a:p>
                      <a:pPr>
                        <a:defRPr sz="1200">
                          <a:solidFill>
                            <a:srgbClr val="1A1A2E"/>
                          </a:solidFill>
                          <a:latin typeface="Yu Gothic"/>
                        </a:defRPr>
                      </a:pPr>
                      <a:r>
                        <a:t>確定情報なし。報道の文脈紹介にとどめる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32分アシスト・38分ゴール(ダイビングヘッド)・前シーズン25ゴール得点王・最終スコア2-2は複数メディアが一致</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『移籍期限前の最後のアピール』は一部メディアの文脈フレームであり、移籍の確定情報ではない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前半のうちに立て続けに得点関与した点から好調さがうかがえるという評価(断定はしない)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移籍先・移籍金・今シーズン通算成績</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着手日基準で2日以内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試合は現地時間2026年8月16日、日本語報道は8月16〜17日に配信。着手日(2026年8月17日)を基準に2日以内という基準を満たす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livedoor News(2件)</a:t>
                      </a:r>
                    </a:p>
                  </a:txBody>
                  <a:tcPr>
                    <a:solidFill>
                      <a:srgbClr val="FFFFFF"/>
                    </a:solidFill>
                  </a:tcPr>
                </a:tc>
                <a:tc>
                  <a:txBody>
                    <a:bodyPr/>
                    <a:lstStyle/>
                    <a:p>
                      <a:pPr>
                        <a:defRPr sz="1200">
                          <a:solidFill>
                            <a:srgbClr val="1A1A2E"/>
                          </a:solidFill>
                          <a:latin typeface="Yu Gothic"/>
                        </a:defRPr>
                      </a:pPr>
                      <a:r>
                        <a:t>得点経緯・試合結果(2026-08-16/17)</a:t>
                      </a:r>
                    </a:p>
                  </a:txBody>
                  <a:tcPr>
                    <a:solidFill>
                      <a:srgbClr val="FFFFFF"/>
                    </a:solidFill>
                  </a:tcPr>
                </a:tc>
              </a:tr>
              <a:tr h="502920">
                <a:tc>
                  <a:txBody>
                    <a:bodyPr/>
                    <a:lstStyle/>
                    <a:p>
                      <a:pPr>
                        <a:defRPr sz="1200">
                          <a:solidFill>
                            <a:srgbClr val="1A1A2E"/>
                          </a:solidFill>
                          <a:latin typeface="Yu Gothic"/>
                        </a:defRPr>
                      </a:pPr>
                      <a:r>
                        <a:t>Yahoo!ニュース(SOCCER DIGEST Web配信)</a:t>
                      </a:r>
                    </a:p>
                  </a:txBody>
                  <a:tcPr>
                    <a:solidFill>
                      <a:srgbClr val="F3F6FC"/>
                    </a:solidFill>
                  </a:tcPr>
                </a:tc>
                <a:tc>
                  <a:txBody>
                    <a:bodyPr/>
                    <a:lstStyle/>
                    <a:p>
                      <a:pPr>
                        <a:defRPr sz="1200">
                          <a:solidFill>
                            <a:srgbClr val="1A1A2E"/>
                          </a:solidFill>
                          <a:latin typeface="Yu Gothic"/>
                        </a:defRPr>
                      </a:pPr>
                      <a:r>
                        <a:t>得点経緯の詳細(2026-08-16/17)</a:t>
                      </a:r>
                    </a:p>
                  </a:txBody>
                  <a:tcPr>
                    <a:solidFill>
                      <a:srgbClr val="F3F6FC"/>
                    </a:solidFill>
                  </a:tcPr>
                </a:tc>
              </a:tr>
              <a:tr h="502920">
                <a:tc>
                  <a:txBody>
                    <a:bodyPr/>
                    <a:lstStyle/>
                    <a:p>
                      <a:pPr>
                        <a:defRPr sz="1200">
                          <a:solidFill>
                            <a:srgbClr val="1A1A2E"/>
                          </a:solidFill>
                          <a:latin typeface="Yu Gothic"/>
                        </a:defRPr>
                      </a:pPr>
                      <a:r>
                        <a:t>サッカーダイジェストWeb</a:t>
                      </a:r>
                    </a:p>
                  </a:txBody>
                  <a:tcPr>
                    <a:solidFill>
                      <a:srgbClr val="FFFFFF"/>
                    </a:solidFill>
                  </a:tcPr>
                </a:tc>
                <a:tc>
                  <a:txBody>
                    <a:bodyPr/>
                    <a:lstStyle/>
                    <a:p>
                      <a:pPr>
                        <a:defRPr sz="1200">
                          <a:solidFill>
                            <a:srgbClr val="1A1A2E"/>
                          </a:solidFill>
                          <a:latin typeface="Yu Gothic"/>
                        </a:defRPr>
                      </a:pPr>
                      <a:r>
                        <a:t>得点経緯・試合結果(2026-08-16/17)</a:t>
                      </a:r>
                    </a:p>
                  </a:txBody>
                  <a:tcPr>
                    <a:solidFill>
                      <a:srgbClr val="FFFFFF"/>
                    </a:solidFill>
                  </a:tcPr>
                </a:tc>
              </a:tr>
              <a:tr h="502920">
                <a:tc>
                  <a:txBody>
                    <a:bodyPr/>
                    <a:lstStyle/>
                    <a:p>
                      <a:pPr>
                        <a:defRPr sz="1200">
                          <a:solidFill>
                            <a:srgbClr val="1A1A2E"/>
                          </a:solidFill>
                          <a:latin typeface="Yu Gothic"/>
                        </a:defRPr>
                      </a:pPr>
                      <a:r>
                        <a:t>チバテレ+プラス</a:t>
                      </a:r>
                    </a:p>
                  </a:txBody>
                  <a:tcPr>
                    <a:solidFill>
                      <a:srgbClr val="F3F6FC"/>
                    </a:solidFill>
                  </a:tcPr>
                </a:tc>
                <a:tc>
                  <a:txBody>
                    <a:bodyPr/>
                    <a:lstStyle/>
                    <a:p>
                      <a:pPr>
                        <a:defRPr sz="1200">
                          <a:solidFill>
                            <a:srgbClr val="1A1A2E"/>
                          </a:solidFill>
                          <a:latin typeface="Yu Gothic"/>
                        </a:defRPr>
                      </a:pPr>
                      <a:r>
                        <a:t>試合結果(2026-08-16/17)</a:t>
                      </a:r>
                    </a:p>
                  </a:txBody>
                  <a:tcPr>
                    <a:solidFill>
                      <a:srgbClr val="F3F6FC"/>
                    </a:solidFill>
                  </a:tcPr>
                </a:tc>
              </a:tr>
              <a:tr h="502920">
                <a:tc>
                  <a:txBody>
                    <a:bodyPr/>
                    <a:lstStyle/>
                    <a:p>
                      <a:pPr>
                        <a:defRPr sz="1200">
                          <a:solidFill>
                            <a:srgbClr val="1A1A2E"/>
                          </a:solidFill>
                          <a:latin typeface="Yu Gothic"/>
                        </a:defRPr>
                      </a:pPr>
                      <a:r>
                        <a:t>東スポWEB</a:t>
                      </a:r>
                    </a:p>
                  </a:txBody>
                  <a:tcPr>
                    <a:solidFill>
                      <a:srgbClr val="FFFFFF"/>
                    </a:solidFill>
                  </a:tcPr>
                </a:tc>
                <a:tc>
                  <a:txBody>
                    <a:bodyPr/>
                    <a:lstStyle/>
                    <a:p>
                      <a:pPr>
                        <a:defRPr sz="1200">
                          <a:solidFill>
                            <a:srgbClr val="1A1A2E"/>
                          </a:solidFill>
                          <a:latin typeface="Yu Gothic"/>
                        </a:defRPr>
                      </a:pPr>
                      <a:r>
                        <a:t>『移籍期限前のアピール』という文脈紹介(2026-08-16/17)</a:t>
                      </a:r>
                    </a:p>
                  </a:txBody>
                  <a:tcPr>
                    <a:solidFill>
                      <a:srgbClr val="FFFFFF"/>
                    </a:solidFill>
                  </a:tcPr>
                </a:tc>
              </a:tr>
              <a:tr h="502920">
                <a:tc>
                  <a:txBody>
                    <a:bodyPr/>
                    <a:lstStyle/>
                    <a:p>
                      <a:pPr>
                        <a:defRPr sz="1200">
                          <a:solidFill>
                            <a:srgbClr val="1A1A2E"/>
                          </a:solidFill>
                          <a:latin typeface="Yu Gothic"/>
                        </a:defRPr>
                      </a:pPr>
                      <a:r>
                        <a:t>フットボールチャンネル</a:t>
                      </a:r>
                    </a:p>
                  </a:txBody>
                  <a:tcPr>
                    <a:solidFill>
                      <a:srgbClr val="F3F6FC"/>
                    </a:solidFill>
                  </a:tcPr>
                </a:tc>
                <a:tc>
                  <a:txBody>
                    <a:bodyPr/>
                    <a:lstStyle/>
                    <a:p>
                      <a:pPr>
                        <a:defRPr sz="1200">
                          <a:solidFill>
                            <a:srgbClr val="1A1A2E"/>
                          </a:solidFill>
                          <a:latin typeface="Yu Gothic"/>
                        </a:defRPr>
                      </a:pPr>
                      <a:r>
                        <a:t>得点王実績・文脈紹介(2026-08-16/17)</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livedoor News(2件)・Yahoo!ニュース(SOCCER DIGEST Web配信)・サッカーダイジェストWeb・チバテレ+プラス・東スポWEB・フットボールチャンネル(いずれも2026-08-16/17)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豪快ダイビングヘッド。それでも、勝利ではなかった。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今季初ゴール・初アシストという個人の活躍と、2-2の引き分けというチーム結果を、出典付きで正確に整理してお届けしました。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