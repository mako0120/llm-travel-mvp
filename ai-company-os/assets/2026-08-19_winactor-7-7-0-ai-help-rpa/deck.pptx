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Tアドバンステクノロジが2026年8月19日、国産RPAツール『WinActor』の新バージョン『Ver.7.7.0』を発表しました。生成AIと連携した『AIヘルプ』機能で、操作方法やエラーの疑問をその場で解決できるようにしています。今日はこの新機能と、WinActorの実績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結論から確認します。WinActor Ver.7.7.0はAIヘルプ機能を搭載し、操作やエラーの疑問をその場で解決できます。導入企業数は8,800社を突破しています。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新機能の内容から、発表日と販売開始日の食い違い、生成AI連携機能の進化の歴史まで、正確に情報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このテーマを扱う理由です。着手日当日という高い鮮度に加え、生成AIによるAIヘルプという具体的な統合事例、8,800社という実績の大きさに注目しました。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WinActorはNTT-ATが開発する純国産のRPAツールです。プログラミング知識がなくても扱いやすい操作性が特徴で、8,800社を超える企業に導入されています。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Ver.7.7.0の新機能です。AIヘルプ機能に加え、ライブラリのPython移行対応、カスタムライブラリの一括管理機能が追加されています。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AIヘルプ機能は、操作やエラーの疑問をその場で解決できる支援機能です。具体的な生成AIモデルの詳細までは確認できていません。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WinActorの導入企業数は2026年6月末時点で8,800社を突破しています。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発表日は8月19日ですが、販売開始日を9月1日とする情報源もあります。原因は特定できていないため、両方を正直に開示します。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発表日と販売開始日の食い違いを対比しました。原因は特定できていないため、いずれか一方を正解と断定せず両方を開示します。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バージョン別の生成AI連携機能の進化です。2024年のVer.7.5.0以降、段階的に生成AI連携機能を強化してきた経緯があります。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過去2バージョンでも生成AI連携機能が強化されており、毎年継続的にAI活用が進められている傾向がうかがえます。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ライブラリのPython移行は2026年9月末に完了予定とされています。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カスタムライブラリの一括管理機能により、更新作業の負荷や更新漏れの削減が期待されています。ただし具体的な効果の数値は確認できていません。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過去バージョンの参考価格としてフル機能版99万8,800円という情報がありますが、Ver.7.7.0固有の価格は確認できていません。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WinActorのAI活用の広がりを図にしました。シナリオ作成支援から画像認識AI連携、そして今回のAIヘルプまで、活用範囲が段階的に広がっています。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今回の発表を3ステップで総括しました。Ver.7.7.0の発表、日付の食い違い、そして8,800社という導入実績という流れです。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純国産RPAとして国内で一定のシェアを持つとされ、生成AI連携機能の強化でAI活用の裾野を広げる狙いがあるとみられます。他社との具体的な比較は行っていません。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Ver.7.5から7.7まで、3年連続で生成AI連携機能が強化されています。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AIヘルプ機能により、現場担当者がその場で疑問を解決できる可能性がありますが、実際の導入効果を示すデータは確認できていません。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Ver.7.6.0とVer.7.7.0の機能の違いを対比しました。今回はAIヘルプという新しい切り口が追加されています。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今回の発表の要点をまとめました。発表日、主な新機能、導入企業数、そして販売開始日の食い違いという4点です。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AIヘルプが想定される活用場面を整理しました。いずれも機能の内容から一般的に想定される場面であり、実際の利用実績データではありません。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純国産RPAとして、日本語サポートや日本企業の業務慣習に合わせた機能開発が行われてきた経緯があります。海外製との定量的な比較は行っていません。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確認できなかったことを正直にお伝えします。発表日と販売開始日の食い違いの原因、固有の価格、AIモデルの詳細は確認できていません。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カスタムライブラリの一括管理機能は、更新作業の負荷や漏れの削減を狙いとしています。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Ver.7.7.0の機能を、現場担当者向けと運用担当者向けに整理しました。両方の立場に配慮した機能強化となっています。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まとめです。AIヘルプ機能の新規搭載、8,800社という導入実績、そして発表日と販売開始日の食い違いを正直にお伝えしました。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このニュースが読者にとって意味することをまとめました。業務自動化・RPA業界の動向を追う立場、現場でRPAを運用する立場、国内AI活用の動向に関心がある立場、それぞれで意識したい視点です。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本編は以上です。今回はWinActor Ver.7.7.0のAIヘルプ機能と、その実績まで正確に整理してお伝えしました。数字は出典どおりに扱い、確認できなかったことは正直にお伝えしました。次回もまた出典付きでお届けします。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エラーの疑問を、</a:t>
            </a:r>
          </a:p>
          <a:p>
            <a:pPr algn="l">
              <a:lnSpc>
                <a:spcPct val="115000"/>
              </a:lnSpc>
            </a:pPr>
            <a:r>
              <a:rPr sz="4200" b="1">
                <a:solidFill>
                  <a:srgbClr val="FFFFFF"/>
                </a:solidFill>
                <a:latin typeface="Yu Gothic"/>
              </a:rPr>
              <a:t>AIがその場で解決。</a:t>
            </a:r>
          </a:p>
          <a:p>
            <a:pPr algn="l">
              <a:lnSpc>
                <a:spcPct val="115000"/>
              </a:lnSpc>
            </a:pPr>
            <a:r>
              <a:rPr sz="4200" b="1">
                <a:solidFill>
                  <a:srgbClr val="FFFFFF"/>
                </a:solidFill>
                <a:latin typeface="Yu Gothic"/>
              </a:rPr>
              <a:t>国産RPA最新版が始動</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2026年8月19日発表——WinActor Ver.7.7.0、導入8,800社突破の実績を持つ国産RPA</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NTT-AT公式・CodeZine(2026年8月19日)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AIヘルプ機能を搭載したVer.7.7.0を発表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導入企業数は2026年6月末時点で8,800社を突破</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NTT-AT公式(2026-08-19)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WinActorとは・基礎知識</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Ver.7.7.0の新機能を確認する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発表日と販売開始日の食い違いを確認する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生成AI連携機能の進化の歴史を確認する</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生成AIによる『AIヘルプ』という、業務自動化ツールへのAI統合の具体的な事例である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国内導入企業数8,800社突破という、国産RPAとしての実績の大きさである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複数の独立した情報源(NTT-AT公式・CodeZine等)で確認できる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NTT-AT公式・CodeZine(2026-08-19)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WinActorとは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NTTアドバンステクノロジ(NTT-AT)が開発・提供する純国産のRPA(業務自動化)ツール</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プログラミング知識がなくても現場担当者が扱いやすい操作性を特徴とする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2026年6月末時点で導入企業数が8,800社を突破していると報じられている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定型業務の自動化から、非定型業務の自動化へと活用範囲を拡大してきた経緯がある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NTT-AT公式・複数報道(2026年)</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Ver.7.7.0の新機能</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機能</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AIヘルプ</a:t>
                      </a:r>
                    </a:p>
                  </a:txBody>
                  <a:tcPr>
                    <a:solidFill>
                      <a:srgbClr val="FFFFFF"/>
                    </a:solidFill>
                  </a:tcPr>
                </a:tc>
                <a:tc>
                  <a:txBody>
                    <a:bodyPr/>
                    <a:lstStyle/>
                    <a:p>
                      <a:pPr>
                        <a:defRPr sz="1200">
                          <a:solidFill>
                            <a:srgbClr val="1C2230"/>
                          </a:solidFill>
                          <a:latin typeface="Yu Gothic"/>
                        </a:defRPr>
                      </a:pPr>
                      <a:r>
                        <a:t>生成AIと連携し、操作方法やエラーに関する疑問をその場で解決できる支援機能</a:t>
                      </a:r>
                    </a:p>
                  </a:txBody>
                  <a:tcPr>
                    <a:solidFill>
                      <a:srgbClr val="FFFFFF"/>
                    </a:solidFill>
                  </a:tcPr>
                </a:tc>
              </a:tr>
              <a:tr h="502920">
                <a:tc>
                  <a:txBody>
                    <a:bodyPr/>
                    <a:lstStyle/>
                    <a:p>
                      <a:pPr>
                        <a:defRPr sz="1200">
                          <a:solidFill>
                            <a:srgbClr val="1C2230"/>
                          </a:solidFill>
                          <a:latin typeface="Yu Gothic"/>
                        </a:defRPr>
                      </a:pPr>
                      <a:r>
                        <a:t>ライブラリのPython移行対応</a:t>
                      </a:r>
                    </a:p>
                  </a:txBody>
                  <a:tcPr>
                    <a:solidFill>
                      <a:srgbClr val="F1F5FA"/>
                    </a:solidFill>
                  </a:tcPr>
                </a:tc>
                <a:tc>
                  <a:txBody>
                    <a:bodyPr/>
                    <a:lstStyle/>
                    <a:p>
                      <a:pPr>
                        <a:defRPr sz="1200">
                          <a:solidFill>
                            <a:srgbClr val="1C2230"/>
                          </a:solidFill>
                          <a:latin typeface="Yu Gothic"/>
                        </a:defRPr>
                      </a:pPr>
                      <a:r>
                        <a:t>VBSライブラリの利用を維持しつつ、Python化への移行を2026年9月末完了予定で進める</a:t>
                      </a:r>
                    </a:p>
                  </a:txBody>
                  <a:tcPr>
                    <a:solidFill>
                      <a:srgbClr val="F1F5FA"/>
                    </a:solidFill>
                  </a:tcPr>
                </a:tc>
              </a:tr>
              <a:tr h="502920">
                <a:tc>
                  <a:txBody>
                    <a:bodyPr/>
                    <a:lstStyle/>
                    <a:p>
                      <a:pPr>
                        <a:defRPr sz="1200">
                          <a:solidFill>
                            <a:srgbClr val="1C2230"/>
                          </a:solidFill>
                          <a:latin typeface="Yu Gothic"/>
                        </a:defRPr>
                      </a:pPr>
                      <a:r>
                        <a:t>カスタムライブラリの一括管理</a:t>
                      </a:r>
                    </a:p>
                  </a:txBody>
                  <a:tcPr>
                    <a:solidFill>
                      <a:srgbClr val="FFFFFF"/>
                    </a:solidFill>
                  </a:tcPr>
                </a:tc>
                <a:tc>
                  <a:txBody>
                    <a:bodyPr/>
                    <a:lstStyle/>
                    <a:p>
                      <a:pPr>
                        <a:defRPr sz="1200">
                          <a:solidFill>
                            <a:srgbClr val="1C2230"/>
                          </a:solidFill>
                          <a:latin typeface="Yu Gothic"/>
                        </a:defRPr>
                      </a:pPr>
                      <a:r>
                        <a:t>同梱ライブラリと同様に、カスタムライブラリをシナリオ単位で登録・一括更新できる仕組み</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NTT-AT公式・CodeZine関連報道(2026-08-19)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AIヘルプ機能の内容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今回の目玉機能です。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生成AIと連携し、操作方法やエラーに関する疑問をその場で解決できる支援機能</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従来はマニュアルやサポート窓口への問い合わせが必要だった場面を、AIが代替する形とみられる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具体的な生成AIモデル(自社開発か外部連携か等)の詳細は本調査の範囲では確認できていない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現場担当者の学習コスト低減につながる可能性がある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NTT-AT公式(2026-08-19)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導入企業数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8,800社突破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2026年6月末時点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NTT-AT公式・複数報道(2026年)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発表日と販売開始日の食い違いについて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正直に整理する留保事項です。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NTT-AT公式ニュースリリースのURL・一部報道は、発表日を2026年8月19日としている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一方、本調査で参照した別の情報源は、Ver.7.7.0の販売開始日を2026年9月1日と案内している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この食い違いの原因は本調査の範囲では特定できていない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いずれか一方が誤りと断定せず、両方の情報を正直に開示する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NTT-AT公式・複数情報源(2026-08-19)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発表日 vs 販売開始日(一部情報源による)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発表日</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2026年8月19日</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NTT-AT公式ニュースリリースのURLに基づく</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本テーマの着手日基準となる日付</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販売開始日(一部情報源)</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2026年9月1日</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別の情報源による案内</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食い違いの原因は特定できていない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バージョン別の生成AI連携機能の進化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バージョン</a:t>
                      </a:r>
                    </a:p>
                  </a:txBody>
                  <a:tcPr>
                    <a:solidFill>
                      <a:srgbClr val="2B3A55"/>
                    </a:solidFill>
                  </a:tcPr>
                </a:tc>
                <a:tc>
                  <a:txBody>
                    <a:bodyPr/>
                    <a:lstStyle/>
                    <a:p>
                      <a:pPr>
                        <a:defRPr sz="1300" b="1">
                          <a:solidFill>
                            <a:srgbClr val="FFFFFF"/>
                          </a:solidFill>
                          <a:latin typeface="Yu Gothic"/>
                        </a:defRPr>
                      </a:pPr>
                      <a:r>
                        <a:t>発表時期</a:t>
                      </a:r>
                    </a:p>
                  </a:txBody>
                  <a:tcPr>
                    <a:solidFill>
                      <a:srgbClr val="2B3A55"/>
                    </a:solidFill>
                  </a:tcPr>
                </a:tc>
                <a:tc>
                  <a:txBody>
                    <a:bodyPr/>
                    <a:lstStyle/>
                    <a:p>
                      <a:pPr>
                        <a:defRPr sz="1300" b="1">
                          <a:solidFill>
                            <a:srgbClr val="FFFFFF"/>
                          </a:solidFill>
                          <a:latin typeface="Yu Gothic"/>
                        </a:defRPr>
                      </a:pPr>
                      <a:r>
                        <a:t>生成AI関連の主な強化点</a:t>
                      </a:r>
                    </a:p>
                  </a:txBody>
                  <a:tcPr>
                    <a:solidFill>
                      <a:srgbClr val="2B3A55"/>
                    </a:solidFill>
                  </a:tcPr>
                </a:tc>
              </a:tr>
              <a:tr h="502920">
                <a:tc>
                  <a:txBody>
                    <a:bodyPr/>
                    <a:lstStyle/>
                    <a:p>
                      <a:pPr>
                        <a:defRPr sz="1200">
                          <a:solidFill>
                            <a:srgbClr val="1C2230"/>
                          </a:solidFill>
                          <a:latin typeface="Yu Gothic"/>
                        </a:defRPr>
                      </a:pPr>
                      <a:r>
                        <a:t>Ver.7.5.0</a:t>
                      </a:r>
                    </a:p>
                  </a:txBody>
                  <a:tcPr>
                    <a:solidFill>
                      <a:srgbClr val="FFFFFF"/>
                    </a:solidFill>
                  </a:tcPr>
                </a:tc>
                <a:tc>
                  <a:txBody>
                    <a:bodyPr/>
                    <a:lstStyle/>
                    <a:p>
                      <a:pPr>
                        <a:defRPr sz="1200">
                          <a:solidFill>
                            <a:srgbClr val="1C2230"/>
                          </a:solidFill>
                          <a:latin typeface="Yu Gothic"/>
                        </a:defRPr>
                      </a:pPr>
                      <a:r>
                        <a:t>2024年7月</a:t>
                      </a:r>
                    </a:p>
                  </a:txBody>
                  <a:tcPr>
                    <a:solidFill>
                      <a:srgbClr val="FFFFFF"/>
                    </a:solidFill>
                  </a:tcPr>
                </a:tc>
                <a:tc>
                  <a:txBody>
                    <a:bodyPr/>
                    <a:lstStyle/>
                    <a:p>
                      <a:pPr>
                        <a:defRPr sz="1200">
                          <a:solidFill>
                            <a:srgbClr val="1C2230"/>
                          </a:solidFill>
                          <a:latin typeface="Yu Gothic"/>
                        </a:defRPr>
                      </a:pPr>
                      <a:r>
                        <a:t>生成AI・Box連携の強化、シナリオ作成アシスト機能</a:t>
                      </a:r>
                    </a:p>
                  </a:txBody>
                  <a:tcPr>
                    <a:solidFill>
                      <a:srgbClr val="FFFFFF"/>
                    </a:solidFill>
                  </a:tcPr>
                </a:tc>
              </a:tr>
              <a:tr h="502920">
                <a:tc>
                  <a:txBody>
                    <a:bodyPr/>
                    <a:lstStyle/>
                    <a:p>
                      <a:pPr>
                        <a:defRPr sz="1200">
                          <a:solidFill>
                            <a:srgbClr val="1C2230"/>
                          </a:solidFill>
                          <a:latin typeface="Yu Gothic"/>
                        </a:defRPr>
                      </a:pPr>
                      <a:r>
                        <a:t>Ver.7.6.0</a:t>
                      </a:r>
                    </a:p>
                  </a:txBody>
                  <a:tcPr>
                    <a:solidFill>
                      <a:srgbClr val="F1F5FA"/>
                    </a:solidFill>
                  </a:tcPr>
                </a:tc>
                <a:tc>
                  <a:txBody>
                    <a:bodyPr/>
                    <a:lstStyle/>
                    <a:p>
                      <a:pPr>
                        <a:defRPr sz="1200">
                          <a:solidFill>
                            <a:srgbClr val="1C2230"/>
                          </a:solidFill>
                          <a:latin typeface="Yu Gothic"/>
                        </a:defRPr>
                      </a:pPr>
                      <a:r>
                        <a:t>2025年7月</a:t>
                      </a:r>
                    </a:p>
                  </a:txBody>
                  <a:tcPr>
                    <a:solidFill>
                      <a:srgbClr val="F1F5FA"/>
                    </a:solidFill>
                  </a:tcPr>
                </a:tc>
                <a:tc>
                  <a:txBody>
                    <a:bodyPr/>
                    <a:lstStyle/>
                    <a:p>
                      <a:pPr>
                        <a:defRPr sz="1200">
                          <a:solidFill>
                            <a:srgbClr val="1C2230"/>
                          </a:solidFill>
                          <a:latin typeface="Yu Gothic"/>
                        </a:defRPr>
                      </a:pPr>
                      <a:r>
                        <a:t>生成AI連携機能の強化、運用支援機能の拡充</a:t>
                      </a:r>
                    </a:p>
                  </a:txBody>
                  <a:tcPr>
                    <a:solidFill>
                      <a:srgbClr val="F1F5FA"/>
                    </a:solidFill>
                  </a:tcPr>
                </a:tc>
              </a:tr>
              <a:tr h="502920">
                <a:tc>
                  <a:txBody>
                    <a:bodyPr/>
                    <a:lstStyle/>
                    <a:p>
                      <a:pPr>
                        <a:defRPr sz="1200">
                          <a:solidFill>
                            <a:srgbClr val="1C2230"/>
                          </a:solidFill>
                          <a:latin typeface="Yu Gothic"/>
                        </a:defRPr>
                      </a:pPr>
                      <a:r>
                        <a:t>Ver.7.7.0</a:t>
                      </a:r>
                    </a:p>
                  </a:txBody>
                  <a:tcPr>
                    <a:solidFill>
                      <a:srgbClr val="FFFFFF"/>
                    </a:solidFill>
                  </a:tcPr>
                </a:tc>
                <a:tc>
                  <a:txBody>
                    <a:bodyPr/>
                    <a:lstStyle/>
                    <a:p>
                      <a:pPr>
                        <a:defRPr sz="1200">
                          <a:solidFill>
                            <a:srgbClr val="1C2230"/>
                          </a:solidFill>
                          <a:latin typeface="Yu Gothic"/>
                        </a:defRPr>
                      </a:pPr>
                      <a:r>
                        <a:t>2026年8月19日発表</a:t>
                      </a:r>
                    </a:p>
                  </a:txBody>
                  <a:tcPr>
                    <a:solidFill>
                      <a:srgbClr val="FFFFFF"/>
                    </a:solidFill>
                  </a:tcPr>
                </a:tc>
                <a:tc>
                  <a:txBody>
                    <a:bodyPr/>
                    <a:lstStyle/>
                    <a:p>
                      <a:pPr>
                        <a:defRPr sz="1200">
                          <a:solidFill>
                            <a:srgbClr val="1C2230"/>
                          </a:solidFill>
                          <a:latin typeface="Yu Gothic"/>
                        </a:defRPr>
                      </a:pPr>
                      <a:r>
                        <a:t>AIヘルプ機能の搭載(操作・エラーの疑問をその場で解決)</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NTT-AT公式・CodeZine(2026年、複数時点の報道)</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過去バージョンとの比較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これまでの進化の流れです。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Ver.7.5.0(2024年7月)では、生成AI・Boxとの連携強化やシナリオ作成アシスト機能を追加</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Ver.7.6.0(2025年7月)では、生成AI連携機能のさらなる強化と運用支援機能の拡充</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Ver.7.7.0(2026年8月19日発表)では、AIヘルプという新たな切り口でAI活用を進めた</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毎年、生成AI関連の機能強化が継続的に行われている傾向がうかがえる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NTT-AT公式・複数報道(2026年)</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ライブラリのPython移行完了予定</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2026年9月末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VBSライブラリの利用を維持しつつ移行を進める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NTT-AT公式(2026-08-19)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運用支援機能の強化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導入後の運用面での改善です。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カスタムライブラリを、同梱ライブラリと同様にシナリオ単位で登録・一括更新できる仕組みを提供</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ライブラリ更新時の作業負荷・更新漏れの削減を狙いとしている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導入後の『安定稼働』に焦点を当てた機能強化と位置づけられる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具体的な作業時間短縮効果等の定量的な数値は本調査の範囲では確認できていない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NTT-AT公式・複数報道(2026年)</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価格について(参考、留保つき)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過去バージョンはフル機能版99万8,800円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Ver.7.7.0固有の価格は本調査の範囲では確認できていない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複数情報源(過去バージョン参考価格)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WinActorのAI活用の広がり</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シナリオ作成支援(Ver.7.5〜)</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自然言語からのシナリオ自動作成</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画像認識AI連携(Ver.7.6〜)</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帳票操作の簡単化等</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AIヘルプ(Ver.7.7)</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操作・エラーの疑問をその場で解決</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バージョンを重ねるごとに広がるAI活用の範囲</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NTT-AT公式・複数報道(2026年)</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1. Ver.7.7.0を発表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AIヘルプ機能を搭載</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 発表日と販売開始日の食い違い</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8月19日 vs 9月1日(一部情報源)</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3. 8,800社という導入実績</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国産RPAとしての存在感を示す</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国産RPA市場における位置づけ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業界内での本製品の意味です。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純国産RPAツールとして、日本国内で一定のシェアを持つとされる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現場担当者が扱いやすい操作性を特徴とし、非エンジニア層の導入も想定している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生成AI連携機能の継続的な強化により、AI活用の裾野を広げる狙いがあるとみられる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他の国産・海外RPA製品との具体的なシェア比較は本調査の範囲では行っていない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生成AI連携機能の強化の継続性</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3年連続でAI関連機能を強化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Ver.7.5(2024年)→7.6(2025年)→7.7(2026年)</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NTT-AT公式(2026年)</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AIヘルプ機能への期待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この機能がもたらす可能性です。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現場担当者が操作方法やエラーで困った際、その場で疑問を解決できる可能性がある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サポート窓口への問い合わせ件数の削減につながる可能性がある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ただしこれらは機能の想定される効果であり、実際の導入効果を示すデータは本調査の範囲では確認できていない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誇張せず、確認できた機能の内容のみを紹介する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Ver.7.6.0 vs Ver.7.7.0(機能の違い)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Ver.7.6.0(2025年7月)</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生成AI連携機能の強化</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運用支援機能の拡充</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定型→非定型業務への活用範囲拡大</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Ver.7.7.0(2026年8月19日)</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AIヘルプ機能を新規搭載</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ライブラリのPython移行対応</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カスタムライブラリの一括管理</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発表日</a:t>
                      </a:r>
                    </a:p>
                  </a:txBody>
                  <a:tcPr>
                    <a:solidFill>
                      <a:srgbClr val="FFFFFF"/>
                    </a:solidFill>
                  </a:tcPr>
                </a:tc>
                <a:tc>
                  <a:txBody>
                    <a:bodyPr/>
                    <a:lstStyle/>
                    <a:p>
                      <a:pPr>
                        <a:defRPr sz="1200">
                          <a:solidFill>
                            <a:srgbClr val="1C2230"/>
                          </a:solidFill>
                          <a:latin typeface="Yu Gothic"/>
                        </a:defRPr>
                      </a:pPr>
                      <a:r>
                        <a:t>2026年8月19日</a:t>
                      </a:r>
                    </a:p>
                  </a:txBody>
                  <a:tcPr>
                    <a:solidFill>
                      <a:srgbClr val="FFFFFF"/>
                    </a:solidFill>
                  </a:tcPr>
                </a:tc>
              </a:tr>
              <a:tr h="502920">
                <a:tc>
                  <a:txBody>
                    <a:bodyPr/>
                    <a:lstStyle/>
                    <a:p>
                      <a:pPr>
                        <a:defRPr sz="1200">
                          <a:solidFill>
                            <a:srgbClr val="1C2230"/>
                          </a:solidFill>
                          <a:latin typeface="Yu Gothic"/>
                        </a:defRPr>
                      </a:pPr>
                      <a:r>
                        <a:t>主な新機能</a:t>
                      </a:r>
                    </a:p>
                  </a:txBody>
                  <a:tcPr>
                    <a:solidFill>
                      <a:srgbClr val="F1F5FA"/>
                    </a:solidFill>
                  </a:tcPr>
                </a:tc>
                <a:tc>
                  <a:txBody>
                    <a:bodyPr/>
                    <a:lstStyle/>
                    <a:p>
                      <a:pPr>
                        <a:defRPr sz="1200">
                          <a:solidFill>
                            <a:srgbClr val="1C2230"/>
                          </a:solidFill>
                          <a:latin typeface="Yu Gothic"/>
                        </a:defRPr>
                      </a:pPr>
                      <a:r>
                        <a:t>AIヘルプ、ライブラリPython移行対応、カスタムライブラリ一括管理</a:t>
                      </a:r>
                    </a:p>
                  </a:txBody>
                  <a:tcPr>
                    <a:solidFill>
                      <a:srgbClr val="F1F5FA"/>
                    </a:solidFill>
                  </a:tcPr>
                </a:tc>
              </a:tr>
              <a:tr h="502920">
                <a:tc>
                  <a:txBody>
                    <a:bodyPr/>
                    <a:lstStyle/>
                    <a:p>
                      <a:pPr>
                        <a:defRPr sz="1200">
                          <a:solidFill>
                            <a:srgbClr val="1C2230"/>
                          </a:solidFill>
                          <a:latin typeface="Yu Gothic"/>
                        </a:defRPr>
                      </a:pPr>
                      <a:r>
                        <a:t>導入企業数</a:t>
                      </a:r>
                    </a:p>
                  </a:txBody>
                  <a:tcPr>
                    <a:solidFill>
                      <a:srgbClr val="FFFFFF"/>
                    </a:solidFill>
                  </a:tcPr>
                </a:tc>
                <a:tc>
                  <a:txBody>
                    <a:bodyPr/>
                    <a:lstStyle/>
                    <a:p>
                      <a:pPr>
                        <a:defRPr sz="1200">
                          <a:solidFill>
                            <a:srgbClr val="1C2230"/>
                          </a:solidFill>
                          <a:latin typeface="Yu Gothic"/>
                        </a:defRPr>
                      </a:pPr>
                      <a:r>
                        <a:t>8,800社突破(2026年6月末時点)</a:t>
                      </a:r>
                    </a:p>
                  </a:txBody>
                  <a:tcPr>
                    <a:solidFill>
                      <a:srgbClr val="FFFFFF"/>
                    </a:solidFill>
                  </a:tcPr>
                </a:tc>
              </a:tr>
              <a:tr h="502920">
                <a:tc>
                  <a:txBody>
                    <a:bodyPr/>
                    <a:lstStyle/>
                    <a:p>
                      <a:pPr>
                        <a:defRPr sz="1200">
                          <a:solidFill>
                            <a:srgbClr val="1C2230"/>
                          </a:solidFill>
                          <a:latin typeface="Yu Gothic"/>
                        </a:defRPr>
                      </a:pPr>
                      <a:r>
                        <a:t>販売開始日</a:t>
                      </a:r>
                    </a:p>
                  </a:txBody>
                  <a:tcPr>
                    <a:solidFill>
                      <a:srgbClr val="F1F5FA"/>
                    </a:solidFill>
                  </a:tcPr>
                </a:tc>
                <a:tc>
                  <a:txBody>
                    <a:bodyPr/>
                    <a:lstStyle/>
                    <a:p>
                      <a:pPr>
                        <a:defRPr sz="1200">
                          <a:solidFill>
                            <a:srgbClr val="1C2230"/>
                          </a:solidFill>
                          <a:latin typeface="Yu Gothic"/>
                        </a:defRPr>
                      </a:pPr>
                      <a:r>
                        <a:t>8月19日 vs 9月1日(情報源により異なる)</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NTT-AT公式・複数報道(2026-08-19)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RPA×AIの活用場面(一般的な整理)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場面</a:t>
                      </a:r>
                    </a:p>
                  </a:txBody>
                  <a:tcPr>
                    <a:solidFill>
                      <a:srgbClr val="2B3A55"/>
                    </a:solidFill>
                  </a:tcPr>
                </a:tc>
                <a:tc>
                  <a:txBody>
                    <a:bodyPr/>
                    <a:lstStyle/>
                    <a:p>
                      <a:pPr>
                        <a:defRPr sz="1300" b="1">
                          <a:solidFill>
                            <a:srgbClr val="FFFFFF"/>
                          </a:solidFill>
                          <a:latin typeface="Yu Gothic"/>
                        </a:defRPr>
                      </a:pPr>
                      <a:r>
                        <a:t>AIヘルプの想定される役割</a:t>
                      </a:r>
                    </a:p>
                  </a:txBody>
                  <a:tcPr>
                    <a:solidFill>
                      <a:srgbClr val="2B3A55"/>
                    </a:solidFill>
                  </a:tcPr>
                </a:tc>
              </a:tr>
              <a:tr h="502920">
                <a:tc>
                  <a:txBody>
                    <a:bodyPr/>
                    <a:lstStyle/>
                    <a:p>
                      <a:pPr>
                        <a:defRPr sz="1200">
                          <a:solidFill>
                            <a:srgbClr val="1C2230"/>
                          </a:solidFill>
                          <a:latin typeface="Yu Gothic"/>
                        </a:defRPr>
                      </a:pPr>
                      <a:r>
                        <a:t>シナリオ作成中のエラー</a:t>
                      </a:r>
                    </a:p>
                  </a:txBody>
                  <a:tcPr>
                    <a:solidFill>
                      <a:srgbClr val="FFFFFF"/>
                    </a:solidFill>
                  </a:tcPr>
                </a:tc>
                <a:tc>
                  <a:txBody>
                    <a:bodyPr/>
                    <a:lstStyle/>
                    <a:p>
                      <a:pPr>
                        <a:defRPr sz="1200">
                          <a:solidFill>
                            <a:srgbClr val="1C2230"/>
                          </a:solidFill>
                          <a:latin typeface="Yu Gothic"/>
                        </a:defRPr>
                      </a:pPr>
                      <a:r>
                        <a:t>エラーメッセージの意味・対処法をその場で提示</a:t>
                      </a:r>
                    </a:p>
                  </a:txBody>
                  <a:tcPr>
                    <a:solidFill>
                      <a:srgbClr val="FFFFFF"/>
                    </a:solidFill>
                  </a:tcPr>
                </a:tc>
              </a:tr>
              <a:tr h="502920">
                <a:tc>
                  <a:txBody>
                    <a:bodyPr/>
                    <a:lstStyle/>
                    <a:p>
                      <a:pPr>
                        <a:defRPr sz="1200">
                          <a:solidFill>
                            <a:srgbClr val="1C2230"/>
                          </a:solidFill>
                          <a:latin typeface="Yu Gothic"/>
                        </a:defRPr>
                      </a:pPr>
                      <a:r>
                        <a:t>操作方法が分からないとき</a:t>
                      </a:r>
                    </a:p>
                  </a:txBody>
                  <a:tcPr>
                    <a:solidFill>
                      <a:srgbClr val="F1F5FA"/>
                    </a:solidFill>
                  </a:tcPr>
                </a:tc>
                <a:tc>
                  <a:txBody>
                    <a:bodyPr/>
                    <a:lstStyle/>
                    <a:p>
                      <a:pPr>
                        <a:defRPr sz="1200">
                          <a:solidFill>
                            <a:srgbClr val="1C2230"/>
                          </a:solidFill>
                          <a:latin typeface="Yu Gothic"/>
                        </a:defRPr>
                      </a:pPr>
                      <a:r>
                        <a:t>マニュアルを探さずにAIへ質問して解決</a:t>
                      </a:r>
                    </a:p>
                  </a:txBody>
                  <a:tcPr>
                    <a:solidFill>
                      <a:srgbClr val="F1F5FA"/>
                    </a:solidFill>
                  </a:tcPr>
                </a:tc>
              </a:tr>
              <a:tr h="502920">
                <a:tc>
                  <a:txBody>
                    <a:bodyPr/>
                    <a:lstStyle/>
                    <a:p>
                      <a:pPr>
                        <a:defRPr sz="1200">
                          <a:solidFill>
                            <a:srgbClr val="1C2230"/>
                          </a:solidFill>
                          <a:latin typeface="Yu Gothic"/>
                        </a:defRPr>
                      </a:pPr>
                      <a:r>
                        <a:t>新任担当者の学習</a:t>
                      </a:r>
                    </a:p>
                  </a:txBody>
                  <a:tcPr>
                    <a:solidFill>
                      <a:srgbClr val="FFFFFF"/>
                    </a:solidFill>
                  </a:tcPr>
                </a:tc>
                <a:tc>
                  <a:txBody>
                    <a:bodyPr/>
                    <a:lstStyle/>
                    <a:p>
                      <a:pPr>
                        <a:defRPr sz="1200">
                          <a:solidFill>
                            <a:srgbClr val="1C2230"/>
                          </a:solidFill>
                          <a:latin typeface="Yu Gothic"/>
                        </a:defRPr>
                      </a:pPr>
                      <a:r>
                        <a:t>サポート窓口を介さずに自己解決しやすくなる可能性</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本リサーチ(2026-08-19時点、機能内容からの一般的な整理)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国産RPAとしての意義</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純国産であることの意味です。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海外製RPAツールと異なり、日本語のサポート・ドキュメントが充実しているとされる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日本企業の業務慣習(帳票操作等)に合わせた機能開発が行われてきた経緯がある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AIヘルプ機能も、こうした国内ユーザー向けのきめ細かい対応の延長線上にあるとみられる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海外製RPAとの機能面での定量的な比較は本調査の範囲では行っていない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発表日(8月19日)と販売開始日(9月1日、一部情報源)の食い違いの原因</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Ver.7.7.0固有の価格</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AIヘルプ機能の具体的な生成AIモデル(自社開発か外部連携か等)の詳細</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本テーマは特定企業(NTT-AT)の製品購入を推奨するものではなく、報じられた新機能・実績の紹介にとどめる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カスタムライブラリ一括管理の狙い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更新作業の負荷・漏れ削減</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同梱ライブラリと同様の一括更新をカスタムライブラリにも適用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NTT-AT公式(2026-08-19)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現場担当者向け機能 vs 運用担当者向け機能</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現場担当者向け(AIヘルプ)</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操作・エラーの疑問をその場で解決</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学習コストの低減が期待される</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非エンジニア層への配慮</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運用担当者向け(ライブラリ管理等)</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Python移行対応</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カスタムライブラリの一括管理</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導入後の安定稼働に焦点</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本編のまとめです。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WinActor Ver.7.7.0は、生成AIと連携した『AIヘルプ』機能を新たに搭載した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導入企業数は2026年6月末時点で8,800社を突破しており、国産RPAとしての実績を示している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発表日(8月19日)と販売開始日(9月1日、一部情報源)の食い違いを正直に開示した</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Ver.7.5から続く生成AI連携機能の継続的な強化の一環として位置づけられる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業務自動化・RPA業界の動向を追う立場として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生成AIがRPAツールの操作サポートに組み込まれる具体的な事例として参考になる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現場でRPAを運用する立場として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AIヘルプ機能による学習コスト低減の可能性を確認する視点が役立つ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国内AI活用の動向に関心がある立場として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国産ツールへの生成AI統合が着実に進んでいる事例として参考になる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NTT-AT公式・CodeZine(2026-08-19)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エラーの疑問を、AIがその場で解決する時代へ。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WinActor Ver.7.7.0は生成AIと連携した『AIヘルプ』機能を搭載し、8,800社を超える導入実績を持つ国産RPAとしてさらに進化しました。発表日と販売開始日の食い違いまで、出典付きで正直に整理してお届けしました。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