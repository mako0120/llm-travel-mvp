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入札額(百万ドル)</c:v>
                </c:pt>
              </c:strCache>
            </c:strRef>
          </c:tx>
          <c:spPr>
            <a:solidFill>
              <a:srgbClr val="1B3A5C"/>
            </a:solidFill>
          </c:spPr>
          <c:cat>
            <c:strRef>
              <c:f>Sheet1!$A$2:$A$4</c:f>
              <c:strCache>
                <c:ptCount val="3"/>
                <c:pt idx="0">
                  <c:v>Googleの当初入札</c:v>
                </c:pt>
                <c:pt idx="1">
                  <c:v>Mercorの対抗入札</c:v>
                </c:pt>
                <c:pt idx="2">
                  <c:v>Googleの最終落札額</c:v>
                </c:pt>
              </c:strCache>
            </c:strRef>
          </c:cat>
          <c:val>
            <c:numRef>
              <c:f>Sheet1!$B$2:$B$4</c:f>
              <c:numCache>
                <c:formatCode>General</c:formatCode>
                <c:ptCount val="3"/>
                <c:pt idx="0">
                  <c:v>5</c:v>
                </c:pt>
                <c:pt idx="1">
                  <c:v>7.5</c:v>
                </c:pt>
                <c:pt idx="2">
                  <c:v>10</c:v>
                </c:pt>
              </c:numCache>
            </c:numRef>
          </c:val>
        </c:ser>
        <c:dLbls>
          <c:numFmt formatCode="&quot;$&quot;0.0&quot;M&quot;" sourceLinked="0"/>
          <c:txPr>
            <a:bodyPr/>
            <a:lstStyle/>
            <a:p>
              <a:pPr>
                <a:defRPr sz="1200" b="1">
                  <a:solidFill>
                    <a:srgbClr val="1B3A5C"/>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営破綻した米格安航空会社スピリット航空の破産手続きで、Googleが社員向けメールやチャット履歴などの社内業務データを1000万ドルで落札したと報じられました。客室乗務員組合は『言語道断』と猛反発しています。この売却はまだ裁判所の承認待ちで、承認審理はまさに本日2026年8月19日に予定されています。今日はこの件を出典付きで、両方の立場を公平に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Googleはスピリット航空の破産手続きで、社内業務データを1000万ドルで落札したと報じられています。ただしこれはまだ『落札が決まった』段階で、裁判所の正式な承認はこれからです。取引が確定した事実であるとは断定せず、この後じっくり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この動画で得られる3つのポイントです。何が起きたかという経緯、Googleと労組それぞれの言い分、そして今後注目すべき焦点まで、出典付きで整理してお届けします。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まさに本日、破産裁判所の承認審理が予定されている時事性に加え、1000万ドルという金額と労組の強い反発という対立構図があります。複数の独立した媒体が内容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前提を確認します。スピリット航空は米国の格安航空会社で、経営破綻し破産手続き中です。破産手続きでは負債整理のため会社の資産が売却されることがあり、本編で扱うのはその一環である社内データのオークション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本題のキーワードを確認します。破産手続きにおける資産売却は負債整理のための資産オークション、匿名化は個人特定情報を除去する処理、AI学習データはAIモデルの学習に使うデータを指します。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落札の概要を一覧にしました。対象はスピリット航空の社内業務データ、落札企業はGoogle、落札額は1000万ドルです。米ニューヨーク州南部地区連邦破産裁判所の承認が必要で、審理は本日8月19日に予定されています。次に、入札の経緯を数字で見てみ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入札の経緯です。当初Googleは500万ドルで入札しましたが、AIデータ企業Mercorが750万ドルで対抗入札しました。最終的にGoogleが1000万ドルまで引き上げて競り勝った、という経緯が報じられています。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落札対象データの内訳です。社員向けメール約1億通、Microsoft Teamsチャット約5億件、それにスプレッドシート・カレンダー・業務記録等が含まれるとされています。次に、対象から除外されたデータを確認します。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の言い分をもう一歩掘り下げます。生成AIの性能向上には大量の実務コミュニケーションデータが重宝されるとされ、破産企業の資産オークションはその新しい調達ルートの一つとして報じられています。ただしGoogle自身の詳細な戦略的意図についての一次コメント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対象から除外されたデータの1つ目です。乗客の個人情報、乗客プロフィール約9750万件は、今回の売却対象から明示的に除外されています。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除外されたデータの2つ目です。ロイヤルティプログラム『Free Spirit』の会員データ約5020万件も、今回の売却対象から明示的に除外されています。次に、これらの選別・匿名化の流れを図で確認します。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選別・匿名化の流れを図にしました。社内業務データ全体から、乗客・会員データを除外したうえで、個人特定情報を匿名化してAI学習データとして活用する方針とされています。ただし具体的な技術的手法は次のスライド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匿名化技術の具体的手法について正直にお伝えします。個人特定情報は事前に匿名化されると報じられていますが、具体的なアルゴリズムや基準、検証方法の詳細は確認できていません。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裁判所承認手続きの概要です。米ニューヨーク州南部地区連邦破産裁判所の承認が必要で、審理は2026年8月19日に予定されています。着手日である本日時点では、落札は決まったものの承認はまだ審理中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承認審理日です。まさに本日2026年8月19日に審理が予定されていますが、承認されるか・却下されるか・条件が付くかといった結果は、本調査の範囲では確認できていません。取引を確定済みの事実として書かないよう、この後も一貫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スピリット航空の客室乗務員5500人以上を代表する客室乗務員組合、Association of Flight Attendants-CWAのサラ・ネルソン会長は、Googleのデータ取得を『言語道断』と強く批判したと報じられています。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組合側の反応です。客室乗務員5500人以上を代表する組合のサラ・ネルソン会長が『言語道断』と強く批判し、法廷での正式な異議申し立てを行う方針を表明しています。次に、Google側の立場と合わせて両論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組合側の主張をもう一歩掘り下げます。客室乗務員自身が作成したメールやチャットが、本人の同意プロセスを経ないままAI学習データとして売却されることへの反発が背景にあります。組合はこの構図が他の破綻企業にも先例として広がることを懸念し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の立場と客室乗務員組合の立場を両論併記します。Googleは匿名化と乗客・会員データの除外を掲げる一方、組合は従業員のコミュニケーションが本人の関与なく売却されることに強く反発し、法廷闘争も視野に入れています。どちらが正しいかは本編で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本件が提起している、より広い論点です。サービスや業務のために集めたデータを、新たな同意なしにAI学習に転用してよいのかという問いが、本件を通じて報じられています。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再利用をめぐる2つの意見を両論併記します。イノベーションにつながるという意見と、新たな同意なしの広範なデータ再利用を常態化させる懸念があるという意見の両方が存在します。本編ではどちらの意見が正しいかを判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このニュースが読者にとって意味することをまとめました。働く立場、AI・データ業界を追う立場、情報を受け取る立場、それぞれで意識したい視点です。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実際に情報を追う際のチェックポイントです。落札と取引確定は別の段階であること、匿名化の技術的詳細や審理結果はまだ確認できていないことに留意してください。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確認できたことと確認できていないことを一覧にしました。落札額や除外データの範囲、組合の反応は確認済みですが、裁判所の承認可否や匿名化の技術的手法はまだ確認できていません。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本テーマの鮮度を確認します。最初の報道から2日後の着手ですが、破産裁判所の承認審理がまさに本日に予定されているという事情があり、進行中の話題として高い時事性を保っています。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未確定事項をまとめました。裁判所の承認可否、匿名化の具体的手法、法廷異議申し立ての進行状況、いずれもまだ確認できていません。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本成果物の立場を明確にします。GoogleとFlight Attendants組合、争いのある2つの立場を両論併記し、どちらか一方を支持する結論にはしていません。政治的な評価も含めず、数字は出典どおり正確に扱っています。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本編で使った主な出典を一覧にしました。Axios・Skift・CNN Business・Forbes・Tom's Hardware・Bloomberg Law・Yahoo Financeという複数の独立した媒体が内容を一致させて報じていることを確認しています。詳細はresearch.mdをご確認ください。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Googleがスピリット航空の社内データを1000万ドルで落札したと報じられた件を、Googleの立場と客室乗務員組合の反発、より広い論点まで両論併記で整理してお伝えしました。裁判所の承認審理は本日予定されており、結果はまだ確認できていません。今後の続報にご注目ください。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まさかの1000万ドル落札。</a:t>
            </a:r>
          </a:p>
          <a:p>
            <a:pPr algn="l">
              <a:lnSpc>
                <a:spcPct val="115000"/>
              </a:lnSpc>
            </a:pPr>
            <a:r>
              <a:rPr sz="4200" b="1">
                <a:solidFill>
                  <a:srgbClr val="FFFFFF"/>
                </a:solidFill>
                <a:latin typeface="Yu Gothic"/>
              </a:rPr>
              <a:t>破産したスピリット航空の</a:t>
            </a:r>
          </a:p>
          <a:p>
            <a:pPr algn="l">
              <a:lnSpc>
                <a:spcPct val="115000"/>
              </a:lnSpc>
            </a:pPr>
            <a:r>
              <a:rPr sz="4200" b="1">
                <a:solidFill>
                  <a:srgbClr val="FFFFFF"/>
                </a:solidFill>
                <a:latin typeface="Yu Gothic"/>
              </a:rPr>
              <a:t>社内データをGoogleがAI学習用に取得、</a:t>
            </a:r>
          </a:p>
          <a:p>
            <a:pPr algn="l">
              <a:lnSpc>
                <a:spcPct val="115000"/>
              </a:lnSpc>
            </a:pPr>
            <a:r>
              <a:rPr sz="4200" b="1">
                <a:solidFill>
                  <a:srgbClr val="FFFFFF"/>
                </a:solidFill>
                <a:latin typeface="Yu Gothic"/>
              </a:rPr>
              <a:t>客室乗務員組合が猛反発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2026年8月17日報道――裁判所の承認審理はまさに本日(8月19日)。出典付きで両論を整理する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Axios・Skift・CNN Business・Forbes・Tom's Hardware・Bloomberg Law・Yahoo Finance(2026-08-17)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1000万ドルで落札、</a:t>
            </a:r>
          </a:p>
          <a:p>
            <a:pPr algn="ctr"/>
            <a:r>
              <a:rPr sz="8800" b="1">
                <a:solidFill>
                  <a:srgbClr val="7B4FFF"/>
                </a:solidFill>
                <a:latin typeface="Yu Gothic"/>
              </a:rPr>
              <a:t>ただし裁判所承認はこれから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Googleがスピリット航空の社内業務データを1000万ドルで落札したと報じられたが、破産裁判所による正式な承認はまだ得られていない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Axios・Skift(2026-08-17)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何が起きたか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破産した航空会社の社内データが1000万ドルで落札された経緯を数字で確認できる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両者の言い分</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Googleの説明と客室乗務員組合の反発、双方の立場を公平に理解できる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今後の焦点</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裁判所承認の行方と、データ再利用をめぐる論点の全体像がつかめる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まさに本日(2026年8月19日)、破産裁判所による承認審理が予定されている、極めてタイムリーな話題である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1000万ドルという具体的な金額と、労働組合の強い反発という対立構図がある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AIの学習データ調達と個人データの再利用をめぐる社会的議論の一例である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Axios・Skift・CNN Business・Forbes等、複数の独立した媒体が内容を一致させて報じている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Axios・Skift・CNN Business・Forbes(2026-08-17)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基礎知識:スピリット航空の破産とは(初心者向け)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本題に入る前に、前提を確認します。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スピリット航空は米国の格安航空会社(LCC)で、経営破綻し破産手続きに入っている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破産手続きでは、負債整理のために会社の資産(データを含む)がオークション等で売却されることがある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本編で扱うのは、その資産売却手続きの一環として実施された社内データのオークションである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用語解説:破産手続き・匿名化・AI学習データとは(初心者向け)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用語</a:t>
                      </a:r>
                    </a:p>
                  </a:txBody>
                  <a:tcPr>
                    <a:solidFill>
                      <a:srgbClr val="1B3A5C"/>
                    </a:solidFill>
                  </a:tcPr>
                </a:tc>
                <a:tc>
                  <a:txBody>
                    <a:bodyPr/>
                    <a:lstStyle/>
                    <a:p>
                      <a:pPr>
                        <a:defRPr sz="1300" b="1">
                          <a:solidFill>
                            <a:srgbClr val="FFFFFF"/>
                          </a:solidFill>
                          <a:latin typeface="Yu Gothic"/>
                        </a:defRPr>
                      </a:pPr>
                      <a:r>
                        <a:t>説明</a:t>
                      </a:r>
                    </a:p>
                  </a:txBody>
                  <a:tcPr>
                    <a:solidFill>
                      <a:srgbClr val="1B3A5C"/>
                    </a:solidFill>
                  </a:tcPr>
                </a:tc>
              </a:tr>
              <a:tr h="502920">
                <a:tc>
                  <a:txBody>
                    <a:bodyPr/>
                    <a:lstStyle/>
                    <a:p>
                      <a:pPr>
                        <a:defRPr sz="1200">
                          <a:solidFill>
                            <a:srgbClr val="16202E"/>
                          </a:solidFill>
                          <a:latin typeface="Yu Gothic"/>
                        </a:defRPr>
                      </a:pPr>
                      <a:r>
                        <a:t>破産手続きにおける資産売却</a:t>
                      </a:r>
                    </a:p>
                  </a:txBody>
                  <a:tcPr>
                    <a:solidFill>
                      <a:srgbClr val="FFFFFF"/>
                    </a:solidFill>
                  </a:tcPr>
                </a:tc>
                <a:tc>
                  <a:txBody>
                    <a:bodyPr/>
                    <a:lstStyle/>
                    <a:p>
                      <a:pPr>
                        <a:defRPr sz="1200">
                          <a:solidFill>
                            <a:srgbClr val="16202E"/>
                          </a:solidFill>
                          <a:latin typeface="Yu Gothic"/>
                        </a:defRPr>
                      </a:pPr>
                      <a:r>
                        <a:t>経営破綻した企業の資産を、負債整理のためオークション等で売却する手続き</a:t>
                      </a:r>
                    </a:p>
                  </a:txBody>
                  <a:tcPr>
                    <a:solidFill>
                      <a:srgbClr val="FFFFFF"/>
                    </a:solidFill>
                  </a:tcPr>
                </a:tc>
              </a:tr>
              <a:tr h="502920">
                <a:tc>
                  <a:txBody>
                    <a:bodyPr/>
                    <a:lstStyle/>
                    <a:p>
                      <a:pPr>
                        <a:defRPr sz="1200">
                          <a:solidFill>
                            <a:srgbClr val="16202E"/>
                          </a:solidFill>
                          <a:latin typeface="Yu Gothic"/>
                        </a:defRPr>
                      </a:pPr>
                      <a:r>
                        <a:t>匿名化(de-identify)</a:t>
                      </a:r>
                    </a:p>
                  </a:txBody>
                  <a:tcPr>
                    <a:solidFill>
                      <a:srgbClr val="F2F6FA"/>
                    </a:solidFill>
                  </a:tcPr>
                </a:tc>
                <a:tc>
                  <a:txBody>
                    <a:bodyPr/>
                    <a:lstStyle/>
                    <a:p>
                      <a:pPr>
                        <a:defRPr sz="1200">
                          <a:solidFill>
                            <a:srgbClr val="16202E"/>
                          </a:solidFill>
                          <a:latin typeface="Yu Gothic"/>
                        </a:defRPr>
                      </a:pPr>
                      <a:r>
                        <a:t>データから個人を特定できる情報を除去・加工し、個人が識別できない状態にする処理</a:t>
                      </a:r>
                    </a:p>
                  </a:txBody>
                  <a:tcPr>
                    <a:solidFill>
                      <a:srgbClr val="F2F6FA"/>
                    </a:solidFill>
                  </a:tcPr>
                </a:tc>
              </a:tr>
              <a:tr h="502920">
                <a:tc>
                  <a:txBody>
                    <a:bodyPr/>
                    <a:lstStyle/>
                    <a:p>
                      <a:pPr>
                        <a:defRPr sz="1200">
                          <a:solidFill>
                            <a:srgbClr val="16202E"/>
                          </a:solidFill>
                          <a:latin typeface="Yu Gothic"/>
                        </a:defRPr>
                      </a:pPr>
                      <a:r>
                        <a:t>AI学習データ</a:t>
                      </a:r>
                    </a:p>
                  </a:txBody>
                  <a:tcPr>
                    <a:solidFill>
                      <a:srgbClr val="FFFFFF"/>
                    </a:solidFill>
                  </a:tcPr>
                </a:tc>
                <a:tc>
                  <a:txBody>
                    <a:bodyPr/>
                    <a:lstStyle/>
                    <a:p>
                      <a:pPr>
                        <a:defRPr sz="1200">
                          <a:solidFill>
                            <a:srgbClr val="16202E"/>
                          </a:solidFill>
                          <a:latin typeface="Yu Gothic"/>
                        </a:defRPr>
                      </a:pPr>
                      <a:r>
                        <a:t>AIモデルの性能向上のために学習(トレーニング)へ用いるデータ</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落札の概要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対象</a:t>
                      </a:r>
                    </a:p>
                  </a:txBody>
                  <a:tcPr>
                    <a:solidFill>
                      <a:srgbClr val="FFFFFF"/>
                    </a:solidFill>
                  </a:tcPr>
                </a:tc>
                <a:tc>
                  <a:txBody>
                    <a:bodyPr/>
                    <a:lstStyle/>
                    <a:p>
                      <a:pPr>
                        <a:defRPr sz="1200">
                          <a:solidFill>
                            <a:srgbClr val="16202E"/>
                          </a:solidFill>
                          <a:latin typeface="Yu Gothic"/>
                        </a:defRPr>
                      </a:pPr>
                      <a:r>
                        <a:t>スピリット航空の破産手続きにおける社内業務データのオークション</a:t>
                      </a:r>
                    </a:p>
                  </a:txBody>
                  <a:tcPr>
                    <a:solidFill>
                      <a:srgbClr val="FFFFFF"/>
                    </a:solidFill>
                  </a:tcPr>
                </a:tc>
              </a:tr>
              <a:tr h="502920">
                <a:tc>
                  <a:txBody>
                    <a:bodyPr/>
                    <a:lstStyle/>
                    <a:p>
                      <a:pPr>
                        <a:defRPr sz="1200">
                          <a:solidFill>
                            <a:srgbClr val="16202E"/>
                          </a:solidFill>
                          <a:latin typeface="Yu Gothic"/>
                        </a:defRPr>
                      </a:pPr>
                      <a:r>
                        <a:t>落札企業</a:t>
                      </a:r>
                    </a:p>
                  </a:txBody>
                  <a:tcPr>
                    <a:solidFill>
                      <a:srgbClr val="F2F6FA"/>
                    </a:solidFill>
                  </a:tcPr>
                </a:tc>
                <a:tc>
                  <a:txBody>
                    <a:bodyPr/>
                    <a:lstStyle/>
                    <a:p>
                      <a:pPr>
                        <a:defRPr sz="1200">
                          <a:solidFill>
                            <a:srgbClr val="16202E"/>
                          </a:solidFill>
                          <a:latin typeface="Yu Gothic"/>
                        </a:defRPr>
                      </a:pPr>
                      <a:r>
                        <a:t>Google</a:t>
                      </a:r>
                    </a:p>
                  </a:txBody>
                  <a:tcPr>
                    <a:solidFill>
                      <a:srgbClr val="F2F6FA"/>
                    </a:solidFill>
                  </a:tcPr>
                </a:tc>
              </a:tr>
              <a:tr h="502920">
                <a:tc>
                  <a:txBody>
                    <a:bodyPr/>
                    <a:lstStyle/>
                    <a:p>
                      <a:pPr>
                        <a:defRPr sz="1200">
                          <a:solidFill>
                            <a:srgbClr val="16202E"/>
                          </a:solidFill>
                          <a:latin typeface="Yu Gothic"/>
                        </a:defRPr>
                      </a:pPr>
                      <a:r>
                        <a:t>落札額</a:t>
                      </a:r>
                    </a:p>
                  </a:txBody>
                  <a:tcPr>
                    <a:solidFill>
                      <a:srgbClr val="FFFFFF"/>
                    </a:solidFill>
                  </a:tcPr>
                </a:tc>
                <a:tc>
                  <a:txBody>
                    <a:bodyPr/>
                    <a:lstStyle/>
                    <a:p>
                      <a:pPr>
                        <a:defRPr sz="1200">
                          <a:solidFill>
                            <a:srgbClr val="16202E"/>
                          </a:solidFill>
                          <a:latin typeface="Yu Gothic"/>
                        </a:defRPr>
                      </a:pPr>
                      <a:r>
                        <a:t>1000万ドル</a:t>
                      </a:r>
                    </a:p>
                  </a:txBody>
                  <a:tcPr>
                    <a:solidFill>
                      <a:srgbClr val="FFFFFF"/>
                    </a:solidFill>
                  </a:tcPr>
                </a:tc>
              </a:tr>
              <a:tr h="502920">
                <a:tc>
                  <a:txBody>
                    <a:bodyPr/>
                    <a:lstStyle/>
                    <a:p>
                      <a:pPr>
                        <a:defRPr sz="1200">
                          <a:solidFill>
                            <a:srgbClr val="16202E"/>
                          </a:solidFill>
                          <a:latin typeface="Yu Gothic"/>
                        </a:defRPr>
                      </a:pPr>
                      <a:r>
                        <a:t>最初の報道日</a:t>
                      </a:r>
                    </a:p>
                  </a:txBody>
                  <a:tcPr>
                    <a:solidFill>
                      <a:srgbClr val="F2F6FA"/>
                    </a:solidFill>
                  </a:tcPr>
                </a:tc>
                <a:tc>
                  <a:txBody>
                    <a:bodyPr/>
                    <a:lstStyle/>
                    <a:p>
                      <a:pPr>
                        <a:defRPr sz="1200">
                          <a:solidFill>
                            <a:srgbClr val="16202E"/>
                          </a:solidFill>
                          <a:latin typeface="Yu Gothic"/>
                        </a:defRPr>
                      </a:pPr>
                      <a:r>
                        <a:t>2026年8月17日(Axios・Skift等)</a:t>
                      </a:r>
                    </a:p>
                  </a:txBody>
                  <a:tcPr>
                    <a:solidFill>
                      <a:srgbClr val="F2F6FA"/>
                    </a:solidFill>
                  </a:tcPr>
                </a:tc>
              </a:tr>
              <a:tr h="502920">
                <a:tc>
                  <a:txBody>
                    <a:bodyPr/>
                    <a:lstStyle/>
                    <a:p>
                      <a:pPr>
                        <a:defRPr sz="1200">
                          <a:solidFill>
                            <a:srgbClr val="16202E"/>
                          </a:solidFill>
                          <a:latin typeface="Yu Gothic"/>
                        </a:defRPr>
                      </a:pPr>
                      <a:r>
                        <a:t>承認手続き</a:t>
                      </a:r>
                    </a:p>
                  </a:txBody>
                  <a:tcPr>
                    <a:solidFill>
                      <a:srgbClr val="FFFFFF"/>
                    </a:solidFill>
                  </a:tcPr>
                </a:tc>
                <a:tc>
                  <a:txBody>
                    <a:bodyPr/>
                    <a:lstStyle/>
                    <a:p>
                      <a:pPr>
                        <a:defRPr sz="1200">
                          <a:solidFill>
                            <a:srgbClr val="16202E"/>
                          </a:solidFill>
                          <a:latin typeface="Yu Gothic"/>
                        </a:defRPr>
                      </a:pPr>
                      <a:r>
                        <a:t>米ニューヨーク州南部地区連邦破産裁判所の承認が必要(審理は2026年8月19日予定)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Axios・Skift・Bloomberg Law(2026-08-17)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入札額の推移(百万ドル)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Axios・Skift・CNN Business(2026-08-17)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落札対象データの内訳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1億通</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社員向けメール</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スピリット航空の社員向けメール約1億通が対象に含まれる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5億件</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Teamsチャット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Microsoft Teamsのチャット履歴約5億件が対象に含まれる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その他</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業務記録一式</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スプレッドシート・カレンダー・業務記録等も対象に含まれる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Axios・Skift・Forbes(2026-08-17)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Googleが示す事業上の合理性(報じられている範囲)</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Googleの言い分をもう一歩掘り下げます。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生成AIの性能向上には、大量の実務コミュニケーションデータが学習材料として重宝されるとされている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経営破綻した企業の資産オークションは、そうしたデータを調達する新しいルートの一つとして報じられている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Google自身の詳細な戦略的意図についての一次コメントは、本調査の範囲では確認できていない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Axios・Skift・Tom's Hardware(2026-08-17)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対象から除外された乗客データ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約9750万件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乗客の個人情報(乗客プロフィール)約9750万件は、今回の売却対象から明示的に除外されている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Axios・Skift・Forbes・CNN Business(2026-08-17)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対象から除外されたロイヤルティ会員データ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約5020万件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ロイヤルティプログラム「Free Spirit」の会員データ約5020万件も、今回の売却対象から明示的に除外されている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Axios・Skift・Forbes・CNN Business(2026-08-17)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データ選別・匿名化のイメージ</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社内業務データ全体</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メール・チャット・業務記録等</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乗客・会員データを除外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乗客プロフィール約9750万件・Free Spirit会員約5020万件を対象外に</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匿名化してAI学習データへ</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個人特定情報を除去したうえで学習データとして活用される方針</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報じられている範囲でのデータ選別・匿名化の流れ(具体的な技術的手法は未確認)</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Axios・Skift・Forbes(2026-08-17)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匿名化技術の具体的手法は不明(正直な開示)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個人が特定できる情報は事前に匿名化(de-identify)されると報じられているが、具体的なアルゴリズム・基準は本調査の範囲では確認できていない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匿名化の実施主体・検証方法についても詳細は確認できていない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本成果物では、確認できた『匿名化される』という方針以上の技術的詳細を創作しない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裁判所承認手続きの概要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承認が必要な機関</a:t>
                      </a:r>
                    </a:p>
                  </a:txBody>
                  <a:tcPr>
                    <a:solidFill>
                      <a:srgbClr val="FFFFFF"/>
                    </a:solidFill>
                  </a:tcPr>
                </a:tc>
                <a:tc>
                  <a:txBody>
                    <a:bodyPr/>
                    <a:lstStyle/>
                    <a:p>
                      <a:pPr>
                        <a:defRPr sz="1200">
                          <a:solidFill>
                            <a:srgbClr val="16202E"/>
                          </a:solidFill>
                          <a:latin typeface="Yu Gothic"/>
                        </a:defRPr>
                      </a:pPr>
                      <a:r>
                        <a:t>米ニューヨーク州南部地区連邦破産裁判所</a:t>
                      </a:r>
                    </a:p>
                  </a:txBody>
                  <a:tcPr>
                    <a:solidFill>
                      <a:srgbClr val="FFFFFF"/>
                    </a:solidFill>
                  </a:tcPr>
                </a:tc>
              </a:tr>
              <a:tr h="502920">
                <a:tc>
                  <a:txBody>
                    <a:bodyPr/>
                    <a:lstStyle/>
                    <a:p>
                      <a:pPr>
                        <a:defRPr sz="1200">
                          <a:solidFill>
                            <a:srgbClr val="16202E"/>
                          </a:solidFill>
                          <a:latin typeface="Yu Gothic"/>
                        </a:defRPr>
                      </a:pPr>
                      <a:r>
                        <a:t>承認審理の予定日</a:t>
                      </a:r>
                    </a:p>
                  </a:txBody>
                  <a:tcPr>
                    <a:solidFill>
                      <a:srgbClr val="F2F6FA"/>
                    </a:solidFill>
                  </a:tcPr>
                </a:tc>
                <a:tc>
                  <a:txBody>
                    <a:bodyPr/>
                    <a:lstStyle/>
                    <a:p>
                      <a:pPr>
                        <a:defRPr sz="1200">
                          <a:solidFill>
                            <a:srgbClr val="16202E"/>
                          </a:solidFill>
                          <a:latin typeface="Yu Gothic"/>
                        </a:defRPr>
                      </a:pPr>
                      <a:r>
                        <a:t>2026年8月19日</a:t>
                      </a:r>
                    </a:p>
                  </a:txBody>
                  <a:tcPr>
                    <a:solidFill>
                      <a:srgbClr val="F2F6FA"/>
                    </a:solidFill>
                  </a:tcPr>
                </a:tc>
              </a:tr>
              <a:tr h="502920">
                <a:tc>
                  <a:txBody>
                    <a:bodyPr/>
                    <a:lstStyle/>
                    <a:p>
                      <a:pPr>
                        <a:defRPr sz="1200">
                          <a:solidFill>
                            <a:srgbClr val="16202E"/>
                          </a:solidFill>
                          <a:latin typeface="Yu Gothic"/>
                        </a:defRPr>
                      </a:pPr>
                      <a:r>
                        <a:t>着手日時点のステータス</a:t>
                      </a:r>
                    </a:p>
                  </a:txBody>
                  <a:tcPr>
                    <a:solidFill>
                      <a:srgbClr val="FFFFFF"/>
                    </a:solidFill>
                  </a:tcPr>
                </a:tc>
                <a:tc>
                  <a:txBody>
                    <a:bodyPr/>
                    <a:lstStyle/>
                    <a:p>
                      <a:pPr>
                        <a:defRPr sz="1200">
                          <a:solidFill>
                            <a:srgbClr val="16202E"/>
                          </a:solidFill>
                          <a:latin typeface="Yu Gothic"/>
                        </a:defRPr>
                      </a:pPr>
                      <a:r>
                        <a:t>落札決定、裁判所承認は審理中(結果は未確定)</a:t>
                      </a:r>
                    </a:p>
                  </a:txBody>
                  <a:tcPr>
                    <a:solidFill>
                      <a:srgbClr val="FFFFFF"/>
                    </a:solidFill>
                  </a:tcPr>
                </a:tc>
              </a:tr>
              <a:tr h="502920">
                <a:tc>
                  <a:txBody>
                    <a:bodyPr/>
                    <a:lstStyle/>
                    <a:p>
                      <a:pPr>
                        <a:defRPr sz="1200">
                          <a:solidFill>
                            <a:srgbClr val="16202E"/>
                          </a:solidFill>
                          <a:latin typeface="Yu Gothic"/>
                        </a:defRPr>
                      </a:pPr>
                      <a:r>
                        <a:t>取引の性質</a:t>
                      </a:r>
                    </a:p>
                  </a:txBody>
                  <a:tcPr>
                    <a:solidFill>
                      <a:srgbClr val="F2F6FA"/>
                    </a:solidFill>
                  </a:tcPr>
                </a:tc>
                <a:tc>
                  <a:txBody>
                    <a:bodyPr/>
                    <a:lstStyle/>
                    <a:p>
                      <a:pPr>
                        <a:defRPr sz="1200">
                          <a:solidFill>
                            <a:srgbClr val="16202E"/>
                          </a:solidFill>
                          <a:latin typeface="Yu Gothic"/>
                        </a:defRPr>
                      </a:pPr>
                      <a:r>
                        <a:t>破産手続きにおける資産売却の一環</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Axios・Skift・Bloomberg Law(2026-08-17)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承認審理日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2026年8月19日(本日)、</a:t>
            </a:r>
          </a:p>
          <a:p>
            <a:pPr algn="ctr"/>
            <a:r>
              <a:rPr sz="8800" b="1">
                <a:solidFill>
                  <a:srgbClr val="7B4FFF"/>
                </a:solidFill>
                <a:latin typeface="Yu Gothic"/>
              </a:rPr>
              <a:t>結果はまだ未定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破産裁判所による承認審理は本round着手日当日に予定されており、審理結果は本調査の範囲では確認できていない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Axios・Skift・Bloomberg Law(2026-08-17)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“言語道断(outrageous)。”</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CE6F5"/>
                </a:solidFill>
                <a:latin typeface="Yu Gothic"/>
              </a:rPr>
              <a:t>— サラ・ネルソン会長(客室乗務員組合 Association of Flight Attendants-CWA、Axios・Skift・CNN Business・Forbes報道、2026-08-17)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組合の反応・法廷異議申し立て方針</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労働組合側の主張を確認します。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客室乗務員5500人以上を代表するAssociation of Flight Attendants-CWAのサラ・ネルソン会長が『言語道断』と強く批判した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組合はGoogleのデータ取得に対し、法廷で正式に異議申し立てを行う方針を表明している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本調査の範囲では、法廷異議申し立ての具体的な進行スケジュールまでは確認できていない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Axios・Skift・CNN Business・Forbes(2026-08-17)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組合が重視する論点の詳細</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組合側の主張をもう一歩掘り下げます。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客室乗務員自身が業務で作成したメール・チャットが、本人の同意プロセスを経ないままAI学習データとして売却されることへの反発が背景にある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破産手続きという特殊な状況が、従業員データの取り扱いに関する通常の合意形成を難しくしているとの見方がある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組合はこの構図が他の破綻企業にも先例として広がることへの懸念を示していると報じられている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CNN Business・Forbes・Bloomberg Law(2026-08-17)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Googleの立場 / 客室乗務員組合の立場</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Googleの立場(報じられている範囲)</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個人特定情報は匿名化したうえで扱う方針</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乗客プロフィール・ロイヤルティ会員データは対象から明示的に除外</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AI学習データ調達という事業上の目的がある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客室乗務員組合の立場</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サラ・ネルソン会長が『言語道断』と強く批判</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従業員の業務コミュニケーションが本人の関与なく売却されることへの反発</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法廷で正式な異議申し立てを行う方針</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より広い論点:同意なきデータ再利用とAI学習</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本件が提起している、より大きな論点です。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サービス提供・業務のために収集されたデータを、改めての同意なしに汎用AIの学習材料として転用することの是非が問われている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本件は破産手続きという特殊な状況下での事例だが、より広いデータ再利用の議論の一例として報じられている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従業員データ・企業データの再利用をめぐる規制・慣行は、本調査の範囲では確立された統一基準を確認できていない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Forbes・Tom's Hardware・Bloomberg Law(2026-08-17)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データ再利用をめぐる2つの意見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イノベーションにつながるという意見</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蓄積された実務データがAIの精度向上に活用できる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破産企業の資産を有効活用する仕組みとして機能しうる</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匿名化を前提とすればプライバシーへの配慮は可能という見方</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同意なき再利用への懸念という意見</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元々の収集目的と異なる用途への転用に本人同意がない</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労働者・消費者が関与できないまま先例化することへの懸念</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匿名化の実効性を当事者が検証できない構造への疑問</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働く立場として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自分の業務コミュニケーションが将来どのように扱われうるか、意識するきっかけになる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AI・データ業界を追う立場として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破産企業のデータ資産化という新しい調達ルートの広がりを、今後も継続的に確認する視点が役立つ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情報を受け取る立場として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『落札』と『取引確定』の違いなど、報道の段階を正確に読み分ける習慣が役立つ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実際に情報を追う場合のポイントです。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『落札』はあくまでオークションでの勝者決定であり、裁判所承認前の取引を確定済みと扱わない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匿名化の技術的詳細、承認審理の結果は本調査の範囲では確認できていない項目である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続報を確認する際は、承認可否・法廷異議申し立ての進行状況を優先して追うとよい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落札額・入札経緯</a:t>
                      </a:r>
                    </a:p>
                  </a:txBody>
                  <a:tcPr>
                    <a:solidFill>
                      <a:srgbClr val="FFFFFF"/>
                    </a:solidFill>
                  </a:tcPr>
                </a:tc>
                <a:tc>
                  <a:txBody>
                    <a:bodyPr/>
                    <a:lstStyle/>
                    <a:p>
                      <a:pPr>
                        <a:defRPr sz="1200">
                          <a:solidFill>
                            <a:srgbClr val="16202E"/>
                          </a:solidFill>
                          <a:latin typeface="Yu Gothic"/>
                        </a:defRPr>
                      </a:pPr>
                      <a:r>
                        <a:t>1000万ドルでの落札、500万→750万→1000万の推移として確認済み</a:t>
                      </a:r>
                    </a:p>
                  </a:txBody>
                  <a:tcPr>
                    <a:solidFill>
                      <a:srgbClr val="FFFFFF"/>
                    </a:solidFill>
                  </a:tcPr>
                </a:tc>
              </a:tr>
              <a:tr h="502920">
                <a:tc>
                  <a:txBody>
                    <a:bodyPr/>
                    <a:lstStyle/>
                    <a:p>
                      <a:pPr>
                        <a:defRPr sz="1200">
                          <a:solidFill>
                            <a:srgbClr val="16202E"/>
                          </a:solidFill>
                          <a:latin typeface="Yu Gothic"/>
                        </a:defRPr>
                      </a:pPr>
                      <a:r>
                        <a:t>除外データの範囲</a:t>
                      </a:r>
                    </a:p>
                  </a:txBody>
                  <a:tcPr>
                    <a:solidFill>
                      <a:srgbClr val="F2F6FA"/>
                    </a:solidFill>
                  </a:tcPr>
                </a:tc>
                <a:tc>
                  <a:txBody>
                    <a:bodyPr/>
                    <a:lstStyle/>
                    <a:p>
                      <a:pPr>
                        <a:defRPr sz="1200">
                          <a:solidFill>
                            <a:srgbClr val="16202E"/>
                          </a:solidFill>
                          <a:latin typeface="Yu Gothic"/>
                        </a:defRPr>
                      </a:pPr>
                      <a:r>
                        <a:t>乗客プロフィール約9750万件・Free Spirit会員約5020万件として確認済み</a:t>
                      </a:r>
                    </a:p>
                  </a:txBody>
                  <a:tcPr>
                    <a:solidFill>
                      <a:srgbClr val="F2F6FA"/>
                    </a:solidFill>
                  </a:tcPr>
                </a:tc>
              </a:tr>
              <a:tr h="502920">
                <a:tc>
                  <a:txBody>
                    <a:bodyPr/>
                    <a:lstStyle/>
                    <a:p>
                      <a:pPr>
                        <a:defRPr sz="1200">
                          <a:solidFill>
                            <a:srgbClr val="16202E"/>
                          </a:solidFill>
                          <a:latin typeface="Yu Gothic"/>
                        </a:defRPr>
                      </a:pPr>
                      <a:r>
                        <a:t>組合の反応</a:t>
                      </a:r>
                    </a:p>
                  </a:txBody>
                  <a:tcPr>
                    <a:solidFill>
                      <a:srgbClr val="FFFFFF"/>
                    </a:solidFill>
                  </a:tcPr>
                </a:tc>
                <a:tc>
                  <a:txBody>
                    <a:bodyPr/>
                    <a:lstStyle/>
                    <a:p>
                      <a:pPr>
                        <a:defRPr sz="1200">
                          <a:solidFill>
                            <a:srgbClr val="16202E"/>
                          </a:solidFill>
                          <a:latin typeface="Yu Gothic"/>
                        </a:defRPr>
                      </a:pPr>
                      <a:r>
                        <a:t>サラ・ネルソン会長の批判、法廷異議申し立て方針として確認済み</a:t>
                      </a:r>
                    </a:p>
                  </a:txBody>
                  <a:tcPr>
                    <a:solidFill>
                      <a:srgbClr val="FFFFFF"/>
                    </a:solidFill>
                  </a:tcPr>
                </a:tc>
              </a:tr>
              <a:tr h="502920">
                <a:tc>
                  <a:txBody>
                    <a:bodyPr/>
                    <a:lstStyle/>
                    <a:p>
                      <a:pPr>
                        <a:defRPr sz="1200">
                          <a:solidFill>
                            <a:srgbClr val="16202E"/>
                          </a:solidFill>
                          <a:latin typeface="Yu Gothic"/>
                        </a:defRPr>
                      </a:pPr>
                      <a:r>
                        <a:t>裁判所の承認可否</a:t>
                      </a:r>
                    </a:p>
                  </a:txBody>
                  <a:tcPr>
                    <a:solidFill>
                      <a:srgbClr val="F2F6FA"/>
                    </a:solidFill>
                  </a:tcPr>
                </a:tc>
                <a:tc>
                  <a:txBody>
                    <a:bodyPr/>
                    <a:lstStyle/>
                    <a:p>
                      <a:pPr>
                        <a:defRPr sz="1200">
                          <a:solidFill>
                            <a:srgbClr val="16202E"/>
                          </a:solidFill>
                          <a:latin typeface="Yu Gothic"/>
                        </a:defRPr>
                      </a:pPr>
                      <a:r>
                        <a:t>審理は本日予定だが、結果は本調査の範囲では確認できていない</a:t>
                      </a:r>
                    </a:p>
                  </a:txBody>
                  <a:tcPr>
                    <a:solidFill>
                      <a:srgbClr val="F2F6FA"/>
                    </a:solidFill>
                  </a:tcPr>
                </a:tc>
              </a:tr>
              <a:tr h="502920">
                <a:tc>
                  <a:txBody>
                    <a:bodyPr/>
                    <a:lstStyle/>
                    <a:p>
                      <a:pPr>
                        <a:defRPr sz="1200">
                          <a:solidFill>
                            <a:srgbClr val="16202E"/>
                          </a:solidFill>
                          <a:latin typeface="Yu Gothic"/>
                        </a:defRPr>
                      </a:pPr>
                      <a:r>
                        <a:t>匿名化の技術的手法</a:t>
                      </a:r>
                    </a:p>
                  </a:txBody>
                  <a:tcPr>
                    <a:solidFill>
                      <a:srgbClr val="FFFFFF"/>
                    </a:solidFill>
                  </a:tcPr>
                </a:tc>
                <a:tc>
                  <a:txBody>
                    <a:bodyPr/>
                    <a:lstStyle/>
                    <a:p>
                      <a:pPr>
                        <a:defRPr sz="1200">
                          <a:solidFill>
                            <a:srgbClr val="16202E"/>
                          </a:solidFill>
                          <a:latin typeface="Yu Gothic"/>
                        </a:defRPr>
                      </a:pPr>
                      <a:r>
                        <a:t>方針としてのみ確認、具体的手法は本調査の範囲では確認できていない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承認審理は着手日当日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最初の報道(2026年8月17日)から2日後の着手だが、破産裁判所の承認審理がまさに着手日(2026年8月19日)当日に予定されている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docs/06_Content_R&amp;D.md基準</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未確定事項まとめ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承認</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裁判所の承認可否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審理は本日予定だが、承認・却下・条件付き承認いずれになるかは未確認</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技術</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匿名化の具体的手法</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『匿名化される』という方針以上の技術的詳細は未確認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経過</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法廷異議申し立ての進行</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組合による異議申し立ての具体的なスケジュールは未確認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中立性についての明記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本成果物の立場を明確にします。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本編はGoogleと客室乗務員組合という、争いのある2つの立場を両論併記する内容であり、どちらか一方を支持する結論にはしない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労使対立という構図を含むため、政治的な評価・主張を一切含めない構成にしている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数字・事実は出典どおりに扱い、丸め・誇張・創作を行っていない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Axios</a:t>
                      </a:r>
                    </a:p>
                  </a:txBody>
                  <a:tcPr>
                    <a:solidFill>
                      <a:srgbClr val="FFFFFF"/>
                    </a:solidFill>
                  </a:tcPr>
                </a:tc>
                <a:tc>
                  <a:txBody>
                    <a:bodyPr/>
                    <a:lstStyle/>
                    <a:p>
                      <a:pPr>
                        <a:defRPr sz="1200">
                          <a:solidFill>
                            <a:srgbClr val="16202E"/>
                          </a:solidFill>
                          <a:latin typeface="Yu Gothic"/>
                        </a:defRPr>
                      </a:pPr>
                      <a:r>
                        <a:t>落札の第一報・入札経緯の報道</a:t>
                      </a:r>
                    </a:p>
                  </a:txBody>
                  <a:tcPr>
                    <a:solidFill>
                      <a:srgbClr val="FFFFFF"/>
                    </a:solidFill>
                  </a:tcPr>
                </a:tc>
              </a:tr>
              <a:tr h="502920">
                <a:tc>
                  <a:txBody>
                    <a:bodyPr/>
                    <a:lstStyle/>
                    <a:p>
                      <a:pPr>
                        <a:defRPr sz="1200">
                          <a:solidFill>
                            <a:srgbClr val="16202E"/>
                          </a:solidFill>
                          <a:latin typeface="Yu Gothic"/>
                        </a:defRPr>
                      </a:pPr>
                      <a:r>
                        <a:t>Skift</a:t>
                      </a:r>
                    </a:p>
                  </a:txBody>
                  <a:tcPr>
                    <a:solidFill>
                      <a:srgbClr val="F2F6FA"/>
                    </a:solidFill>
                  </a:tcPr>
                </a:tc>
                <a:tc>
                  <a:txBody>
                    <a:bodyPr/>
                    <a:lstStyle/>
                    <a:p>
                      <a:pPr>
                        <a:defRPr sz="1200">
                          <a:solidFill>
                            <a:srgbClr val="16202E"/>
                          </a:solidFill>
                          <a:latin typeface="Yu Gothic"/>
                        </a:defRPr>
                      </a:pPr>
                      <a:r>
                        <a:t>落札の第一報・入札経緯の報道</a:t>
                      </a:r>
                    </a:p>
                  </a:txBody>
                  <a:tcPr>
                    <a:solidFill>
                      <a:srgbClr val="F2F6FA"/>
                    </a:solidFill>
                  </a:tcPr>
                </a:tc>
              </a:tr>
              <a:tr h="502920">
                <a:tc>
                  <a:txBody>
                    <a:bodyPr/>
                    <a:lstStyle/>
                    <a:p>
                      <a:pPr>
                        <a:defRPr sz="1200">
                          <a:solidFill>
                            <a:srgbClr val="16202E"/>
                          </a:solidFill>
                          <a:latin typeface="Yu Gothic"/>
                        </a:defRPr>
                      </a:pPr>
                      <a:r>
                        <a:t>CNN Business</a:t>
                      </a:r>
                    </a:p>
                  </a:txBody>
                  <a:tcPr>
                    <a:solidFill>
                      <a:srgbClr val="FFFFFF"/>
                    </a:solidFill>
                  </a:tcPr>
                </a:tc>
                <a:tc>
                  <a:txBody>
                    <a:bodyPr/>
                    <a:lstStyle/>
                    <a:p>
                      <a:pPr>
                        <a:defRPr sz="1200">
                          <a:solidFill>
                            <a:srgbClr val="16202E"/>
                          </a:solidFill>
                          <a:latin typeface="Yu Gothic"/>
                        </a:defRPr>
                      </a:pPr>
                      <a:r>
                        <a:t>組合の反応を含む報道</a:t>
                      </a:r>
                    </a:p>
                  </a:txBody>
                  <a:tcPr>
                    <a:solidFill>
                      <a:srgbClr val="FFFFFF"/>
                    </a:solidFill>
                  </a:tcPr>
                </a:tc>
              </a:tr>
              <a:tr h="502920">
                <a:tc>
                  <a:txBody>
                    <a:bodyPr/>
                    <a:lstStyle/>
                    <a:p>
                      <a:pPr>
                        <a:defRPr sz="1200">
                          <a:solidFill>
                            <a:srgbClr val="16202E"/>
                          </a:solidFill>
                          <a:latin typeface="Yu Gothic"/>
                        </a:defRPr>
                      </a:pPr>
                      <a:r>
                        <a:t>Forbes</a:t>
                      </a:r>
                    </a:p>
                  </a:txBody>
                  <a:tcPr>
                    <a:solidFill>
                      <a:srgbClr val="F2F6FA"/>
                    </a:solidFill>
                  </a:tcPr>
                </a:tc>
                <a:tc>
                  <a:txBody>
                    <a:bodyPr/>
                    <a:lstStyle/>
                    <a:p>
                      <a:pPr>
                        <a:defRPr sz="1200">
                          <a:solidFill>
                            <a:srgbClr val="16202E"/>
                          </a:solidFill>
                          <a:latin typeface="Yu Gothic"/>
                        </a:defRPr>
                      </a:pPr>
                      <a:r>
                        <a:t>除外データ・データ再利用論点の報道</a:t>
                      </a:r>
                    </a:p>
                  </a:txBody>
                  <a:tcPr>
                    <a:solidFill>
                      <a:srgbClr val="F2F6FA"/>
                    </a:solidFill>
                  </a:tcPr>
                </a:tc>
              </a:tr>
              <a:tr h="502920">
                <a:tc>
                  <a:txBody>
                    <a:bodyPr/>
                    <a:lstStyle/>
                    <a:p>
                      <a:pPr>
                        <a:defRPr sz="1200">
                          <a:solidFill>
                            <a:srgbClr val="16202E"/>
                          </a:solidFill>
                          <a:latin typeface="Yu Gothic"/>
                        </a:defRPr>
                      </a:pPr>
                      <a:r>
                        <a:t>Tom's Hardware</a:t>
                      </a:r>
                    </a:p>
                  </a:txBody>
                  <a:tcPr>
                    <a:solidFill>
                      <a:srgbClr val="FFFFFF"/>
                    </a:solidFill>
                  </a:tcPr>
                </a:tc>
                <a:tc>
                  <a:txBody>
                    <a:bodyPr/>
                    <a:lstStyle/>
                    <a:p>
                      <a:pPr>
                        <a:defRPr sz="1200">
                          <a:solidFill>
                            <a:srgbClr val="16202E"/>
                          </a:solidFill>
                          <a:latin typeface="Yu Gothic"/>
                        </a:defRPr>
                      </a:pPr>
                      <a:r>
                        <a:t>AI学習データ論点の報道</a:t>
                      </a:r>
                    </a:p>
                  </a:txBody>
                  <a:tcPr>
                    <a:solidFill>
                      <a:srgbClr val="FFFFFF"/>
                    </a:solidFill>
                  </a:tcPr>
                </a:tc>
              </a:tr>
              <a:tr h="502920">
                <a:tc>
                  <a:txBody>
                    <a:bodyPr/>
                    <a:lstStyle/>
                    <a:p>
                      <a:pPr>
                        <a:defRPr sz="1200">
                          <a:solidFill>
                            <a:srgbClr val="16202E"/>
                          </a:solidFill>
                          <a:latin typeface="Yu Gothic"/>
                        </a:defRPr>
                      </a:pPr>
                      <a:r>
                        <a:t>Bloomberg Law</a:t>
                      </a:r>
                    </a:p>
                  </a:txBody>
                  <a:tcPr>
                    <a:solidFill>
                      <a:srgbClr val="F2F6FA"/>
                    </a:solidFill>
                  </a:tcPr>
                </a:tc>
                <a:tc>
                  <a:txBody>
                    <a:bodyPr/>
                    <a:lstStyle/>
                    <a:p>
                      <a:pPr>
                        <a:defRPr sz="1200">
                          <a:solidFill>
                            <a:srgbClr val="16202E"/>
                          </a:solidFill>
                          <a:latin typeface="Yu Gothic"/>
                        </a:defRPr>
                      </a:pPr>
                      <a:r>
                        <a:t>裁判所承認手続きの報道</a:t>
                      </a:r>
                    </a:p>
                  </a:txBody>
                  <a:tcPr>
                    <a:solidFill>
                      <a:srgbClr val="F2F6FA"/>
                    </a:solidFill>
                  </a:tcPr>
                </a:tc>
              </a:tr>
              <a:tr h="502920">
                <a:tc>
                  <a:txBody>
                    <a:bodyPr/>
                    <a:lstStyle/>
                    <a:p>
                      <a:pPr>
                        <a:defRPr sz="1200">
                          <a:solidFill>
                            <a:srgbClr val="16202E"/>
                          </a:solidFill>
                          <a:latin typeface="Yu Gothic"/>
                        </a:defRPr>
                      </a:pPr>
                      <a:r>
                        <a:t>Yahoo Finance</a:t>
                      </a:r>
                    </a:p>
                  </a:txBody>
                  <a:tcPr>
                    <a:solidFill>
                      <a:srgbClr val="FFFFFF"/>
                    </a:solidFill>
                  </a:tcPr>
                </a:tc>
                <a:tc>
                  <a:txBody>
                    <a:bodyPr/>
                    <a:lstStyle/>
                    <a:p>
                      <a:pPr>
                        <a:defRPr sz="1200">
                          <a:solidFill>
                            <a:srgbClr val="16202E"/>
                          </a:solidFill>
                          <a:latin typeface="Yu Gothic"/>
                        </a:defRPr>
                      </a:pPr>
                      <a:r>
                        <a:t>関連報道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Axios・Skift・CNN Business・Forbes・Tom's Hardware・Bloomberg Law・Yahoo Finance(2026-08-17)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1000万ドルの落札、判断はまだこれから。事実だけを、出典付きで。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Googleがスピリット航空の社内データを1000万ドルで落札したと報じられた件を、Googleの立場・客室乗務員組合の反発・より広い論点まで、出典付きで両論併記して整理してお届けしました。裁判所の承認審理は本日予定されており、結果はまだ確認でき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