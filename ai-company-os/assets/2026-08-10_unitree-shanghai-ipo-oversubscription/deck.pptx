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10日、中国のヒューマノイドロボット企業Unitreeが、上海証券取引所科創板でのIPO申込を開始しました。個人投資家からの申込倍率は5,526倍に達したと報じられています。今日はこの発表の中身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まず結論です。Unitreeの上海IPOで、個人投資家からの申込倍率が5,526倍に達しました。申込件数は980万件です。まだ確認できていないことも、この後正直に整理します。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この動画を見ると、申込倍率と申込件数の規模、IPOの価格や評価額、そしてまだ確認できていないことの3点が分かるようになります。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このテーマを扱う理由は3つです。着手日から2日前という新しさ、5,526倍・980万件という桁違いの数字、そしてヒューマノイドロボット企業という注目度の高い業界です。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今日はこの5つの流れでお伝えします。専門用語をかみ砕きながら、確定している事実と、まだ確定していない部分をはっきり分けて整理します。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まず全体像です。Unitreeが上海証券取引所科創板でIPO申込を開始したところ、個人投資家からの申込が殺到したという構図です。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報道され方を見ると、BloombergがリテールIPOの申込倍率を、The Tribuneが調達額と評価額を、Seoul Economic DailyがIPO価格を、それぞれ伝えています。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スケジュールを確認します。申込開始が8月10日、払込期限が8月12日、割当結果の発表は8月14日頃が予定されています。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『IPO』とは、非公開の企業が証券取引所に株式を上場し、一般の投資家が売買できるようにすることです。上場前に決めた公募価格で、投資家は購入を申し込みます。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『科創板(STARマーケット)』は、上海証券取引所内に設置された先端技術・イノベーション企業向けの市場です。Unitreeはヒューマノイドロボット企業として、この市場を選びました。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の一般的な流れは、申込→払込→割当→上場の順です。Unitreeの場合、申込開始が8月10日、払込期限が8月12日、割当結果発表が8月14日頃の予定ですが、実際の上場日は本調査の範囲で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『申込倍率』とは、割り当てられた株式数に対して何倍の申込があったかを示す指標です。今回のリテール部分は、この倍率が5,526倍に達しました。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IPO価格を確認します。Unitreeは、1株150.80元という価格を設定しました。この価格をもとに、調達予定額と評価額が決まります。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この価格設定に基づく調達予定額は約61億元、ドル換算で約9.04億ドルです。これに基づく評価額は約90.4億ドルとされています。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評価額をあらためて確認します。今回の価格設定に基づくと、Unitreeの評価額は約90.4億ドルとされています。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申込件数も確認しておきます。個人投資家からの申込は980万件に達したと報じられています。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ここまでの数字をカードで振り返ります。申込倍率5,526倍、申込980万件、IPO価格150.80元、評価額90.4億ドル。この4つが今回の発表の骨格です。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あらためてUnitreeという企業を確認します。中国のヒューマノイドロボット企業で、今回、上海証券取引所科創板へのIPO申込を実施しました。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現時点で分かっていることと、まだ分かっていないことを分けて整理します。申込段階の数字は確認できていますが、上場日や上場後の値動きはまだ分かっていません。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重要な注意点です。申込・払込・割当のスケジュールは確認できていますが、実際の上場日は本調査の範囲では確認できていません。申込倍率の高さは株価上昇の確約ではない点にも注意が必要です。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ここで事実・推測・不明を整理します。価格や申込倍率は検証済みの事実ですが、上場日や株価動向はまだ確認できておらず、不明として扱っています。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確認できなかったことを4点、一覧にしました。数字を作らず、正直に不明として扱っています。特に実際の上場日は、本調査の範囲では確認できていません。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この発表から確認すべきことです。実際の上場日、割当結果、そして上場後の値動き、この3点を意識して見ていくことを勧めます。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立場別に整理すると、投資家・市場観察者は続報を継続確認すること、業界に関心がある人は一事例として捉えること、一般の読者は確約と混同しないこと、それぞれ実践的な示唆があります。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既存テーマとの違いを明示します。8月9日発表の既存テーマはロボット製品の教育機関への導入事例でしたが、今回はUnitree社自体の株式上場・資金調達という、まったく別の事象です。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2つのテーマを並べるとこうです。主体は同じUnitreeでも、主題・当事者・扱う対象のすべてが異なる別の発表であることが分かります。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本テーマを扱う方針です。特定企業・製品の利用を推奨する結論にはせず、政治的な論調には踏み込まず、上場日・株価動向がまだ確認できていないことを繰り返し明示しています。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最後にもう一度数字で確認します。個人投資家からの申込倍率は5,526倍、申込件数は980万件に到達しました。実際の上場日・株価動向は、まだ確認できていません。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本編は以上です。今回は中国Unitreeの上海IPOで個人投資家の申込倍率が5,526倍に到達した発表をお伝えしました。数字を鵜呑みにせず、事実関係の整理に留めています。次回もまた出典付きでお届けします。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ロボットの会社に、投資家が5,526倍殺到した。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CE6F5"/>
                </a:solidFill>
                <a:latin typeface="Yu Gothic"/>
              </a:rPr>
              <a:t>中国Unitree Robotics、上海IPOで個人投資家の申込倍率が5,526倍に到達——2026年8月10日申込開始の要点を出典付きで整理する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C0D8"/>
                </a:solidFill>
                <a:latin typeface="Yu Gothic"/>
              </a:rPr>
              <a:t>出典: Bloomberg / The Tribune / Seoul Economic Daily(2026-08-10報道)。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結論を先に</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5,526倍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中国Unitree Roboticsの上海IPOで、個人投資家(リテール)部分の申込倍率が5,526倍に到達した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Bloomberg(2026-08-10)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今日お伝えする内容です。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5,526倍という申込倍率と、980万件という申込件数の規模が分かる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IPOの価格(150.80元)・調達予定額・評価額が分かる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実際の上場日や株価動向など、まだ確認できていないことが分かる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Bloomberg / The Tribune / Seoul Economic Daily(2026-08-10)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2026年8月10日申込開始で、着手日から2日前という新しい話題である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申込倍率5,526倍、申込980万件という桁違いの数字がフックになる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ヒューマノイドロボット企業という、注目度の高い業界のIPOである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Bloomberg / The Tribune / Seoul Economic Daily(2026-08-10)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CE6F5"/>
                </a:solidFill>
                <a:latin typeface="Yu Gothic"/>
              </a:rPr>
              <a:t>この発表とは何か・なぜ今話題なのか</a:t>
            </a:r>
          </a:p>
        </p:txBody>
      </p:sp>
      <p:sp>
        <p:nvSpPr>
          <p:cNvPr id="7" name="Oval 6"/>
          <p:cNvSpPr/>
          <p:nvPr/>
        </p:nvSpPr>
        <p:spPr>
          <a:xfrm>
            <a:off x="548640" y="269748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CE6F5"/>
                </a:solidFill>
                <a:latin typeface="Yu Gothic"/>
              </a:rPr>
              <a:t>基礎知識(IPOとは・科創板とは・申込倍率とは)</a:t>
            </a:r>
          </a:p>
        </p:txBody>
      </p:sp>
      <p:sp>
        <p:nvSpPr>
          <p:cNvPr id="9" name="Oval 8"/>
          <p:cNvSpPr/>
          <p:nvPr/>
        </p:nvSpPr>
        <p:spPr>
          <a:xfrm>
            <a:off x="548640" y="347472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CE6F5"/>
                </a:solidFill>
                <a:latin typeface="Yu Gothic"/>
              </a:rPr>
              <a:t>IPOの価格・調達予定額・評価額を深掘り</a:t>
            </a:r>
          </a:p>
        </p:txBody>
      </p:sp>
      <p:sp>
        <p:nvSpPr>
          <p:cNvPr id="11" name="Oval 10"/>
          <p:cNvSpPr/>
          <p:nvPr/>
        </p:nvSpPr>
        <p:spPr>
          <a:xfrm>
            <a:off x="548640" y="425196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CE6F5"/>
                </a:solidFill>
                <a:latin typeface="Yu Gothic"/>
              </a:rPr>
              <a:t>まだ確認できていないこと(上場日・株価動向)を確認</a:t>
            </a:r>
          </a:p>
        </p:txBody>
      </p:sp>
      <p:sp>
        <p:nvSpPr>
          <p:cNvPr id="13" name="Oval 12"/>
          <p:cNvSpPr/>
          <p:nvPr/>
        </p:nvSpPr>
        <p:spPr>
          <a:xfrm>
            <a:off x="548640" y="5029200"/>
            <a:ext cx="548640" cy="5486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CE6F5"/>
                </a:solidFill>
                <a:latin typeface="Yu Gothic"/>
              </a:rPr>
              <a:t>既存テーマとの違いと、本テーマの取り扱い方針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何が起きたのか(概念図)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Unitree Robotics</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中国のヒューマノイドロボット企業</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上海証券取引所科創板でIPO申込開始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2026年8月10日、1株150.80元でIPO申込を開始</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個人投資家が殺到</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申込倍率5,526倍、申込980万件に到達</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Unitreeが、上海証券取引所科創板でのIPO申込を開始したところ、個人投資家からの申込が殺到したという構図として報じられている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報道した主なメディア</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見出しの要旨</a:t>
                      </a:r>
                    </a:p>
                  </a:txBody>
                  <a:tcPr>
                    <a:solidFill>
                      <a:srgbClr val="1B3A5C"/>
                    </a:solidFill>
                  </a:tcPr>
                </a:tc>
              </a:tr>
              <a:tr h="502920">
                <a:tc>
                  <a:txBody>
                    <a:bodyPr/>
                    <a:lstStyle/>
                    <a:p>
                      <a:pPr>
                        <a:defRPr sz="1200">
                          <a:solidFill>
                            <a:srgbClr val="16202E"/>
                          </a:solidFill>
                          <a:latin typeface="Yu Gothic"/>
                        </a:defRPr>
                      </a:pPr>
                      <a:r>
                        <a:t>Bloomberg</a:t>
                      </a:r>
                    </a:p>
                  </a:txBody>
                  <a:tcPr>
                    <a:solidFill>
                      <a:srgbClr val="FFFFFF"/>
                    </a:solidFill>
                  </a:tcPr>
                </a:tc>
                <a:tc>
                  <a:txBody>
                    <a:bodyPr/>
                    <a:lstStyle/>
                    <a:p>
                      <a:pPr>
                        <a:defRPr sz="1200">
                          <a:solidFill>
                            <a:srgbClr val="16202E"/>
                          </a:solidFill>
                          <a:latin typeface="Yu Gothic"/>
                        </a:defRPr>
                      </a:pPr>
                      <a:r>
                        <a:t>「Unitree's Shanghai IPO 5,526 Times Subscribed by Retail Buyers」</a:t>
                      </a:r>
                    </a:p>
                  </a:txBody>
                  <a:tcPr>
                    <a:solidFill>
                      <a:srgbClr val="FFFFFF"/>
                    </a:solidFill>
                  </a:tcPr>
                </a:tc>
              </a:tr>
              <a:tr h="502920">
                <a:tc>
                  <a:txBody>
                    <a:bodyPr/>
                    <a:lstStyle/>
                    <a:p>
                      <a:pPr>
                        <a:defRPr sz="1200">
                          <a:solidFill>
                            <a:srgbClr val="16202E"/>
                          </a:solidFill>
                          <a:latin typeface="Yu Gothic"/>
                        </a:defRPr>
                      </a:pPr>
                      <a:r>
                        <a:t>The Tribune</a:t>
                      </a:r>
                    </a:p>
                  </a:txBody>
                  <a:tcPr>
                    <a:solidFill>
                      <a:srgbClr val="F2F6FA"/>
                    </a:solidFill>
                  </a:tcPr>
                </a:tc>
                <a:tc>
                  <a:txBody>
                    <a:bodyPr/>
                    <a:lstStyle/>
                    <a:p>
                      <a:pPr>
                        <a:defRPr sz="1200">
                          <a:solidFill>
                            <a:srgbClr val="16202E"/>
                          </a:solidFill>
                          <a:latin typeface="Yu Gothic"/>
                        </a:defRPr>
                      </a:pPr>
                      <a:r>
                        <a:t>「Chinese humanoid robot maker Unitree launches USD 904 million IPO; issue open for subscription」</a:t>
                      </a:r>
                    </a:p>
                  </a:txBody>
                  <a:tcPr>
                    <a:solidFill>
                      <a:srgbClr val="F2F6FA"/>
                    </a:solidFill>
                  </a:tcPr>
                </a:tc>
              </a:tr>
              <a:tr h="502920">
                <a:tc>
                  <a:txBody>
                    <a:bodyPr/>
                    <a:lstStyle/>
                    <a:p>
                      <a:pPr>
                        <a:defRPr sz="1200">
                          <a:solidFill>
                            <a:srgbClr val="16202E"/>
                          </a:solidFill>
                          <a:latin typeface="Yu Gothic"/>
                        </a:defRPr>
                      </a:pPr>
                      <a:r>
                        <a:t>Seoul Economic Daily</a:t>
                      </a:r>
                    </a:p>
                  </a:txBody>
                  <a:tcPr>
                    <a:solidFill>
                      <a:srgbClr val="FFFFFF"/>
                    </a:solidFill>
                  </a:tcPr>
                </a:tc>
                <a:tc>
                  <a:txBody>
                    <a:bodyPr/>
                    <a:lstStyle/>
                    <a:p>
                      <a:pPr>
                        <a:defRPr sz="1200">
                          <a:solidFill>
                            <a:srgbClr val="16202E"/>
                          </a:solidFill>
                          <a:latin typeface="Yu Gothic"/>
                        </a:defRPr>
                      </a:pPr>
                      <a:r>
                        <a:t>「Unitree Sets IPO Price, to Raise 6.1 Billion Yuan」</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各社(2026-08-10)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申込〜割当のスケジュール</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2026年8月10日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IPOの申込開始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2026年8月12日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払込期限</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2026年8月14日頃(予定)</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割当結果発表予定</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基礎知識:IPOとは(初心者向け)</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専門用語を1つずつ解説します。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IPO(新規株式公開)とは、非公開の企業が証券取引所に株式を上場し、一般の投資家が売買できるようにすること</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上場前に「公募価格」を決め、投資家はその価格で株式の購入を申し込む</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今回のUnitreeのIPOでは、公募価格は1株150.80元に設定された</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Tribune / Seoul Economic Daily(2026-08-10)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基礎知識:科創板(STARマーケット)とは</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もう1つの重要な前提です。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科創板(STARマーケット)は、上海証券取引所に設置された、先端技術・イノベーション企業向けの市場</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半導体・AI・ロボティクスなど、成長段階にあるハイテク企業の上場先として使われる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Unitreeは、ヒューマノイドロボットを手がける企業として、この科創板への上場を選んだ</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Tribune / Seoul Economic Daily(2026-08-10)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IPOの一般的な流れ(申込→払込→割当→上場)</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① 申込</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投資家が公募価格で株式の購入を申し込む</a:t>
            </a:r>
          </a:p>
        </p:txBody>
      </p:sp>
      <p:sp>
        <p:nvSpPr>
          <p:cNvPr id="11" name="Chevron 10"/>
          <p:cNvSpPr/>
          <p:nvPr/>
        </p:nvSpPr>
        <p:spPr>
          <a:xfrm>
            <a:off x="3068040"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② 払込</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申し込んだ投資家が代金を払い込む</a:t>
            </a:r>
          </a:p>
        </p:txBody>
      </p:sp>
      <p:sp>
        <p:nvSpPr>
          <p:cNvPr id="17" name="Chevron 16"/>
          <p:cNvSpPr/>
          <p:nvPr/>
        </p:nvSpPr>
        <p:spPr>
          <a:xfrm>
            <a:off x="5978804"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③ 割当</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申込状況に応じて株式が投資家へ割り当てられる</a:t>
            </a:r>
          </a:p>
        </p:txBody>
      </p:sp>
      <p:sp>
        <p:nvSpPr>
          <p:cNvPr id="23" name="Chevron 22"/>
          <p:cNvSpPr/>
          <p:nvPr/>
        </p:nvSpPr>
        <p:spPr>
          <a:xfrm>
            <a:off x="8889568"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B3A5C"/>
                </a:solidFill>
                <a:latin typeface="Yu Gothic"/>
              </a:rPr>
              <a:t>④ 上場</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証券取引所で株式の売買が開始される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基礎知識:申込倍率とは何か(概念図)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配分される株式数</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リテール(個人投資家)向けに割り当てられた株式数</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申込株式数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実際に投資家から申し込まれた株式数の合計</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申込倍率</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申込株式数 ÷ 配分される株式数で算出される競争率の指標</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申込倍率とは、割り当てられた株式数に対して何倍の申込があったかを示す指標。今回のリテール部分は5,526倍に達した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IPO価格</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1株150.80元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Unitreeが上海証券取引所科創板でのIPOに向けて設定した公募価格</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Seoul Economic Daily(2026-08-10)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調達予定額・評価額の内訳</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IPO価格</a:t>
                      </a:r>
                    </a:p>
                  </a:txBody>
                  <a:tcPr>
                    <a:solidFill>
                      <a:srgbClr val="FFFFFF"/>
                    </a:solidFill>
                  </a:tcPr>
                </a:tc>
                <a:tc>
                  <a:txBody>
                    <a:bodyPr/>
                    <a:lstStyle/>
                    <a:p>
                      <a:pPr>
                        <a:defRPr sz="1200">
                          <a:solidFill>
                            <a:srgbClr val="16202E"/>
                          </a:solidFill>
                          <a:latin typeface="Yu Gothic"/>
                        </a:defRPr>
                      </a:pPr>
                      <a:r>
                        <a:t>1株150.80元</a:t>
                      </a:r>
                    </a:p>
                  </a:txBody>
                  <a:tcPr>
                    <a:solidFill>
                      <a:srgbClr val="FFFFFF"/>
                    </a:solidFill>
                  </a:tcPr>
                </a:tc>
              </a:tr>
              <a:tr h="502920">
                <a:tc>
                  <a:txBody>
                    <a:bodyPr/>
                    <a:lstStyle/>
                    <a:p>
                      <a:pPr>
                        <a:defRPr sz="1200">
                          <a:solidFill>
                            <a:srgbClr val="16202E"/>
                          </a:solidFill>
                          <a:latin typeface="Yu Gothic"/>
                        </a:defRPr>
                      </a:pPr>
                      <a:r>
                        <a:t>調達予定額</a:t>
                      </a:r>
                    </a:p>
                  </a:txBody>
                  <a:tcPr>
                    <a:solidFill>
                      <a:srgbClr val="F2F6FA"/>
                    </a:solidFill>
                  </a:tcPr>
                </a:tc>
                <a:tc>
                  <a:txBody>
                    <a:bodyPr/>
                    <a:lstStyle/>
                    <a:p>
                      <a:pPr>
                        <a:defRPr sz="1200">
                          <a:solidFill>
                            <a:srgbClr val="16202E"/>
                          </a:solidFill>
                          <a:latin typeface="Yu Gothic"/>
                        </a:defRPr>
                      </a:pPr>
                      <a:r>
                        <a:t>約61億元(約9.04億ドル)</a:t>
                      </a:r>
                    </a:p>
                  </a:txBody>
                  <a:tcPr>
                    <a:solidFill>
                      <a:srgbClr val="F2F6FA"/>
                    </a:solidFill>
                  </a:tcPr>
                </a:tc>
              </a:tr>
              <a:tr h="502920">
                <a:tc>
                  <a:txBody>
                    <a:bodyPr/>
                    <a:lstStyle/>
                    <a:p>
                      <a:pPr>
                        <a:defRPr sz="1200">
                          <a:solidFill>
                            <a:srgbClr val="16202E"/>
                          </a:solidFill>
                          <a:latin typeface="Yu Gothic"/>
                        </a:defRPr>
                      </a:pPr>
                      <a:r>
                        <a:t>評価額</a:t>
                      </a:r>
                    </a:p>
                  </a:txBody>
                  <a:tcPr>
                    <a:solidFill>
                      <a:srgbClr val="FFFFFF"/>
                    </a:solidFill>
                  </a:tcPr>
                </a:tc>
                <a:tc>
                  <a:txBody>
                    <a:bodyPr/>
                    <a:lstStyle/>
                    <a:p>
                      <a:pPr>
                        <a:defRPr sz="1200">
                          <a:solidFill>
                            <a:srgbClr val="16202E"/>
                          </a:solidFill>
                          <a:latin typeface="Yu Gothic"/>
                        </a:defRPr>
                      </a:pPr>
                      <a:r>
                        <a:t>約90.4億ドル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The Tribune / Seoul Economic Daily(2026-08-10)</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評価額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約90.4億ドル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1株150.80元というIPO価格設定に基づく、Unitreeの評価額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The Tribune(2026-08-10)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個人投資家の申込件数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980万件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Unitreeの上海IPOに殺到した、個人投資家からの申込件数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Bloomberg(2026-08-10)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数字で振り返る今回の発表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5,526倍</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個人投資家の申込倍率</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リテール部分の申込倍率</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980万件</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個人投資家の申込件数</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申込に殺到した件数</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150.80元</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IPO価格</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1株あたりの公募価格</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7B4FFF"/>
                </a:solidFill>
                <a:latin typeface="Yu Gothic"/>
              </a:rPr>
              <a:t>90.4億ドル</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1B3A5C"/>
                </a:solidFill>
                <a:latin typeface="Yu Gothic"/>
              </a:rPr>
              <a:t>評価額</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この価格設定に基づく評価額</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Unitreeとは何をしている企業か(基礎知識)</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Unitree Robotics</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中国のヒューマノイドロボット企業</a:t>
            </a:r>
          </a:p>
        </p:txBody>
      </p:sp>
      <p:sp>
        <p:nvSpPr>
          <p:cNvPr id="10" name="Right Arrow 9"/>
          <p:cNvSpPr/>
          <p:nvPr/>
        </p:nvSpPr>
        <p:spPr>
          <a:xfrm>
            <a:off x="41573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ヒューマノイドロボットの開発・製造</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人型ロボットを手がける</a:t>
            </a:r>
          </a:p>
        </p:txBody>
      </p:sp>
      <p:sp>
        <p:nvSpPr>
          <p:cNvPr id="15" name="Right Arrow 14"/>
          <p:cNvSpPr/>
          <p:nvPr/>
        </p:nvSpPr>
        <p:spPr>
          <a:xfrm>
            <a:off x="7357719" y="3108959"/>
            <a:ext cx="676656" cy="365760"/>
          </a:xfrm>
          <a:prstGeom prst="rightArrow">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3A5C"/>
                </a:solidFill>
                <a:latin typeface="Yu Gothic"/>
              </a:rPr>
              <a:t>上海証券取引所科創板へ上場</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B80"/>
                </a:solidFill>
                <a:latin typeface="Yu Gothic"/>
              </a:rPr>
              <a:t>2026年8月、IPOの申込を実施</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B80"/>
                </a:solidFill>
                <a:latin typeface="Yu Gothic"/>
              </a:rPr>
              <a:t>Unitreeは中国のヒューマノイドロボット企業で、今回上海証券取引所の科創板(STARマーケット)へのIPOに向けて申込を実施した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分かっていること / まだ分かっていないこと</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申込段階(分かっていること)</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IPO価格は1株150.80元</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個人投資家の申込倍率は5,526倍</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申込は980万件に達した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上場後(まだ分かっていないこと)</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実際の上場日(初値がつく日)</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機関投資家部分の申込倍率の詳細</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上場後の株価動向</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重要な注意点:実際の上場日はまだ確認できていない</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申込倍率の高さを誤解しないための整理です。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申込開始(8月10日)・払込期限(8月12日)・割当結果発表予定(8月14日頃)は確認できている</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しかし、実際に株式の売買が始まる上場日そのものは、本調査の範囲では確認できていない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申込倍率の高さは、上場後の株価上昇を保証するものではない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Bloomberg / The Tribune / Seoul Economic Daily(2026-08-10)</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事実・推測・不明の区別</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1B3A5C"/>
                    </a:solidFill>
                  </a:tcPr>
                </a:tc>
                <a:tc>
                  <a:txBody>
                    <a:bodyPr/>
                    <a:lstStyle/>
                    <a:p>
                      <a:pPr>
                        <a:defRPr sz="1300" b="1">
                          <a:solidFill>
                            <a:srgbClr val="FFFFFF"/>
                          </a:solidFill>
                          <a:latin typeface="Yu Gothic"/>
                        </a:defRPr>
                      </a:pPr>
                      <a:r>
                        <a:t>内容</a:t>
                      </a:r>
                    </a:p>
                  </a:txBody>
                  <a:tcPr>
                    <a:solidFill>
                      <a:srgbClr val="1B3A5C"/>
                    </a:solidFill>
                  </a:tcPr>
                </a:tc>
              </a:tr>
              <a:tr h="502920">
                <a:tc>
                  <a:txBody>
                    <a:bodyPr/>
                    <a:lstStyle/>
                    <a:p>
                      <a:pPr>
                        <a:defRPr sz="1200">
                          <a:solidFill>
                            <a:srgbClr val="16202E"/>
                          </a:solidFill>
                          <a:latin typeface="Yu Gothic"/>
                        </a:defRPr>
                      </a:pPr>
                      <a:r>
                        <a:t>検証済み事実</a:t>
                      </a:r>
                    </a:p>
                  </a:txBody>
                  <a:tcPr>
                    <a:solidFill>
                      <a:srgbClr val="FFFFFF"/>
                    </a:solidFill>
                  </a:tcPr>
                </a:tc>
                <a:tc>
                  <a:txBody>
                    <a:bodyPr/>
                    <a:lstStyle/>
                    <a:p>
                      <a:pPr>
                        <a:defRPr sz="1200">
                          <a:solidFill>
                            <a:srgbClr val="16202E"/>
                          </a:solidFill>
                          <a:latin typeface="Yu Gothic"/>
                        </a:defRPr>
                      </a:pPr>
                      <a:r>
                        <a:t>IPO価格(150.80元)・調達予定額(約61億元/9.04億ドル)・評価額(約90.4億ドル)・申込倍率5,526倍・申込980万件・申込〜割当のスケジュール</a:t>
                      </a:r>
                    </a:p>
                  </a:txBody>
                  <a:tcPr>
                    <a:solidFill>
                      <a:srgbClr val="FFFFFF"/>
                    </a:solidFill>
                  </a:tcPr>
                </a:tc>
              </a:tr>
              <a:tr h="502920">
                <a:tc>
                  <a:txBody>
                    <a:bodyPr/>
                    <a:lstStyle/>
                    <a:p>
                      <a:pPr>
                        <a:defRPr sz="1200">
                          <a:solidFill>
                            <a:srgbClr val="16202E"/>
                          </a:solidFill>
                          <a:latin typeface="Yu Gothic"/>
                        </a:defRPr>
                      </a:pPr>
                      <a:r>
                        <a:t>合理的推測</a:t>
                      </a:r>
                    </a:p>
                  </a:txBody>
                  <a:tcPr>
                    <a:solidFill>
                      <a:srgbClr val="F2F6FA"/>
                    </a:solidFill>
                  </a:tcPr>
                </a:tc>
                <a:tc>
                  <a:txBody>
                    <a:bodyPr/>
                    <a:lstStyle/>
                    <a:p>
                      <a:pPr>
                        <a:defRPr sz="1200">
                          <a:solidFill>
                            <a:srgbClr val="16202E"/>
                          </a:solidFill>
                          <a:latin typeface="Yu Gothic"/>
                        </a:defRPr>
                      </a:pPr>
                      <a:r>
                        <a:t>申込倍率・申込件数の規模は、ヒューマノイドロボット分野への投資家の関心の高さを反映した可能性があること</a:t>
                      </a:r>
                    </a:p>
                  </a:txBody>
                  <a:tcPr>
                    <a:solidFill>
                      <a:srgbClr val="F2F6FA"/>
                    </a:solidFill>
                  </a:tcPr>
                </a:tc>
              </a:tr>
              <a:tr h="502920">
                <a:tc>
                  <a:txBody>
                    <a:bodyPr/>
                    <a:lstStyle/>
                    <a:p>
                      <a:pPr>
                        <a:defRPr sz="1200">
                          <a:solidFill>
                            <a:srgbClr val="16202E"/>
                          </a:solidFill>
                          <a:latin typeface="Yu Gothic"/>
                        </a:defRPr>
                      </a:pPr>
                      <a:r>
                        <a:t>不明</a:t>
                      </a:r>
                    </a:p>
                  </a:txBody>
                  <a:tcPr>
                    <a:solidFill>
                      <a:srgbClr val="FFFFFF"/>
                    </a:solidFill>
                  </a:tcPr>
                </a:tc>
                <a:tc>
                  <a:txBody>
                    <a:bodyPr/>
                    <a:lstStyle/>
                    <a:p>
                      <a:pPr>
                        <a:defRPr sz="1200">
                          <a:solidFill>
                            <a:srgbClr val="16202E"/>
                          </a:solidFill>
                          <a:latin typeface="Yu Gothic"/>
                        </a:defRPr>
                      </a:pPr>
                      <a:r>
                        <a:t>実際の上場日・機関投資家部分の申込倍率の詳細・IPO後の株価動向</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3A5C"/>
                    </a:solidFill>
                  </a:tcPr>
                </a:tc>
                <a:tc>
                  <a:txBody>
                    <a:bodyPr/>
                    <a:lstStyle/>
                    <a:p>
                      <a:pPr>
                        <a:defRPr sz="1300" b="1">
                          <a:solidFill>
                            <a:srgbClr val="FFFFFF"/>
                          </a:solidFill>
                          <a:latin typeface="Yu Gothic"/>
                        </a:defRPr>
                      </a:pPr>
                      <a:r>
                        <a:t>状況</a:t>
                      </a:r>
                    </a:p>
                  </a:txBody>
                  <a:tcPr>
                    <a:solidFill>
                      <a:srgbClr val="1B3A5C"/>
                    </a:solidFill>
                  </a:tcPr>
                </a:tc>
              </a:tr>
              <a:tr h="502920">
                <a:tc>
                  <a:txBody>
                    <a:bodyPr/>
                    <a:lstStyle/>
                    <a:p>
                      <a:pPr>
                        <a:defRPr sz="1200">
                          <a:solidFill>
                            <a:srgbClr val="16202E"/>
                          </a:solidFill>
                          <a:latin typeface="Yu Gothic"/>
                        </a:defRPr>
                      </a:pPr>
                      <a:r>
                        <a:t>実際の上場日(初値がつく日)の正確な日付</a:t>
                      </a:r>
                    </a:p>
                  </a:txBody>
                  <a:tcPr>
                    <a:solidFill>
                      <a:srgbClr val="FFFFFF"/>
                    </a:solidFill>
                  </a:tcPr>
                </a:tc>
                <a:tc>
                  <a:txBody>
                    <a:bodyPr/>
                    <a:lstStyle/>
                    <a:p>
                      <a:pPr>
                        <a:defRPr sz="1200">
                          <a:solidFill>
                            <a:srgbClr val="16202E"/>
                          </a:solidFill>
                          <a:latin typeface="Yu Gothic"/>
                        </a:defRPr>
                      </a:pPr>
                      <a:r>
                        <a:t>本調査の範囲では確認できていない</a:t>
                      </a:r>
                    </a:p>
                  </a:txBody>
                  <a:tcPr>
                    <a:solidFill>
                      <a:srgbClr val="FFFFFF"/>
                    </a:solidFill>
                  </a:tcPr>
                </a:tc>
              </a:tr>
              <a:tr h="502920">
                <a:tc>
                  <a:txBody>
                    <a:bodyPr/>
                    <a:lstStyle/>
                    <a:p>
                      <a:pPr>
                        <a:defRPr sz="1200">
                          <a:solidFill>
                            <a:srgbClr val="16202E"/>
                          </a:solidFill>
                          <a:latin typeface="Yu Gothic"/>
                        </a:defRPr>
                      </a:pPr>
                      <a:r>
                        <a:t>機関投資家部分の申込倍率の詳細</a:t>
                      </a:r>
                    </a:p>
                  </a:txBody>
                  <a:tcPr>
                    <a:solidFill>
                      <a:srgbClr val="F2F6FA"/>
                    </a:solidFill>
                  </a:tcPr>
                </a:tc>
                <a:tc>
                  <a:txBody>
                    <a:bodyPr/>
                    <a:lstStyle/>
                    <a:p>
                      <a:pPr>
                        <a:defRPr sz="1200">
                          <a:solidFill>
                            <a:srgbClr val="16202E"/>
                          </a:solidFill>
                          <a:latin typeface="Yu Gothic"/>
                        </a:defRPr>
                      </a:pPr>
                      <a:r>
                        <a:t>本テーマで確定情報として扱うのはリテール部分の5,526倍のみで、機関投資家部分は確認できていない</a:t>
                      </a:r>
                    </a:p>
                  </a:txBody>
                  <a:tcPr>
                    <a:solidFill>
                      <a:srgbClr val="F2F6FA"/>
                    </a:solidFill>
                  </a:tcPr>
                </a:tc>
              </a:tr>
              <a:tr h="502920">
                <a:tc>
                  <a:txBody>
                    <a:bodyPr/>
                    <a:lstStyle/>
                    <a:p>
                      <a:pPr>
                        <a:defRPr sz="1200">
                          <a:solidFill>
                            <a:srgbClr val="16202E"/>
                          </a:solidFill>
                          <a:latin typeface="Yu Gothic"/>
                        </a:defRPr>
                      </a:pPr>
                      <a:r>
                        <a:t>IPO後の株価動向</a:t>
                      </a:r>
                    </a:p>
                  </a:txBody>
                  <a:tcPr>
                    <a:solidFill>
                      <a:srgbClr val="FFFFFF"/>
                    </a:solidFill>
                  </a:tcPr>
                </a:tc>
                <a:tc>
                  <a:txBody>
                    <a:bodyPr/>
                    <a:lstStyle/>
                    <a:p>
                      <a:pPr>
                        <a:defRPr sz="1200">
                          <a:solidFill>
                            <a:srgbClr val="16202E"/>
                          </a:solidFill>
                          <a:latin typeface="Yu Gothic"/>
                        </a:defRPr>
                      </a:pPr>
                      <a:r>
                        <a:t>まだ発生していない未来の事象であり、本テーマでは扱わない</a:t>
                      </a:r>
                    </a:p>
                  </a:txBody>
                  <a:tcPr>
                    <a:solidFill>
                      <a:srgbClr val="FFFFFF"/>
                    </a:solidFill>
                  </a:tcPr>
                </a:tc>
              </a:tr>
              <a:tr h="502920">
                <a:tc>
                  <a:txBody>
                    <a:bodyPr/>
                    <a:lstStyle/>
                    <a:p>
                      <a:pPr>
                        <a:defRPr sz="1200">
                          <a:solidFill>
                            <a:srgbClr val="16202E"/>
                          </a:solidFill>
                          <a:latin typeface="Yu Gothic"/>
                        </a:defRPr>
                      </a:pPr>
                      <a:r>
                        <a:t>Unitreeの詳細な財務情報・調達資金の具体的な使途</a:t>
                      </a:r>
                    </a:p>
                  </a:txBody>
                  <a:tcPr>
                    <a:solidFill>
                      <a:srgbClr val="F2F6FA"/>
                    </a:solidFill>
                  </a:tcPr>
                </a:tc>
                <a:tc>
                  <a:txBody>
                    <a:bodyPr/>
                    <a:lstStyle/>
                    <a:p>
                      <a:pPr>
                        <a:defRPr sz="1200">
                          <a:solidFill>
                            <a:srgbClr val="16202E"/>
                          </a:solidFill>
                          <a:latin typeface="Yu Gothic"/>
                        </a:defRPr>
                      </a:pPr>
                      <a:r>
                        <a:t>本調査の範囲では確認できていない</a:t>
                      </a:r>
                    </a:p>
                  </a:txBody>
                  <a:tcPr>
                    <a:solidFill>
                      <a:srgbClr val="F2F6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この発表から何を確認すべきか</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上場日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実際に株式の売買が始まる上場日がいつになるかを確認する</a:t>
            </a:r>
          </a:p>
        </p:txBody>
      </p:sp>
      <p:sp>
        <p:nvSpPr>
          <p:cNvPr id="11" name="Chevron 10"/>
          <p:cNvSpPr/>
          <p:nvPr/>
        </p:nvSpPr>
        <p:spPr>
          <a:xfrm>
            <a:off x="4038295"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割当結果</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2026年8月14日頃発表予定の割当結果を確認する</a:t>
            </a:r>
          </a:p>
        </p:txBody>
      </p:sp>
      <p:sp>
        <p:nvSpPr>
          <p:cNvPr id="17" name="Chevron 16"/>
          <p:cNvSpPr/>
          <p:nvPr/>
        </p:nvSpPr>
        <p:spPr>
          <a:xfrm>
            <a:off x="7919313" y="3200400"/>
            <a:ext cx="234086" cy="365760"/>
          </a:xfrm>
          <a:prstGeom prst="chevron">
            <a:avLst/>
          </a:prstGeom>
          <a:solidFill>
            <a:srgbClr val="7B4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3A5C"/>
                </a:solidFill>
                <a:latin typeface="Yu Gothic"/>
              </a:rPr>
              <a:t>上場後の値動き</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B80"/>
                </a:solidFill>
                <a:latin typeface="Yu Gothic"/>
              </a:rPr>
              <a:t>上場後、実際の株価がどう動くかを継続して確認する(本テーマでは扱わない未来の事象)</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立場別の実践的示唆</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投資家・市場観察者として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実際の上場日・上場後の値動きを継続して確認する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ロボティクス業界に関心がある人として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ヒューマノイドロボット企業への投資家の関心の高さを一事例として捉える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7B4FFF"/>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3A5C"/>
                </a:solidFill>
                <a:latin typeface="Yu Gothic"/>
              </a:rPr>
              <a:t>一般の読者として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B80"/>
                </a:solidFill>
                <a:latin typeface="Yu Gothic"/>
              </a:rPr>
              <a:t>申込倍率の高さを、上場後の株価上昇の確約と混同しないよう注意する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既存テーマとの違い(St. Clair College×Unitree R1)</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似た企業名の既存テーマとの違いを明示します。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既存テーマ(2026年8月9日発表)は、Unitreeのロボット製品(R1)がカナダの大学(St. Clair College)に導入された事例だった</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本テーマ(2026年8月10日発表)は、Unitree社自体の上海証券取引所へのIPO(株式上場・資金調達)である</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主体は同じUnitreeだが、扱う事象(製品導入 と 資本市場での動き)が根本的に異なる別テーマである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research.md参照</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既存テーマ(製品導入) / 本テーマ(IPO)</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既存テーマ(2026-08-09発表)</a:t>
            </a:r>
          </a:p>
        </p:txBody>
      </p:sp>
      <p:sp>
        <p:nvSpPr>
          <p:cNvPr id="9" name="Oval 8"/>
          <p:cNvSpPr/>
          <p:nvPr/>
        </p:nvSpPr>
        <p:spPr>
          <a:xfrm>
            <a:off x="777240"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主題はロボット製品(R1)の教育機関への導入事例</a:t>
            </a:r>
          </a:p>
        </p:txBody>
      </p:sp>
      <p:sp>
        <p:nvSpPr>
          <p:cNvPr id="11" name="Oval 10"/>
          <p:cNvSpPr/>
          <p:nvPr/>
        </p:nvSpPr>
        <p:spPr>
          <a:xfrm>
            <a:off x="777240"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当事者はUnitree(供給側)とSt. Clair College(導入側)</a:t>
            </a:r>
          </a:p>
        </p:txBody>
      </p:sp>
      <p:sp>
        <p:nvSpPr>
          <p:cNvPr id="13" name="Oval 12"/>
          <p:cNvSpPr/>
          <p:nvPr/>
        </p:nvSpPr>
        <p:spPr>
          <a:xfrm>
            <a:off x="777240"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扱う対象は製品の活用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3A5C"/>
                </a:solidFill>
                <a:latin typeface="Yu Gothic"/>
              </a:rPr>
              <a:t>本テーマ(2026-08-10発表)</a:t>
            </a:r>
          </a:p>
        </p:txBody>
      </p:sp>
      <p:sp>
        <p:nvSpPr>
          <p:cNvPr id="18" name="Oval 17"/>
          <p:cNvSpPr/>
          <p:nvPr/>
        </p:nvSpPr>
        <p:spPr>
          <a:xfrm>
            <a:off x="6598767" y="253288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主題はUnitree社自体の株式上場・資金調達</a:t>
            </a:r>
          </a:p>
        </p:txBody>
      </p:sp>
      <p:sp>
        <p:nvSpPr>
          <p:cNvPr id="20" name="Oval 19"/>
          <p:cNvSpPr/>
          <p:nvPr/>
        </p:nvSpPr>
        <p:spPr>
          <a:xfrm>
            <a:off x="6598767" y="308152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当事者はUnitree(発行体)と個人投資家・上海証券取引所</a:t>
            </a:r>
          </a:p>
        </p:txBody>
      </p:sp>
      <p:sp>
        <p:nvSpPr>
          <p:cNvPr id="22" name="Oval 21"/>
          <p:cNvSpPr/>
          <p:nvPr/>
        </p:nvSpPr>
        <p:spPr>
          <a:xfrm>
            <a:off x="6598767" y="3630168"/>
            <a:ext cx="274320" cy="27432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6202E"/>
                </a:solidFill>
                <a:latin typeface="Yu Gothic"/>
              </a:rPr>
              <a:t>扱う対象は資本市場での動き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本テーマの取り扱い方針</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B80"/>
                </a:solidFill>
                <a:latin typeface="Yu Gothic"/>
              </a:rPr>
              <a:t>この発表を扱う上での方針です。</a:t>
            </a:r>
          </a:p>
        </p:txBody>
      </p:sp>
      <p:sp>
        <p:nvSpPr>
          <p:cNvPr id="7" name="Oval 6"/>
          <p:cNvSpPr/>
          <p:nvPr/>
        </p:nvSpPr>
        <p:spPr>
          <a:xfrm>
            <a:off x="457200" y="212140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特定企業・製品の利用を強く推奨する結論にはしない</a:t>
            </a:r>
          </a:p>
        </p:txBody>
      </p:sp>
      <p:sp>
        <p:nvSpPr>
          <p:cNvPr id="9" name="Oval 8"/>
          <p:cNvSpPr/>
          <p:nvPr/>
        </p:nvSpPr>
        <p:spPr>
          <a:xfrm>
            <a:off x="457200" y="2898648"/>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Unitreeが中国企業であるという事実は淡々と扱い、特定国家・体制への評価的な論調には踏み込まない</a:t>
            </a:r>
          </a:p>
        </p:txBody>
      </p:sp>
      <p:sp>
        <p:nvSpPr>
          <p:cNvPr id="11" name="Oval 10"/>
          <p:cNvSpPr/>
          <p:nvPr/>
        </p:nvSpPr>
        <p:spPr>
          <a:xfrm>
            <a:off x="457200" y="3675887"/>
            <a:ext cx="320040" cy="32004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6202E"/>
                </a:solidFill>
                <a:latin typeface="Yu Gothic"/>
              </a:rPr>
              <a:t>申込倍率の高さを強調しつつも、実際の上場日・株価動向はまだ確認できていないことを繰り返し明示する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B80"/>
                </a:solidFill>
                <a:latin typeface="Yu Gothic"/>
              </a:rPr>
              <a:t>出典: 本シリーズの制作方針</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CE6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7B4FFF"/>
                </a:solidFill>
                <a:latin typeface="Yu Gothic"/>
              </a:rPr>
              <a:t>5,526倍・980万件</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Unitreeの上海IPOで、個人投資家からの申込倍率は5,526倍、申込件数は980万件に到達した。実際の上場日・株価動向はまだ確認できていない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C0D8"/>
                </a:solidFill>
                <a:latin typeface="Yu Gothic"/>
              </a:rPr>
              <a:t>出典: Bloomberg(2026-08-10)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3A5C"/>
                </a:solidFill>
                <a:latin typeface="Yu Gothic"/>
              </a:rPr>
              <a:t>主な出典一覧</a:t>
            </a:r>
          </a:p>
        </p:txBody>
      </p:sp>
      <p:sp>
        <p:nvSpPr>
          <p:cNvPr id="5" name="Rectangle 4"/>
          <p:cNvSpPr/>
          <p:nvPr/>
        </p:nvSpPr>
        <p:spPr>
          <a:xfrm>
            <a:off x="457200" y="1188720"/>
            <a:ext cx="502920" cy="54864"/>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3A5C"/>
                    </a:solidFill>
                  </a:tcPr>
                </a:tc>
                <a:tc>
                  <a:txBody>
                    <a:bodyPr/>
                    <a:lstStyle/>
                    <a:p>
                      <a:pPr>
                        <a:defRPr sz="1300" b="1">
                          <a:solidFill>
                            <a:srgbClr val="FFFFFF"/>
                          </a:solidFill>
                          <a:latin typeface="Yu Gothic"/>
                        </a:defRPr>
                      </a:pPr>
                      <a:r>
                        <a:t>記事タイトル</a:t>
                      </a:r>
                    </a:p>
                  </a:txBody>
                  <a:tcPr>
                    <a:solidFill>
                      <a:srgbClr val="1B3A5C"/>
                    </a:solidFill>
                  </a:tcPr>
                </a:tc>
              </a:tr>
              <a:tr h="502920">
                <a:tc>
                  <a:txBody>
                    <a:bodyPr/>
                    <a:lstStyle/>
                    <a:p>
                      <a:pPr>
                        <a:defRPr sz="1200">
                          <a:solidFill>
                            <a:srgbClr val="16202E"/>
                          </a:solidFill>
                          <a:latin typeface="Yu Gothic"/>
                        </a:defRPr>
                      </a:pPr>
                      <a:r>
                        <a:t>Bloomberg</a:t>
                      </a:r>
                    </a:p>
                  </a:txBody>
                  <a:tcPr>
                    <a:solidFill>
                      <a:srgbClr val="FFFFFF"/>
                    </a:solidFill>
                  </a:tcPr>
                </a:tc>
                <a:tc>
                  <a:txBody>
                    <a:bodyPr/>
                    <a:lstStyle/>
                    <a:p>
                      <a:pPr>
                        <a:defRPr sz="1200">
                          <a:solidFill>
                            <a:srgbClr val="16202E"/>
                          </a:solidFill>
                          <a:latin typeface="Yu Gothic"/>
                        </a:defRPr>
                      </a:pPr>
                      <a:r>
                        <a:t>Unitree's Shanghai IPO 5,526 Times Subscribed by Retail Buyers</a:t>
                      </a:r>
                    </a:p>
                  </a:txBody>
                  <a:tcPr>
                    <a:solidFill>
                      <a:srgbClr val="FFFFFF"/>
                    </a:solidFill>
                  </a:tcPr>
                </a:tc>
              </a:tr>
              <a:tr h="502920">
                <a:tc>
                  <a:txBody>
                    <a:bodyPr/>
                    <a:lstStyle/>
                    <a:p>
                      <a:pPr>
                        <a:defRPr sz="1200">
                          <a:solidFill>
                            <a:srgbClr val="16202E"/>
                          </a:solidFill>
                          <a:latin typeface="Yu Gothic"/>
                        </a:defRPr>
                      </a:pPr>
                      <a:r>
                        <a:t>The Tribune</a:t>
                      </a:r>
                    </a:p>
                  </a:txBody>
                  <a:tcPr>
                    <a:solidFill>
                      <a:srgbClr val="F2F6FA"/>
                    </a:solidFill>
                  </a:tcPr>
                </a:tc>
                <a:tc>
                  <a:txBody>
                    <a:bodyPr/>
                    <a:lstStyle/>
                    <a:p>
                      <a:pPr>
                        <a:defRPr sz="1200">
                          <a:solidFill>
                            <a:srgbClr val="16202E"/>
                          </a:solidFill>
                          <a:latin typeface="Yu Gothic"/>
                        </a:defRPr>
                      </a:pPr>
                      <a:r>
                        <a:t>Chinese humanoid robot maker Unitree launches USD 904 million IPO; issue open for subscription</a:t>
                      </a:r>
                    </a:p>
                  </a:txBody>
                  <a:tcPr>
                    <a:solidFill>
                      <a:srgbClr val="F2F6FA"/>
                    </a:solidFill>
                  </a:tcPr>
                </a:tc>
              </a:tr>
              <a:tr h="502920">
                <a:tc>
                  <a:txBody>
                    <a:bodyPr/>
                    <a:lstStyle/>
                    <a:p>
                      <a:pPr>
                        <a:defRPr sz="1200">
                          <a:solidFill>
                            <a:srgbClr val="16202E"/>
                          </a:solidFill>
                          <a:latin typeface="Yu Gothic"/>
                        </a:defRPr>
                      </a:pPr>
                      <a:r>
                        <a:t>Seoul Economic Daily</a:t>
                      </a:r>
                    </a:p>
                  </a:txBody>
                  <a:tcPr>
                    <a:solidFill>
                      <a:srgbClr val="FFFFFF"/>
                    </a:solidFill>
                  </a:tcPr>
                </a:tc>
                <a:tc>
                  <a:txBody>
                    <a:bodyPr/>
                    <a:lstStyle/>
                    <a:p>
                      <a:pPr>
                        <a:defRPr sz="1200">
                          <a:solidFill>
                            <a:srgbClr val="16202E"/>
                          </a:solidFill>
                          <a:latin typeface="Yu Gothic"/>
                        </a:defRPr>
                      </a:pPr>
                      <a:r>
                        <a:t>Unitree Sets IPO Price, to Raise 6.1 Billion Yuan</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B80"/>
                </a:solidFill>
                <a:latin typeface="Yu Gothic"/>
              </a:rPr>
              <a:t>AI Company OS｜出典: Bloomberg / The Tribune / Seoul Economic Daily(2026-08-10報道)｜183本目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B8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0233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C0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7B4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5,526倍殺到しても、上場日はまだ分かっていない。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CE6F5"/>
                </a:solidFill>
                <a:latin typeface="Yu Gothic"/>
              </a:rPr>
              <a:t>特定企業・製品の利用を強く推奨する結論や、確認できていない上場日・株価動向への断定は一切行っていません。</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2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3A5C"/>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